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57200" cy="6784848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66666"/>
                </a:solidFill>
                <a:latin typeface="Microsoft YaHei"/>
                <a:ea typeface="Microsoft YaHei"/>
              </a:rPr>
              <a:t>向集团董事长汇报   ·   银卡客服试点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65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EC6F1C"/>
                </a:solidFill>
                <a:latin typeface="Microsoft YaHei"/>
                <a:ea typeface="Microsoft YaHei"/>
              </a:rPr>
              <a:t>1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STRATEGIC POSITIONING   ·   战略定位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0C0C0C"/>
                </a:solidFill>
                <a:latin typeface="Microsoft YaHei"/>
                <a:ea typeface="Microsoft YaHei"/>
              </a:rPr>
              <a:t>客服岗位 AI 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8550E"/>
                </a:solidFill>
                <a:latin typeface="Microsoft YaHei"/>
                <a:ea typeface="Microsoft YaHei"/>
              </a:rPr>
              <a:t>—— 平安「一个客户、多个产品」战略在前端的最后一公里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548640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54864" cy="1874519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C6F1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C0C0C"/>
                </a:solidFill>
                <a:latin typeface="Microsoft YaHei"/>
                <a:ea typeface="Microsoft YaHei"/>
              </a:rPr>
              <a:t>综合金融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Microsoft YaHei"/>
                <a:ea typeface="Microsoft YaHei"/>
              </a:rPr>
              <a:t>单客户多产品需要前端岗位具备
全场景串联与价值经营能力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520440"/>
            <a:ext cx="54864" cy="1874519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C6F1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88620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C0C0C"/>
                </a:solidFill>
                <a:latin typeface="Microsoft YaHei"/>
                <a:ea typeface="Microsoft YaHei"/>
              </a:rPr>
              <a:t>AI 战略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4805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Microsoft YaHei"/>
                <a:ea typeface="Microsoft YaHei"/>
              </a:rPr>
              <a:t>客服触点是集团 AI 落地
最大规模、最易显效的前端场景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520440"/>
            <a:ext cx="54864" cy="1874519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C6F1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8620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C0C0C"/>
                </a:solidFill>
                <a:latin typeface="Microsoft YaHei"/>
                <a:ea typeface="Microsoft YaHei"/>
              </a:rPr>
              <a:t>平安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4805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Microsoft YaHei"/>
                <a:ea typeface="Microsoft YaHei"/>
              </a:rPr>
              <a:t>客户经营升级需要前端岗位
从「服务承接」走向「价值经营」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698480" cy="7772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CORE PROPOSITION   ·   核心主张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601675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客户在哪里，岗位 AI 化就跟到哪里 — 银卡作为试验场，三类岗位能力先跑通，再向集团客户经营体系全面复制。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836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PING AN GROUP    ·    BOARD-LEVEL    · 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向集团董事长汇报   ·   核心判断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EC6F1C"/>
                </a:solidFill>
                <a:latin typeface="Microsoft YaHei"/>
                <a:ea typeface="Microsoft YaHei"/>
              </a:rPr>
              <a:t>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0C0C0C"/>
                </a:solidFill>
                <a:latin typeface="Microsoft YaHei"/>
                <a:ea typeface="Microsoft YaHei"/>
              </a:rPr>
              <a:t>客服中心已进入「AI + 岗位」重构期：这是集团 AI 战略在前端最大规模、最易显效的落地场景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8550E"/>
                </a:solidFill>
                <a:latin typeface="Microsoft YaHei"/>
                <a:ea typeface="Microsoft YaHei"/>
              </a:rPr>
              <a:t>三大结构性压力同时到达 — 仅靠加人、加培训、加流程已难以承接，必须用 AI 重构岗位能力底座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5648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68449"/>
            <a:ext cx="10817352" cy="1097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703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3703320" cy="7315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E8D2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1488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C0C0C"/>
                </a:solidFill>
                <a:latin typeface="Microsoft YaHei"/>
                <a:ea typeface="Microsoft YaHei"/>
              </a:rPr>
              <a:t>服务复杂度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A2A"/>
                </a:solidFill>
                <a:latin typeface="Microsoft YaHei"/>
                <a:ea typeface="Microsoft YaHei"/>
              </a:rPr>
              <a:t>客户结构持续高端化、监管强度持续上升、
投诉与升级风险高度依赖少数资深主管经验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703320"/>
            <a:ext cx="3246120" cy="45720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2160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66666"/>
                </a:solidFill>
                <a:latin typeface="Microsoft YaHei"/>
                <a:ea typeface="Microsoft YaHei"/>
              </a:rPr>
              <a:t>复杂客诉年增长率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72160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550E"/>
                </a:solidFill>
                <a:latin typeface="Microsoft YaHei"/>
                <a:ea typeface="Microsoft YaHei"/>
              </a:rPr>
              <a:t>≈ 18%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1920240"/>
            <a:ext cx="3703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2816" y="1920240"/>
            <a:ext cx="3703320" cy="7315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E8D2"/>
                </a:solidFill>
                <a:latin typeface="Microsoft YaHei"/>
                <a:ea typeface="Microsoft YaHe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21488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C0C0C"/>
                </a:solidFill>
                <a:latin typeface="Microsoft YaHei"/>
                <a:ea typeface="Microsoft YaHei"/>
              </a:rPr>
              <a:t>经营深度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83464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A2A"/>
                </a:solidFill>
                <a:latin typeface="Microsoft YaHei"/>
                <a:ea typeface="Microsoft YaHei"/>
              </a:rPr>
              <a:t>服销、私财、高客、挽留、顶私、平安 One 经营
任务叠加 — 一线执行动作不稳定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71416" y="3703320"/>
            <a:ext cx="3246120" cy="45720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6" y="372160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66666"/>
                </a:solidFill>
                <a:latin typeface="Microsoft YaHei"/>
                <a:ea typeface="Microsoft YaHei"/>
              </a:rPr>
              <a:t>前端经营任务叠加倍数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72160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550E"/>
                </a:solidFill>
                <a:latin typeface="Microsoft YaHei"/>
                <a:ea typeface="Microsoft YaHei"/>
              </a:rPr>
              <a:t>≈ 3.2 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2" y="1920240"/>
            <a:ext cx="3703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2" y="1920240"/>
            <a:ext cx="3703320" cy="7315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E8D2"/>
                </a:solidFill>
                <a:latin typeface="Microsoft YaHei"/>
                <a:ea typeface="Microsoft YaHei"/>
              </a:rPr>
              <a:t>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21488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C0C0C"/>
                </a:solidFill>
                <a:latin typeface="Microsoft YaHei"/>
                <a:ea typeface="Microsoft YaHei"/>
              </a:rPr>
              <a:t>人力天花板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283464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A2A"/>
                </a:solidFill>
                <a:latin typeface="Microsoft YaHei"/>
                <a:ea typeface="Microsoft YaHei"/>
              </a:rPr>
              <a:t>客户规模增速 &gt; 人员增速 — 
靠「加人 / 加班」模式不可持续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57032" y="3703320"/>
            <a:ext cx="3246120" cy="45720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72160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66666"/>
                </a:solidFill>
                <a:latin typeface="Microsoft YaHei"/>
                <a:ea typeface="Microsoft YaHei"/>
              </a:rPr>
              <a:t>客户/坐席比 五年涨幅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2992" y="372160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550E"/>
                </a:solidFill>
                <a:latin typeface="Microsoft YaHei"/>
                <a:ea typeface="Microsoft YaHei"/>
              </a:rPr>
              <a:t>≈ 1.6 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526280"/>
            <a:ext cx="11274552" cy="36576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8550E"/>
                </a:solidFill>
                <a:latin typeface="Microsoft YaHei"/>
                <a:ea typeface="Microsoft YaHei"/>
              </a:rPr>
              <a:t>▍ 量级佐证 — 客服触点是集团 AI 落地最大规模场景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83480"/>
            <a:ext cx="277977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983480"/>
            <a:ext cx="54864" cy="14173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120640"/>
            <a:ext cx="250545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8550E"/>
                </a:solidFill>
                <a:latin typeface="Microsoft YaHei"/>
                <a:ea typeface="Microsoft YaHei"/>
              </a:rPr>
              <a:t>≈ 25,000+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6072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C0C0C"/>
                </a:solidFill>
                <a:latin typeface="Microsoft YaHei"/>
                <a:ea typeface="Microsoft YaHei"/>
              </a:rPr>
              <a:t>集团客服坐席规模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62472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前端 AI 可触达岗位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3552" y="4983480"/>
            <a:ext cx="277977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73552" y="4983480"/>
            <a:ext cx="54864" cy="14173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56432" y="5120640"/>
            <a:ext cx="250545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8550E"/>
                </a:solidFill>
                <a:latin typeface="Microsoft YaHei"/>
                <a:ea typeface="Microsoft YaHei"/>
              </a:rPr>
              <a:t>≈ 2.4 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56432" y="576072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C0C0C"/>
                </a:solidFill>
                <a:latin typeface="Microsoft YaHei"/>
                <a:ea typeface="Microsoft YaHei"/>
              </a:rPr>
              <a:t>集团个人客户基数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56432" y="6062472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AI 化客户经营覆盖面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9904" y="4983480"/>
            <a:ext cx="277977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9904" y="4983480"/>
            <a:ext cx="54864" cy="14173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72784" y="5120640"/>
            <a:ext cx="250545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8550E"/>
                </a:solidFill>
                <a:latin typeface="Microsoft YaHei"/>
                <a:ea typeface="Microsoft YaHei"/>
              </a:rPr>
              <a:t>≈ 7 亿+/年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576072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C0C0C"/>
                </a:solidFill>
                <a:latin typeface="Microsoft YaHei"/>
                <a:ea typeface="Microsoft YaHei"/>
              </a:rPr>
              <a:t>客服触点交互次数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6062472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AI 训练与显效高频场景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06256" y="4983480"/>
            <a:ext cx="277977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06256" y="4983480"/>
            <a:ext cx="54864" cy="14173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9136" y="5120640"/>
            <a:ext cx="250545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8550E"/>
                </a:solidFill>
                <a:latin typeface="Microsoft YaHei"/>
                <a:ea typeface="Microsoft YaHei"/>
              </a:rPr>
              <a:t>≈ 35 亿+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89136" y="576072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C0C0C"/>
                </a:solidFill>
                <a:latin typeface="Microsoft YaHei"/>
                <a:ea typeface="Microsoft YaHei"/>
              </a:rPr>
              <a:t>客服年人力成本估算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89136" y="6062472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AI 化潜在效率释放空间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9E9E9E"/>
                </a:solidFill>
                <a:latin typeface="Microsoft YaHei"/>
                <a:ea typeface="Microsoft YaHei"/>
              </a:rPr>
              <a:t>资料来源：客服中心银卡试点项目组   ·   数字均为估算口径，待业管/财务校准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PING AN GROUP    ·    BOARD-LEVEL    ·  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向集团董事长汇报   ·   银卡试验场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EC6F1C"/>
                </a:solidFill>
                <a:latin typeface="Microsoft YaHei"/>
                <a:ea typeface="Microsoft YaHei"/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0C0C0C"/>
                </a:solidFill>
                <a:latin typeface="Microsoft YaHei"/>
                <a:ea typeface="Microsoft YaHei"/>
              </a:rPr>
              <a:t>银卡先行 — 把客服岗位抽象为三类能力，先在最难的高端客服场景跑通，再向集团复制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8550E"/>
                </a:solidFill>
                <a:latin typeface="Microsoft YaHei"/>
                <a:ea typeface="Microsoft YaHei"/>
              </a:rPr>
              <a:t>不再讲「12 个项目」 — 讲「3 类岗位能力底座」：服务化解 · 经营触达 · 知识生产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5648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68449"/>
            <a:ext cx="10817352" cy="1097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703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3703320" cy="7772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1">
                <a:solidFill>
                  <a:srgbClr val="FFFFFF"/>
                </a:solidFill>
                <a:latin typeface="Microsoft YaHei"/>
                <a:ea typeface="Microsoft YaHei"/>
              </a:rPr>
              <a:t>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E8D2"/>
                </a:solidFill>
                <a:latin typeface="Microsoft YaHei"/>
                <a:ea typeface="Microsoft YaHei"/>
              </a:rPr>
              <a:t>SERVICE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C0C0C"/>
                </a:solidFill>
                <a:latin typeface="Microsoft YaHei"/>
                <a:ea typeface="Microsoft YaHei"/>
              </a:rPr>
              <a:t>服务化解能力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8328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Microsoft YaHei"/>
                <a:ea typeface="Microsoft YaHei"/>
              </a:rPr>
              <a:t>把资深主管的隐性投诉 / 风险化解经验，沉淀为组织化、可训练、可追踪的能力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覆盖场景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53712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C8550E"/>
                </a:solidFill>
                <a:latin typeface="Microsoft YaHei"/>
                <a:ea typeface="Microsoft YaHei"/>
              </a:rPr>
              <a:t>投诉化解  ·  服务现管  ·  消保前置  ·  舆情风险识别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074920"/>
            <a:ext cx="3246120" cy="45720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84064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66666"/>
                </a:solidFill>
                <a:latin typeface="Microsoft YaHei"/>
                <a:ea typeface="Microsoft YaHei"/>
              </a:rPr>
              <a:t>资深主管重复兜底时长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1" y="508406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550E"/>
                </a:solidFill>
                <a:latin typeface="Microsoft YaHei"/>
                <a:ea typeface="Microsoft YaHei"/>
              </a:rPr>
              <a:t>↓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1920240"/>
            <a:ext cx="3703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1920240"/>
            <a:ext cx="3703320" cy="7772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965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1">
                <a:solidFill>
                  <a:srgbClr val="FFFFFF"/>
                </a:solidFill>
                <a:latin typeface="Microsoft YaHei"/>
                <a:ea typeface="Microsoft YaHei"/>
              </a:rPr>
              <a:t>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286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E8D2"/>
                </a:solidFill>
                <a:latin typeface="Microsoft YaHei"/>
                <a:ea typeface="Microsoft YaHei"/>
              </a:rPr>
              <a:t>VALUE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8346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C0C0C"/>
                </a:solidFill>
                <a:latin typeface="Microsoft YaHei"/>
                <a:ea typeface="Microsoft YaHei"/>
              </a:rPr>
              <a:t>经营触达能力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38328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52044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Microsoft YaHei"/>
                <a:ea typeface="Microsoft YaHei"/>
              </a:rPr>
              <a:t>把单客户多产品的经营动作，从「人工盯盘」升级为「数据识别 + 场景化触达」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34340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覆盖场景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553712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C8550E"/>
                </a:solidFill>
                <a:latin typeface="Microsoft YaHei"/>
                <a:ea typeface="Microsoft YaHei"/>
              </a:rPr>
              <a:t>服销现管  ·  高客经营  ·  挽留转化  ·  顶私 / 私财场景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5074920"/>
            <a:ext cx="3246120" cy="45720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5084064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66666"/>
                </a:solidFill>
                <a:latin typeface="Microsoft YaHei"/>
                <a:ea typeface="Microsoft YaHei"/>
              </a:rPr>
              <a:t>尾部识别 + 辅导闭环效率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1" y="508406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550E"/>
                </a:solidFill>
                <a:latin typeface="Microsoft YaHei"/>
                <a:ea typeface="Microsoft YaHei"/>
              </a:rPr>
              <a:t>↑ 3 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1920240"/>
            <a:ext cx="3703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1920240"/>
            <a:ext cx="3703320" cy="7772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1965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1">
                <a:solidFill>
                  <a:srgbClr val="FFFFFF"/>
                </a:solidFill>
                <a:latin typeface="Microsoft YaHei"/>
                <a:ea typeface="Microsoft YaHei"/>
              </a:rPr>
              <a:t>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286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E8D2"/>
                </a:solidFill>
                <a:latin typeface="Microsoft YaHei"/>
                <a:ea typeface="Microsoft YaHei"/>
              </a:rPr>
              <a:t>KNOWLEDGE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8346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C0C0C"/>
                </a:solidFill>
                <a:latin typeface="Microsoft YaHei"/>
                <a:ea typeface="Microsoft YaHei"/>
              </a:rPr>
              <a:t>知识生产能力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338328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352044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Microsoft YaHei"/>
                <a:ea typeface="Microsoft YaHei"/>
              </a:rPr>
              <a:t>把人工知识拆解、培训、运维链路，升级为 AI 辅助生产 + 标准模板的工业化体系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34340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覆盖场景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553712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C8550E"/>
                </a:solidFill>
                <a:latin typeface="Microsoft YaHei"/>
                <a:ea typeface="Microsoft YaHei"/>
              </a:rPr>
              <a:t>智能客服知识库  ·  新人育成  ·  教练辅导  ·  AI 陪练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5074920"/>
            <a:ext cx="3246120" cy="45720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5084064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66666"/>
                </a:solidFill>
                <a:latin typeface="Microsoft YaHei"/>
                <a:ea typeface="Microsoft YaHei"/>
              </a:rPr>
              <a:t>知识拆解 / 上线周期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1" y="508406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C8550E"/>
                </a:solidFill>
                <a:latin typeface="Microsoft YaHei"/>
                <a:ea typeface="Microsoft YaHei"/>
              </a:rPr>
              <a:t>↓ 50%+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715000"/>
            <a:ext cx="11274552" cy="7772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7881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BANK CARD AS LAB   ·   银卡试验场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06247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三类能力先在银卡跑通 — 形成「岗位 1+N」标准方法论，再向集团客服全量及综合金融客户经营体系复制。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9E9E9E"/>
                </a:solidFill>
                <a:latin typeface="Microsoft YaHei"/>
                <a:ea typeface="Microsoft YaHei"/>
              </a:rPr>
              <a:t>资料来源：客服中心银卡试点项目组   ·   数字均为估算口径，待业管/财务校准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PING AN GROUP    ·    BOARD-LEVEL    ·  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向集团董事长汇报   ·   规模与复制路径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EC6F1C"/>
                </a:solidFill>
                <a:latin typeface="Microsoft YaHei"/>
                <a:ea typeface="Microsoft YaHei"/>
              </a:rPr>
              <a:t>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0C0C0C"/>
                </a:solidFill>
                <a:latin typeface="Microsoft YaHei"/>
                <a:ea typeface="Microsoft YaHei"/>
              </a:rPr>
              <a:t>复制路径：银卡试点 → 客服中心全量 → 综合金融客户经营体系 — 三阶段、五年规模化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8550E"/>
                </a:solidFill>
                <a:latin typeface="Microsoft YaHei"/>
                <a:ea typeface="Microsoft YaHei"/>
              </a:rPr>
              <a:t>复制不是「方法论 PPT」 — 是带着标准能力底座、标准 KPI、标准训练材料一站到底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5648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68449"/>
            <a:ext cx="10817352" cy="1097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457200" y="1965960"/>
            <a:ext cx="3703320" cy="457200"/>
          </a:xfrm>
          <a:prstGeom prst="chevron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STAGE 1   银卡试点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37033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328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C6F1C"/>
                </a:solidFill>
                <a:latin typeface="Microsoft YaHei"/>
                <a:ea typeface="Microsoft YaHei"/>
              </a:rPr>
              <a:t>Y1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C0C0C"/>
                </a:solidFill>
                <a:latin typeface="Microsoft YaHei"/>
                <a:ea typeface="Microsoft YaHei"/>
              </a:rPr>
              <a:t>银卡客服 ≈ 3,500 坐席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A2A"/>
                </a:solidFill>
                <a:latin typeface="Microsoft YaHei"/>
                <a:ea typeface="Microsoft YaHei"/>
              </a:rPr>
              <a:t>三类能力跑通
标准方法论沉淀</a:t>
            </a:r>
          </a:p>
        </p:txBody>
      </p:sp>
      <p:sp>
        <p:nvSpPr>
          <p:cNvPr id="16" name="Chevron 15"/>
          <p:cNvSpPr/>
          <p:nvPr/>
        </p:nvSpPr>
        <p:spPr>
          <a:xfrm>
            <a:off x="4215384" y="1965960"/>
            <a:ext cx="3703320" cy="457200"/>
          </a:xfrm>
          <a:prstGeom prst="chevron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STAGE 2   客服中心全量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5384" y="2468880"/>
            <a:ext cx="37033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15384" y="2468880"/>
            <a:ext cx="54864" cy="914400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25328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Y2 ~ Y3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280720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C0C0C"/>
                </a:solidFill>
                <a:latin typeface="Microsoft YaHei"/>
                <a:ea typeface="Microsoft YaHei"/>
              </a:rPr>
              <a:t>信用卡 + 寿险 + 产险 + 健康险
客服 ≈ 25,000 坐席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329184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A2A"/>
                </a:solidFill>
                <a:latin typeface="Microsoft YaHei"/>
                <a:ea typeface="Microsoft YaHei"/>
              </a:rPr>
              <a:t>三类能力规模化部署
人均产能 ↑ · 单坐席成本 ↓</a:t>
            </a:r>
          </a:p>
        </p:txBody>
      </p:sp>
      <p:sp>
        <p:nvSpPr>
          <p:cNvPr id="22" name="Chevron 21"/>
          <p:cNvSpPr/>
          <p:nvPr/>
        </p:nvSpPr>
        <p:spPr>
          <a:xfrm>
            <a:off x="7973568" y="1965960"/>
            <a:ext cx="3703320" cy="457200"/>
          </a:xfrm>
          <a:prstGeom prst="chevron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STAGE 3   集团客户经营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8" y="2468880"/>
            <a:ext cx="37033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73568" y="2468880"/>
            <a:ext cx="54864" cy="914400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25328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7A3206"/>
                </a:solidFill>
                <a:latin typeface="Microsoft YaHei"/>
                <a:ea typeface="Microsoft YaHei"/>
              </a:rPr>
              <a:t>Y4 ~ Y5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80720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C0C0C"/>
                </a:solidFill>
                <a:latin typeface="Microsoft YaHei"/>
                <a:ea typeface="Microsoft YaHei"/>
              </a:rPr>
              <a:t>综合金融 2.4 亿个人客户
+ 平安 One 客户经营全场景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29184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A2A"/>
                </a:solidFill>
                <a:latin typeface="Microsoft YaHei"/>
                <a:ea typeface="Microsoft YaHei"/>
              </a:rPr>
              <a:t>前端 AI 化标杆
客户价值经营全面升级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03320"/>
            <a:ext cx="11274552" cy="36576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6732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▍ 价值规模 — 五年视角下，三类岗位能力 AI 化对集团释放的潜在价值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14800"/>
            <a:ext cx="2779776" cy="150876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114800"/>
            <a:ext cx="2779776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297680"/>
            <a:ext cx="25054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C8550E"/>
                </a:solidFill>
                <a:latin typeface="Microsoft YaHei"/>
                <a:ea typeface="Microsoft YaHei"/>
              </a:rPr>
              <a:t>25,000+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C0C0C"/>
                </a:solidFill>
                <a:latin typeface="Microsoft YaHei"/>
                <a:ea typeface="Microsoft YaHei"/>
              </a:rPr>
              <a:t>可复制坐席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21808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覆盖集团客服全量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3552" y="4114800"/>
            <a:ext cx="2779776" cy="150876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73552" y="4114800"/>
            <a:ext cx="2779776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6432" y="4297680"/>
            <a:ext cx="25054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C8550E"/>
                </a:solidFill>
                <a:latin typeface="Microsoft YaHei"/>
                <a:ea typeface="Microsoft YaHei"/>
              </a:rPr>
              <a:t>≈ 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502920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C0C0C"/>
                </a:solidFill>
                <a:latin typeface="Microsoft YaHei"/>
                <a:ea typeface="Microsoft YaHei"/>
              </a:rPr>
              <a:t>前端人力释放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6432" y="5321808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潜在节约工时占比 · 估算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9904" y="4114800"/>
            <a:ext cx="2779776" cy="150876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9904" y="4114800"/>
            <a:ext cx="2779776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2784" y="4297680"/>
            <a:ext cx="25054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C8550E"/>
                </a:solidFill>
                <a:latin typeface="Microsoft YaHei"/>
                <a:ea typeface="Microsoft YaHei"/>
              </a:rPr>
              <a:t>≈ 10 亿+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2784" y="502920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C0C0C"/>
                </a:solidFill>
                <a:latin typeface="Microsoft YaHei"/>
                <a:ea typeface="Microsoft YaHei"/>
              </a:rPr>
              <a:t>年化效率价值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4" y="5321808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等价人力释放 · 估算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06256" y="4114800"/>
            <a:ext cx="2779776" cy="150876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06256" y="4114800"/>
            <a:ext cx="2779776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89136" y="4297680"/>
            <a:ext cx="25054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C8550E"/>
                </a:solidFill>
                <a:latin typeface="Microsoft YaHei"/>
                <a:ea typeface="Microsoft YaHei"/>
              </a:rPr>
              <a:t>2.4 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89136" y="502920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C0C0C"/>
                </a:solidFill>
                <a:latin typeface="Microsoft YaHei"/>
                <a:ea typeface="Microsoft YaHei"/>
              </a:rPr>
              <a:t>服务的客户基数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89136" y="5321808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综合金融个人客户全覆盖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338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REPLICATION TAKEAWAY   ·   复制主张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108192"/>
            <a:ext cx="10817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银卡 → 客服 → 集团 — 不是项目堆叠，而是一套岗位能力底座沿着「客户在哪里、AI 跟到哪里」复制。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9E9E9E"/>
                </a:solidFill>
                <a:latin typeface="Microsoft YaHei"/>
                <a:ea typeface="Microsoft YaHei"/>
              </a:rPr>
              <a:t>资料来源：客服中心银卡试点项目组   ·   数字均为估算口径，待业管/财务校准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PING AN GROUP    ·    BOARD-LEVEL    ·  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向集团董事长汇报   ·   机制保障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EC6F1C"/>
                </a:solidFill>
                <a:latin typeface="Microsoft YaHei"/>
                <a:ea typeface="Microsoft YaHei"/>
              </a:rP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0C0C0C"/>
                </a:solidFill>
                <a:latin typeface="Microsoft YaHei"/>
                <a:ea typeface="Microsoft YaHei"/>
              </a:rPr>
              <a:t>请求集团四项支持 — 把试点变成集团样板，需要从机制上锚定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8550E"/>
                </a:solidFill>
                <a:latin typeface="Microsoft YaHei"/>
                <a:ea typeface="Microsoft YaHei"/>
              </a:rPr>
              <a:t>不要工具、不要预算、不要新增编制 — 要授权、要数据、要协同、要激励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5648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68449"/>
            <a:ext cx="10817352" cy="1097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63270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005840" cy="1874519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E8D2"/>
                </a:solidFill>
                <a:latin typeface="Microsoft YaHei"/>
                <a:ea typeface="Microsoft YaHei"/>
              </a:rPr>
              <a:t>PILOT MANDATE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029968"/>
            <a:ext cx="4352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C0C0C"/>
                </a:solidFill>
                <a:latin typeface="Microsoft YaHei"/>
                <a:ea typeface="Microsoft YaHei"/>
              </a:rPr>
              <a:t>试点授权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468880"/>
            <a:ext cx="43525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授予银卡作为「集团客服岗位 AI 化试点单元」的明确身份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97180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666666"/>
                </a:solidFill>
                <a:latin typeface="Microsoft YaHei"/>
                <a:ea typeface="Microsoft YaHe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82112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A2A2A"/>
                </a:solidFill>
                <a:latin typeface="Microsoft YaHei"/>
                <a:ea typeface="Microsoft YaHei"/>
              </a:rPr>
              <a:t>有「集团身份」才能跨条线协同 — 否则只是子单位内部项目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511296"/>
            <a:ext cx="4352544" cy="22860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511296"/>
            <a:ext cx="41696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8550E"/>
                </a:solidFill>
                <a:latin typeface="Microsoft YaHei"/>
                <a:ea typeface="Microsoft YaHei"/>
              </a:rPr>
              <a:t>决策口径   集团董事长授权 · 集团数字化委员会备案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48" y="1920240"/>
            <a:ext cx="563270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1920240"/>
            <a:ext cx="1005840" cy="1874519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21031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697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E8D2"/>
                </a:solidFill>
                <a:latin typeface="Microsoft YaHei"/>
                <a:ea typeface="Microsoft YaHei"/>
              </a:rPr>
              <a:t>DATA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2029968"/>
            <a:ext cx="4352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C0C0C"/>
                </a:solidFill>
                <a:latin typeface="Microsoft YaHei"/>
                <a:ea typeface="Microsoft YaHei"/>
              </a:rPr>
              <a:t>数据合规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2468880"/>
            <a:ext cx="43525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建立客户数据脱敏可用机制 — 覆盖客服、投诉、高客、平安 One 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297180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666666"/>
                </a:solidFill>
                <a:latin typeface="Microsoft YaHei"/>
                <a:ea typeface="Microsoft YaHei"/>
              </a:rPr>
              <a:t>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3182112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A2A2A"/>
                </a:solidFill>
                <a:latin typeface="Microsoft YaHei"/>
                <a:ea typeface="Microsoft YaHei"/>
              </a:rPr>
              <a:t>AI 化的核心要素是真实场景数据 — 没有合规数据，能力底座做不实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511296"/>
            <a:ext cx="4352544" cy="22860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3511296"/>
            <a:ext cx="41696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8550E"/>
                </a:solidFill>
                <a:latin typeface="Microsoft YaHei"/>
                <a:ea typeface="Microsoft YaHei"/>
              </a:rPr>
              <a:t>决策口径   集团合规 + 数据条线 + 安全条线三方联动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13631"/>
            <a:ext cx="563270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913631"/>
            <a:ext cx="1005840" cy="1874519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096511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9087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E8D2"/>
                </a:solidFill>
                <a:latin typeface="Microsoft YaHei"/>
                <a:ea typeface="Microsoft YaHei"/>
              </a:rPr>
              <a:t>CROSS-LINE SYNERGY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023359"/>
            <a:ext cx="4352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C0C0C"/>
                </a:solidFill>
                <a:latin typeface="Microsoft YaHei"/>
                <a:ea typeface="Microsoft YaHei"/>
              </a:rPr>
              <a:t>跨条线协同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462271"/>
            <a:ext cx="43525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明确客服中心 ↔ 业管 ↔ 智能客服 ↔ 银行端 ↔ 总部数字化协同口径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4965191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666666"/>
                </a:solidFill>
                <a:latin typeface="Microsoft YaHei"/>
                <a:ea typeface="Microsoft YaHei"/>
              </a:rPr>
              <a:t>WHY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17550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A2A2A"/>
                </a:solidFill>
                <a:latin typeface="Microsoft YaHei"/>
                <a:ea typeface="Microsoft YaHei"/>
              </a:rPr>
              <a:t>岗位 AI 化不是单一团队能完成 — 必须从机制上把它装进集团协同体系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5504687"/>
            <a:ext cx="4352544" cy="22860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91640" y="5504687"/>
            <a:ext cx="41696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8550E"/>
                </a:solidFill>
                <a:latin typeface="Microsoft YaHei"/>
                <a:ea typeface="Microsoft YaHei"/>
              </a:rPr>
              <a:t>决策口径   集团数字化条线统筹 + 季度联席会议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9048" y="3913631"/>
            <a:ext cx="563270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9048" y="3913631"/>
            <a:ext cx="1005840" cy="1874519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048" y="4096511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8" y="469087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E8D2"/>
                </a:solidFill>
                <a:latin typeface="Microsoft YaHei"/>
                <a:ea typeface="Microsoft YaHei"/>
              </a:rPr>
              <a:t>RECOGNITION &amp; INCENTIVE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2048" y="4023359"/>
            <a:ext cx="4352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C0C0C"/>
                </a:solidFill>
                <a:latin typeface="Microsoft YaHei"/>
                <a:ea typeface="Microsoft YaHei"/>
              </a:rPr>
              <a:t>评价激励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4462271"/>
            <a:ext cx="43525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把岗位 AI 化产出纳入年度评价、数字化创新、绩效与人才发展通道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048" y="4965191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666666"/>
                </a:solidFill>
                <a:latin typeface="Microsoft YaHei"/>
                <a:ea typeface="Microsoft YaHei"/>
              </a:rPr>
              <a:t>WHY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42048" y="517550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A2A2A"/>
                </a:solidFill>
                <a:latin typeface="Microsoft YaHei"/>
                <a:ea typeface="Microsoft YaHei"/>
              </a:rPr>
              <a:t>改革要靠骨干 — 没有「这是我的成绩」 · 一线骨干不会真干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42048" y="5504687"/>
            <a:ext cx="4352544" cy="22860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33488" y="5504687"/>
            <a:ext cx="41696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8550E"/>
                </a:solidFill>
                <a:latin typeface="Microsoft YaHei"/>
                <a:ea typeface="Microsoft YaHei"/>
              </a:rPr>
              <a:t>决策口径   集团人力 + 数字化条线 联合机制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897880"/>
            <a:ext cx="11274552" cy="6400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971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GOVERNANCE TAKEAWAY   ·   治理主张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245352"/>
            <a:ext cx="10817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四项支持落到位，银卡试点才能在 12 个月内成为集团样板 — 否则只是又一个内部项目。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9E9E9E"/>
                </a:solidFill>
                <a:latin typeface="Microsoft YaHei"/>
                <a:ea typeface="Microsoft YaHei"/>
              </a:rPr>
              <a:t>资料来源：客服中心银卡试点项目组   ·   数字均为估算口径，待业管/财务校准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PING AN GROUP    ·    BOARD-LEVEL    ·  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向集团董事长汇报   ·   愿景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EC6F1C"/>
                </a:solidFill>
                <a:latin typeface="Microsoft YaHei"/>
                <a:ea typeface="Microsoft YaHei"/>
              </a:rPr>
              <a:t>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0C0C0C"/>
                </a:solidFill>
                <a:latin typeface="Microsoft YaHei"/>
                <a:ea typeface="Microsoft YaHei"/>
              </a:rPr>
              <a:t>一年样板 · 三年标杆 · 五年范式 — 客服岗位 AI 化重塑平安客户经营前端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30121"/>
            <a:ext cx="10817352" cy="1097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74552" cy="54864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7033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703320" cy="8686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1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一年内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C0C0C"/>
                </a:solidFill>
                <a:latin typeface="Microsoft YaHei"/>
                <a:ea typeface="Microsoft YaHei"/>
              </a:rPr>
              <a:t>集团客服 AI 化样板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069079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 i="0">
                <a:solidFill>
                  <a:srgbClr val="2A2A2A"/>
                </a:solidFill>
                <a:latin typeface="Microsoft YaHei"/>
                <a:ea typeface="Microsoft YaHei"/>
              </a:rPr>
              <a:t>三类岗位能力底座 ✓
标准 KPI 与方法论 ✓
首批可申报 / 可复制案例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303520"/>
            <a:ext cx="3246120" cy="36576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303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银卡 ≈ 3,500 坐席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2194560"/>
            <a:ext cx="37033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2194560"/>
            <a:ext cx="3703320" cy="868680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2860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3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5603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三年内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4612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C0C0C"/>
                </a:solidFill>
                <a:latin typeface="Microsoft YaHei"/>
                <a:ea typeface="Microsoft YaHei"/>
              </a:rPr>
              <a:t>综合金融客户经营 AI 化标杆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069079"/>
            <a:ext cx="457200" cy="36576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20624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 i="0">
                <a:solidFill>
                  <a:srgbClr val="2A2A2A"/>
                </a:solidFill>
                <a:latin typeface="Microsoft YaHei"/>
                <a:ea typeface="Microsoft YaHei"/>
              </a:rPr>
              <a:t>客服全量规模化部署 ✓
人均产能与服务承载显著提升 ✓
岗位 AI 化方法论沉淀为集团资产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5303520"/>
            <a:ext cx="3246120" cy="36576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5303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客服 ≈ 25,000 坐席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194560"/>
            <a:ext cx="37033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2194560"/>
            <a:ext cx="3703320" cy="868680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22860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5 YEARS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5603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五年内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24612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C0C0C"/>
                </a:solidFill>
                <a:latin typeface="Microsoft YaHei"/>
                <a:ea typeface="Microsoft YaHei"/>
              </a:rPr>
              <a:t>平安客户经营 AI 化范式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4069079"/>
            <a:ext cx="457200" cy="36576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420624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 i="0">
                <a:solidFill>
                  <a:srgbClr val="2A2A2A"/>
                </a:solidFill>
                <a:latin typeface="Microsoft YaHei"/>
                <a:ea typeface="Microsoft YaHei"/>
              </a:rPr>
              <a:t>前端岗位与 AI 形成稳定协作模式 ✓
客户价值经营前端化、智能化、个性化 ✓
成为综合金融行业标杆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5303520"/>
            <a:ext cx="3246120" cy="365760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5303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服务 2.4 亿 个人客户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897880"/>
            <a:ext cx="11274552" cy="685800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943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FINAL VISION   ·   最终愿景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19963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客户在哪里 · 岗位 AI 跟到哪里 — 让平安在 AI 时代的综合金融客户经营上先发、跑通、领跑。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9E9E9E"/>
                </a:solidFill>
                <a:latin typeface="Microsoft YaHei"/>
                <a:ea typeface="Microsoft YaHei"/>
              </a:rPr>
              <a:t>资料来源：客服中心银卡试点项目组   ·   数字均为估算口径，待业管/财务校准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PING AN GROUP    ·    BOARD-LEVEL    ·  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