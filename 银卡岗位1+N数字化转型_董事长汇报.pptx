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11780215" cy="164592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C8550E"/>
                </a:solidFill>
                <a:latin typeface="Microsoft YaHei"/>
                <a:ea typeface="Microsoft YaHei"/>
              </a:rPr>
              <a:t>从单点工具到岗位能力重构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11880"/>
            <a:ext cx="2286000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围绕现场管理、服务化解、知识生产、新人育成、高客经营、专业坐席等关键岗位，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构建可复制、可度量、可推广的客服中心数字化工作链路。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solidFill>
            <a:srgbClr val="FFF5EB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550E"/>
                </a:solidFill>
                <a:latin typeface="Microsoft YaHei"/>
                <a:ea typeface="Microsoft YaHei"/>
              </a:rPr>
              <a:t>核 心 主 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不是简单上工具，而是把依赖个人经验的岗位，改造成可沉淀、可训练、可复用、可追踪的数字化能力。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46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客服中心 · 银卡岗位数字化项目组   |   向董事长专项汇报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为什么必须做：客服中心正在从「人海管理」进入「岗位能力重构」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传统岗位模式已难以承接新的业务压力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2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550E"/>
                </a:solidFill>
                <a:latin typeface="Microsoft YaHei"/>
                <a:ea typeface="Microsoft YaHei"/>
              </a:rPr>
              <a:t>核心矛盾：不是员工不努力，也不是主管不会管，而是「依赖经验、依赖人力、依赖加班」的旧模式已到极限。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874519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4686300"/>
                <a:gridCol w="4686300"/>
              </a:tblGrid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压力来源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真实表现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传统方式的问题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服务压力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投诉、升级、复杂客诉增多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依赖资深主管个人经验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经营压力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服销、私财、高客、挽留任务叠加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一线执行动作不稳定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人力压力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客户规模增长快于人员增长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靠加人、加班不可持续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培训压力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新人上手慢、专业岗位要求高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培训材料多，实战转化慢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知识压力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政策、产品、流程变化快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知识拆解靠人工，效率低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管理压力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多岗位、多指标、多条线协同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主管精力被切碎，难以精细管理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FFF5EB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550E"/>
                </a:solidFill>
                <a:latin typeface="Microsoft YaHei"/>
                <a:ea typeface="Microsoft YaHei"/>
              </a:rPr>
              <a:t>管 理 模 式 升 级 · 不 是 小 创 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过去靠主管经验、员工熟练度、人力堆叠来解决问题；现在必须把岗位能力拆出来、沉淀下来、工具化、标准化，再复制到更多队伍。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总体打法：12 个项目分层推进，6 个重点打穿，6 个保持探索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形成银卡岗位 1+N 的主攻矩阵 + 场景储备池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577840" cy="4114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■ 重点 6 个项目（主攻打穿）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74519"/>
          <a:ext cx="557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17"/>
                <a:gridCol w="1593668"/>
                <a:gridCol w="1992085"/>
                <a:gridCol w="1593668"/>
              </a:tblGrid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重点项目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项目定位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负责人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服销现管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服销现场管理与过程管控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叶爱娣 / 王凯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投诉化解能力提升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服务现管投诉化解与员工辅导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张卫平、文京洛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新人育成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缩短新人独立作战周期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待调研确定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中台/教练岗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教练辅导链路重构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黄敏 等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安心秘书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高客服务升级与价值经营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陈小娟 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知识拆解岗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智能客服知识生产与运维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王晶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2200" y="1417320"/>
            <a:ext cx="5577840" cy="41148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■ 探索 6 个项目（场景储备池）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874519"/>
          <a:ext cx="557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17"/>
                <a:gridCol w="1753035"/>
                <a:gridCol w="1195251"/>
                <a:gridCol w="2231135"/>
              </a:tblGrid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探索项目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负责人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当前定位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GVIP 坐席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周梦莎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高端客户服务场景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对公坐席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王秋梅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对公与个人价值衔接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信 SBO 坐席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文京洛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专业业务坐席沉淀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顶私坐席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张旭宏、赵书英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基于平安One支持顶私经营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结清挽留坐席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蔡丽莉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挽留话术与转化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私财坐席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鲁晓晓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私财服务经营动作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11292840" cy="1143000"/>
          </a:xfrm>
          <a:prstGeom prst="rect">
            <a:avLst/>
          </a:prstGeom>
          <a:solidFill>
            <a:srgbClr val="FFF5EB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550E"/>
                </a:solidFill>
                <a:latin typeface="Microsoft YaHei"/>
                <a:ea typeface="Microsoft YaHei"/>
              </a:rPr>
              <a:t>不 平 均 用 力 · 重 点 打 穿 · 储 备 升 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重点项目用于形成可汇报、可复制、可推广的岗位数字化样板；探索项目用于覆盖更多专业坐席场景，发现成熟后可动态升级为重点项目。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重点项目一 · 服销现管 1+N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把服销过程管理从「人工盯盘」升级为「数据驱动的现场经营管理」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577840" cy="3657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现状痛点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主管靠经验盯服销数据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发现问题不够及时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尾部人员识别靠人工筛选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耗时，且容易漏人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服销辅导依赖主管个人判断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辅导动作不稳定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过程追踪散在表格、群、口头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无法形成闭环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业管有要求，现管负责落地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中间执行断点多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2200" y="1417320"/>
            <a:ext cx="5577840" cy="3657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数字化动作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78308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325374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作用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服销数据看板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自动识别团队/个人/时段异常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尾部人员预警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找出百产、转化率、高价值落后人员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辅导建议助手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根据问题类型推荐辅导动作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跟进闭环表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记录是否触达、复盘、改善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优秀案例沉淀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把绩优打法转成训练素材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297680"/>
            <a:ext cx="11292840" cy="36576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项目价值（给老板看）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663440"/>
          <a:ext cx="11292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846963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价值维度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具体说明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提升服销过程管理效率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主管少花时间拉数、筛人、催进度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提升尾部改善精准度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从平均辅导变成问题分类辅导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提升业管要求落地率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把要求变成现场可执行动作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提升经营结果稳定性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过程稳，结果才稳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6035040"/>
            <a:ext cx="11292840" cy="411480"/>
          </a:xfrm>
          <a:prstGeom prst="rect">
            <a:avLst/>
          </a:prstGeom>
          <a:solidFill>
            <a:srgbClr val="FFF5EB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8550E"/>
                </a:solidFill>
                <a:latin typeface="Microsoft YaHei"/>
                <a:ea typeface="Microsoft YaHei"/>
              </a:rPr>
              <a:t>■ 服销结果不是月底看出来的，而是每天过程管理做出来的——靠数据识别问题、靠工具推动辅导、靠闭环追踪结果。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重点项目二 · 投诉化解能力提升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把资深服务现管的隐性经验沉淀为可复用的化解能力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577840" cy="3657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现状痛点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投诉处理高度依赖资深主管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张卫平等长期被占用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投诉风险判断靠经验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新主管/新员工不易掌握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典型案例没有系统沉淀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同类问题反复发生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员工遇投诉就找主管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主管被低价值兜底拖住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化解话术不统一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服务风险与客户感知不稳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2200" y="1417320"/>
            <a:ext cx="5577840" cy="3657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数字化动作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78308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325374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投诉场景分类库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账单/产品/态度/承诺/重复来电…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风险等级识别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普通/升级/监管/舆情风险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化解话术助手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提供主管可用的话术框架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典型案例库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把张卫平等人经验拆成案例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员工训练 + 复盘模板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真实场景演练 + 结案沉淀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297680"/>
            <a:ext cx="5577840" cy="36576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关键人物打法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663440"/>
          <a:ext cx="5577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人员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张卫平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投诉化解专家样本（输出经验/案例/风险逻辑）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文京洛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协助整理、试点推广、员工训练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 / 李琦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项目提炼、资源协调、机制推动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172200" y="4297680"/>
            <a:ext cx="5577840" cy="36576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项目价值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72200" y="4663440"/>
          <a:ext cx="55778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749039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价值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降低主管重复兜底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常见投诉由工具与案例先行消化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前置识别投诉风险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不等客户升级再处理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复制资深主管经验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个人能力 → 组织能力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降低声誉/消保风险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投诉处理更标准更稳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6126480"/>
            <a:ext cx="11292840" cy="365760"/>
          </a:xfrm>
          <a:prstGeom prst="rect">
            <a:avLst/>
          </a:prstGeom>
          <a:solidFill>
            <a:srgbClr val="FFF5EB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8550E"/>
                </a:solidFill>
                <a:latin typeface="Microsoft YaHei"/>
                <a:ea typeface="Microsoft YaHei"/>
              </a:rPr>
              <a:t>■ 不是再做一个话术库，而是把张卫平这类资深主管的隐性经验，转化为团队可训练、可复制、可追踪的服务能力。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重点项目三 ~ 六 · 四类关键岗位能力重构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从培训、辅导、高客服务到知识生产 — 全面提效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112928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79776"/>
                <a:gridCol w="3040380"/>
                <a:gridCol w="2432303"/>
                <a:gridCol w="1303020"/>
              </a:tblGrid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当前痛点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数字化方向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预期价值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关键词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新人育成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新人上手慢，知识会背不会用，实战场景弱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刷题训练、人机对战、场景演练、主管复盘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缩短育成周期，降低新人成本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育成提速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中台/教练岗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辅导靠经验，问题识别和改善追踪不闭环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数据识别、问题诊断、训练匹配、效果追踪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提升辅导精准度和尾部改善率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辅导闭环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安心秘书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高客规模增长快，人力难同比增长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服务升级、价值经营、提质增效、坐席场景共创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提升高客服务承载力和价值经营能力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高客产能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知识拆解岗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智能客服知识生产靠人工，效率/一致性不足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知识拆解模板、意图识别、知识校验、运维闭环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提升智能客服知识生产效率与准确率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知识效率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92840" cy="868680"/>
          </a:xfrm>
          <a:prstGeom prst="rect">
            <a:avLst/>
          </a:prstGeom>
          <a:solidFill>
            <a:srgbClr val="FFF5EB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321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550E"/>
                </a:solidFill>
                <a:latin typeface="Microsoft YaHei"/>
                <a:ea typeface="Microsoft YaHei"/>
              </a:rPr>
              <a:t>■ 客服中心未来组织能力的底层建设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521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icrosoft YaHei"/>
                <a:ea typeface="Microsoft YaHei"/>
              </a:rPr>
              <a:t>新人怎么更快成才 · 教练怎么更精准辅导 · 高客怎么在规模增长下保持服务质量 · 智能客服知识怎么更快生产更新——不是单个工具，而是底层能力。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六个专业坐席场景：岗位 1+N 的可复制场景储备池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不是凑数，而是后续复制场景与梯队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112928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1645920"/>
                <a:gridCol w="4206239"/>
                <a:gridCol w="3337560"/>
              </a:tblGrid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负责人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当前探索方向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未来价值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GVIP 坐席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周梦莎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高端客户服务场景标准化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可沉淀高端服务 SOP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对公坐席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王秋梅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对公客户服务与个人价值经营衔接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可探索对公转零售路径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信 SBO 坐席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文京洛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专业业务办理和客户解释能力沉淀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提升复杂业务处理效率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顶私坐席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张旭宏、赵书英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基于平安One系统支持顶私客户识别与经营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提升顶私客户精细化经营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结清挽留坐席 1+N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蔡丽莉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结清场景挽留话术、异议处理、转化策略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提升挽留成功率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私财坐席 1+N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鲁晓晓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私财客户服务与经营动作沉淀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提升私财服务专业度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937760"/>
            <a:ext cx="11292840" cy="640080"/>
          </a:xfrm>
          <a:prstGeom prst="rect">
            <a:avLst/>
          </a:prstGeom>
          <a:solidFill>
            <a:srgbClr val="FFE8D2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550E"/>
                </a:solidFill>
                <a:latin typeface="Microsoft YaHei"/>
                <a:ea typeface="Microsoft YaHei"/>
              </a:rPr>
              <a:t>▎口径提示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3036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不写「平安One 岗位 1+N」；正式表述为：顶私坐席岗位 1+N — 基于平安One系统能力，提升顶私客户识别、分析与服务经营能力。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15000"/>
            <a:ext cx="11292840" cy="685800"/>
          </a:xfrm>
          <a:prstGeom prst="rect">
            <a:avLst/>
          </a:prstGeom>
          <a:solidFill>
            <a:srgbClr val="FFF5EB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550E"/>
                </a:solidFill>
                <a:latin typeface="Microsoft YaHei"/>
                <a:ea typeface="Microsoft YaHei"/>
              </a:rPr>
              <a:t>■ 储备 ≠ 凑数 · 梯队 ≠ 平均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icrosoft YaHei"/>
                <a:ea typeface="Microsoft YaHei"/>
              </a:rPr>
              <a:t>当前不平均投入；保留探索压力；一旦出现成熟场景与可复制成果，可从储备升级为重点。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成效衡量：以「效率、质量、经营、复制」四类指标验证岗位 1+N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不用「做了工具」证明成绩，用指标证明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858000" cy="3657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四维指标矩阵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00400"/>
                <a:gridCol w="24688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代表指标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对应项目</a:t>
                      </a:r>
                    </a:p>
                  </a:txBody>
                  <a:tcPr marL="73152" marR="73152" marT="36576" marB="36576" anchor="ctr">
                    <a:solidFill>
                      <a:srgbClr val="EC6F1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效率提升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拉数、筛人、整理、初判、知识拆解耗时下降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服销现管 / 投诉 / 知识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质量提升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投诉化解成功率、知识准确率、新人差错率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 / 新人 / 知识 / GVIP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经营提升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尾部改善率、挽留成功率、私财/顶私触达率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 / 挽留 / 顶私 / 私财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组织复制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案例库、话术库、训练场景、工具使用人数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全部项目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人才培养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新人上岗周期、辅导有效率、演练通过率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 / 中台教练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452360" y="1417320"/>
            <a:ext cx="4297680" cy="36576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4173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▍ 每个重点项目设一个硬指标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52360" y="1783080"/>
          <a:ext cx="4297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核心指标</a:t>
                      </a:r>
                    </a:p>
                  </a:txBody>
                  <a:tcPr marL="73152" marR="73152" marT="36576" marB="36576" anchor="ctr">
                    <a:solidFill>
                      <a:srgbClr val="C8550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服销现管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尾部识别 + 辅导闭环效率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投诉化解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自助训练覆盖率 + 主管兜底下降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新人育成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新人独立上岗周期缩短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中台/教练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辅导后14/30天指标改善率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安心秘书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人均服务承载客户数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 + 上线周期</a:t>
                      </a:r>
                    </a:p>
                  </a:txBody>
                  <a:tcPr marL="73152" marR="73152" marT="36576" marB="36576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303520"/>
            <a:ext cx="11292840" cy="1051560"/>
          </a:xfrm>
          <a:prstGeom prst="rect">
            <a:avLst/>
          </a:prstGeom>
          <a:solidFill>
            <a:srgbClr val="FFF5EB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550E"/>
                </a:solidFill>
                <a:latin typeface="Microsoft YaHei"/>
                <a:ea typeface="Microsoft YaHei"/>
              </a:rPr>
              <a:t>■ 后续汇报口径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692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不只汇报「做了什么工具」，而是按效率、质量、经营、复制四类指标，持续跟踪每个岗位 1+N 是否真正产生价值；每个重点项目对应一项可量化的硬指标。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0972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8550E"/>
                </a:solidFill>
                <a:latin typeface="Microsoft YaHei"/>
                <a:ea typeface="Microsoft YaHei"/>
              </a:rPr>
              <a:t>需要董事长支持：试点授权 · 协同机制 · 数据机制 · 技术能力 · 成果激励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要资源，不要空支持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C6F1C"/>
                </a:solidFill>
                <a:latin typeface="Microsoft YaHei"/>
                <a:ea typeface="Microsoft YaHe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430000" cy="1828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221284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212848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资源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8550E"/>
                </a:solidFill>
                <a:latin typeface="Microsoft YaHei"/>
                <a:ea typeface="Microsoft YaHei"/>
              </a:rPr>
              <a:t>试点授权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1481328" cy="27432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3464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授权银卡作为客服中心岗位 1+N 试点单元，6 个重点岗位先跑样板，再向其他队伍复制。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2029968" cy="777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37083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550E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581144"/>
            <a:ext cx="1883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有「名义」才能向业管、银行、总部数字化协同。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6624" y="1508760"/>
            <a:ext cx="221284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06624" y="1508760"/>
            <a:ext cx="2212848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6624" y="155448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资源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24028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8550E"/>
                </a:solidFill>
                <a:latin typeface="Microsoft YaHei"/>
                <a:ea typeface="Microsoft YaHei"/>
              </a:rPr>
              <a:t>协同机制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72384" y="2743200"/>
            <a:ext cx="1481328" cy="27432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43784" y="283464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管理层明确跨部门协同口径：业管 / 智能客服 / 数据 / 银行端 / 总部数字化。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8064" y="4343400"/>
            <a:ext cx="2029968" cy="777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437083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550E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4581144"/>
            <a:ext cx="1883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避免岗位 1+N 沦为单一团队内部自转。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1508760"/>
            <a:ext cx="221284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56048" y="1508760"/>
            <a:ext cx="2212848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6048" y="155448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资源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224028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8550E"/>
                </a:solidFill>
                <a:latin typeface="Microsoft YaHei"/>
                <a:ea typeface="Microsoft YaHei"/>
              </a:rPr>
              <a:t>数据机制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21808" y="2743200"/>
            <a:ext cx="1481328" cy="27432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283464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建立顶私、私财、平安One、投诉、高客等敏感数据的脱敏可用机制。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47488" y="4343400"/>
            <a:ext cx="2029968" cy="777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37083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550E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581144"/>
            <a:ext cx="1883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合规可用 — 让一线看到问题、训练能力。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5472" y="1508760"/>
            <a:ext cx="221284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05472" y="1508760"/>
            <a:ext cx="2212848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155448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资源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224028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8550E"/>
                </a:solidFill>
                <a:latin typeface="Microsoft YaHei"/>
                <a:ea typeface="Microsoft YaHei"/>
              </a:rPr>
              <a:t>技术能力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71232" y="2743200"/>
            <a:ext cx="1481328" cy="27432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2" y="283464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AI 助手 / 数据看板 / 知识库 / 流程表单等轻量化能力支持。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96912" y="4343400"/>
            <a:ext cx="2029968" cy="777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0064" y="437083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550E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0064" y="4581144"/>
            <a:ext cx="1883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不上大系统，先用轻量工具跑通场景再沉淀。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1508760"/>
            <a:ext cx="221284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54896" y="1508760"/>
            <a:ext cx="2212848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54896" y="155448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资源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224028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8550E"/>
                </a:solidFill>
                <a:latin typeface="Microsoft YaHei"/>
                <a:ea typeface="Microsoft YaHei"/>
              </a:rPr>
              <a:t>成果激励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20656" y="2743200"/>
            <a:ext cx="1481328" cy="27432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92056" y="283464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对产出真实效率/质量/经营/复制成果的主管和骨干，年度评价、创新、数字化、绩效予以体现。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46336" y="4343400"/>
            <a:ext cx="2029968" cy="777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19488" y="437083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550E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19488" y="4581144"/>
            <a:ext cx="1883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回答「我做项目，到底算不算我的成绩？」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349240"/>
            <a:ext cx="11292840" cy="1005840"/>
          </a:xfrm>
          <a:prstGeom prst="rect">
            <a:avLst/>
          </a:prstGeom>
          <a:solidFill>
            <a:srgbClr val="EC6F1C"/>
          </a:solidFill>
          <a:ln w="19050">
            <a:solidFill>
              <a:srgbClr val="C855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39496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■ 全篇主轴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669280"/>
            <a:ext cx="10835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银卡岗位 1+N 不是做 12 个零散工具，而是以 6 个重点岗位为突破口，把客服中心最依赖个人经验、最消耗主管精力、最影响服务与经营结果的工作，改造成可复制、可训练、可追踪的数字化能力。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