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3152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8A95A5"/>
                </a:solidFill>
                <a:latin typeface="Arial"/>
              </a:rPr>
              <a:t>EXHIBIT 4 OF 4   |   现场管理操作系统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164592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8A95A5"/>
                </a:solidFill>
                <a:latin typeface="Microsoft YaHei"/>
              </a:rPr>
              <a:t>PAone × 银卡服销 · 1+N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384048"/>
            <a:ext cx="6583680" cy="0"/>
          </a:xfrm>
          <a:prstGeom prst="line">
            <a:avLst/>
          </a:prstGeom>
          <a:ln w="19050">
            <a:solidFill>
              <a:srgbClr val="003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502920"/>
            <a:ext cx="6583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03A70"/>
                </a:solidFill>
                <a:latin typeface="Microsoft YaHei"/>
              </a:rPr>
              <a:t>PAone 数智指挥舱将现管岗位重构为「1 名指挥官 + N 个 AI 引擎」，</a:t>
            </a:r>
          </a:p>
          <a:p>
            <a:pPr algn="l"/>
            <a:r>
              <a:rPr sz="1700" b="1" i="0">
                <a:solidFill>
                  <a:srgbClr val="003A70"/>
                </a:solidFill>
                <a:latin typeface="Microsoft YaHei"/>
              </a:rPr>
              <a:t>组长把时间从查数 / 催办 / 救火转向识别 / 干预 / 复制 / 训练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4A5568"/>
                </a:solidFill>
                <a:latin typeface="Microsoft YaHei"/>
              </a:rPr>
              <a:t>约 </a:t>
            </a:r>
            <a:r>
              <a:rPr sz="950" b="1" i="1">
                <a:solidFill>
                  <a:srgbClr val="C83A1E"/>
                </a:solidFill>
                <a:latin typeface="Microsoft YaHei"/>
              </a:rPr>
              <a:t>70%</a:t>
            </a:r>
            <a:r>
              <a:rPr sz="950" b="0" i="1">
                <a:solidFill>
                  <a:srgbClr val="4A5568"/>
                </a:solidFill>
                <a:latin typeface="Microsoft YaHei"/>
              </a:rPr>
              <a:t> 现管时间消耗在手工查数与材料生产上；1+N 指挥舱通过 6 个 AI 能力单元</a:t>
            </a:r>
          </a:p>
          <a:p>
            <a:pPr algn="l"/>
            <a:r>
              <a:rPr sz="950" b="0" i="1">
                <a:solidFill>
                  <a:srgbClr val="4A5568"/>
                </a:solidFill>
                <a:latin typeface="Microsoft YaHei"/>
              </a:rPr>
              <a:t>接管标准化数据动作，组长聚焦不可替代的判断与团队能力复制。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1938528"/>
            <a:ext cx="6583680" cy="0"/>
          </a:xfrm>
          <a:prstGeom prst="line">
            <a:avLst/>
          </a:prstGeom>
          <a:ln w="6350">
            <a:solidFill>
              <a:srgbClr val="C8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1984248"/>
            <a:ext cx="6583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8A95A5"/>
                </a:solidFill>
                <a:latin typeface="Arial"/>
              </a:rPr>
              <a:t>FROM </a:t>
            </a:r>
            <a:r>
              <a:rPr sz="800" b="1" i="0">
                <a:solidFill>
                  <a:srgbClr val="8A95A5"/>
                </a:solidFill>
                <a:latin typeface="Microsoft YaHei"/>
              </a:rPr>
              <a:t>传统现管   </a:t>
            </a:r>
            <a:r>
              <a:rPr sz="800" b="1" i="0">
                <a:solidFill>
                  <a:srgbClr val="003A70"/>
                </a:solidFill>
                <a:latin typeface="Arial"/>
              </a:rPr>
              <a:t>→ </a:t>
            </a:r>
            <a:r>
              <a:rPr sz="800" b="1" i="0">
                <a:solidFill>
                  <a:srgbClr val="003A70"/>
                </a:solidFill>
                <a:latin typeface="Arial"/>
              </a:rPr>
              <a:t>TO </a:t>
            </a:r>
            <a:r>
              <a:rPr sz="800" b="1" i="0">
                <a:solidFill>
                  <a:srgbClr val="003A70"/>
                </a:solidFill>
                <a:latin typeface="Microsoft YaHei"/>
              </a:rPr>
              <a:t>PAone 1+N 数智指挥舱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12848"/>
            <a:ext cx="1280160" cy="29260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12848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  <a:latin typeface="Microsoft YaHei"/>
              </a:rPr>
              <a:t>维度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0" y="2212848"/>
            <a:ext cx="2606040" cy="29260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2212848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  <a:latin typeface="Microsoft YaHei"/>
              </a:rPr>
              <a:t>传统现管 · 人肉盯盘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2212848"/>
            <a:ext cx="2697480" cy="292608"/>
          </a:xfrm>
          <a:prstGeom prst="rect">
            <a:avLst/>
          </a:prstGeom>
          <a:solidFill>
            <a:srgbClr val="E6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2212848"/>
            <a:ext cx="2514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03A70"/>
                </a:solidFill>
                <a:latin typeface="Microsoft YaHei"/>
              </a:rPr>
              <a:t>PAone 1+N · AI 接管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5760" y="2505456"/>
            <a:ext cx="6583680" cy="0"/>
          </a:xfrm>
          <a:prstGeom prst="line">
            <a:avLst/>
          </a:prstGeom>
          <a:ln w="12700">
            <a:solidFill>
              <a:srgbClr val="003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" y="2505456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03A70"/>
                </a:solidFill>
                <a:latin typeface="Microsoft YaHei"/>
              </a:rPr>
              <a:t>数据获取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505456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Microsoft YaHei"/>
              </a:rPr>
              <a:t>组长每日手工查报表 / 跑后台 / 拉名单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505456"/>
            <a:ext cx="2514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02955"/>
                </a:solidFill>
                <a:latin typeface="Microsoft YaHei"/>
              </a:rPr>
              <a:t>数据巡场引擎自动抓取大盘 · 员工 · 时段 · 名单 · 成交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65760" y="2889504"/>
            <a:ext cx="6583680" cy="0"/>
          </a:xfrm>
          <a:prstGeom prst="line">
            <a:avLst/>
          </a:prstGeom>
          <a:ln w="5080">
            <a:solidFill>
              <a:srgbClr val="C8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65760" y="2889504"/>
            <a:ext cx="6583680" cy="3840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889504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03A70"/>
                </a:solidFill>
                <a:latin typeface="Microsoft YaHei"/>
              </a:rPr>
              <a:t>风险识别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2889504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Microsoft YaHei"/>
              </a:rPr>
              <a:t>事后复盘，问题暴露已晚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2889504"/>
            <a:ext cx="2514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02955"/>
                </a:solidFill>
                <a:latin typeface="Microsoft YaHei"/>
              </a:rPr>
              <a:t>异常预警引擎实时锁定低产 · 掉速 · 名单浪费 · 通时不足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65760" y="3273552"/>
            <a:ext cx="6583680" cy="0"/>
          </a:xfrm>
          <a:prstGeom prst="line">
            <a:avLst/>
          </a:prstGeom>
          <a:ln w="5080">
            <a:solidFill>
              <a:srgbClr val="C8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3273552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03A70"/>
                </a:solidFill>
                <a:latin typeface="Microsoft YaHei"/>
              </a:rPr>
              <a:t>经验复制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3273552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Microsoft YaHei"/>
              </a:rPr>
              <a:t>靠组长记忆与口头辅导，质量参差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3273552"/>
            <a:ext cx="2514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02955"/>
                </a:solidFill>
                <a:latin typeface="Microsoft YaHei"/>
              </a:rPr>
              <a:t>话术萃取 + 精准辅导引擎，按个人短板推送沉淀模板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65760" y="3657600"/>
            <a:ext cx="6583680" cy="0"/>
          </a:xfrm>
          <a:prstGeom prst="line">
            <a:avLst/>
          </a:prstGeom>
          <a:ln w="5080">
            <a:solidFill>
              <a:srgbClr val="C8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65760" y="3657600"/>
            <a:ext cx="6583680" cy="3840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657600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03A70"/>
                </a:solidFill>
                <a:latin typeface="Microsoft YaHei"/>
              </a:rPr>
              <a:t>材料生产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3657600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Microsoft YaHei"/>
              </a:rPr>
              <a:t>早会 / 夕会 / 通报材料人肉拼接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3657600"/>
            <a:ext cx="2514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02955"/>
                </a:solidFill>
                <a:latin typeface="Microsoft YaHei"/>
              </a:rPr>
              <a:t>复盘生成引擎一键产出，语料进化引擎反向训练 AI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65760" y="4041648"/>
            <a:ext cx="6583680" cy="0"/>
          </a:xfrm>
          <a:prstGeom prst="line">
            <a:avLst/>
          </a:prstGeom>
          <a:ln w="5080">
            <a:solidFill>
              <a:srgbClr val="C8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65760" y="4270248"/>
            <a:ext cx="6583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8A95A5"/>
                </a:solidFill>
                <a:latin typeface="Microsoft YaHei"/>
              </a:rPr>
              <a:t>1+N 指挥舱架构</a:t>
            </a:r>
            <a:r>
              <a:rPr sz="800" b="1" i="0">
                <a:solidFill>
                  <a:srgbClr val="003A70"/>
                </a:solidFill>
                <a:latin typeface="Microsoft YaHei"/>
              </a:rPr>
              <a:t>    1 名组长指挥官  +  6 个 AI 能力单元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60320" y="4544568"/>
            <a:ext cx="2194560" cy="566928"/>
          </a:xfrm>
          <a:prstGeom prst="round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320" y="4544568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PAone 数智指挥舱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0" y="487375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E6EEF7"/>
                </a:solidFill>
                <a:latin typeface="Microsoft YaHei"/>
              </a:rPr>
              <a:t>1 组长  +  N 个 AI 引擎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340096"/>
            <a:ext cx="54864" cy="457200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0624" y="5340096"/>
            <a:ext cx="314553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5340096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03A70"/>
                </a:solidFill>
                <a:latin typeface="Arial"/>
              </a:rPr>
              <a:t>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40096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2955"/>
                </a:solidFill>
                <a:latin typeface="Microsoft YaHei"/>
              </a:rPr>
              <a:t>数据巡场引擎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1720" y="5340096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 i="1">
                <a:solidFill>
                  <a:srgbClr val="4A5568"/>
                </a:solidFill>
                <a:latin typeface="Microsoft YaHei"/>
              </a:rPr>
              <a:t>替代人工查数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49040" y="5340096"/>
            <a:ext cx="54864" cy="457200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803904" y="5340096"/>
            <a:ext cx="314553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13632" y="5340096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03A70"/>
                </a:solidFill>
                <a:latin typeface="Arial"/>
              </a:rP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15968" y="5340096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2955"/>
                </a:solidFill>
                <a:latin typeface="Microsoft YaHei"/>
              </a:rPr>
              <a:t>异常预警引擎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15000" y="5340096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 i="1">
                <a:solidFill>
                  <a:srgbClr val="4A5568"/>
                </a:solidFill>
                <a:latin typeface="Microsoft YaHei"/>
              </a:rPr>
              <a:t>提前锁定风险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5888736"/>
            <a:ext cx="54864" cy="457200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20624" y="5888736"/>
            <a:ext cx="314553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5888736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03A70"/>
                </a:solidFill>
                <a:latin typeface="Arial"/>
              </a:rP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2688" y="5888736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2955"/>
                </a:solidFill>
                <a:latin typeface="Microsoft YaHei"/>
              </a:rPr>
              <a:t>话术萃取引擎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31720" y="5888736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 i="1">
                <a:solidFill>
                  <a:srgbClr val="4A5568"/>
                </a:solidFill>
                <a:latin typeface="Microsoft YaHei"/>
              </a:rPr>
              <a:t>形成可复制打法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49040" y="5888736"/>
            <a:ext cx="54864" cy="457200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803904" y="5888736"/>
            <a:ext cx="314553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13632" y="5888736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03A70"/>
                </a:solidFill>
                <a:latin typeface="Arial"/>
              </a:rPr>
              <a:t>04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15968" y="5888736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2955"/>
                </a:solidFill>
                <a:latin typeface="Microsoft YaHei"/>
              </a:rPr>
              <a:t>精准辅导引擎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15000" y="5888736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 i="1">
                <a:solidFill>
                  <a:srgbClr val="4A5568"/>
                </a:solidFill>
                <a:latin typeface="Microsoft YaHei"/>
              </a:rPr>
              <a:t>辅导从经验变数据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437376"/>
            <a:ext cx="54864" cy="457200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20624" y="6437376"/>
            <a:ext cx="314553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0352" y="6437376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03A70"/>
                </a:solidFill>
                <a:latin typeface="Arial"/>
              </a:rPr>
              <a:t>05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2688" y="6437376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2955"/>
                </a:solidFill>
                <a:latin typeface="Microsoft YaHei"/>
              </a:rPr>
              <a:t>复盘生成引擎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31720" y="6437376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 i="1">
                <a:solidFill>
                  <a:srgbClr val="4A5568"/>
                </a:solidFill>
                <a:latin typeface="Microsoft YaHei"/>
              </a:rPr>
              <a:t>材料一键产出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749040" y="6437376"/>
            <a:ext cx="54864" cy="457200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803904" y="6437376"/>
            <a:ext cx="314553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913632" y="6437376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03A70"/>
                </a:solidFill>
                <a:latin typeface="Arial"/>
              </a:rPr>
              <a:t>06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15968" y="6437376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2955"/>
                </a:solidFill>
                <a:latin typeface="Microsoft YaHei"/>
              </a:rPr>
              <a:t>语料进化引擎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15000" y="6437376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 i="1">
                <a:solidFill>
                  <a:srgbClr val="4A5568"/>
                </a:solidFill>
                <a:latin typeface="Microsoft YaHei"/>
              </a:rPr>
              <a:t>反向训练 AI 大脑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3657600.0" y="5111496"/>
            <a:ext cx="0.0" cy="118872"/>
          </a:xfrm>
          <a:prstGeom prst="line">
            <a:avLst/>
          </a:prstGeom>
          <a:ln w="7620">
            <a:solidFill>
              <a:srgbClr val="8A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965960.0" y="5230368"/>
            <a:ext cx="3383280.0" cy="0"/>
          </a:xfrm>
          <a:prstGeom prst="line">
            <a:avLst/>
          </a:prstGeom>
          <a:ln w="7620">
            <a:solidFill>
              <a:srgbClr val="8A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965960.0" y="5230368"/>
            <a:ext cx="0.0" cy="109728"/>
          </a:xfrm>
          <a:prstGeom prst="line">
            <a:avLst/>
          </a:prstGeom>
          <a:ln w="7620">
            <a:solidFill>
              <a:srgbClr val="8A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349240.0" y="5230368"/>
            <a:ext cx="0.0" cy="109728"/>
          </a:xfrm>
          <a:prstGeom prst="line">
            <a:avLst/>
          </a:prstGeom>
          <a:ln w="7620">
            <a:solidFill>
              <a:srgbClr val="8A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965960.0" y="5230368"/>
            <a:ext cx="0.0" cy="658368"/>
          </a:xfrm>
          <a:prstGeom prst="line">
            <a:avLst/>
          </a:prstGeom>
          <a:ln w="7620">
            <a:solidFill>
              <a:srgbClr val="8A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5349240.0" y="5230368"/>
            <a:ext cx="0.0" cy="658368"/>
          </a:xfrm>
          <a:prstGeom prst="line">
            <a:avLst/>
          </a:prstGeom>
          <a:ln w="7620">
            <a:solidFill>
              <a:srgbClr val="8A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965960.0" y="5230368"/>
            <a:ext cx="0.0" cy="1207008"/>
          </a:xfrm>
          <a:prstGeom prst="line">
            <a:avLst/>
          </a:prstGeom>
          <a:ln w="7620">
            <a:solidFill>
              <a:srgbClr val="8A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349240.0" y="5230368"/>
            <a:ext cx="0.0" cy="1207008"/>
          </a:xfrm>
          <a:prstGeom prst="line">
            <a:avLst/>
          </a:prstGeom>
          <a:ln w="7620">
            <a:solidFill>
              <a:srgbClr val="8A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365760" y="7077456"/>
            <a:ext cx="6583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8A95A5"/>
                </a:solidFill>
                <a:latin typeface="Arial"/>
              </a:rPr>
              <a:t>CLOSED LOOP   </a:t>
            </a:r>
            <a:r>
              <a:rPr sz="900" b="1" i="0">
                <a:solidFill>
                  <a:srgbClr val="003A70"/>
                </a:solidFill>
                <a:latin typeface="Microsoft YaHei"/>
              </a:rPr>
              <a:t>数据采集 → AI 识别 → 组长干预 → 话术沉淀 → 团队复制 → 模型进化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7333488"/>
            <a:ext cx="1097280" cy="164592"/>
          </a:xfrm>
          <a:prstGeom prst="rect">
            <a:avLst/>
          </a:prstGeom>
          <a:solidFill>
            <a:srgbClr val="E6EEF7"/>
          </a:solidFill>
          <a:ln w="6350">
            <a:solidFill>
              <a:srgbClr val="003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760" y="733348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003A70"/>
                </a:solidFill>
                <a:latin typeface="Microsoft YaHei"/>
              </a:rPr>
              <a:t>采集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463040" y="7333488"/>
            <a:ext cx="1097280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003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63040" y="733348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003A70"/>
                </a:solidFill>
                <a:latin typeface="Microsoft YaHei"/>
              </a:rPr>
              <a:t>识别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560320" y="7333488"/>
            <a:ext cx="1097280" cy="164592"/>
          </a:xfrm>
          <a:prstGeom prst="rect">
            <a:avLst/>
          </a:prstGeom>
          <a:solidFill>
            <a:srgbClr val="E6EEF7"/>
          </a:solidFill>
          <a:ln w="6350">
            <a:solidFill>
              <a:srgbClr val="003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560320" y="733348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003A70"/>
                </a:solidFill>
                <a:latin typeface="Microsoft YaHei"/>
              </a:rPr>
              <a:t>干预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57600" y="7333488"/>
            <a:ext cx="1097280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003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657600" y="733348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003A70"/>
                </a:solidFill>
                <a:latin typeface="Microsoft YaHei"/>
              </a:rPr>
              <a:t>沉淀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754880" y="7333488"/>
            <a:ext cx="1097280" cy="164592"/>
          </a:xfrm>
          <a:prstGeom prst="rect">
            <a:avLst/>
          </a:prstGeom>
          <a:solidFill>
            <a:srgbClr val="E6EEF7"/>
          </a:solidFill>
          <a:ln w="6350">
            <a:solidFill>
              <a:srgbClr val="003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754880" y="733348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003A70"/>
                </a:solidFill>
                <a:latin typeface="Microsoft YaHei"/>
              </a:rPr>
              <a:t>复制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852160" y="7333488"/>
            <a:ext cx="1097280" cy="164592"/>
          </a:xfrm>
          <a:prstGeom prst="rect">
            <a:avLst/>
          </a:prstGeom>
          <a:solidFill>
            <a:srgbClr val="003A70"/>
          </a:solidFill>
          <a:ln w="6350">
            <a:solidFill>
              <a:srgbClr val="003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852160" y="733348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YaHei"/>
              </a:rPr>
              <a:t>进化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65760" y="7699248"/>
            <a:ext cx="658368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65760" y="7699248"/>
            <a:ext cx="91440" cy="566928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94360" y="7735824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03A70"/>
                </a:solidFill>
                <a:latin typeface="Arial"/>
              </a:rPr>
              <a:t>KEY TAKEAWAY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4360" y="790041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01010"/>
                </a:solidFill>
                <a:latin typeface="Microsoft YaHei"/>
              </a:rPr>
              <a:t>现管 1+N 不是减负工具，而是</a:t>
            </a:r>
            <a:r>
              <a:rPr sz="1100" b="1" i="0">
                <a:solidFill>
                  <a:srgbClr val="C83A1E"/>
                </a:solidFill>
                <a:latin typeface="Microsoft YaHei"/>
              </a:rPr>
              <a:t>现场管理操作系统</a:t>
            </a:r>
            <a:r>
              <a:rPr sz="1100" b="1" i="0">
                <a:solidFill>
                  <a:srgbClr val="101010"/>
                </a:solidFill>
                <a:latin typeface="Microsoft YaHei"/>
              </a:rPr>
              <a:t>  ——  PAone 实时感知 · 组长精准干预 · 团队能力复制 · AI 持续进化。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365760" y="8357616"/>
            <a:ext cx="6583680" cy="0"/>
          </a:xfrm>
          <a:prstGeom prst="line">
            <a:avLst/>
          </a:prstGeom>
          <a:ln w="5080">
            <a:solidFill>
              <a:srgbClr val="C8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365760" y="839419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8A95A5"/>
                </a:solidFill>
                <a:latin typeface="Arial"/>
              </a:rPr>
              <a:t>Source: </a:t>
            </a:r>
            <a:r>
              <a:rPr sz="700" b="0" i="0">
                <a:solidFill>
                  <a:srgbClr val="8A95A5"/>
                </a:solidFill>
                <a:latin typeface="Microsoft YaHei"/>
              </a:rPr>
              <a:t>银卡服销现场管理诊断 2025Q4 抽样调研 (N=87)；PAone 1+N 产品规划 v2026.05。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852160" y="839419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>
                <a:solidFill>
                  <a:srgbClr val="8A95A5"/>
                </a:solidFill>
                <a:latin typeface="Arial"/>
              </a:rPr>
              <a:t>Page  1 /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