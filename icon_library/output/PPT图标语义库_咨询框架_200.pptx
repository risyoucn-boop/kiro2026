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202C"/>
                </a:solidFill>
              </a:rPr>
              <a:t>PPT 图标语义库 · 咨询框架包 · 200 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200 个原生 PowerPoint 形状 (custGeom)。每个图标对应一个公开的商业方法论框架（2x2矩阵、SWOT、五力、PDCA…）。所有设计为原创几何抽象，未复制任何特定咨询机构的视觉资产。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6 个分类 · 战略框架 / 流程模型 / 组织架构 / 数据可视化 / 诊断工具 / 战略概念</a:t>
            </a:r>
          </a:p>
        </p:txBody>
      </p:sp>
      <p:sp>
        <p:nvSpPr>
          <p:cNvPr id="5" name="category_STRAT"/>
          <p:cNvSpPr/>
          <p:nvPr/>
        </p:nvSpPr>
        <p:spPr>
          <a:xfrm>
            <a:off x="1143000" y="329184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01_战略框架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STRAT · 40 icons</a:t>
            </a:r>
          </a:p>
        </p:txBody>
      </p:sp>
      <p:sp>
        <p:nvSpPr>
          <p:cNvPr id="8" name="category_FLOW"/>
          <p:cNvSpPr/>
          <p:nvPr/>
        </p:nvSpPr>
        <p:spPr>
          <a:xfrm>
            <a:off x="3063240" y="329184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6888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02_流程模型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FLOW · 30 icons</a:t>
            </a:r>
          </a:p>
        </p:txBody>
      </p:sp>
      <p:sp>
        <p:nvSpPr>
          <p:cNvPr id="11" name="category_ORG"/>
          <p:cNvSpPr/>
          <p:nvPr/>
        </p:nvSpPr>
        <p:spPr>
          <a:xfrm>
            <a:off x="4983480" y="329184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3000"/>
                </a:moveTo>
                <a:lnTo>
                  <a:pt x="13000" y="3000"/>
                </a:lnTo>
                <a:lnTo>
                  <a:pt x="15000" y="7200"/>
                </a:lnTo>
                <a:lnTo>
                  <a:pt x="9000" y="7200"/>
                </a:lnTo>
                <a:close/>
                <a:moveTo>
                  <a:pt x="9000" y="7600"/>
                </a:moveTo>
                <a:lnTo>
                  <a:pt x="15000" y="7600"/>
                </a:lnTo>
                <a:lnTo>
                  <a:pt x="17000" y="11800"/>
                </a:lnTo>
                <a:lnTo>
                  <a:pt x="7000" y="11800"/>
                </a:lnTo>
                <a:close/>
                <a:moveTo>
                  <a:pt x="7000" y="12200"/>
                </a:moveTo>
                <a:lnTo>
                  <a:pt x="17000" y="12200"/>
                </a:lnTo>
                <a:lnTo>
                  <a:pt x="19000" y="16400"/>
                </a:lnTo>
                <a:lnTo>
                  <a:pt x="5000" y="16400"/>
                </a:lnTo>
                <a:close/>
                <a:moveTo>
                  <a:pt x="5000" y="16800"/>
                </a:moveTo>
                <a:lnTo>
                  <a:pt x="19000" y="16800"/>
                </a:lnTo>
                <a:lnTo>
                  <a:pt x="21000" y="21000"/>
                </a:lnTo>
                <a:lnTo>
                  <a:pt x="3000" y="21000"/>
                </a:ln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8912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03_组织架构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ORG · 30 icons</a:t>
            </a:r>
          </a:p>
        </p:txBody>
      </p:sp>
      <p:sp>
        <p:nvSpPr>
          <p:cNvPr id="14" name="category_CHART"/>
          <p:cNvSpPr/>
          <p:nvPr/>
        </p:nvSpPr>
        <p:spPr>
          <a:xfrm>
            <a:off x="6903720" y="329184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15000"/>
                </a:moveTo>
                <a:lnTo>
                  <a:pt x="4733" y="15000"/>
                </a:lnTo>
                <a:cubicBezTo>
                  <a:pt x="4844" y="15000"/>
                  <a:pt x="4933" y="15090"/>
                  <a:pt x="4933" y="15200"/>
                </a:cubicBezTo>
                <a:lnTo>
                  <a:pt x="4933" y="20800"/>
                </a:lnTo>
                <a:cubicBezTo>
                  <a:pt x="4933" y="20910"/>
                  <a:pt x="4844" y="21000"/>
                  <a:pt x="4733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15200"/>
                </a:lnTo>
                <a:cubicBezTo>
                  <a:pt x="2000" y="15090"/>
                  <a:pt x="2090" y="15000"/>
                  <a:pt x="2200" y="15000"/>
                </a:cubicBezTo>
                <a:close/>
                <a:moveTo>
                  <a:pt x="5533" y="13000"/>
                </a:moveTo>
                <a:lnTo>
                  <a:pt x="8067" y="13000"/>
                </a:lnTo>
                <a:cubicBezTo>
                  <a:pt x="8177" y="13000"/>
                  <a:pt x="8267" y="13090"/>
                  <a:pt x="8267" y="13200"/>
                </a:cubicBezTo>
                <a:lnTo>
                  <a:pt x="8267" y="14800"/>
                </a:lnTo>
                <a:cubicBezTo>
                  <a:pt x="8267" y="14910"/>
                  <a:pt x="8177" y="15000"/>
                  <a:pt x="8067" y="15000"/>
                </a:cubicBezTo>
                <a:lnTo>
                  <a:pt x="5533" y="15000"/>
                </a:lnTo>
                <a:cubicBezTo>
                  <a:pt x="5423" y="15000"/>
                  <a:pt x="5333" y="14910"/>
                  <a:pt x="5333" y="14800"/>
                </a:cubicBezTo>
                <a:lnTo>
                  <a:pt x="5333" y="13200"/>
                </a:lnTo>
                <a:cubicBezTo>
                  <a:pt x="5333" y="13090"/>
                  <a:pt x="5423" y="13000"/>
                  <a:pt x="5533" y="13000"/>
                </a:cubicBezTo>
                <a:close/>
                <a:moveTo>
                  <a:pt x="8867" y="13000"/>
                </a:moveTo>
                <a:lnTo>
                  <a:pt x="11400" y="13000"/>
                </a:lnTo>
                <a:cubicBezTo>
                  <a:pt x="11510" y="13000"/>
                  <a:pt x="11600" y="13090"/>
                  <a:pt x="11600" y="13200"/>
                </a:cubicBezTo>
                <a:lnTo>
                  <a:pt x="11600" y="14800"/>
                </a:lnTo>
                <a:cubicBezTo>
                  <a:pt x="11600" y="14910"/>
                  <a:pt x="11510" y="15000"/>
                  <a:pt x="11400" y="15000"/>
                </a:cubicBezTo>
                <a:lnTo>
                  <a:pt x="8867" y="15000"/>
                </a:lnTo>
                <a:cubicBezTo>
                  <a:pt x="8756" y="15000"/>
                  <a:pt x="8667" y="14910"/>
                  <a:pt x="8667" y="14800"/>
                </a:cubicBezTo>
                <a:lnTo>
                  <a:pt x="8667" y="13200"/>
                </a:lnTo>
                <a:cubicBezTo>
                  <a:pt x="8667" y="13090"/>
                  <a:pt x="8756" y="13000"/>
                  <a:pt x="8867" y="13000"/>
                </a:cubicBezTo>
                <a:close/>
                <a:moveTo>
                  <a:pt x="12200" y="11000"/>
                </a:moveTo>
                <a:lnTo>
                  <a:pt x="14733" y="11000"/>
                </a:lnTo>
                <a:cubicBezTo>
                  <a:pt x="14844" y="11000"/>
                  <a:pt x="14933" y="11090"/>
                  <a:pt x="14933" y="11200"/>
                </a:cubicBezTo>
                <a:lnTo>
                  <a:pt x="14933" y="14800"/>
                </a:lnTo>
                <a:cubicBezTo>
                  <a:pt x="14933" y="14910"/>
                  <a:pt x="14844" y="15000"/>
                  <a:pt x="14733" y="15000"/>
                </a:cubicBezTo>
                <a:lnTo>
                  <a:pt x="12200" y="15000"/>
                </a:lnTo>
                <a:cubicBezTo>
                  <a:pt x="12090" y="15000"/>
                  <a:pt x="12000" y="14910"/>
                  <a:pt x="12000" y="14800"/>
                </a:cubicBezTo>
                <a:lnTo>
                  <a:pt x="12000" y="11200"/>
                </a:lnTo>
                <a:cubicBezTo>
                  <a:pt x="12000" y="11090"/>
                  <a:pt x="12090" y="11000"/>
                  <a:pt x="12200" y="11000"/>
                </a:cubicBezTo>
                <a:close/>
                <a:moveTo>
                  <a:pt x="15533" y="11000"/>
                </a:moveTo>
                <a:lnTo>
                  <a:pt x="18067" y="11000"/>
                </a:lnTo>
                <a:cubicBezTo>
                  <a:pt x="18177" y="11000"/>
                  <a:pt x="18267" y="11090"/>
                  <a:pt x="18267" y="11200"/>
                </a:cubicBezTo>
                <a:lnTo>
                  <a:pt x="18267" y="12800"/>
                </a:lnTo>
                <a:cubicBezTo>
                  <a:pt x="18267" y="12910"/>
                  <a:pt x="18177" y="13000"/>
                  <a:pt x="18067" y="13000"/>
                </a:cubicBezTo>
                <a:lnTo>
                  <a:pt x="15533" y="13000"/>
                </a:lnTo>
                <a:cubicBezTo>
                  <a:pt x="15423" y="13000"/>
                  <a:pt x="15333" y="12910"/>
                  <a:pt x="15333" y="12800"/>
                </a:cubicBezTo>
                <a:lnTo>
                  <a:pt x="15333" y="11200"/>
                </a:lnTo>
                <a:cubicBezTo>
                  <a:pt x="15333" y="11090"/>
                  <a:pt x="15423" y="11000"/>
                  <a:pt x="15533" y="11000"/>
                </a:cubicBezTo>
                <a:close/>
                <a:moveTo>
                  <a:pt x="18867" y="5000"/>
                </a:moveTo>
                <a:lnTo>
                  <a:pt x="21400" y="5000"/>
                </a:lnTo>
                <a:cubicBezTo>
                  <a:pt x="21510" y="5000"/>
                  <a:pt x="21600" y="5090"/>
                  <a:pt x="21600" y="5200"/>
                </a:cubicBezTo>
                <a:lnTo>
                  <a:pt x="21600" y="12800"/>
                </a:lnTo>
                <a:cubicBezTo>
                  <a:pt x="21600" y="12910"/>
                  <a:pt x="21510" y="13000"/>
                  <a:pt x="21400" y="13000"/>
                </a:cubicBezTo>
                <a:lnTo>
                  <a:pt x="18867" y="13000"/>
                </a:lnTo>
                <a:cubicBezTo>
                  <a:pt x="18756" y="13000"/>
                  <a:pt x="18667" y="12910"/>
                  <a:pt x="18667" y="12800"/>
                </a:cubicBezTo>
                <a:lnTo>
                  <a:pt x="18667" y="5200"/>
                </a:lnTo>
                <a:cubicBezTo>
                  <a:pt x="18667" y="5090"/>
                  <a:pt x="18756" y="5000"/>
                  <a:pt x="18867" y="5000"/>
                </a:cubicBezTo>
                <a:close/>
                <a:moveTo>
                  <a:pt x="2100" y="21000"/>
                </a:moveTo>
                <a:lnTo>
                  <a:pt x="21900" y="21000"/>
                </a:lnTo>
                <a:cubicBezTo>
                  <a:pt x="21955" y="21000"/>
                  <a:pt x="22000" y="21045"/>
                  <a:pt x="22000" y="21100"/>
                </a:cubicBezTo>
                <a:lnTo>
                  <a:pt x="22000" y="21400"/>
                </a:lnTo>
                <a:cubicBezTo>
                  <a:pt x="22000" y="21455"/>
                  <a:pt x="21955" y="21500"/>
                  <a:pt x="21900" y="21500"/>
                </a:cubicBezTo>
                <a:lnTo>
                  <a:pt x="2100" y="21500"/>
                </a:lnTo>
                <a:cubicBezTo>
                  <a:pt x="2045" y="21500"/>
                  <a:pt x="2000" y="21455"/>
                  <a:pt x="2000" y="214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04_数据可视化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CHART · 40 icons</a:t>
            </a:r>
          </a:p>
        </p:txBody>
      </p:sp>
      <p:sp>
        <p:nvSpPr>
          <p:cNvPr id="17" name="category_DIAG"/>
          <p:cNvSpPr/>
          <p:nvPr/>
        </p:nvSpPr>
        <p:spPr>
          <a:xfrm>
            <a:off x="8823960" y="329184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05_诊断工具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DIAG · 20 icons</a:t>
            </a:r>
          </a:p>
        </p:txBody>
      </p:sp>
      <p:sp>
        <p:nvSpPr>
          <p:cNvPr id="20" name="category_CONCEPT"/>
          <p:cNvSpPr/>
          <p:nvPr/>
        </p:nvSpPr>
        <p:spPr>
          <a:xfrm>
            <a:off x="10744200" y="329184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20800"/>
                </a:moveTo>
                <a:cubicBezTo>
                  <a:pt x="9000" y="20800"/>
                  <a:pt x="15000" y="4800"/>
                  <a:pt x="21000" y="4800"/>
                </a:cubicBezTo>
                <a:lnTo>
                  <a:pt x="21000" y="3200"/>
                </a:lnTo>
                <a:cubicBezTo>
                  <a:pt x="15000" y="3200"/>
                  <a:pt x="9000" y="19200"/>
                  <a:pt x="3000" y="19200"/>
                </a:cubicBez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4984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06_战略概念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CONCEPT · 40 icons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01_战略框架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4E79"/>
                </a:solidFill>
              </a:rPr>
              <a:t>STRAT · 40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每个图标对应一个公开商业方法论框架。Shape Fill 一键改色。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01_战略框架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STRAT · 第 1/2 页 · 共 40 个</a:t>
            </a:r>
          </a:p>
        </p:txBody>
      </p:sp>
      <p:sp>
        <p:nvSpPr>
          <p:cNvPr id="4" name="STRAT-001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通用2x2矩阵</a:t>
            </a:r>
          </a:p>
        </p:txBody>
      </p:sp>
      <p:sp>
        <p:nvSpPr>
          <p:cNvPr id="7" name="STRAT-002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3100" y="3000"/>
                </a:moveTo>
                <a:lnTo>
                  <a:pt x="20400" y="3000"/>
                </a:lnTo>
                <a:cubicBezTo>
                  <a:pt x="20731" y="3000"/>
                  <a:pt x="21000" y="3269"/>
                  <a:pt x="21000" y="3600"/>
                </a:cubicBezTo>
                <a:lnTo>
                  <a:pt x="21000" y="10900"/>
                </a:lnTo>
                <a:cubicBezTo>
                  <a:pt x="21000" y="11231"/>
                  <a:pt x="20731" y="11500"/>
                  <a:pt x="20400" y="11500"/>
                </a:cubicBezTo>
                <a:lnTo>
                  <a:pt x="13100" y="11500"/>
                </a:lnTo>
                <a:cubicBezTo>
                  <a:pt x="12769" y="11500"/>
                  <a:pt x="12500" y="11231"/>
                  <a:pt x="12500" y="10900"/>
                </a:cubicBezTo>
                <a:lnTo>
                  <a:pt x="12500" y="3600"/>
                </a:lnTo>
                <a:cubicBezTo>
                  <a:pt x="12500" y="3269"/>
                  <a:pt x="12769" y="3000"/>
                  <a:pt x="13100" y="3000"/>
                </a:cubicBez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明星象限</a:t>
            </a:r>
          </a:p>
        </p:txBody>
      </p:sp>
      <p:sp>
        <p:nvSpPr>
          <p:cNvPr id="10" name="STRAT-003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600" y="3000"/>
                </a:moveTo>
                <a:lnTo>
                  <a:pt x="10900" y="3000"/>
                </a:lnTo>
                <a:cubicBezTo>
                  <a:pt x="11231" y="3000"/>
                  <a:pt x="11500" y="3269"/>
                  <a:pt x="11500" y="3600"/>
                </a:cubicBezTo>
                <a:lnTo>
                  <a:pt x="11500" y="10900"/>
                </a:lnTo>
                <a:cubicBezTo>
                  <a:pt x="11500" y="11231"/>
                  <a:pt x="11231" y="11500"/>
                  <a:pt x="10900" y="11500"/>
                </a:cubicBezTo>
                <a:lnTo>
                  <a:pt x="3600" y="11500"/>
                </a:lnTo>
                <a:cubicBezTo>
                  <a:pt x="3269" y="11500"/>
                  <a:pt x="3000" y="11231"/>
                  <a:pt x="3000" y="10900"/>
                </a:cubicBezTo>
                <a:lnTo>
                  <a:pt x="3000" y="3600"/>
                </a:lnTo>
                <a:cubicBezTo>
                  <a:pt x="3000" y="3269"/>
                  <a:pt x="3269" y="3000"/>
                  <a:pt x="3600" y="3000"/>
                </a:cubicBez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现金牛象限</a:t>
            </a:r>
          </a:p>
        </p:txBody>
      </p:sp>
      <p:sp>
        <p:nvSpPr>
          <p:cNvPr id="13" name="STRAT-004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3100" y="12500"/>
                </a:moveTo>
                <a:lnTo>
                  <a:pt x="20400" y="12500"/>
                </a:lnTo>
                <a:cubicBezTo>
                  <a:pt x="20731" y="12500"/>
                  <a:pt x="21000" y="12769"/>
                  <a:pt x="21000" y="13100"/>
                </a:cubicBezTo>
                <a:lnTo>
                  <a:pt x="21000" y="20400"/>
                </a:lnTo>
                <a:cubicBezTo>
                  <a:pt x="21000" y="20731"/>
                  <a:pt x="20731" y="21000"/>
                  <a:pt x="20400" y="21000"/>
                </a:cubicBezTo>
                <a:lnTo>
                  <a:pt x="13100" y="21000"/>
                </a:lnTo>
                <a:cubicBezTo>
                  <a:pt x="12769" y="21000"/>
                  <a:pt x="12500" y="20731"/>
                  <a:pt x="12500" y="20400"/>
                </a:cubicBezTo>
                <a:lnTo>
                  <a:pt x="12500" y="13100"/>
                </a:lnTo>
                <a:cubicBezTo>
                  <a:pt x="12500" y="12769"/>
                  <a:pt x="12769" y="12500"/>
                  <a:pt x="13100" y="12500"/>
                </a:cubicBez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问号象限</a:t>
            </a:r>
          </a:p>
        </p:txBody>
      </p:sp>
      <p:sp>
        <p:nvSpPr>
          <p:cNvPr id="16" name="STRAT-005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600" y="12500"/>
                </a:moveTo>
                <a:lnTo>
                  <a:pt x="10900" y="12500"/>
                </a:lnTo>
                <a:cubicBezTo>
                  <a:pt x="11231" y="12500"/>
                  <a:pt x="11500" y="12769"/>
                  <a:pt x="11500" y="13100"/>
                </a:cubicBezTo>
                <a:lnTo>
                  <a:pt x="11500" y="20400"/>
                </a:lnTo>
                <a:cubicBezTo>
                  <a:pt x="11500" y="20731"/>
                  <a:pt x="11231" y="21000"/>
                  <a:pt x="10900" y="21000"/>
                </a:cubicBezTo>
                <a:lnTo>
                  <a:pt x="3600" y="21000"/>
                </a:lnTo>
                <a:cubicBezTo>
                  <a:pt x="3269" y="21000"/>
                  <a:pt x="3000" y="20731"/>
                  <a:pt x="3000" y="20400"/>
                </a:cubicBezTo>
                <a:lnTo>
                  <a:pt x="3000" y="13100"/>
                </a:lnTo>
                <a:cubicBezTo>
                  <a:pt x="3000" y="12769"/>
                  <a:pt x="3269" y="12500"/>
                  <a:pt x="3600" y="12500"/>
                </a:cubicBez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瘦狗象限</a:t>
            </a:r>
          </a:p>
        </p:txBody>
      </p:sp>
      <p:sp>
        <p:nvSpPr>
          <p:cNvPr id="19" name="STRAT-006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600" y="3000"/>
                </a:moveTo>
                <a:lnTo>
                  <a:pt x="10900" y="3000"/>
                </a:lnTo>
                <a:cubicBezTo>
                  <a:pt x="11231" y="3000"/>
                  <a:pt x="11500" y="3269"/>
                  <a:pt x="11500" y="3600"/>
                </a:cubicBezTo>
                <a:lnTo>
                  <a:pt x="11500" y="10900"/>
                </a:lnTo>
                <a:cubicBezTo>
                  <a:pt x="11500" y="11231"/>
                  <a:pt x="11231" y="11500"/>
                  <a:pt x="10900" y="11500"/>
                </a:cubicBezTo>
                <a:lnTo>
                  <a:pt x="3600" y="11500"/>
                </a:lnTo>
                <a:cubicBezTo>
                  <a:pt x="3269" y="11500"/>
                  <a:pt x="3000" y="11231"/>
                  <a:pt x="3000" y="10900"/>
                </a:cubicBezTo>
                <a:lnTo>
                  <a:pt x="3000" y="3600"/>
                </a:lnTo>
                <a:cubicBezTo>
                  <a:pt x="3000" y="3269"/>
                  <a:pt x="3269" y="3000"/>
                  <a:pt x="3600" y="3000"/>
                </a:cubicBezTo>
                <a:close/>
                <a:moveTo>
                  <a:pt x="13100" y="3000"/>
                </a:moveTo>
                <a:lnTo>
                  <a:pt x="20400" y="3000"/>
                </a:lnTo>
                <a:cubicBezTo>
                  <a:pt x="20731" y="3000"/>
                  <a:pt x="21000" y="3269"/>
                  <a:pt x="21000" y="3600"/>
                </a:cubicBezTo>
                <a:lnTo>
                  <a:pt x="21000" y="10900"/>
                </a:lnTo>
                <a:cubicBezTo>
                  <a:pt x="21000" y="11231"/>
                  <a:pt x="20731" y="11500"/>
                  <a:pt x="20400" y="11500"/>
                </a:cubicBezTo>
                <a:lnTo>
                  <a:pt x="13100" y="11500"/>
                </a:lnTo>
                <a:cubicBezTo>
                  <a:pt x="12769" y="11500"/>
                  <a:pt x="12500" y="11231"/>
                  <a:pt x="12500" y="10900"/>
                </a:cubicBezTo>
                <a:lnTo>
                  <a:pt x="12500" y="3600"/>
                </a:lnTo>
                <a:cubicBezTo>
                  <a:pt x="12500" y="3269"/>
                  <a:pt x="12769" y="3000"/>
                  <a:pt x="13100" y="3000"/>
                </a:cubicBezTo>
                <a:close/>
                <a:moveTo>
                  <a:pt x="3600" y="12500"/>
                </a:moveTo>
                <a:lnTo>
                  <a:pt x="10900" y="12500"/>
                </a:lnTo>
                <a:cubicBezTo>
                  <a:pt x="11231" y="12500"/>
                  <a:pt x="11500" y="12769"/>
                  <a:pt x="11500" y="13100"/>
                </a:cubicBezTo>
                <a:lnTo>
                  <a:pt x="11500" y="20400"/>
                </a:lnTo>
                <a:cubicBezTo>
                  <a:pt x="11500" y="20731"/>
                  <a:pt x="11231" y="21000"/>
                  <a:pt x="10900" y="21000"/>
                </a:cubicBezTo>
                <a:lnTo>
                  <a:pt x="3600" y="21000"/>
                </a:lnTo>
                <a:cubicBezTo>
                  <a:pt x="3269" y="21000"/>
                  <a:pt x="3000" y="20731"/>
                  <a:pt x="3000" y="20400"/>
                </a:cubicBezTo>
                <a:lnTo>
                  <a:pt x="3000" y="13100"/>
                </a:lnTo>
                <a:cubicBezTo>
                  <a:pt x="3000" y="12769"/>
                  <a:pt x="3269" y="12500"/>
                  <a:pt x="3600" y="12500"/>
                </a:cubicBezTo>
                <a:close/>
                <a:moveTo>
                  <a:pt x="13100" y="12500"/>
                </a:moveTo>
                <a:lnTo>
                  <a:pt x="20400" y="12500"/>
                </a:lnTo>
                <a:cubicBezTo>
                  <a:pt x="20731" y="12500"/>
                  <a:pt x="21000" y="12769"/>
                  <a:pt x="21000" y="13100"/>
                </a:cubicBezTo>
                <a:lnTo>
                  <a:pt x="21000" y="20400"/>
                </a:lnTo>
                <a:cubicBezTo>
                  <a:pt x="21000" y="20731"/>
                  <a:pt x="20731" y="21000"/>
                  <a:pt x="20400" y="21000"/>
                </a:cubicBezTo>
                <a:lnTo>
                  <a:pt x="13100" y="21000"/>
                </a:lnTo>
                <a:cubicBezTo>
                  <a:pt x="12769" y="21000"/>
                  <a:pt x="12500" y="20731"/>
                  <a:pt x="12500" y="20400"/>
                </a:cubicBezTo>
                <a:lnTo>
                  <a:pt x="12500" y="13100"/>
                </a:lnTo>
                <a:cubicBezTo>
                  <a:pt x="12500" y="12769"/>
                  <a:pt x="12769" y="12500"/>
                  <a:pt x="13100" y="12500"/>
                </a:cubicBez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增长份额矩阵</a:t>
            </a:r>
          </a:p>
        </p:txBody>
      </p:sp>
      <p:sp>
        <p:nvSpPr>
          <p:cNvPr id="22" name="STRAT-007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1000"/>
                </a:moveTo>
                <a:cubicBezTo>
                  <a:pt x="6000" y="21000"/>
                  <a:pt x="9000" y="18000"/>
                  <a:pt x="11000" y="12000"/>
                </a:cubicBezTo>
                <a:cubicBezTo>
                  <a:pt x="13000" y="6000"/>
                  <a:pt x="14000" y="5000"/>
                  <a:pt x="16000" y="5000"/>
                </a:cubicBezTo>
                <a:moveTo>
                  <a:pt x="6000" y="21000"/>
                </a:moveTo>
                <a:cubicBezTo>
                  <a:pt x="10000" y="21000"/>
                  <a:pt x="13000" y="17000"/>
                  <a:pt x="15000" y="11000"/>
                </a:cubicBezTo>
                <a:cubicBezTo>
                  <a:pt x="17000" y="5000"/>
                  <a:pt x="19000" y="4000"/>
                  <a:pt x="21000" y="4000"/>
                </a:cubicBezTo>
                <a:moveTo>
                  <a:pt x="2000" y="21700"/>
                </a:moveTo>
                <a:lnTo>
                  <a:pt x="5500" y="21700"/>
                </a:lnTo>
                <a:lnTo>
                  <a:pt x="5500" y="20300"/>
                </a:lnTo>
                <a:lnTo>
                  <a:pt x="2000" y="20300"/>
                </a:lnTo>
                <a:close/>
                <a:moveTo>
                  <a:pt x="6000" y="21700"/>
                </a:moveTo>
                <a:lnTo>
                  <a:pt x="9500" y="21700"/>
                </a:lnTo>
                <a:lnTo>
                  <a:pt x="9500" y="20300"/>
                </a:lnTo>
                <a:lnTo>
                  <a:pt x="6000" y="20300"/>
                </a:lnTo>
                <a:close/>
                <a:moveTo>
                  <a:pt x="10000" y="21700"/>
                </a:moveTo>
                <a:lnTo>
                  <a:pt x="21000" y="21700"/>
                </a:lnTo>
                <a:lnTo>
                  <a:pt x="21000" y="20300"/>
                </a:lnTo>
                <a:lnTo>
                  <a:pt x="10000" y="20300"/>
                </a:lnTo>
                <a:close/>
                <a:moveTo>
                  <a:pt x="12000" y="12000"/>
                </a:moveTo>
                <a:cubicBezTo>
                  <a:pt x="12000" y="12552"/>
                  <a:pt x="11552" y="13000"/>
                  <a:pt x="11000" y="13000"/>
                </a:cubicBezTo>
                <a:cubicBezTo>
                  <a:pt x="10448" y="13000"/>
                  <a:pt x="10000" y="12552"/>
                  <a:pt x="10000" y="12000"/>
                </a:cubicBezTo>
                <a:cubicBezTo>
                  <a:pt x="10000" y="11448"/>
                  <a:pt x="10448" y="11000"/>
                  <a:pt x="11000" y="11000"/>
                </a:cubicBezTo>
                <a:cubicBezTo>
                  <a:pt x="11552" y="11000"/>
                  <a:pt x="12000" y="11448"/>
                  <a:pt x="12000" y="12000"/>
                </a:cubicBezTo>
                <a:close/>
                <a:moveTo>
                  <a:pt x="16000" y="11000"/>
                </a:moveTo>
                <a:cubicBezTo>
                  <a:pt x="16000" y="11552"/>
                  <a:pt x="15552" y="12000"/>
                  <a:pt x="15000" y="12000"/>
                </a:cubicBezTo>
                <a:cubicBezTo>
                  <a:pt x="14448" y="12000"/>
                  <a:pt x="14000" y="11552"/>
                  <a:pt x="14000" y="11000"/>
                </a:cubicBezTo>
                <a:cubicBezTo>
                  <a:pt x="14000" y="10448"/>
                  <a:pt x="14448" y="10000"/>
                  <a:pt x="15000" y="10000"/>
                </a:cubicBezTo>
                <a:cubicBezTo>
                  <a:pt x="15552" y="10000"/>
                  <a:pt x="16000" y="10448"/>
                  <a:pt x="16000" y="11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三层增长曲线</a:t>
            </a:r>
          </a:p>
        </p:txBody>
      </p:sp>
      <p:sp>
        <p:nvSpPr>
          <p:cNvPr id="25" name="STRAT-008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21000"/>
                </a:moveTo>
                <a:cubicBezTo>
                  <a:pt x="5000" y="21000"/>
                  <a:pt x="7000" y="19000"/>
                  <a:pt x="9000" y="16000"/>
                </a:cubicBezTo>
                <a:lnTo>
                  <a:pt x="12000" y="12000"/>
                </a:lnTo>
                <a:lnTo>
                  <a:pt x="14000" y="12000"/>
                </a:lnTo>
                <a:lnTo>
                  <a:pt x="14000" y="14000"/>
                </a:lnTo>
                <a:lnTo>
                  <a:pt x="11000" y="17000"/>
                </a:lnTo>
                <a:cubicBezTo>
                  <a:pt x="9000" y="19000"/>
                  <a:pt x="7000" y="21000"/>
                  <a:pt x="4000" y="21000"/>
                </a:cubicBezTo>
                <a:close/>
                <a:moveTo>
                  <a:pt x="14000" y="12000"/>
                </a:moveTo>
                <a:cubicBezTo>
                  <a:pt x="14000" y="12552"/>
                  <a:pt x="13552" y="13000"/>
                  <a:pt x="13000" y="13000"/>
                </a:cubicBezTo>
                <a:cubicBezTo>
                  <a:pt x="12448" y="13000"/>
                  <a:pt x="12000" y="12552"/>
                  <a:pt x="12000" y="12000"/>
                </a:cubicBezTo>
                <a:cubicBezTo>
                  <a:pt x="12000" y="11448"/>
                  <a:pt x="12448" y="11000"/>
                  <a:pt x="13000" y="11000"/>
                </a:cubicBezTo>
                <a:cubicBezTo>
                  <a:pt x="13552" y="11000"/>
                  <a:pt x="14000" y="11448"/>
                  <a:pt x="140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近期视野</a:t>
            </a:r>
          </a:p>
        </p:txBody>
      </p:sp>
      <p:sp>
        <p:nvSpPr>
          <p:cNvPr id="28" name="STRAT-009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4000" y="21000"/>
                </a:moveTo>
                <a:cubicBezTo>
                  <a:pt x="7000" y="21000"/>
                  <a:pt x="11000" y="18000"/>
                  <a:pt x="13000" y="13000"/>
                </a:cubicBezTo>
                <a:cubicBezTo>
                  <a:pt x="15000" y="8000"/>
                  <a:pt x="17000" y="7000"/>
                  <a:pt x="19000" y="7000"/>
                </a:cubicBezTo>
                <a:lnTo>
                  <a:pt x="19000" y="9000"/>
                </a:lnTo>
                <a:cubicBezTo>
                  <a:pt x="17000" y="9000"/>
                  <a:pt x="15000" y="11000"/>
                  <a:pt x="13000" y="15000"/>
                </a:cubicBezTo>
                <a:cubicBezTo>
                  <a:pt x="11000" y="19000"/>
                  <a:pt x="8000" y="21000"/>
                  <a:pt x="5000" y="21000"/>
                </a:cubicBezTo>
                <a:close/>
                <a:moveTo>
                  <a:pt x="20200" y="7000"/>
                </a:moveTo>
                <a:cubicBezTo>
                  <a:pt x="20200" y="7663"/>
                  <a:pt x="19663" y="8200"/>
                  <a:pt x="19000" y="8200"/>
                </a:cubicBezTo>
                <a:cubicBezTo>
                  <a:pt x="18337" y="8200"/>
                  <a:pt x="17800" y="7663"/>
                  <a:pt x="17800" y="7000"/>
                </a:cubicBezTo>
                <a:cubicBezTo>
                  <a:pt x="17800" y="6337"/>
                  <a:pt x="18337" y="5800"/>
                  <a:pt x="19000" y="5800"/>
                </a:cubicBezTo>
                <a:cubicBezTo>
                  <a:pt x="19663" y="5800"/>
                  <a:pt x="20200" y="6337"/>
                  <a:pt x="202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中期视野</a:t>
            </a:r>
          </a:p>
        </p:txBody>
      </p:sp>
      <p:sp>
        <p:nvSpPr>
          <p:cNvPr id="31" name="STRAT-010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5000" y="21000"/>
                </a:moveTo>
                <a:cubicBezTo>
                  <a:pt x="9000" y="21000"/>
                  <a:pt x="14000" y="18000"/>
                  <a:pt x="16000" y="11000"/>
                </a:cubicBezTo>
                <a:cubicBezTo>
                  <a:pt x="18000" y="4000"/>
                  <a:pt x="20000" y="3000"/>
                  <a:pt x="21000" y="3000"/>
                </a:cubicBezTo>
                <a:lnTo>
                  <a:pt x="21000" y="5000"/>
                </a:lnTo>
                <a:cubicBezTo>
                  <a:pt x="20000" y="5000"/>
                  <a:pt x="19000" y="7000"/>
                  <a:pt x="17000" y="13000"/>
                </a:cubicBezTo>
                <a:cubicBezTo>
                  <a:pt x="15000" y="19000"/>
                  <a:pt x="11000" y="21000"/>
                  <a:pt x="7000" y="21000"/>
                </a:cubicBezTo>
                <a:close/>
                <a:moveTo>
                  <a:pt x="21000" y="1600"/>
                </a:moveTo>
                <a:lnTo>
                  <a:pt x="21283" y="2717"/>
                </a:lnTo>
                <a:lnTo>
                  <a:pt x="22400" y="3000"/>
                </a:lnTo>
                <a:lnTo>
                  <a:pt x="21283" y="3283"/>
                </a:lnTo>
                <a:lnTo>
                  <a:pt x="21000" y="4400"/>
                </a:lnTo>
                <a:lnTo>
                  <a:pt x="20717" y="3283"/>
                </a:lnTo>
                <a:lnTo>
                  <a:pt x="19600" y="3000"/>
                </a:lnTo>
                <a:lnTo>
                  <a:pt x="20717" y="27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远期视野</a:t>
            </a:r>
          </a:p>
        </p:txBody>
      </p:sp>
      <p:sp>
        <p:nvSpPr>
          <p:cNvPr id="34" name="STRAT-011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2250" y="12000"/>
                </a:moveTo>
                <a:lnTo>
                  <a:pt x="12250" y="3500"/>
                </a:lnTo>
                <a:lnTo>
                  <a:pt x="11750" y="3500"/>
                </a:lnTo>
                <a:lnTo>
                  <a:pt x="11750" y="12000"/>
                </a:lnTo>
                <a:close/>
                <a:moveTo>
                  <a:pt x="14400" y="3500"/>
                </a:moveTo>
                <a:cubicBezTo>
                  <a:pt x="14400" y="4825"/>
                  <a:pt x="13325" y="5900"/>
                  <a:pt x="12000" y="5900"/>
                </a:cubicBezTo>
                <a:cubicBezTo>
                  <a:pt x="10675" y="5900"/>
                  <a:pt x="9600" y="4825"/>
                  <a:pt x="9600" y="3500"/>
                </a:cubicBezTo>
                <a:cubicBezTo>
                  <a:pt x="9600" y="2175"/>
                  <a:pt x="10675" y="1100"/>
                  <a:pt x="12000" y="1100"/>
                </a:cubicBezTo>
                <a:cubicBezTo>
                  <a:pt x="13325" y="1100"/>
                  <a:pt x="14400" y="2175"/>
                  <a:pt x="14400" y="3500"/>
                </a:cubicBezTo>
                <a:close/>
                <a:moveTo>
                  <a:pt x="12000" y="12250"/>
                </a:moveTo>
                <a:lnTo>
                  <a:pt x="20500" y="12250"/>
                </a:lnTo>
                <a:lnTo>
                  <a:pt x="20500" y="11750"/>
                </a:lnTo>
                <a:lnTo>
                  <a:pt x="12000" y="11750"/>
                </a:lnTo>
                <a:close/>
                <a:moveTo>
                  <a:pt x="22900" y="12000"/>
                </a:moveTo>
                <a:cubicBezTo>
                  <a:pt x="22900" y="13325"/>
                  <a:pt x="21825" y="14400"/>
                  <a:pt x="20500" y="14400"/>
                </a:cubicBezTo>
                <a:cubicBezTo>
                  <a:pt x="19175" y="14400"/>
                  <a:pt x="18100" y="13325"/>
                  <a:pt x="18100" y="12000"/>
                </a:cubicBezTo>
                <a:cubicBezTo>
                  <a:pt x="18100" y="10675"/>
                  <a:pt x="19175" y="9600"/>
                  <a:pt x="20500" y="9600"/>
                </a:cubicBezTo>
                <a:cubicBezTo>
                  <a:pt x="21825" y="9600"/>
                  <a:pt x="22900" y="10675"/>
                  <a:pt x="22900" y="12000"/>
                </a:cubicBezTo>
                <a:close/>
                <a:moveTo>
                  <a:pt x="11750" y="12000"/>
                </a:moveTo>
                <a:lnTo>
                  <a:pt x="11750" y="20500"/>
                </a:lnTo>
                <a:lnTo>
                  <a:pt x="12250" y="20500"/>
                </a:lnTo>
                <a:lnTo>
                  <a:pt x="12250" y="12000"/>
                </a:lnTo>
                <a:close/>
                <a:moveTo>
                  <a:pt x="14400" y="20500"/>
                </a:moveTo>
                <a:cubicBezTo>
                  <a:pt x="14400" y="21825"/>
                  <a:pt x="13325" y="22900"/>
                  <a:pt x="12000" y="22900"/>
                </a:cubicBezTo>
                <a:cubicBezTo>
                  <a:pt x="10675" y="22900"/>
                  <a:pt x="9600" y="21825"/>
                  <a:pt x="9600" y="20500"/>
                </a:cubicBezTo>
                <a:cubicBezTo>
                  <a:pt x="9600" y="19175"/>
                  <a:pt x="10675" y="18100"/>
                  <a:pt x="12000" y="18100"/>
                </a:cubicBezTo>
                <a:cubicBezTo>
                  <a:pt x="13325" y="18100"/>
                  <a:pt x="14400" y="19175"/>
                  <a:pt x="14400" y="20500"/>
                </a:cubicBezTo>
                <a:close/>
                <a:moveTo>
                  <a:pt x="12000" y="11750"/>
                </a:moveTo>
                <a:lnTo>
                  <a:pt x="3500" y="11750"/>
                </a:lnTo>
                <a:lnTo>
                  <a:pt x="3500" y="12250"/>
                </a:lnTo>
                <a:lnTo>
                  <a:pt x="12000" y="12250"/>
                </a:lnTo>
                <a:close/>
                <a:moveTo>
                  <a:pt x="5900" y="12000"/>
                </a:moveTo>
                <a:cubicBezTo>
                  <a:pt x="5900" y="13325"/>
                  <a:pt x="4825" y="14400"/>
                  <a:pt x="3500" y="14400"/>
                </a:cubicBezTo>
                <a:cubicBezTo>
                  <a:pt x="2175" y="14400"/>
                  <a:pt x="1100" y="13325"/>
                  <a:pt x="1100" y="12000"/>
                </a:cubicBezTo>
                <a:cubicBezTo>
                  <a:pt x="1100" y="10675"/>
                  <a:pt x="2175" y="9600"/>
                  <a:pt x="3500" y="9600"/>
                </a:cubicBezTo>
                <a:cubicBezTo>
                  <a:pt x="4825" y="9600"/>
                  <a:pt x="5900" y="10675"/>
                  <a:pt x="59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五力模型</a:t>
            </a:r>
          </a:p>
        </p:txBody>
      </p:sp>
      <p:sp>
        <p:nvSpPr>
          <p:cNvPr id="37" name="STRAT-012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9000"/>
                </a:moveTo>
                <a:lnTo>
                  <a:pt x="19000" y="9000"/>
                </a:lnTo>
                <a:lnTo>
                  <a:pt x="22000" y="12000"/>
                </a:lnTo>
                <a:lnTo>
                  <a:pt x="19000" y="15000"/>
                </a:lnTo>
                <a:lnTo>
                  <a:pt x="2000" y="15000"/>
                </a:lnTo>
                <a:close/>
                <a:moveTo>
                  <a:pt x="5750" y="9000"/>
                </a:moveTo>
                <a:lnTo>
                  <a:pt x="5750" y="15000"/>
                </a:lnTo>
                <a:lnTo>
                  <a:pt x="6250" y="15000"/>
                </a:lnTo>
                <a:lnTo>
                  <a:pt x="6250" y="9000"/>
                </a:lnTo>
                <a:close/>
                <a:moveTo>
                  <a:pt x="9750" y="9000"/>
                </a:moveTo>
                <a:lnTo>
                  <a:pt x="9750" y="15000"/>
                </a:lnTo>
                <a:lnTo>
                  <a:pt x="10250" y="15000"/>
                </a:lnTo>
                <a:lnTo>
                  <a:pt x="10250" y="9000"/>
                </a:lnTo>
                <a:close/>
                <a:moveTo>
                  <a:pt x="13750" y="9000"/>
                </a:moveTo>
                <a:lnTo>
                  <a:pt x="13750" y="15000"/>
                </a:lnTo>
                <a:lnTo>
                  <a:pt x="14250" y="15000"/>
                </a:lnTo>
                <a:lnTo>
                  <a:pt x="14250" y="9000"/>
                </a:lnTo>
                <a:close/>
                <a:moveTo>
                  <a:pt x="17750" y="9000"/>
                </a:moveTo>
                <a:lnTo>
                  <a:pt x="17750" y="15000"/>
                </a:lnTo>
                <a:lnTo>
                  <a:pt x="18250" y="15000"/>
                </a:lnTo>
                <a:lnTo>
                  <a:pt x="18250" y="9000"/>
                </a:lnTo>
                <a:close/>
                <a:moveTo>
                  <a:pt x="2400" y="4000"/>
                </a:moveTo>
                <a:lnTo>
                  <a:pt x="18600" y="4000"/>
                </a:lnTo>
                <a:cubicBezTo>
                  <a:pt x="18821" y="4000"/>
                  <a:pt x="19000" y="4179"/>
                  <a:pt x="19000" y="4400"/>
                </a:cubicBezTo>
                <a:lnTo>
                  <a:pt x="19000" y="7600"/>
                </a:lnTo>
                <a:cubicBezTo>
                  <a:pt x="19000" y="7821"/>
                  <a:pt x="18821" y="8000"/>
                  <a:pt x="18600" y="8000"/>
                </a:cubicBezTo>
                <a:lnTo>
                  <a:pt x="2400" y="8000"/>
                </a:lnTo>
                <a:cubicBezTo>
                  <a:pt x="2179" y="8000"/>
                  <a:pt x="2000" y="7821"/>
                  <a:pt x="2000" y="7600"/>
                </a:cubicBezTo>
                <a:lnTo>
                  <a:pt x="2000" y="4400"/>
                </a:lnTo>
                <a:cubicBezTo>
                  <a:pt x="2000" y="4179"/>
                  <a:pt x="2179" y="4000"/>
                  <a:pt x="2400" y="4000"/>
                </a:cubicBezTo>
                <a:close/>
                <a:moveTo>
                  <a:pt x="5750" y="4000"/>
                </a:moveTo>
                <a:lnTo>
                  <a:pt x="5750" y="8000"/>
                </a:lnTo>
                <a:lnTo>
                  <a:pt x="6250" y="8000"/>
                </a:lnTo>
                <a:lnTo>
                  <a:pt x="6250" y="4000"/>
                </a:lnTo>
                <a:close/>
                <a:moveTo>
                  <a:pt x="9750" y="4000"/>
                </a:moveTo>
                <a:lnTo>
                  <a:pt x="9750" y="8000"/>
                </a:lnTo>
                <a:lnTo>
                  <a:pt x="10250" y="8000"/>
                </a:lnTo>
                <a:lnTo>
                  <a:pt x="10250" y="4000"/>
                </a:lnTo>
                <a:close/>
                <a:moveTo>
                  <a:pt x="13750" y="4000"/>
                </a:moveTo>
                <a:lnTo>
                  <a:pt x="13750" y="8000"/>
                </a:lnTo>
                <a:lnTo>
                  <a:pt x="14250" y="8000"/>
                </a:lnTo>
                <a:lnTo>
                  <a:pt x="14250" y="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价值链</a:t>
            </a:r>
          </a:p>
        </p:txBody>
      </p:sp>
      <p:sp>
        <p:nvSpPr>
          <p:cNvPr id="40" name="STRAT-013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600" y="3000"/>
                </a:moveTo>
                <a:lnTo>
                  <a:pt x="10900" y="3000"/>
                </a:lnTo>
                <a:cubicBezTo>
                  <a:pt x="11231" y="3000"/>
                  <a:pt x="11500" y="3269"/>
                  <a:pt x="11500" y="3600"/>
                </a:cubicBezTo>
                <a:lnTo>
                  <a:pt x="11500" y="10900"/>
                </a:lnTo>
                <a:cubicBezTo>
                  <a:pt x="11500" y="11231"/>
                  <a:pt x="11231" y="11500"/>
                  <a:pt x="10900" y="11500"/>
                </a:cubicBezTo>
                <a:lnTo>
                  <a:pt x="3600" y="11500"/>
                </a:lnTo>
                <a:cubicBezTo>
                  <a:pt x="3269" y="11500"/>
                  <a:pt x="3000" y="11231"/>
                  <a:pt x="3000" y="10900"/>
                </a:cubicBezTo>
                <a:lnTo>
                  <a:pt x="3000" y="3600"/>
                </a:lnTo>
                <a:cubicBezTo>
                  <a:pt x="3000" y="3269"/>
                  <a:pt x="3269" y="3000"/>
                  <a:pt x="3600" y="3000"/>
                </a:cubicBez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安索夫矩阵</a:t>
            </a:r>
          </a:p>
        </p:txBody>
      </p:sp>
      <p:sp>
        <p:nvSpPr>
          <p:cNvPr id="43" name="STRAT-014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00" y="3000"/>
                </a:moveTo>
                <a:lnTo>
                  <a:pt x="8600" y="3000"/>
                </a:lnTo>
                <a:cubicBezTo>
                  <a:pt x="8821" y="3000"/>
                  <a:pt x="9000" y="3179"/>
                  <a:pt x="9000" y="3400"/>
                </a:cubicBezTo>
                <a:lnTo>
                  <a:pt x="9000" y="8600"/>
                </a:lnTo>
                <a:cubicBezTo>
                  <a:pt x="9000" y="8821"/>
                  <a:pt x="8821" y="9000"/>
                  <a:pt x="8600" y="9000"/>
                </a:cubicBezTo>
                <a:lnTo>
                  <a:pt x="3400" y="9000"/>
                </a:lnTo>
                <a:cubicBezTo>
                  <a:pt x="3179" y="9000"/>
                  <a:pt x="3000" y="8821"/>
                  <a:pt x="3000" y="8600"/>
                </a:cubicBezTo>
                <a:lnTo>
                  <a:pt x="3000" y="3400"/>
                </a:lnTo>
                <a:cubicBezTo>
                  <a:pt x="3000" y="3179"/>
                  <a:pt x="3179" y="3000"/>
                  <a:pt x="3400" y="3000"/>
                </a:cubicBezTo>
                <a:close/>
                <a:moveTo>
                  <a:pt x="9900" y="3000"/>
                </a:moveTo>
                <a:lnTo>
                  <a:pt x="15100" y="3000"/>
                </a:lnTo>
                <a:cubicBezTo>
                  <a:pt x="15321" y="3000"/>
                  <a:pt x="15500" y="3179"/>
                  <a:pt x="15500" y="3400"/>
                </a:cubicBezTo>
                <a:lnTo>
                  <a:pt x="15500" y="8600"/>
                </a:lnTo>
                <a:cubicBezTo>
                  <a:pt x="15500" y="8821"/>
                  <a:pt x="15321" y="9000"/>
                  <a:pt x="15100" y="9000"/>
                </a:cubicBezTo>
                <a:lnTo>
                  <a:pt x="9900" y="9000"/>
                </a:lnTo>
                <a:cubicBezTo>
                  <a:pt x="9679" y="9000"/>
                  <a:pt x="9500" y="8821"/>
                  <a:pt x="9500" y="8600"/>
                </a:cubicBezTo>
                <a:lnTo>
                  <a:pt x="9500" y="3400"/>
                </a:lnTo>
                <a:cubicBezTo>
                  <a:pt x="9500" y="3179"/>
                  <a:pt x="9679" y="3000"/>
                  <a:pt x="9900" y="3000"/>
                </a:cubicBezTo>
                <a:close/>
                <a:moveTo>
                  <a:pt x="16000" y="3000"/>
                </a:moveTo>
                <a:lnTo>
                  <a:pt x="22000" y="3000"/>
                </a:lnTo>
                <a:lnTo>
                  <a:pt x="22000" y="3500"/>
                </a:lnTo>
                <a:lnTo>
                  <a:pt x="16000" y="3500"/>
                </a:lnTo>
                <a:close/>
                <a:moveTo>
                  <a:pt x="16000" y="8500"/>
                </a:moveTo>
                <a:lnTo>
                  <a:pt x="22000" y="8500"/>
                </a:lnTo>
                <a:lnTo>
                  <a:pt x="22000" y="9000"/>
                </a:lnTo>
                <a:lnTo>
                  <a:pt x="16000" y="9000"/>
                </a:lnTo>
                <a:close/>
                <a:moveTo>
                  <a:pt x="16000" y="3000"/>
                </a:moveTo>
                <a:lnTo>
                  <a:pt x="16500" y="3000"/>
                </a:lnTo>
                <a:lnTo>
                  <a:pt x="16500" y="9000"/>
                </a:lnTo>
                <a:lnTo>
                  <a:pt x="16000" y="9000"/>
                </a:lnTo>
                <a:close/>
                <a:moveTo>
                  <a:pt x="21500" y="3000"/>
                </a:moveTo>
                <a:lnTo>
                  <a:pt x="22000" y="3000"/>
                </a:lnTo>
                <a:lnTo>
                  <a:pt x="22000" y="9000"/>
                </a:lnTo>
                <a:lnTo>
                  <a:pt x="21500" y="9000"/>
                </a:lnTo>
                <a:close/>
                <a:moveTo>
                  <a:pt x="3400" y="9500"/>
                </a:moveTo>
                <a:lnTo>
                  <a:pt x="8600" y="9500"/>
                </a:lnTo>
                <a:cubicBezTo>
                  <a:pt x="8821" y="9500"/>
                  <a:pt x="9000" y="9679"/>
                  <a:pt x="9000" y="9900"/>
                </a:cubicBezTo>
                <a:lnTo>
                  <a:pt x="9000" y="15100"/>
                </a:lnTo>
                <a:cubicBezTo>
                  <a:pt x="9000" y="15321"/>
                  <a:pt x="8821" y="15500"/>
                  <a:pt x="8600" y="15500"/>
                </a:cubicBezTo>
                <a:lnTo>
                  <a:pt x="3400" y="15500"/>
                </a:lnTo>
                <a:cubicBezTo>
                  <a:pt x="3179" y="15500"/>
                  <a:pt x="3000" y="15321"/>
                  <a:pt x="3000" y="15100"/>
                </a:cubicBezTo>
                <a:lnTo>
                  <a:pt x="3000" y="9900"/>
                </a:lnTo>
                <a:cubicBezTo>
                  <a:pt x="3000" y="9679"/>
                  <a:pt x="3179" y="9500"/>
                  <a:pt x="3400" y="9500"/>
                </a:cubicBezTo>
                <a:close/>
                <a:moveTo>
                  <a:pt x="9500" y="9500"/>
                </a:moveTo>
                <a:lnTo>
                  <a:pt x="15500" y="9500"/>
                </a:lnTo>
                <a:lnTo>
                  <a:pt x="15500" y="10000"/>
                </a:lnTo>
                <a:lnTo>
                  <a:pt x="9500" y="10000"/>
                </a:lnTo>
                <a:close/>
                <a:moveTo>
                  <a:pt x="9500" y="15000"/>
                </a:moveTo>
                <a:lnTo>
                  <a:pt x="15500" y="15000"/>
                </a:lnTo>
                <a:lnTo>
                  <a:pt x="15500" y="15500"/>
                </a:lnTo>
                <a:lnTo>
                  <a:pt x="9500" y="15500"/>
                </a:lnTo>
                <a:close/>
                <a:moveTo>
                  <a:pt x="9500" y="9500"/>
                </a:moveTo>
                <a:lnTo>
                  <a:pt x="10000" y="9500"/>
                </a:lnTo>
                <a:lnTo>
                  <a:pt x="10000" y="15500"/>
                </a:lnTo>
                <a:lnTo>
                  <a:pt x="9500" y="15500"/>
                </a:lnTo>
                <a:close/>
                <a:moveTo>
                  <a:pt x="15000" y="9500"/>
                </a:moveTo>
                <a:lnTo>
                  <a:pt x="15500" y="9500"/>
                </a:lnTo>
                <a:lnTo>
                  <a:pt x="15500" y="15500"/>
                </a:lnTo>
                <a:lnTo>
                  <a:pt x="15000" y="15500"/>
                </a:lnTo>
                <a:close/>
                <a:moveTo>
                  <a:pt x="16000" y="9500"/>
                </a:moveTo>
                <a:lnTo>
                  <a:pt x="22000" y="9500"/>
                </a:lnTo>
                <a:lnTo>
                  <a:pt x="22000" y="10000"/>
                </a:lnTo>
                <a:lnTo>
                  <a:pt x="16000" y="10000"/>
                </a:lnTo>
                <a:close/>
                <a:moveTo>
                  <a:pt x="16000" y="15000"/>
                </a:moveTo>
                <a:lnTo>
                  <a:pt x="22000" y="15000"/>
                </a:lnTo>
                <a:lnTo>
                  <a:pt x="22000" y="15500"/>
                </a:lnTo>
                <a:lnTo>
                  <a:pt x="16000" y="15500"/>
                </a:lnTo>
                <a:close/>
                <a:moveTo>
                  <a:pt x="16000" y="9500"/>
                </a:moveTo>
                <a:lnTo>
                  <a:pt x="16500" y="9500"/>
                </a:lnTo>
                <a:lnTo>
                  <a:pt x="16500" y="15500"/>
                </a:lnTo>
                <a:lnTo>
                  <a:pt x="16000" y="15500"/>
                </a:lnTo>
                <a:close/>
                <a:moveTo>
                  <a:pt x="21500" y="9500"/>
                </a:moveTo>
                <a:lnTo>
                  <a:pt x="22000" y="9500"/>
                </a:lnTo>
                <a:lnTo>
                  <a:pt x="22000" y="15500"/>
                </a:lnTo>
                <a:lnTo>
                  <a:pt x="21500" y="15500"/>
                </a:lnTo>
                <a:close/>
                <a:moveTo>
                  <a:pt x="3000" y="16000"/>
                </a:moveTo>
                <a:lnTo>
                  <a:pt x="9000" y="16000"/>
                </a:lnTo>
                <a:lnTo>
                  <a:pt x="9000" y="16500"/>
                </a:lnTo>
                <a:lnTo>
                  <a:pt x="3000" y="16500"/>
                </a:lnTo>
                <a:close/>
                <a:moveTo>
                  <a:pt x="3000" y="21500"/>
                </a:moveTo>
                <a:lnTo>
                  <a:pt x="9000" y="21500"/>
                </a:lnTo>
                <a:lnTo>
                  <a:pt x="9000" y="22000"/>
                </a:lnTo>
                <a:lnTo>
                  <a:pt x="3000" y="22000"/>
                </a:lnTo>
                <a:close/>
                <a:moveTo>
                  <a:pt x="3000" y="16000"/>
                </a:moveTo>
                <a:lnTo>
                  <a:pt x="3500" y="16000"/>
                </a:lnTo>
                <a:lnTo>
                  <a:pt x="3500" y="22000"/>
                </a:lnTo>
                <a:lnTo>
                  <a:pt x="3000" y="22000"/>
                </a:lnTo>
                <a:close/>
                <a:moveTo>
                  <a:pt x="8500" y="16000"/>
                </a:moveTo>
                <a:lnTo>
                  <a:pt x="9000" y="16000"/>
                </a:lnTo>
                <a:lnTo>
                  <a:pt x="9000" y="22000"/>
                </a:lnTo>
                <a:lnTo>
                  <a:pt x="8500" y="22000"/>
                </a:lnTo>
                <a:close/>
                <a:moveTo>
                  <a:pt x="9500" y="16000"/>
                </a:moveTo>
                <a:lnTo>
                  <a:pt x="15500" y="16000"/>
                </a:lnTo>
                <a:lnTo>
                  <a:pt x="15500" y="16500"/>
                </a:lnTo>
                <a:lnTo>
                  <a:pt x="9500" y="16500"/>
                </a:lnTo>
                <a:close/>
                <a:moveTo>
                  <a:pt x="9500" y="21500"/>
                </a:moveTo>
                <a:lnTo>
                  <a:pt x="15500" y="21500"/>
                </a:lnTo>
                <a:lnTo>
                  <a:pt x="15500" y="22000"/>
                </a:lnTo>
                <a:lnTo>
                  <a:pt x="9500" y="22000"/>
                </a:lnTo>
                <a:close/>
                <a:moveTo>
                  <a:pt x="9500" y="16000"/>
                </a:moveTo>
                <a:lnTo>
                  <a:pt x="10000" y="16000"/>
                </a:lnTo>
                <a:lnTo>
                  <a:pt x="10000" y="22000"/>
                </a:lnTo>
                <a:lnTo>
                  <a:pt x="9500" y="22000"/>
                </a:lnTo>
                <a:close/>
                <a:moveTo>
                  <a:pt x="15000" y="16000"/>
                </a:moveTo>
                <a:lnTo>
                  <a:pt x="15500" y="16000"/>
                </a:lnTo>
                <a:lnTo>
                  <a:pt x="15500" y="22000"/>
                </a:lnTo>
                <a:lnTo>
                  <a:pt x="15000" y="22000"/>
                </a:lnTo>
                <a:close/>
                <a:moveTo>
                  <a:pt x="16000" y="16000"/>
                </a:moveTo>
                <a:lnTo>
                  <a:pt x="22000" y="16000"/>
                </a:lnTo>
                <a:lnTo>
                  <a:pt x="22000" y="16500"/>
                </a:lnTo>
                <a:lnTo>
                  <a:pt x="16000" y="16500"/>
                </a:lnTo>
                <a:close/>
                <a:moveTo>
                  <a:pt x="16000" y="21500"/>
                </a:moveTo>
                <a:lnTo>
                  <a:pt x="22000" y="21500"/>
                </a:lnTo>
                <a:lnTo>
                  <a:pt x="22000" y="22000"/>
                </a:lnTo>
                <a:lnTo>
                  <a:pt x="16000" y="22000"/>
                </a:lnTo>
                <a:close/>
                <a:moveTo>
                  <a:pt x="16000" y="16000"/>
                </a:moveTo>
                <a:lnTo>
                  <a:pt x="16500" y="16000"/>
                </a:lnTo>
                <a:lnTo>
                  <a:pt x="16500" y="22000"/>
                </a:lnTo>
                <a:lnTo>
                  <a:pt x="16000" y="22000"/>
                </a:lnTo>
                <a:close/>
                <a:moveTo>
                  <a:pt x="21500" y="16000"/>
                </a:moveTo>
                <a:lnTo>
                  <a:pt x="22000" y="16000"/>
                </a:lnTo>
                <a:lnTo>
                  <a:pt x="22000" y="22000"/>
                </a:lnTo>
                <a:lnTo>
                  <a:pt x="215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GE矩阵</a:t>
            </a:r>
          </a:p>
        </p:txBody>
      </p:sp>
      <p:sp>
        <p:nvSpPr>
          <p:cNvPr id="46" name="STRAT-015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4000" y="5000"/>
                </a:moveTo>
                <a:cubicBezTo>
                  <a:pt x="14000" y="6105"/>
                  <a:pt x="13105" y="7000"/>
                  <a:pt x="12000" y="7000"/>
                </a:cubicBezTo>
                <a:cubicBezTo>
                  <a:pt x="10895" y="7000"/>
                  <a:pt x="10000" y="6105"/>
                  <a:pt x="10000" y="5000"/>
                </a:cubicBezTo>
                <a:cubicBezTo>
                  <a:pt x="10000" y="3895"/>
                  <a:pt x="10895" y="3000"/>
                  <a:pt x="12000" y="3000"/>
                </a:cubicBezTo>
                <a:cubicBezTo>
                  <a:pt x="13105" y="3000"/>
                  <a:pt x="14000" y="3895"/>
                  <a:pt x="14000" y="5000"/>
                </a:cubicBezTo>
                <a:close/>
                <a:moveTo>
                  <a:pt x="21000" y="9000"/>
                </a:moveTo>
                <a:cubicBezTo>
                  <a:pt x="21000" y="10105"/>
                  <a:pt x="20105" y="11000"/>
                  <a:pt x="19000" y="11000"/>
                </a:cubicBezTo>
                <a:cubicBezTo>
                  <a:pt x="17895" y="11000"/>
                  <a:pt x="17000" y="10105"/>
                  <a:pt x="17000" y="9000"/>
                </a:cubicBezTo>
                <a:cubicBezTo>
                  <a:pt x="17000" y="7895"/>
                  <a:pt x="17895" y="7000"/>
                  <a:pt x="19000" y="7000"/>
                </a:cubicBezTo>
                <a:cubicBezTo>
                  <a:pt x="20105" y="7000"/>
                  <a:pt x="21000" y="7895"/>
                  <a:pt x="21000" y="9000"/>
                </a:cubicBezTo>
                <a:close/>
                <a:moveTo>
                  <a:pt x="20000" y="17000"/>
                </a:moveTo>
                <a:cubicBezTo>
                  <a:pt x="20000" y="18105"/>
                  <a:pt x="19105" y="19000"/>
                  <a:pt x="18000" y="19000"/>
                </a:cubicBezTo>
                <a:cubicBezTo>
                  <a:pt x="16895" y="19000"/>
                  <a:pt x="16000" y="18105"/>
                  <a:pt x="16000" y="17000"/>
                </a:cubicBezTo>
                <a:cubicBezTo>
                  <a:pt x="16000" y="15895"/>
                  <a:pt x="16895" y="15000"/>
                  <a:pt x="18000" y="15000"/>
                </a:cubicBezTo>
                <a:cubicBezTo>
                  <a:pt x="19105" y="15000"/>
                  <a:pt x="20000" y="15895"/>
                  <a:pt x="20000" y="17000"/>
                </a:cubicBezTo>
                <a:close/>
                <a:moveTo>
                  <a:pt x="14000" y="21000"/>
                </a:moveTo>
                <a:cubicBezTo>
                  <a:pt x="14000" y="22105"/>
                  <a:pt x="13105" y="23000"/>
                  <a:pt x="12000" y="23000"/>
                </a:cubicBezTo>
                <a:cubicBezTo>
                  <a:pt x="10895" y="23000"/>
                  <a:pt x="10000" y="22105"/>
                  <a:pt x="10000" y="21000"/>
                </a:cubicBezTo>
                <a:cubicBezTo>
                  <a:pt x="10000" y="19895"/>
                  <a:pt x="10895" y="19000"/>
                  <a:pt x="12000" y="19000"/>
                </a:cubicBezTo>
                <a:cubicBezTo>
                  <a:pt x="13105" y="19000"/>
                  <a:pt x="14000" y="19895"/>
                  <a:pt x="14000" y="21000"/>
                </a:cubicBezTo>
                <a:close/>
                <a:moveTo>
                  <a:pt x="8000" y="17000"/>
                </a:moveTo>
                <a:cubicBezTo>
                  <a:pt x="8000" y="18105"/>
                  <a:pt x="7105" y="19000"/>
                  <a:pt x="6000" y="19000"/>
                </a:cubicBezTo>
                <a:cubicBezTo>
                  <a:pt x="4895" y="19000"/>
                  <a:pt x="4000" y="18105"/>
                  <a:pt x="4000" y="17000"/>
                </a:cubicBezTo>
                <a:cubicBezTo>
                  <a:pt x="4000" y="15895"/>
                  <a:pt x="4895" y="15000"/>
                  <a:pt x="6000" y="15000"/>
                </a:cubicBezTo>
                <a:cubicBezTo>
                  <a:pt x="7105" y="15000"/>
                  <a:pt x="8000" y="15895"/>
                  <a:pt x="8000" y="17000"/>
                </a:cubicBezTo>
                <a:close/>
                <a:moveTo>
                  <a:pt x="7000" y="9000"/>
                </a:moveTo>
                <a:cubicBezTo>
                  <a:pt x="7000" y="10105"/>
                  <a:pt x="6105" y="11000"/>
                  <a:pt x="5000" y="11000"/>
                </a:cubicBezTo>
                <a:cubicBezTo>
                  <a:pt x="3895" y="11000"/>
                  <a:pt x="3000" y="10105"/>
                  <a:pt x="3000" y="9000"/>
                </a:cubicBezTo>
                <a:cubicBezTo>
                  <a:pt x="3000" y="7895"/>
                  <a:pt x="3895" y="7000"/>
                  <a:pt x="5000" y="7000"/>
                </a:cubicBezTo>
                <a:cubicBezTo>
                  <a:pt x="6105" y="7000"/>
                  <a:pt x="7000" y="7895"/>
                  <a:pt x="7000" y="9000"/>
                </a:cubicBezTo>
                <a:close/>
                <a:moveTo>
                  <a:pt x="12250" y="8000"/>
                </a:moveTo>
                <a:lnTo>
                  <a:pt x="12250" y="5000"/>
                </a:lnTo>
                <a:lnTo>
                  <a:pt x="11750" y="5000"/>
                </a:lnTo>
                <a:lnTo>
                  <a:pt x="11750" y="8000"/>
                </a:lnTo>
                <a:close/>
                <a:moveTo>
                  <a:pt x="15112" y="11224"/>
                </a:moveTo>
                <a:lnTo>
                  <a:pt x="19112" y="9224"/>
                </a:lnTo>
                <a:lnTo>
                  <a:pt x="18888" y="8776"/>
                </a:lnTo>
                <a:lnTo>
                  <a:pt x="14888" y="10776"/>
                </a:lnTo>
                <a:close/>
                <a:moveTo>
                  <a:pt x="14823" y="14177"/>
                </a:moveTo>
                <a:lnTo>
                  <a:pt x="17823" y="17177"/>
                </a:lnTo>
                <a:lnTo>
                  <a:pt x="18177" y="16823"/>
                </a:lnTo>
                <a:lnTo>
                  <a:pt x="15177" y="13823"/>
                </a:lnTo>
                <a:close/>
                <a:moveTo>
                  <a:pt x="11750" y="15000"/>
                </a:moveTo>
                <a:lnTo>
                  <a:pt x="11750" y="21000"/>
                </a:lnTo>
                <a:lnTo>
                  <a:pt x="12250" y="21000"/>
                </a:lnTo>
                <a:lnTo>
                  <a:pt x="12250" y="15000"/>
                </a:lnTo>
                <a:close/>
                <a:moveTo>
                  <a:pt x="8823" y="13823"/>
                </a:moveTo>
                <a:lnTo>
                  <a:pt x="5823" y="16823"/>
                </a:lnTo>
                <a:lnTo>
                  <a:pt x="6177" y="17177"/>
                </a:lnTo>
                <a:lnTo>
                  <a:pt x="9177" y="14177"/>
                </a:lnTo>
                <a:close/>
                <a:moveTo>
                  <a:pt x="9112" y="10776"/>
                </a:moveTo>
                <a:lnTo>
                  <a:pt x="5112" y="8776"/>
                </a:lnTo>
                <a:lnTo>
                  <a:pt x="4888" y="9224"/>
                </a:lnTo>
                <a:lnTo>
                  <a:pt x="8888" y="1122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7S框架</a:t>
            </a:r>
          </a:p>
        </p:txBody>
      </p:sp>
      <p:sp>
        <p:nvSpPr>
          <p:cNvPr id="49" name="STRAT-016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SWOT矩阵</a:t>
            </a:r>
          </a:p>
        </p:txBody>
      </p:sp>
      <p:sp>
        <p:nvSpPr>
          <p:cNvPr id="52" name="STRAT-017"/>
          <p:cNvSpPr/>
          <p:nvPr/>
        </p:nvSpPr>
        <p:spPr>
          <a:xfrm>
            <a:off x="722376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000"/>
                </a:moveTo>
                <a:lnTo>
                  <a:pt x="8400" y="2000"/>
                </a:lnTo>
                <a:lnTo>
                  <a:pt x="8400" y="2400"/>
                </a:lnTo>
                <a:lnTo>
                  <a:pt x="2000" y="2400"/>
                </a:lnTo>
                <a:close/>
                <a:moveTo>
                  <a:pt x="2000" y="11400"/>
                </a:moveTo>
                <a:lnTo>
                  <a:pt x="8400" y="11400"/>
                </a:lnTo>
                <a:lnTo>
                  <a:pt x="8400" y="11800"/>
                </a:lnTo>
                <a:lnTo>
                  <a:pt x="2000" y="11800"/>
                </a:lnTo>
                <a:close/>
                <a:moveTo>
                  <a:pt x="2000" y="2000"/>
                </a:moveTo>
                <a:lnTo>
                  <a:pt x="2400" y="2000"/>
                </a:lnTo>
                <a:lnTo>
                  <a:pt x="2400" y="11800"/>
                </a:lnTo>
                <a:lnTo>
                  <a:pt x="2000" y="11800"/>
                </a:lnTo>
                <a:close/>
                <a:moveTo>
                  <a:pt x="8000" y="2000"/>
                </a:moveTo>
                <a:lnTo>
                  <a:pt x="8400" y="2000"/>
                </a:lnTo>
                <a:lnTo>
                  <a:pt x="8400" y="11800"/>
                </a:lnTo>
                <a:lnTo>
                  <a:pt x="8000" y="11800"/>
                </a:lnTo>
                <a:close/>
                <a:moveTo>
                  <a:pt x="8800" y="2000"/>
                </a:moveTo>
                <a:lnTo>
                  <a:pt x="15200" y="2000"/>
                </a:lnTo>
                <a:lnTo>
                  <a:pt x="15200" y="2400"/>
                </a:lnTo>
                <a:lnTo>
                  <a:pt x="8800" y="2400"/>
                </a:lnTo>
                <a:close/>
                <a:moveTo>
                  <a:pt x="8800" y="11400"/>
                </a:moveTo>
                <a:lnTo>
                  <a:pt x="15200" y="11400"/>
                </a:lnTo>
                <a:lnTo>
                  <a:pt x="15200" y="11800"/>
                </a:lnTo>
                <a:lnTo>
                  <a:pt x="8800" y="11800"/>
                </a:lnTo>
                <a:close/>
                <a:moveTo>
                  <a:pt x="8800" y="2000"/>
                </a:moveTo>
                <a:lnTo>
                  <a:pt x="9200" y="2000"/>
                </a:lnTo>
                <a:lnTo>
                  <a:pt x="9200" y="11800"/>
                </a:lnTo>
                <a:lnTo>
                  <a:pt x="8800" y="11800"/>
                </a:lnTo>
                <a:close/>
                <a:moveTo>
                  <a:pt x="14800" y="2000"/>
                </a:moveTo>
                <a:lnTo>
                  <a:pt x="15200" y="2000"/>
                </a:lnTo>
                <a:lnTo>
                  <a:pt x="15200" y="11800"/>
                </a:lnTo>
                <a:lnTo>
                  <a:pt x="14800" y="11800"/>
                </a:lnTo>
                <a:close/>
                <a:moveTo>
                  <a:pt x="15600" y="2000"/>
                </a:moveTo>
                <a:lnTo>
                  <a:pt x="22000" y="2000"/>
                </a:lnTo>
                <a:lnTo>
                  <a:pt x="22000" y="2400"/>
                </a:lnTo>
                <a:lnTo>
                  <a:pt x="15600" y="2400"/>
                </a:lnTo>
                <a:close/>
                <a:moveTo>
                  <a:pt x="15600" y="11400"/>
                </a:moveTo>
                <a:lnTo>
                  <a:pt x="22000" y="11400"/>
                </a:lnTo>
                <a:lnTo>
                  <a:pt x="22000" y="11800"/>
                </a:lnTo>
                <a:lnTo>
                  <a:pt x="15600" y="11800"/>
                </a:lnTo>
                <a:close/>
                <a:moveTo>
                  <a:pt x="15600" y="2000"/>
                </a:moveTo>
                <a:lnTo>
                  <a:pt x="16000" y="2000"/>
                </a:lnTo>
                <a:lnTo>
                  <a:pt x="16000" y="11800"/>
                </a:lnTo>
                <a:lnTo>
                  <a:pt x="15600" y="11800"/>
                </a:lnTo>
                <a:close/>
                <a:moveTo>
                  <a:pt x="21600" y="2000"/>
                </a:moveTo>
                <a:lnTo>
                  <a:pt x="22000" y="2000"/>
                </a:lnTo>
                <a:lnTo>
                  <a:pt x="22000" y="11800"/>
                </a:lnTo>
                <a:lnTo>
                  <a:pt x="21600" y="11800"/>
                </a:lnTo>
                <a:close/>
                <a:moveTo>
                  <a:pt x="2000" y="12200"/>
                </a:moveTo>
                <a:lnTo>
                  <a:pt x="8400" y="12200"/>
                </a:lnTo>
                <a:lnTo>
                  <a:pt x="8400" y="12600"/>
                </a:lnTo>
                <a:lnTo>
                  <a:pt x="2000" y="12600"/>
                </a:lnTo>
                <a:close/>
                <a:moveTo>
                  <a:pt x="2000" y="21600"/>
                </a:moveTo>
                <a:lnTo>
                  <a:pt x="8400" y="21600"/>
                </a:lnTo>
                <a:lnTo>
                  <a:pt x="8400" y="22000"/>
                </a:lnTo>
                <a:lnTo>
                  <a:pt x="2000" y="22000"/>
                </a:lnTo>
                <a:close/>
                <a:moveTo>
                  <a:pt x="2000" y="12200"/>
                </a:moveTo>
                <a:lnTo>
                  <a:pt x="2400" y="12200"/>
                </a:lnTo>
                <a:lnTo>
                  <a:pt x="2400" y="22000"/>
                </a:lnTo>
                <a:lnTo>
                  <a:pt x="2000" y="22000"/>
                </a:lnTo>
                <a:close/>
                <a:moveTo>
                  <a:pt x="8000" y="12200"/>
                </a:moveTo>
                <a:lnTo>
                  <a:pt x="8400" y="12200"/>
                </a:lnTo>
                <a:lnTo>
                  <a:pt x="8400" y="22000"/>
                </a:lnTo>
                <a:lnTo>
                  <a:pt x="8000" y="22000"/>
                </a:lnTo>
                <a:close/>
                <a:moveTo>
                  <a:pt x="8800" y="12200"/>
                </a:moveTo>
                <a:lnTo>
                  <a:pt x="15200" y="12200"/>
                </a:lnTo>
                <a:lnTo>
                  <a:pt x="15200" y="12600"/>
                </a:lnTo>
                <a:lnTo>
                  <a:pt x="8800" y="12600"/>
                </a:lnTo>
                <a:close/>
                <a:moveTo>
                  <a:pt x="8800" y="21600"/>
                </a:moveTo>
                <a:lnTo>
                  <a:pt x="15200" y="21600"/>
                </a:lnTo>
                <a:lnTo>
                  <a:pt x="15200" y="22000"/>
                </a:lnTo>
                <a:lnTo>
                  <a:pt x="8800" y="22000"/>
                </a:lnTo>
                <a:close/>
                <a:moveTo>
                  <a:pt x="8800" y="12200"/>
                </a:moveTo>
                <a:lnTo>
                  <a:pt x="9200" y="12200"/>
                </a:lnTo>
                <a:lnTo>
                  <a:pt x="9200" y="22000"/>
                </a:lnTo>
                <a:lnTo>
                  <a:pt x="8800" y="22000"/>
                </a:lnTo>
                <a:close/>
                <a:moveTo>
                  <a:pt x="14800" y="12200"/>
                </a:moveTo>
                <a:lnTo>
                  <a:pt x="15200" y="12200"/>
                </a:lnTo>
                <a:lnTo>
                  <a:pt x="15200" y="22000"/>
                </a:lnTo>
                <a:lnTo>
                  <a:pt x="14800" y="22000"/>
                </a:lnTo>
                <a:close/>
                <a:moveTo>
                  <a:pt x="15600" y="12200"/>
                </a:moveTo>
                <a:lnTo>
                  <a:pt x="22000" y="12200"/>
                </a:lnTo>
                <a:lnTo>
                  <a:pt x="22000" y="12600"/>
                </a:lnTo>
                <a:lnTo>
                  <a:pt x="15600" y="12600"/>
                </a:lnTo>
                <a:close/>
                <a:moveTo>
                  <a:pt x="15600" y="21600"/>
                </a:moveTo>
                <a:lnTo>
                  <a:pt x="22000" y="21600"/>
                </a:lnTo>
                <a:lnTo>
                  <a:pt x="22000" y="22000"/>
                </a:lnTo>
                <a:lnTo>
                  <a:pt x="15600" y="22000"/>
                </a:lnTo>
                <a:close/>
                <a:moveTo>
                  <a:pt x="15600" y="12200"/>
                </a:moveTo>
                <a:lnTo>
                  <a:pt x="16000" y="12200"/>
                </a:lnTo>
                <a:lnTo>
                  <a:pt x="16000" y="22000"/>
                </a:lnTo>
                <a:lnTo>
                  <a:pt x="15600" y="22000"/>
                </a:lnTo>
                <a:close/>
                <a:moveTo>
                  <a:pt x="21600" y="12200"/>
                </a:moveTo>
                <a:lnTo>
                  <a:pt x="22000" y="12200"/>
                </a:lnTo>
                <a:lnTo>
                  <a:pt x="22000" y="22000"/>
                </a:lnTo>
                <a:lnTo>
                  <a:pt x="216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04088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PESTLE分析</a:t>
            </a:r>
          </a:p>
        </p:txBody>
      </p:sp>
      <p:sp>
        <p:nvSpPr>
          <p:cNvPr id="55" name="STRAT-018"/>
          <p:cNvSpPr/>
          <p:nvPr/>
        </p:nvSpPr>
        <p:spPr>
          <a:xfrm>
            <a:off x="88696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21000" y="12000"/>
                </a:lnTo>
                <a:lnTo>
                  <a:pt x="12000" y="21000"/>
                </a:lnTo>
                <a:lnTo>
                  <a:pt x="3000" y="12000"/>
                </a:lnTo>
                <a:close/>
                <a:moveTo>
                  <a:pt x="13400" y="12000"/>
                </a:moveTo>
                <a:cubicBezTo>
                  <a:pt x="13400" y="12773"/>
                  <a:pt x="12773" y="13400"/>
                  <a:pt x="12000" y="13400"/>
                </a:cubicBezTo>
                <a:cubicBezTo>
                  <a:pt x="11227" y="13400"/>
                  <a:pt x="10600" y="12773"/>
                  <a:pt x="10600" y="12000"/>
                </a:cubicBezTo>
                <a:cubicBezTo>
                  <a:pt x="10600" y="11227"/>
                  <a:pt x="11227" y="10600"/>
                  <a:pt x="12000" y="10600"/>
                </a:cubicBezTo>
                <a:cubicBezTo>
                  <a:pt x="12773" y="10600"/>
                  <a:pt x="13400" y="11227"/>
                  <a:pt x="13400" y="12000"/>
                </a:cubicBezTo>
                <a:close/>
                <a:moveTo>
                  <a:pt x="11800" y="3000"/>
                </a:moveTo>
                <a:lnTo>
                  <a:pt x="11800" y="21000"/>
                </a:lnTo>
                <a:lnTo>
                  <a:pt x="12200" y="21000"/>
                </a:lnTo>
                <a:lnTo>
                  <a:pt x="12200" y="3000"/>
                </a:lnTo>
                <a:close/>
                <a:moveTo>
                  <a:pt x="3000" y="12200"/>
                </a:moveTo>
                <a:lnTo>
                  <a:pt x="21000" y="12200"/>
                </a:lnTo>
                <a:lnTo>
                  <a:pt x="21000" y="11800"/>
                </a:lnTo>
                <a:lnTo>
                  <a:pt x="3000" y="118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战略钻石</a:t>
            </a:r>
          </a:p>
        </p:txBody>
      </p:sp>
      <p:sp>
        <p:nvSpPr>
          <p:cNvPr id="58" name="STRAT-019"/>
          <p:cNvSpPr/>
          <p:nvPr/>
        </p:nvSpPr>
        <p:spPr>
          <a:xfrm>
            <a:off x="6400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300" y="2000"/>
                </a:moveTo>
                <a:lnTo>
                  <a:pt x="5300" y="2000"/>
                </a:lnTo>
                <a:cubicBezTo>
                  <a:pt x="5466" y="2000"/>
                  <a:pt x="5600" y="2134"/>
                  <a:pt x="5600" y="2300"/>
                </a:cubicBezTo>
                <a:lnTo>
                  <a:pt x="5600" y="21700"/>
                </a:lnTo>
                <a:cubicBezTo>
                  <a:pt x="5600" y="21866"/>
                  <a:pt x="5466" y="22000"/>
                  <a:pt x="53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6300" y="6000"/>
                </a:moveTo>
                <a:lnTo>
                  <a:pt x="9300" y="6000"/>
                </a:lnTo>
                <a:cubicBezTo>
                  <a:pt x="9466" y="6000"/>
                  <a:pt x="9600" y="6134"/>
                  <a:pt x="9600" y="6300"/>
                </a:cubicBezTo>
                <a:lnTo>
                  <a:pt x="9600" y="21700"/>
                </a:lnTo>
                <a:cubicBezTo>
                  <a:pt x="9600" y="21866"/>
                  <a:pt x="9466" y="22000"/>
                  <a:pt x="9300" y="22000"/>
                </a:cubicBezTo>
                <a:lnTo>
                  <a:pt x="6300" y="22000"/>
                </a:lnTo>
                <a:cubicBezTo>
                  <a:pt x="6134" y="22000"/>
                  <a:pt x="6000" y="21866"/>
                  <a:pt x="6000" y="21700"/>
                </a:cubicBezTo>
                <a:lnTo>
                  <a:pt x="6000" y="6300"/>
                </a:lnTo>
                <a:cubicBezTo>
                  <a:pt x="6000" y="6134"/>
                  <a:pt x="6134" y="6000"/>
                  <a:pt x="6300" y="6000"/>
                </a:cubicBezTo>
                <a:close/>
                <a:moveTo>
                  <a:pt x="10300" y="10000"/>
                </a:moveTo>
                <a:lnTo>
                  <a:pt x="13300" y="10000"/>
                </a:lnTo>
                <a:cubicBezTo>
                  <a:pt x="13466" y="10000"/>
                  <a:pt x="13600" y="10134"/>
                  <a:pt x="13600" y="10300"/>
                </a:cubicBezTo>
                <a:lnTo>
                  <a:pt x="13600" y="21700"/>
                </a:lnTo>
                <a:cubicBezTo>
                  <a:pt x="13600" y="21866"/>
                  <a:pt x="13466" y="22000"/>
                  <a:pt x="13300" y="22000"/>
                </a:cubicBezTo>
                <a:lnTo>
                  <a:pt x="10300" y="22000"/>
                </a:lnTo>
                <a:cubicBezTo>
                  <a:pt x="10134" y="22000"/>
                  <a:pt x="10000" y="21866"/>
                  <a:pt x="10000" y="21700"/>
                </a:cubicBezTo>
                <a:lnTo>
                  <a:pt x="10000" y="10300"/>
                </a:lnTo>
                <a:cubicBezTo>
                  <a:pt x="10000" y="10134"/>
                  <a:pt x="10134" y="10000"/>
                  <a:pt x="10300" y="10000"/>
                </a:cubicBezTo>
                <a:close/>
                <a:moveTo>
                  <a:pt x="14300" y="14000"/>
                </a:moveTo>
                <a:lnTo>
                  <a:pt x="17300" y="14000"/>
                </a:lnTo>
                <a:cubicBezTo>
                  <a:pt x="17466" y="14000"/>
                  <a:pt x="17600" y="14134"/>
                  <a:pt x="17600" y="14300"/>
                </a:cubicBezTo>
                <a:lnTo>
                  <a:pt x="17600" y="21700"/>
                </a:lnTo>
                <a:cubicBezTo>
                  <a:pt x="17600" y="21866"/>
                  <a:pt x="17466" y="22000"/>
                  <a:pt x="17300" y="22000"/>
                </a:cubicBezTo>
                <a:lnTo>
                  <a:pt x="14300" y="22000"/>
                </a:lnTo>
                <a:cubicBezTo>
                  <a:pt x="14134" y="22000"/>
                  <a:pt x="14000" y="21866"/>
                  <a:pt x="14000" y="21700"/>
                </a:cubicBezTo>
                <a:lnTo>
                  <a:pt x="14000" y="14300"/>
                </a:lnTo>
                <a:cubicBezTo>
                  <a:pt x="14000" y="14134"/>
                  <a:pt x="14134" y="14000"/>
                  <a:pt x="14300" y="14000"/>
                </a:cubicBezTo>
                <a:close/>
                <a:moveTo>
                  <a:pt x="18300" y="18000"/>
                </a:moveTo>
                <a:lnTo>
                  <a:pt x="21300" y="18000"/>
                </a:lnTo>
                <a:cubicBezTo>
                  <a:pt x="21466" y="18000"/>
                  <a:pt x="21600" y="18134"/>
                  <a:pt x="21600" y="18300"/>
                </a:cubicBezTo>
                <a:lnTo>
                  <a:pt x="21600" y="21700"/>
                </a:lnTo>
                <a:cubicBezTo>
                  <a:pt x="21600" y="21866"/>
                  <a:pt x="21466" y="22000"/>
                  <a:pt x="21300" y="22000"/>
                </a:cubicBezTo>
                <a:lnTo>
                  <a:pt x="18300" y="22000"/>
                </a:lnTo>
                <a:cubicBezTo>
                  <a:pt x="18134" y="22000"/>
                  <a:pt x="18000" y="21866"/>
                  <a:pt x="18000" y="21700"/>
                </a:cubicBezTo>
                <a:lnTo>
                  <a:pt x="18000" y="18300"/>
                </a:lnTo>
                <a:cubicBezTo>
                  <a:pt x="18000" y="18134"/>
                  <a:pt x="18134" y="18000"/>
                  <a:pt x="183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战略选择级联</a:t>
            </a:r>
          </a:p>
        </p:txBody>
      </p:sp>
      <p:sp>
        <p:nvSpPr>
          <p:cNvPr id="61" name="STRAT-020"/>
          <p:cNvSpPr/>
          <p:nvPr/>
        </p:nvSpPr>
        <p:spPr>
          <a:xfrm>
            <a:off x="228600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7000" y="6000"/>
                </a:moveTo>
                <a:cubicBezTo>
                  <a:pt x="7000" y="7105"/>
                  <a:pt x="6105" y="8000"/>
                  <a:pt x="5000" y="8000"/>
                </a:cubicBezTo>
                <a:cubicBezTo>
                  <a:pt x="3895" y="8000"/>
                  <a:pt x="3000" y="7105"/>
                  <a:pt x="3000" y="6000"/>
                </a:cubicBezTo>
                <a:cubicBezTo>
                  <a:pt x="3000" y="4895"/>
                  <a:pt x="3895" y="4000"/>
                  <a:pt x="5000" y="4000"/>
                </a:cubicBezTo>
                <a:cubicBezTo>
                  <a:pt x="6105" y="4000"/>
                  <a:pt x="7000" y="4895"/>
                  <a:pt x="7000" y="6000"/>
                </a:cubicBezTo>
                <a:close/>
                <a:moveTo>
                  <a:pt x="21000" y="6000"/>
                </a:moveTo>
                <a:cubicBezTo>
                  <a:pt x="21000" y="7105"/>
                  <a:pt x="20105" y="8000"/>
                  <a:pt x="19000" y="8000"/>
                </a:cubicBezTo>
                <a:cubicBezTo>
                  <a:pt x="17895" y="8000"/>
                  <a:pt x="17000" y="7105"/>
                  <a:pt x="17000" y="6000"/>
                </a:cubicBezTo>
                <a:cubicBezTo>
                  <a:pt x="17000" y="4895"/>
                  <a:pt x="17895" y="4000"/>
                  <a:pt x="19000" y="4000"/>
                </a:cubicBezTo>
                <a:cubicBezTo>
                  <a:pt x="20105" y="4000"/>
                  <a:pt x="21000" y="4895"/>
                  <a:pt x="21000" y="6000"/>
                </a:cubicBezTo>
                <a:close/>
                <a:moveTo>
                  <a:pt x="14000" y="21000"/>
                </a:moveTo>
                <a:cubicBezTo>
                  <a:pt x="14000" y="22105"/>
                  <a:pt x="13105" y="23000"/>
                  <a:pt x="12000" y="23000"/>
                </a:cubicBezTo>
                <a:cubicBezTo>
                  <a:pt x="10895" y="23000"/>
                  <a:pt x="10000" y="22105"/>
                  <a:pt x="10000" y="21000"/>
                </a:cubicBezTo>
                <a:cubicBezTo>
                  <a:pt x="10000" y="19895"/>
                  <a:pt x="10895" y="19000"/>
                  <a:pt x="12000" y="19000"/>
                </a:cubicBezTo>
                <a:cubicBezTo>
                  <a:pt x="13105" y="19000"/>
                  <a:pt x="14000" y="19895"/>
                  <a:pt x="14000" y="21000"/>
                </a:cubicBezTo>
                <a:close/>
                <a:moveTo>
                  <a:pt x="12098" y="8770"/>
                </a:moveTo>
                <a:lnTo>
                  <a:pt x="5098" y="5770"/>
                </a:lnTo>
                <a:lnTo>
                  <a:pt x="4902" y="6230"/>
                </a:lnTo>
                <a:lnTo>
                  <a:pt x="11902" y="9230"/>
                </a:lnTo>
                <a:close/>
                <a:moveTo>
                  <a:pt x="12098" y="9230"/>
                </a:moveTo>
                <a:lnTo>
                  <a:pt x="19098" y="6230"/>
                </a:lnTo>
                <a:lnTo>
                  <a:pt x="18902" y="5770"/>
                </a:lnTo>
                <a:lnTo>
                  <a:pt x="11902" y="8770"/>
                </a:lnTo>
                <a:close/>
                <a:moveTo>
                  <a:pt x="11750" y="15000"/>
                </a:moveTo>
                <a:lnTo>
                  <a:pt x="11750" y="21000"/>
                </a:lnTo>
                <a:lnTo>
                  <a:pt x="12250" y="21000"/>
                </a:lnTo>
                <a:lnTo>
                  <a:pt x="12250" y="1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10312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Build-Borrow-Buy</a:t>
            </a:r>
          </a:p>
        </p:txBody>
      </p:sp>
      <p:sp>
        <p:nvSpPr>
          <p:cNvPr id="64" name="STRAT-021"/>
          <p:cNvSpPr/>
          <p:nvPr/>
        </p:nvSpPr>
        <p:spPr>
          <a:xfrm>
            <a:off x="393192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0800" y="12000"/>
                </a:moveTo>
                <a:cubicBezTo>
                  <a:pt x="20800" y="7140"/>
                  <a:pt x="16860" y="3200"/>
                  <a:pt x="12000" y="3200"/>
                </a:cubicBezTo>
                <a:cubicBezTo>
                  <a:pt x="7140" y="3200"/>
                  <a:pt x="3200" y="7140"/>
                  <a:pt x="3200" y="12000"/>
                </a:cubicBezTo>
                <a:cubicBezTo>
                  <a:pt x="3200" y="16860"/>
                  <a:pt x="7140" y="20800"/>
                  <a:pt x="12000" y="20800"/>
                </a:cubicBezTo>
                <a:cubicBezTo>
                  <a:pt x="16860" y="20800"/>
                  <a:pt x="20800" y="16860"/>
                  <a:pt x="20800" y="12000"/>
                </a:cubicBezTo>
                <a:close/>
                <a:moveTo>
                  <a:pt x="19000" y="12000"/>
                </a:moveTo>
                <a:cubicBezTo>
                  <a:pt x="19000" y="15866"/>
                  <a:pt x="15866" y="19000"/>
                  <a:pt x="12000" y="19000"/>
                </a:cubicBezTo>
                <a:cubicBezTo>
                  <a:pt x="8134" y="19000"/>
                  <a:pt x="5000" y="15866"/>
                  <a:pt x="5000" y="12000"/>
                </a:cubicBezTo>
                <a:cubicBezTo>
                  <a:pt x="5000" y="8134"/>
                  <a:pt x="8134" y="5000"/>
                  <a:pt x="12000" y="5000"/>
                </a:cubicBezTo>
                <a:cubicBezTo>
                  <a:pt x="15866" y="5000"/>
                  <a:pt x="19000" y="8134"/>
                  <a:pt x="19000" y="12000"/>
                </a:cubicBezTo>
                <a:close/>
                <a:moveTo>
                  <a:pt x="17800" y="12000"/>
                </a:moveTo>
                <a:cubicBezTo>
                  <a:pt x="17800" y="8797"/>
                  <a:pt x="15203" y="6200"/>
                  <a:pt x="12000" y="6200"/>
                </a:cubicBezTo>
                <a:cubicBezTo>
                  <a:pt x="8797" y="6200"/>
                  <a:pt x="6200" y="8797"/>
                  <a:pt x="6200" y="12000"/>
                </a:cubicBezTo>
                <a:cubicBezTo>
                  <a:pt x="6200" y="15203"/>
                  <a:pt x="8797" y="17800"/>
                  <a:pt x="12000" y="17800"/>
                </a:cubicBezTo>
                <a:cubicBezTo>
                  <a:pt x="15203" y="17800"/>
                  <a:pt x="17800" y="15203"/>
                  <a:pt x="17800" y="12000"/>
                </a:cubicBezTo>
                <a:close/>
                <a:moveTo>
                  <a:pt x="16000" y="12000"/>
                </a:moveTo>
                <a:cubicBezTo>
                  <a:pt x="16000" y="14209"/>
                  <a:pt x="14209" y="16000"/>
                  <a:pt x="12000" y="16000"/>
                </a:cubicBezTo>
                <a:cubicBezTo>
                  <a:pt x="9791" y="16000"/>
                  <a:pt x="8000" y="14209"/>
                  <a:pt x="8000" y="12000"/>
                </a:cubicBezTo>
                <a:cubicBezTo>
                  <a:pt x="8000" y="9791"/>
                  <a:pt x="9791" y="8000"/>
                  <a:pt x="12000" y="8000"/>
                </a:cubicBezTo>
                <a:cubicBezTo>
                  <a:pt x="14209" y="8000"/>
                  <a:pt x="16000" y="9791"/>
                  <a:pt x="16000" y="12000"/>
                </a:cubicBezTo>
                <a:close/>
                <a:moveTo>
                  <a:pt x="14800" y="12000"/>
                </a:moveTo>
                <a:cubicBezTo>
                  <a:pt x="14800" y="10454"/>
                  <a:pt x="13546" y="9200"/>
                  <a:pt x="12000" y="9200"/>
                </a:cubicBezTo>
                <a:cubicBezTo>
                  <a:pt x="10454" y="9200"/>
                  <a:pt x="9200" y="10454"/>
                  <a:pt x="9200" y="12000"/>
                </a:cubicBezTo>
                <a:cubicBezTo>
                  <a:pt x="9200" y="13546"/>
                  <a:pt x="10454" y="14800"/>
                  <a:pt x="12000" y="14800"/>
                </a:cubicBezTo>
                <a:cubicBezTo>
                  <a:pt x="13546" y="14800"/>
                  <a:pt x="14800" y="13546"/>
                  <a:pt x="14800" y="12000"/>
                </a:cubicBezTo>
                <a:close/>
                <a:moveTo>
                  <a:pt x="13200" y="12000"/>
                </a:moveTo>
                <a:cubicBezTo>
                  <a:pt x="13200" y="12663"/>
                  <a:pt x="12663" y="13200"/>
                  <a:pt x="12000" y="13200"/>
                </a:cubicBezTo>
                <a:cubicBezTo>
                  <a:pt x="11337" y="13200"/>
                  <a:pt x="10800" y="12663"/>
                  <a:pt x="10800" y="12000"/>
                </a:cubicBezTo>
                <a:cubicBezTo>
                  <a:pt x="10800" y="11337"/>
                  <a:pt x="11337" y="10800"/>
                  <a:pt x="12000" y="10800"/>
                </a:cubicBezTo>
                <a:cubicBezTo>
                  <a:pt x="12663" y="10800"/>
                  <a:pt x="13200" y="11337"/>
                  <a:pt x="132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74904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核心-相邻-转型</a:t>
            </a:r>
          </a:p>
        </p:txBody>
      </p:sp>
      <p:sp>
        <p:nvSpPr>
          <p:cNvPr id="67" name="STRAT-022"/>
          <p:cNvSpPr/>
          <p:nvPr/>
        </p:nvSpPr>
        <p:spPr>
          <a:xfrm>
            <a:off x="557784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21000" y="19000"/>
                </a:lnTo>
                <a:lnTo>
                  <a:pt x="3000" y="19000"/>
                </a:lnTo>
                <a:close/>
                <a:moveTo>
                  <a:pt x="13400" y="5500"/>
                </a:moveTo>
                <a:cubicBezTo>
                  <a:pt x="13400" y="6273"/>
                  <a:pt x="12773" y="6900"/>
                  <a:pt x="12000" y="6900"/>
                </a:cubicBezTo>
                <a:cubicBezTo>
                  <a:pt x="11227" y="6900"/>
                  <a:pt x="10600" y="6273"/>
                  <a:pt x="10600" y="5500"/>
                </a:cubicBezTo>
                <a:cubicBezTo>
                  <a:pt x="10600" y="4727"/>
                  <a:pt x="11227" y="4100"/>
                  <a:pt x="12000" y="4100"/>
                </a:cubicBezTo>
                <a:cubicBezTo>
                  <a:pt x="12773" y="4100"/>
                  <a:pt x="13400" y="4727"/>
                  <a:pt x="13400" y="5500"/>
                </a:cubicBezTo>
                <a:close/>
                <a:moveTo>
                  <a:pt x="8400" y="17000"/>
                </a:moveTo>
                <a:cubicBezTo>
                  <a:pt x="8400" y="17773"/>
                  <a:pt x="7773" y="18400"/>
                  <a:pt x="7000" y="18400"/>
                </a:cubicBezTo>
                <a:cubicBezTo>
                  <a:pt x="6227" y="18400"/>
                  <a:pt x="5600" y="17773"/>
                  <a:pt x="5600" y="17000"/>
                </a:cubicBezTo>
                <a:cubicBezTo>
                  <a:pt x="5600" y="16227"/>
                  <a:pt x="6227" y="15600"/>
                  <a:pt x="7000" y="15600"/>
                </a:cubicBezTo>
                <a:cubicBezTo>
                  <a:pt x="7773" y="15600"/>
                  <a:pt x="8400" y="16227"/>
                  <a:pt x="8400" y="17000"/>
                </a:cubicBezTo>
                <a:close/>
                <a:moveTo>
                  <a:pt x="18400" y="17000"/>
                </a:moveTo>
                <a:cubicBezTo>
                  <a:pt x="18400" y="17773"/>
                  <a:pt x="17773" y="18400"/>
                  <a:pt x="17000" y="18400"/>
                </a:cubicBezTo>
                <a:cubicBezTo>
                  <a:pt x="16227" y="18400"/>
                  <a:pt x="15600" y="17773"/>
                  <a:pt x="15600" y="17000"/>
                </a:cubicBezTo>
                <a:cubicBezTo>
                  <a:pt x="15600" y="16227"/>
                  <a:pt x="16227" y="15600"/>
                  <a:pt x="17000" y="15600"/>
                </a:cubicBezTo>
                <a:cubicBezTo>
                  <a:pt x="17773" y="15600"/>
                  <a:pt x="18400" y="16227"/>
                  <a:pt x="184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39496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自制-外购-合作</a:t>
            </a:r>
          </a:p>
        </p:txBody>
      </p:sp>
      <p:sp>
        <p:nvSpPr>
          <p:cNvPr id="70" name="STRAT-023"/>
          <p:cNvSpPr/>
          <p:nvPr/>
        </p:nvSpPr>
        <p:spPr>
          <a:xfrm>
            <a:off x="722376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3000" y="19000"/>
                </a:moveTo>
                <a:cubicBezTo>
                  <a:pt x="8000" y="19000"/>
                  <a:pt x="12000" y="18000"/>
                  <a:pt x="16000" y="14000"/>
                </a:cubicBezTo>
                <a:cubicBezTo>
                  <a:pt x="19000" y="11000"/>
                  <a:pt x="20000" y="7000"/>
                  <a:pt x="21000" y="3000"/>
                </a:cubicBezTo>
                <a:lnTo>
                  <a:pt x="21000" y="5000"/>
                </a:lnTo>
                <a:cubicBezTo>
                  <a:pt x="20000" y="9000"/>
                  <a:pt x="19000" y="12000"/>
                  <a:pt x="16000" y="16000"/>
                </a:cubicBezTo>
                <a:cubicBezTo>
                  <a:pt x="12000" y="20000"/>
                  <a:pt x="8000" y="21000"/>
                  <a:pt x="3000" y="21000"/>
                </a:cubicBezTo>
                <a:close/>
                <a:moveTo>
                  <a:pt x="21000" y="1400"/>
                </a:moveTo>
                <a:lnTo>
                  <a:pt x="21294" y="2595"/>
                </a:lnTo>
                <a:lnTo>
                  <a:pt x="22522" y="2506"/>
                </a:lnTo>
                <a:lnTo>
                  <a:pt x="21476" y="3155"/>
                </a:lnTo>
                <a:lnTo>
                  <a:pt x="21940" y="4294"/>
                </a:lnTo>
                <a:lnTo>
                  <a:pt x="21000" y="3500"/>
                </a:lnTo>
                <a:lnTo>
                  <a:pt x="20060" y="4294"/>
                </a:lnTo>
                <a:lnTo>
                  <a:pt x="20524" y="3155"/>
                </a:lnTo>
                <a:lnTo>
                  <a:pt x="19478" y="2506"/>
                </a:lnTo>
                <a:lnTo>
                  <a:pt x="20706" y="259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04088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颠覆曲线</a:t>
            </a:r>
          </a:p>
        </p:txBody>
      </p:sp>
      <p:sp>
        <p:nvSpPr>
          <p:cNvPr id="73" name="STRAT-024"/>
          <p:cNvSpPr/>
          <p:nvPr/>
        </p:nvSpPr>
        <p:spPr>
          <a:xfrm>
            <a:off x="88696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8000"/>
                </a:moveTo>
                <a:quadBezTo>
                  <a:pt x="7000" y="14000"/>
                  <a:pt x="11000" y="18000"/>
                </a:quadBezTo>
                <a:quadBezTo>
                  <a:pt x="15000" y="22000"/>
                  <a:pt x="19000" y="18000"/>
                </a:quadBezTo>
                <a:quadBezTo>
                  <a:pt x="21000" y="16000"/>
                  <a:pt x="21000" y="14000"/>
                </a:quadBezTo>
                <a:lnTo>
                  <a:pt x="3000" y="14000"/>
                </a:lnTo>
                <a:close/>
                <a:moveTo>
                  <a:pt x="2400" y="18000"/>
                </a:moveTo>
                <a:lnTo>
                  <a:pt x="21600" y="18000"/>
                </a:lnTo>
                <a:cubicBezTo>
                  <a:pt x="21821" y="18000"/>
                  <a:pt x="22000" y="18179"/>
                  <a:pt x="22000" y="18400"/>
                </a:cubicBezTo>
                <a:lnTo>
                  <a:pt x="22000" y="21600"/>
                </a:lnTo>
                <a:cubicBezTo>
                  <a:pt x="22000" y="21821"/>
                  <a:pt x="21821" y="22000"/>
                  <a:pt x="21600" y="22000"/>
                </a:cubicBezTo>
                <a:lnTo>
                  <a:pt x="2400" y="22000"/>
                </a:lnTo>
                <a:cubicBezTo>
                  <a:pt x="2179" y="22000"/>
                  <a:pt x="2000" y="21821"/>
                  <a:pt x="2000" y="21600"/>
                </a:cubicBezTo>
                <a:lnTo>
                  <a:pt x="2000" y="18400"/>
                </a:lnTo>
                <a:cubicBezTo>
                  <a:pt x="2000" y="18179"/>
                  <a:pt x="2179" y="18000"/>
                  <a:pt x="2400" y="18000"/>
                </a:cubicBezTo>
                <a:close/>
                <a:moveTo>
                  <a:pt x="6750" y="4000"/>
                </a:moveTo>
                <a:lnTo>
                  <a:pt x="6750" y="9000"/>
                </a:lnTo>
                <a:lnTo>
                  <a:pt x="7250" y="9000"/>
                </a:lnTo>
                <a:lnTo>
                  <a:pt x="7250" y="4000"/>
                </a:lnTo>
                <a:close/>
                <a:moveTo>
                  <a:pt x="11750" y="4000"/>
                </a:moveTo>
                <a:lnTo>
                  <a:pt x="11750" y="11000"/>
                </a:lnTo>
                <a:lnTo>
                  <a:pt x="12250" y="11000"/>
                </a:lnTo>
                <a:lnTo>
                  <a:pt x="12250" y="4000"/>
                </a:lnTo>
                <a:close/>
                <a:moveTo>
                  <a:pt x="16750" y="4000"/>
                </a:moveTo>
                <a:lnTo>
                  <a:pt x="16750" y="7000"/>
                </a:lnTo>
                <a:lnTo>
                  <a:pt x="17250" y="7000"/>
                </a:lnTo>
                <a:lnTo>
                  <a:pt x="17250" y="4000"/>
                </a:lnTo>
                <a:close/>
                <a:moveTo>
                  <a:pt x="7700" y="4000"/>
                </a:moveTo>
                <a:cubicBezTo>
                  <a:pt x="7700" y="4387"/>
                  <a:pt x="7387" y="4700"/>
                  <a:pt x="7000" y="4700"/>
                </a:cubicBezTo>
                <a:cubicBezTo>
                  <a:pt x="6613" y="4700"/>
                  <a:pt x="6300" y="4387"/>
                  <a:pt x="6300" y="4000"/>
                </a:cubicBezTo>
                <a:cubicBezTo>
                  <a:pt x="6300" y="3613"/>
                  <a:pt x="6613" y="3300"/>
                  <a:pt x="7000" y="3300"/>
                </a:cubicBezTo>
                <a:cubicBezTo>
                  <a:pt x="7387" y="3300"/>
                  <a:pt x="7700" y="3613"/>
                  <a:pt x="7700" y="4000"/>
                </a:cubicBezTo>
                <a:close/>
                <a:moveTo>
                  <a:pt x="12700" y="4000"/>
                </a:moveTo>
                <a:cubicBezTo>
                  <a:pt x="12700" y="4387"/>
                  <a:pt x="12387" y="4700"/>
                  <a:pt x="12000" y="4700"/>
                </a:cubicBezTo>
                <a:cubicBezTo>
                  <a:pt x="11613" y="4700"/>
                  <a:pt x="11300" y="4387"/>
                  <a:pt x="11300" y="4000"/>
                </a:cubicBezTo>
                <a:cubicBezTo>
                  <a:pt x="11300" y="3613"/>
                  <a:pt x="11613" y="3300"/>
                  <a:pt x="12000" y="3300"/>
                </a:cubicBezTo>
                <a:cubicBezTo>
                  <a:pt x="12387" y="3300"/>
                  <a:pt x="12700" y="3613"/>
                  <a:pt x="12700" y="4000"/>
                </a:cubicBezTo>
                <a:close/>
                <a:moveTo>
                  <a:pt x="17700" y="4000"/>
                </a:moveTo>
                <a:cubicBezTo>
                  <a:pt x="17700" y="4387"/>
                  <a:pt x="17387" y="4700"/>
                  <a:pt x="17000" y="4700"/>
                </a:cubicBezTo>
                <a:cubicBezTo>
                  <a:pt x="16613" y="4700"/>
                  <a:pt x="16300" y="4387"/>
                  <a:pt x="16300" y="4000"/>
                </a:cubicBezTo>
                <a:cubicBezTo>
                  <a:pt x="16300" y="3613"/>
                  <a:pt x="16613" y="3300"/>
                  <a:pt x="17000" y="3300"/>
                </a:cubicBezTo>
                <a:cubicBezTo>
                  <a:pt x="17387" y="3300"/>
                  <a:pt x="17700" y="3613"/>
                  <a:pt x="17700" y="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868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蓝海战略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01_战略框架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STRAT · 第 2/2 页 · 共 40 个</a:t>
            </a:r>
          </a:p>
        </p:txBody>
      </p:sp>
      <p:sp>
        <p:nvSpPr>
          <p:cNvPr id="4" name="STRAT-025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增长飞轮</a:t>
            </a:r>
          </a:p>
        </p:txBody>
      </p:sp>
      <p:sp>
        <p:nvSpPr>
          <p:cNvPr id="7" name="STRAT-026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1500"/>
                </a:moveTo>
                <a:lnTo>
                  <a:pt x="12705" y="4029"/>
                </a:lnTo>
                <a:lnTo>
                  <a:pt x="15329" y="3918"/>
                </a:lnTo>
                <a:lnTo>
                  <a:pt x="13141" y="5371"/>
                </a:lnTo>
                <a:lnTo>
                  <a:pt x="14057" y="7832"/>
                </a:lnTo>
                <a:lnTo>
                  <a:pt x="12000" y="6200"/>
                </a:lnTo>
                <a:lnTo>
                  <a:pt x="9943" y="7832"/>
                </a:lnTo>
                <a:lnTo>
                  <a:pt x="10859" y="5371"/>
                </a:lnTo>
                <a:lnTo>
                  <a:pt x="8671" y="3918"/>
                </a:lnTo>
                <a:lnTo>
                  <a:pt x="11295" y="4029"/>
                </a:lnTo>
                <a:close/>
                <a:moveTo>
                  <a:pt x="8291" y="21073"/>
                </a:moveTo>
                <a:lnTo>
                  <a:pt x="10951" y="10431"/>
                </a:lnTo>
                <a:lnTo>
                  <a:pt x="11631" y="10601"/>
                </a:lnTo>
                <a:lnTo>
                  <a:pt x="11000" y="9000"/>
                </a:lnTo>
                <a:lnTo>
                  <a:pt x="9690" y="10116"/>
                </a:lnTo>
                <a:lnTo>
                  <a:pt x="10369" y="10285"/>
                </a:lnTo>
                <a:lnTo>
                  <a:pt x="7709" y="20927"/>
                </a:lnTo>
                <a:close/>
                <a:moveTo>
                  <a:pt x="12300" y="21000"/>
                </a:moveTo>
                <a:lnTo>
                  <a:pt x="12300" y="10400"/>
                </a:lnTo>
                <a:lnTo>
                  <a:pt x="13000" y="10400"/>
                </a:lnTo>
                <a:lnTo>
                  <a:pt x="12000" y="9000"/>
                </a:lnTo>
                <a:lnTo>
                  <a:pt x="11000" y="10400"/>
                </a:lnTo>
                <a:lnTo>
                  <a:pt x="11700" y="10400"/>
                </a:lnTo>
                <a:lnTo>
                  <a:pt x="11700" y="21000"/>
                </a:lnTo>
                <a:close/>
                <a:moveTo>
                  <a:pt x="16291" y="20927"/>
                </a:moveTo>
                <a:lnTo>
                  <a:pt x="13631" y="10285"/>
                </a:lnTo>
                <a:lnTo>
                  <a:pt x="14310" y="10116"/>
                </a:lnTo>
                <a:lnTo>
                  <a:pt x="13000" y="9000"/>
                </a:lnTo>
                <a:lnTo>
                  <a:pt x="12369" y="10601"/>
                </a:lnTo>
                <a:lnTo>
                  <a:pt x="13049" y="10431"/>
                </a:lnTo>
                <a:lnTo>
                  <a:pt x="15709" y="2107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北极星指标</a:t>
            </a:r>
          </a:p>
        </p:txBody>
      </p:sp>
      <p:sp>
        <p:nvSpPr>
          <p:cNvPr id="10" name="STRAT-027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5000"/>
                </a:moveTo>
                <a:lnTo>
                  <a:pt x="21700" y="5000"/>
                </a:lnTo>
                <a:cubicBezTo>
                  <a:pt x="21866" y="5000"/>
                  <a:pt x="22000" y="5134"/>
                  <a:pt x="22000" y="5300"/>
                </a:cubicBezTo>
                <a:lnTo>
                  <a:pt x="22000" y="6700"/>
                </a:lnTo>
                <a:cubicBezTo>
                  <a:pt x="22000" y="6866"/>
                  <a:pt x="21866" y="7000"/>
                  <a:pt x="21700" y="7000"/>
                </a:cubicBezTo>
                <a:lnTo>
                  <a:pt x="2300" y="7000"/>
                </a:lnTo>
                <a:cubicBezTo>
                  <a:pt x="2134" y="7000"/>
                  <a:pt x="2000" y="6866"/>
                  <a:pt x="2000" y="6700"/>
                </a:cubicBezTo>
                <a:lnTo>
                  <a:pt x="2000" y="5300"/>
                </a:lnTo>
                <a:cubicBezTo>
                  <a:pt x="2000" y="5134"/>
                  <a:pt x="2134" y="5000"/>
                  <a:pt x="2300" y="5000"/>
                </a:cubicBezTo>
                <a:close/>
                <a:moveTo>
                  <a:pt x="3300" y="7000"/>
                </a:moveTo>
                <a:lnTo>
                  <a:pt x="6700" y="7000"/>
                </a:lnTo>
                <a:cubicBezTo>
                  <a:pt x="6866" y="7000"/>
                  <a:pt x="7000" y="7134"/>
                  <a:pt x="7000" y="7300"/>
                </a:cubicBezTo>
                <a:lnTo>
                  <a:pt x="7000" y="20700"/>
                </a:lnTo>
                <a:cubicBezTo>
                  <a:pt x="7000" y="20866"/>
                  <a:pt x="6866" y="21000"/>
                  <a:pt x="6700" y="21000"/>
                </a:cubicBezTo>
                <a:lnTo>
                  <a:pt x="3300" y="21000"/>
                </a:lnTo>
                <a:cubicBezTo>
                  <a:pt x="3134" y="21000"/>
                  <a:pt x="3000" y="20866"/>
                  <a:pt x="3000" y="20700"/>
                </a:cubicBezTo>
                <a:lnTo>
                  <a:pt x="3000" y="7300"/>
                </a:lnTo>
                <a:cubicBezTo>
                  <a:pt x="3000" y="7134"/>
                  <a:pt x="3134" y="7000"/>
                  <a:pt x="3300" y="7000"/>
                </a:cubicBezTo>
                <a:close/>
                <a:moveTo>
                  <a:pt x="10300" y="7000"/>
                </a:moveTo>
                <a:lnTo>
                  <a:pt x="13700" y="7000"/>
                </a:lnTo>
                <a:cubicBezTo>
                  <a:pt x="13866" y="7000"/>
                  <a:pt x="14000" y="7134"/>
                  <a:pt x="14000" y="7300"/>
                </a:cubicBezTo>
                <a:lnTo>
                  <a:pt x="14000" y="20700"/>
                </a:lnTo>
                <a:cubicBezTo>
                  <a:pt x="14000" y="20866"/>
                  <a:pt x="13866" y="21000"/>
                  <a:pt x="13700" y="21000"/>
                </a:cubicBezTo>
                <a:lnTo>
                  <a:pt x="10300" y="21000"/>
                </a:lnTo>
                <a:cubicBezTo>
                  <a:pt x="10134" y="21000"/>
                  <a:pt x="10000" y="20866"/>
                  <a:pt x="10000" y="20700"/>
                </a:cubicBezTo>
                <a:lnTo>
                  <a:pt x="10000" y="7300"/>
                </a:lnTo>
                <a:cubicBezTo>
                  <a:pt x="10000" y="7134"/>
                  <a:pt x="10134" y="7000"/>
                  <a:pt x="10300" y="7000"/>
                </a:cubicBezTo>
                <a:close/>
                <a:moveTo>
                  <a:pt x="17300" y="7000"/>
                </a:moveTo>
                <a:lnTo>
                  <a:pt x="20700" y="7000"/>
                </a:lnTo>
                <a:cubicBezTo>
                  <a:pt x="20866" y="7000"/>
                  <a:pt x="21000" y="7134"/>
                  <a:pt x="21000" y="7300"/>
                </a:cubicBezTo>
                <a:lnTo>
                  <a:pt x="21000" y="20700"/>
                </a:lnTo>
                <a:cubicBezTo>
                  <a:pt x="21000" y="20866"/>
                  <a:pt x="20866" y="21000"/>
                  <a:pt x="20700" y="21000"/>
                </a:cubicBezTo>
                <a:lnTo>
                  <a:pt x="17300" y="21000"/>
                </a:lnTo>
                <a:cubicBezTo>
                  <a:pt x="17134" y="21000"/>
                  <a:pt x="17000" y="20866"/>
                  <a:pt x="17000" y="20700"/>
                </a:cubicBezTo>
                <a:lnTo>
                  <a:pt x="17000" y="7300"/>
                </a:lnTo>
                <a:cubicBezTo>
                  <a:pt x="17000" y="7134"/>
                  <a:pt x="17134" y="7000"/>
                  <a:pt x="17300" y="7000"/>
                </a:cubicBezTo>
                <a:close/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战略支柱</a:t>
            </a:r>
          </a:p>
        </p:txBody>
      </p:sp>
      <p:sp>
        <p:nvSpPr>
          <p:cNvPr id="13" name="STRAT-028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400" y="8000"/>
                </a:moveTo>
                <a:lnTo>
                  <a:pt x="17600" y="8000"/>
                </a:lnTo>
                <a:cubicBezTo>
                  <a:pt x="17821" y="8000"/>
                  <a:pt x="18000" y="8179"/>
                  <a:pt x="18000" y="8400"/>
                </a:cubicBezTo>
                <a:lnTo>
                  <a:pt x="18000" y="17600"/>
                </a:lnTo>
                <a:cubicBezTo>
                  <a:pt x="18000" y="17821"/>
                  <a:pt x="17821" y="18000"/>
                  <a:pt x="17600" y="18000"/>
                </a:cubicBezTo>
                <a:lnTo>
                  <a:pt x="6400" y="18000"/>
                </a:lnTo>
                <a:cubicBezTo>
                  <a:pt x="6179" y="18000"/>
                  <a:pt x="6000" y="17821"/>
                  <a:pt x="6000" y="17600"/>
                </a:cubicBezTo>
                <a:lnTo>
                  <a:pt x="6000" y="8400"/>
                </a:lnTo>
                <a:cubicBezTo>
                  <a:pt x="6000" y="8179"/>
                  <a:pt x="6179" y="8000"/>
                  <a:pt x="6400" y="8000"/>
                </a:cubicBezTo>
                <a:close/>
                <a:moveTo>
                  <a:pt x="7000" y="5000"/>
                </a:moveTo>
                <a:lnTo>
                  <a:pt x="9000" y="5000"/>
                </a:lnTo>
                <a:lnTo>
                  <a:pt x="9000" y="8000"/>
                </a:lnTo>
                <a:lnTo>
                  <a:pt x="7000" y="8000"/>
                </a:lnTo>
                <a:close/>
                <a:moveTo>
                  <a:pt x="11000" y="5000"/>
                </a:moveTo>
                <a:lnTo>
                  <a:pt x="13000" y="5000"/>
                </a:lnTo>
                <a:lnTo>
                  <a:pt x="13000" y="8000"/>
                </a:lnTo>
                <a:lnTo>
                  <a:pt x="11000" y="8000"/>
                </a:lnTo>
                <a:close/>
                <a:moveTo>
                  <a:pt x="15000" y="5000"/>
                </a:moveTo>
                <a:lnTo>
                  <a:pt x="17000" y="5000"/>
                </a:lnTo>
                <a:lnTo>
                  <a:pt x="17000" y="8000"/>
                </a:lnTo>
                <a:lnTo>
                  <a:pt x="15000" y="8000"/>
                </a:lnTo>
                <a:close/>
                <a:moveTo>
                  <a:pt x="2500" y="18000"/>
                </a:moveTo>
                <a:lnTo>
                  <a:pt x="21500" y="18000"/>
                </a:lnTo>
                <a:cubicBezTo>
                  <a:pt x="21776" y="18000"/>
                  <a:pt x="22000" y="18224"/>
                  <a:pt x="22000" y="18500"/>
                </a:cubicBezTo>
                <a:lnTo>
                  <a:pt x="22000" y="21500"/>
                </a:lnTo>
                <a:cubicBezTo>
                  <a:pt x="22000" y="21776"/>
                  <a:pt x="21776" y="22000"/>
                  <a:pt x="21500" y="22000"/>
                </a:cubicBezTo>
                <a:lnTo>
                  <a:pt x="2500" y="22000"/>
                </a:lnTo>
                <a:cubicBezTo>
                  <a:pt x="2224" y="22000"/>
                  <a:pt x="2000" y="21776"/>
                  <a:pt x="2000" y="21500"/>
                </a:cubicBezTo>
                <a:lnTo>
                  <a:pt x="2000" y="18500"/>
                </a:lnTo>
                <a:cubicBezTo>
                  <a:pt x="2000" y="18224"/>
                  <a:pt x="2224" y="18000"/>
                  <a:pt x="2500" y="18000"/>
                </a:cubicBezTo>
                <a:close/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10800" y="5000"/>
                </a:moveTo>
                <a:lnTo>
                  <a:pt x="10800" y="18000"/>
                </a:lnTo>
                <a:lnTo>
                  <a:pt x="11200" y="18000"/>
                </a:lnTo>
                <a:lnTo>
                  <a:pt x="112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护城河</a:t>
            </a:r>
          </a:p>
        </p:txBody>
      </p:sp>
      <p:sp>
        <p:nvSpPr>
          <p:cNvPr id="16" name="STRAT-029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33" y="10333"/>
                </a:moveTo>
                <a:lnTo>
                  <a:pt x="5867" y="10333"/>
                </a:lnTo>
                <a:cubicBezTo>
                  <a:pt x="6032" y="10333"/>
                  <a:pt x="6167" y="10468"/>
                  <a:pt x="6167" y="10633"/>
                </a:cubicBezTo>
                <a:lnTo>
                  <a:pt x="6167" y="13367"/>
                </a:lnTo>
                <a:cubicBezTo>
                  <a:pt x="6167" y="13532"/>
                  <a:pt x="6032" y="13667"/>
                  <a:pt x="5867" y="13667"/>
                </a:cubicBezTo>
                <a:lnTo>
                  <a:pt x="3133" y="13667"/>
                </a:lnTo>
                <a:cubicBezTo>
                  <a:pt x="2968" y="13667"/>
                  <a:pt x="2833" y="13532"/>
                  <a:pt x="2833" y="13367"/>
                </a:cubicBezTo>
                <a:lnTo>
                  <a:pt x="2833" y="10633"/>
                </a:lnTo>
                <a:cubicBezTo>
                  <a:pt x="2833" y="10468"/>
                  <a:pt x="2968" y="10333"/>
                  <a:pt x="3133" y="10333"/>
                </a:cubicBezTo>
                <a:close/>
                <a:moveTo>
                  <a:pt x="6367" y="12250"/>
                </a:moveTo>
                <a:lnTo>
                  <a:pt x="6633" y="12250"/>
                </a:lnTo>
                <a:lnTo>
                  <a:pt x="6633" y="12700"/>
                </a:lnTo>
                <a:lnTo>
                  <a:pt x="7633" y="12000"/>
                </a:lnTo>
                <a:lnTo>
                  <a:pt x="6633" y="11300"/>
                </a:lnTo>
                <a:lnTo>
                  <a:pt x="6633" y="11750"/>
                </a:lnTo>
                <a:lnTo>
                  <a:pt x="6367" y="11750"/>
                </a:lnTo>
                <a:close/>
                <a:moveTo>
                  <a:pt x="8133" y="10333"/>
                </a:moveTo>
                <a:lnTo>
                  <a:pt x="10867" y="10333"/>
                </a:lnTo>
                <a:cubicBezTo>
                  <a:pt x="11032" y="10333"/>
                  <a:pt x="11167" y="10468"/>
                  <a:pt x="11167" y="10633"/>
                </a:cubicBezTo>
                <a:lnTo>
                  <a:pt x="11167" y="13367"/>
                </a:lnTo>
                <a:cubicBezTo>
                  <a:pt x="11167" y="13532"/>
                  <a:pt x="11032" y="13667"/>
                  <a:pt x="10867" y="13667"/>
                </a:cubicBezTo>
                <a:lnTo>
                  <a:pt x="8133" y="13667"/>
                </a:lnTo>
                <a:cubicBezTo>
                  <a:pt x="7968" y="13667"/>
                  <a:pt x="7833" y="13532"/>
                  <a:pt x="7833" y="13367"/>
                </a:cubicBezTo>
                <a:lnTo>
                  <a:pt x="7833" y="10633"/>
                </a:lnTo>
                <a:cubicBezTo>
                  <a:pt x="7833" y="10468"/>
                  <a:pt x="7968" y="10333"/>
                  <a:pt x="8133" y="10333"/>
                </a:cubicBezTo>
                <a:close/>
                <a:moveTo>
                  <a:pt x="11367" y="12250"/>
                </a:moveTo>
                <a:lnTo>
                  <a:pt x="11633" y="12250"/>
                </a:lnTo>
                <a:lnTo>
                  <a:pt x="11633" y="12700"/>
                </a:lnTo>
                <a:lnTo>
                  <a:pt x="12633" y="12000"/>
                </a:lnTo>
                <a:lnTo>
                  <a:pt x="11633" y="11300"/>
                </a:lnTo>
                <a:lnTo>
                  <a:pt x="11633" y="11750"/>
                </a:lnTo>
                <a:lnTo>
                  <a:pt x="11367" y="11750"/>
                </a:lnTo>
                <a:close/>
                <a:moveTo>
                  <a:pt x="13133" y="10333"/>
                </a:moveTo>
                <a:lnTo>
                  <a:pt x="15867" y="10333"/>
                </a:lnTo>
                <a:cubicBezTo>
                  <a:pt x="16032" y="10333"/>
                  <a:pt x="16167" y="10468"/>
                  <a:pt x="16167" y="10633"/>
                </a:cubicBezTo>
                <a:lnTo>
                  <a:pt x="16167" y="13367"/>
                </a:lnTo>
                <a:cubicBezTo>
                  <a:pt x="16167" y="13532"/>
                  <a:pt x="16032" y="13667"/>
                  <a:pt x="15867" y="13667"/>
                </a:cubicBezTo>
                <a:lnTo>
                  <a:pt x="13133" y="13667"/>
                </a:lnTo>
                <a:cubicBezTo>
                  <a:pt x="12968" y="13667"/>
                  <a:pt x="12833" y="13532"/>
                  <a:pt x="12833" y="13367"/>
                </a:cubicBezTo>
                <a:lnTo>
                  <a:pt x="12833" y="10633"/>
                </a:lnTo>
                <a:cubicBezTo>
                  <a:pt x="12833" y="10468"/>
                  <a:pt x="12968" y="10333"/>
                  <a:pt x="13133" y="10333"/>
                </a:cubicBezTo>
                <a:close/>
                <a:moveTo>
                  <a:pt x="16367" y="12250"/>
                </a:moveTo>
                <a:lnTo>
                  <a:pt x="16633" y="12250"/>
                </a:lnTo>
                <a:lnTo>
                  <a:pt x="16633" y="12700"/>
                </a:lnTo>
                <a:lnTo>
                  <a:pt x="17633" y="12000"/>
                </a:lnTo>
                <a:lnTo>
                  <a:pt x="16633" y="11300"/>
                </a:lnTo>
                <a:lnTo>
                  <a:pt x="16633" y="11750"/>
                </a:lnTo>
                <a:lnTo>
                  <a:pt x="16367" y="11750"/>
                </a:lnTo>
                <a:close/>
                <a:moveTo>
                  <a:pt x="18133" y="10333"/>
                </a:moveTo>
                <a:lnTo>
                  <a:pt x="20867" y="10333"/>
                </a:lnTo>
                <a:cubicBezTo>
                  <a:pt x="21032" y="10333"/>
                  <a:pt x="21167" y="10468"/>
                  <a:pt x="21167" y="10633"/>
                </a:cubicBezTo>
                <a:lnTo>
                  <a:pt x="21167" y="13367"/>
                </a:lnTo>
                <a:cubicBezTo>
                  <a:pt x="21167" y="13532"/>
                  <a:pt x="21032" y="13667"/>
                  <a:pt x="20867" y="13667"/>
                </a:cubicBezTo>
                <a:lnTo>
                  <a:pt x="18133" y="13667"/>
                </a:lnTo>
                <a:cubicBezTo>
                  <a:pt x="17968" y="13667"/>
                  <a:pt x="17833" y="13532"/>
                  <a:pt x="17833" y="13367"/>
                </a:cubicBezTo>
                <a:lnTo>
                  <a:pt x="17833" y="10633"/>
                </a:lnTo>
                <a:cubicBezTo>
                  <a:pt x="17833" y="10468"/>
                  <a:pt x="17968" y="10333"/>
                  <a:pt x="18133" y="1033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变革理论</a:t>
            </a:r>
          </a:p>
        </p:txBody>
      </p:sp>
      <p:sp>
        <p:nvSpPr>
          <p:cNvPr id="19" name="STRAT-030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7000"/>
                </a:moveTo>
                <a:lnTo>
                  <a:pt x="7000" y="13000"/>
                </a:lnTo>
                <a:lnTo>
                  <a:pt x="11000" y="16000"/>
                </a:lnTo>
                <a:lnTo>
                  <a:pt x="15000" y="8000"/>
                </a:lnTo>
                <a:lnTo>
                  <a:pt x="19000" y="11000"/>
                </a:lnTo>
                <a:moveTo>
                  <a:pt x="3354" y="17354"/>
                </a:moveTo>
                <a:lnTo>
                  <a:pt x="7354" y="13354"/>
                </a:lnTo>
                <a:lnTo>
                  <a:pt x="6646" y="12646"/>
                </a:lnTo>
                <a:lnTo>
                  <a:pt x="2646" y="16646"/>
                </a:lnTo>
                <a:close/>
                <a:moveTo>
                  <a:pt x="6700" y="13400"/>
                </a:moveTo>
                <a:lnTo>
                  <a:pt x="10700" y="16400"/>
                </a:lnTo>
                <a:lnTo>
                  <a:pt x="11300" y="15600"/>
                </a:lnTo>
                <a:lnTo>
                  <a:pt x="7300" y="12600"/>
                </a:lnTo>
                <a:close/>
                <a:moveTo>
                  <a:pt x="11447" y="16224"/>
                </a:moveTo>
                <a:lnTo>
                  <a:pt x="15447" y="8224"/>
                </a:lnTo>
                <a:lnTo>
                  <a:pt x="14553" y="7776"/>
                </a:lnTo>
                <a:lnTo>
                  <a:pt x="10553" y="15776"/>
                </a:lnTo>
                <a:close/>
                <a:moveTo>
                  <a:pt x="14700" y="8400"/>
                </a:moveTo>
                <a:lnTo>
                  <a:pt x="18700" y="11400"/>
                </a:lnTo>
                <a:lnTo>
                  <a:pt x="19300" y="10600"/>
                </a:lnTo>
                <a:lnTo>
                  <a:pt x="15300" y="7600"/>
                </a:lnTo>
                <a:close/>
                <a:moveTo>
                  <a:pt x="4000" y="17000"/>
                </a:moveTo>
                <a:cubicBezTo>
                  <a:pt x="4000" y="17552"/>
                  <a:pt x="3552" y="18000"/>
                  <a:pt x="3000" y="18000"/>
                </a:cubicBezTo>
                <a:cubicBezTo>
                  <a:pt x="2448" y="18000"/>
                  <a:pt x="2000" y="17552"/>
                  <a:pt x="2000" y="17000"/>
                </a:cubicBezTo>
                <a:cubicBezTo>
                  <a:pt x="2000" y="16448"/>
                  <a:pt x="2448" y="16000"/>
                  <a:pt x="3000" y="16000"/>
                </a:cubicBezTo>
                <a:cubicBezTo>
                  <a:pt x="3552" y="16000"/>
                  <a:pt x="4000" y="16448"/>
                  <a:pt x="4000" y="17000"/>
                </a:cubicBezTo>
                <a:close/>
                <a:moveTo>
                  <a:pt x="8000" y="13000"/>
                </a:moveTo>
                <a:cubicBezTo>
                  <a:pt x="8000" y="13552"/>
                  <a:pt x="7552" y="14000"/>
                  <a:pt x="7000" y="14000"/>
                </a:cubicBezTo>
                <a:cubicBezTo>
                  <a:pt x="6448" y="14000"/>
                  <a:pt x="6000" y="13552"/>
                  <a:pt x="6000" y="13000"/>
                </a:cubicBezTo>
                <a:cubicBezTo>
                  <a:pt x="6000" y="12448"/>
                  <a:pt x="6448" y="12000"/>
                  <a:pt x="7000" y="12000"/>
                </a:cubicBezTo>
                <a:cubicBezTo>
                  <a:pt x="7552" y="12000"/>
                  <a:pt x="8000" y="12448"/>
                  <a:pt x="8000" y="13000"/>
                </a:cubicBezTo>
                <a:close/>
                <a:moveTo>
                  <a:pt x="12000" y="16000"/>
                </a:moveTo>
                <a:cubicBezTo>
                  <a:pt x="12000" y="16552"/>
                  <a:pt x="11552" y="17000"/>
                  <a:pt x="11000" y="17000"/>
                </a:cubicBezTo>
                <a:cubicBezTo>
                  <a:pt x="10448" y="17000"/>
                  <a:pt x="10000" y="16552"/>
                  <a:pt x="10000" y="16000"/>
                </a:cubicBezTo>
                <a:cubicBezTo>
                  <a:pt x="10000" y="15448"/>
                  <a:pt x="10448" y="15000"/>
                  <a:pt x="11000" y="15000"/>
                </a:cubicBezTo>
                <a:cubicBezTo>
                  <a:pt x="11552" y="15000"/>
                  <a:pt x="12000" y="15448"/>
                  <a:pt x="12000" y="16000"/>
                </a:cubicBezTo>
                <a:close/>
                <a:moveTo>
                  <a:pt x="16000" y="8000"/>
                </a:moveTo>
                <a:cubicBezTo>
                  <a:pt x="16000" y="8552"/>
                  <a:pt x="15552" y="9000"/>
                  <a:pt x="15000" y="9000"/>
                </a:cubicBezTo>
                <a:cubicBezTo>
                  <a:pt x="14448" y="9000"/>
                  <a:pt x="14000" y="8552"/>
                  <a:pt x="14000" y="8000"/>
                </a:cubicBezTo>
                <a:cubicBezTo>
                  <a:pt x="14000" y="7448"/>
                  <a:pt x="14448" y="7000"/>
                  <a:pt x="15000" y="7000"/>
                </a:cubicBezTo>
                <a:cubicBezTo>
                  <a:pt x="15552" y="7000"/>
                  <a:pt x="16000" y="7448"/>
                  <a:pt x="16000" y="8000"/>
                </a:cubicBezTo>
                <a:close/>
                <a:moveTo>
                  <a:pt x="20000" y="11000"/>
                </a:moveTo>
                <a:cubicBezTo>
                  <a:pt x="20000" y="11552"/>
                  <a:pt x="19552" y="12000"/>
                  <a:pt x="19000" y="12000"/>
                </a:cubicBezTo>
                <a:cubicBezTo>
                  <a:pt x="18448" y="12000"/>
                  <a:pt x="18000" y="11552"/>
                  <a:pt x="18000" y="11000"/>
                </a:cubicBezTo>
                <a:cubicBezTo>
                  <a:pt x="18000" y="10448"/>
                  <a:pt x="18448" y="10000"/>
                  <a:pt x="19000" y="10000"/>
                </a:cubicBezTo>
                <a:cubicBezTo>
                  <a:pt x="19552" y="10000"/>
                  <a:pt x="20000" y="10448"/>
                  <a:pt x="200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价值曲线</a:t>
            </a:r>
          </a:p>
        </p:txBody>
      </p:sp>
      <p:sp>
        <p:nvSpPr>
          <p:cNvPr id="22" name="STRAT-031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3100" y="3000"/>
                </a:moveTo>
                <a:lnTo>
                  <a:pt x="20400" y="3000"/>
                </a:lnTo>
                <a:cubicBezTo>
                  <a:pt x="20731" y="3000"/>
                  <a:pt x="21000" y="3269"/>
                  <a:pt x="21000" y="3600"/>
                </a:cubicBezTo>
                <a:lnTo>
                  <a:pt x="21000" y="10900"/>
                </a:lnTo>
                <a:cubicBezTo>
                  <a:pt x="21000" y="11231"/>
                  <a:pt x="20731" y="11500"/>
                  <a:pt x="20400" y="11500"/>
                </a:cubicBezTo>
                <a:lnTo>
                  <a:pt x="13100" y="11500"/>
                </a:lnTo>
                <a:cubicBezTo>
                  <a:pt x="12769" y="11500"/>
                  <a:pt x="12500" y="11231"/>
                  <a:pt x="12500" y="10900"/>
                </a:cubicBezTo>
                <a:lnTo>
                  <a:pt x="12500" y="3600"/>
                </a:lnTo>
                <a:cubicBezTo>
                  <a:pt x="12500" y="3269"/>
                  <a:pt x="12769" y="3000"/>
                  <a:pt x="13100" y="3000"/>
                </a:cubicBez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风险-回报矩阵</a:t>
            </a:r>
          </a:p>
        </p:txBody>
      </p:sp>
      <p:sp>
        <p:nvSpPr>
          <p:cNvPr id="25" name="STRAT-032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00" y="4000"/>
                </a:moveTo>
                <a:lnTo>
                  <a:pt x="21600" y="4000"/>
                </a:lnTo>
                <a:cubicBezTo>
                  <a:pt x="21821" y="4000"/>
                  <a:pt x="22000" y="4179"/>
                  <a:pt x="22000" y="4400"/>
                </a:cubicBezTo>
                <a:lnTo>
                  <a:pt x="22000" y="19600"/>
                </a:lnTo>
                <a:cubicBezTo>
                  <a:pt x="22000" y="19821"/>
                  <a:pt x="21821" y="20000"/>
                  <a:pt x="21600" y="20000"/>
                </a:cubicBezTo>
                <a:lnTo>
                  <a:pt x="2400" y="20000"/>
                </a:lnTo>
                <a:cubicBezTo>
                  <a:pt x="2179" y="20000"/>
                  <a:pt x="2000" y="19821"/>
                  <a:pt x="2000" y="19600"/>
                </a:cubicBezTo>
                <a:lnTo>
                  <a:pt x="2000" y="4400"/>
                </a:lnTo>
                <a:cubicBezTo>
                  <a:pt x="2000" y="4179"/>
                  <a:pt x="2179" y="4000"/>
                  <a:pt x="2400" y="4000"/>
                </a:cubicBezTo>
                <a:close/>
                <a:moveTo>
                  <a:pt x="2000" y="4000"/>
                </a:moveTo>
                <a:lnTo>
                  <a:pt x="22000" y="4000"/>
                </a:lnTo>
                <a:lnTo>
                  <a:pt x="22000" y="12400"/>
                </a:lnTo>
                <a:lnTo>
                  <a:pt x="2000" y="12400"/>
                </a:lnTo>
                <a:close/>
                <a:moveTo>
                  <a:pt x="11800" y="4000"/>
                </a:moveTo>
                <a:lnTo>
                  <a:pt x="11800" y="20000"/>
                </a:lnTo>
                <a:lnTo>
                  <a:pt x="12200" y="20000"/>
                </a:lnTo>
                <a:lnTo>
                  <a:pt x="12200" y="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成本-差异化</a:t>
            </a:r>
          </a:p>
        </p:txBody>
      </p:sp>
      <p:sp>
        <p:nvSpPr>
          <p:cNvPr id="28" name="STRAT-033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300" y="3000"/>
                </a:moveTo>
                <a:lnTo>
                  <a:pt x="16700" y="3000"/>
                </a:lnTo>
                <a:cubicBezTo>
                  <a:pt x="16866" y="3000"/>
                  <a:pt x="17000" y="3134"/>
                  <a:pt x="17000" y="3300"/>
                </a:cubicBezTo>
                <a:lnTo>
                  <a:pt x="17000" y="5700"/>
                </a:lnTo>
                <a:cubicBezTo>
                  <a:pt x="17000" y="5866"/>
                  <a:pt x="16866" y="6000"/>
                  <a:pt x="16700" y="6000"/>
                </a:cubicBezTo>
                <a:lnTo>
                  <a:pt x="7300" y="6000"/>
                </a:lnTo>
                <a:cubicBezTo>
                  <a:pt x="7134" y="6000"/>
                  <a:pt x="7000" y="5866"/>
                  <a:pt x="7000" y="5700"/>
                </a:cubicBezTo>
                <a:lnTo>
                  <a:pt x="7000" y="3300"/>
                </a:lnTo>
                <a:cubicBezTo>
                  <a:pt x="7000" y="3134"/>
                  <a:pt x="7134" y="3000"/>
                  <a:pt x="7300" y="3000"/>
                </a:cubicBezTo>
                <a:close/>
                <a:moveTo>
                  <a:pt x="5300" y="8000"/>
                </a:moveTo>
                <a:lnTo>
                  <a:pt x="18700" y="8000"/>
                </a:lnTo>
                <a:cubicBezTo>
                  <a:pt x="18866" y="8000"/>
                  <a:pt x="19000" y="8134"/>
                  <a:pt x="19000" y="8300"/>
                </a:cubicBezTo>
                <a:lnTo>
                  <a:pt x="19000" y="10700"/>
                </a:lnTo>
                <a:cubicBezTo>
                  <a:pt x="19000" y="10866"/>
                  <a:pt x="18866" y="11000"/>
                  <a:pt x="18700" y="11000"/>
                </a:cubicBezTo>
                <a:lnTo>
                  <a:pt x="5300" y="11000"/>
                </a:lnTo>
                <a:cubicBezTo>
                  <a:pt x="5134" y="11000"/>
                  <a:pt x="5000" y="10866"/>
                  <a:pt x="5000" y="10700"/>
                </a:cubicBezTo>
                <a:lnTo>
                  <a:pt x="5000" y="8300"/>
                </a:lnTo>
                <a:cubicBezTo>
                  <a:pt x="5000" y="8134"/>
                  <a:pt x="5134" y="8000"/>
                  <a:pt x="5300" y="8000"/>
                </a:cubicBezTo>
                <a:close/>
                <a:moveTo>
                  <a:pt x="3300" y="13000"/>
                </a:moveTo>
                <a:lnTo>
                  <a:pt x="20700" y="13000"/>
                </a:lnTo>
                <a:cubicBezTo>
                  <a:pt x="20866" y="13000"/>
                  <a:pt x="21000" y="13134"/>
                  <a:pt x="21000" y="13300"/>
                </a:cubicBezTo>
                <a:lnTo>
                  <a:pt x="21000" y="15700"/>
                </a:lnTo>
                <a:cubicBezTo>
                  <a:pt x="21000" y="15866"/>
                  <a:pt x="20866" y="16000"/>
                  <a:pt x="20700" y="16000"/>
                </a:cubicBezTo>
                <a:lnTo>
                  <a:pt x="3300" y="16000"/>
                </a:lnTo>
                <a:cubicBezTo>
                  <a:pt x="3134" y="16000"/>
                  <a:pt x="3000" y="15866"/>
                  <a:pt x="3000" y="15700"/>
                </a:cubicBezTo>
                <a:lnTo>
                  <a:pt x="3000" y="13300"/>
                </a:lnTo>
                <a:cubicBezTo>
                  <a:pt x="3000" y="13134"/>
                  <a:pt x="3134" y="13000"/>
                  <a:pt x="3300" y="13000"/>
                </a:cubicBezTo>
                <a:close/>
                <a:moveTo>
                  <a:pt x="2300" y="18000"/>
                </a:moveTo>
                <a:lnTo>
                  <a:pt x="21700" y="18000"/>
                </a:lnTo>
                <a:cubicBezTo>
                  <a:pt x="21866" y="18000"/>
                  <a:pt x="22000" y="18134"/>
                  <a:pt x="22000" y="18300"/>
                </a:cubicBezTo>
                <a:lnTo>
                  <a:pt x="22000" y="20700"/>
                </a:lnTo>
                <a:cubicBezTo>
                  <a:pt x="22000" y="20866"/>
                  <a:pt x="21866" y="21000"/>
                  <a:pt x="21700" y="21000"/>
                </a:cubicBezTo>
                <a:lnTo>
                  <a:pt x="2300" y="21000"/>
                </a:lnTo>
                <a:cubicBezTo>
                  <a:pt x="2134" y="21000"/>
                  <a:pt x="2000" y="20866"/>
                  <a:pt x="2000" y="20700"/>
                </a:cubicBezTo>
                <a:lnTo>
                  <a:pt x="2000" y="18300"/>
                </a:lnTo>
                <a:cubicBezTo>
                  <a:pt x="2000" y="18134"/>
                  <a:pt x="2134" y="18000"/>
                  <a:pt x="2300" y="18000"/>
                </a:cubicBezTo>
                <a:close/>
                <a:moveTo>
                  <a:pt x="11800" y="6000"/>
                </a:moveTo>
                <a:lnTo>
                  <a:pt x="11800" y="8000"/>
                </a:lnTo>
                <a:lnTo>
                  <a:pt x="12200" y="8000"/>
                </a:lnTo>
                <a:lnTo>
                  <a:pt x="12200" y="6000"/>
                </a:lnTo>
                <a:close/>
                <a:moveTo>
                  <a:pt x="11800" y="11000"/>
                </a:moveTo>
                <a:lnTo>
                  <a:pt x="11800" y="13000"/>
                </a:lnTo>
                <a:lnTo>
                  <a:pt x="12200" y="13000"/>
                </a:lnTo>
                <a:lnTo>
                  <a:pt x="12200" y="11000"/>
                </a:lnTo>
                <a:close/>
                <a:moveTo>
                  <a:pt x="11800" y="16000"/>
                </a:moveTo>
                <a:lnTo>
                  <a:pt x="11800" y="18000"/>
                </a:lnTo>
                <a:lnTo>
                  <a:pt x="12200" y="18000"/>
                </a:lnTo>
                <a:lnTo>
                  <a:pt x="12200" y="16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OGSM层级</a:t>
            </a:r>
          </a:p>
        </p:txBody>
      </p:sp>
      <p:sp>
        <p:nvSpPr>
          <p:cNvPr id="31" name="STRAT-034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400" y="12000"/>
                </a:moveTo>
                <a:cubicBezTo>
                  <a:pt x="6400" y="13325"/>
                  <a:pt x="5325" y="14400"/>
                  <a:pt x="4000" y="14400"/>
                </a:cubicBezTo>
                <a:cubicBezTo>
                  <a:pt x="2675" y="14400"/>
                  <a:pt x="1600" y="13325"/>
                  <a:pt x="1600" y="12000"/>
                </a:cubicBezTo>
                <a:cubicBezTo>
                  <a:pt x="1600" y="10675"/>
                  <a:pt x="2675" y="9600"/>
                  <a:pt x="4000" y="9600"/>
                </a:cubicBezTo>
                <a:cubicBezTo>
                  <a:pt x="5325" y="9600"/>
                  <a:pt x="6400" y="10675"/>
                  <a:pt x="6400" y="12000"/>
                </a:cubicBezTo>
                <a:close/>
                <a:moveTo>
                  <a:pt x="7260" y="12149"/>
                </a:moveTo>
                <a:lnTo>
                  <a:pt x="10566" y="6364"/>
                </a:lnTo>
                <a:lnTo>
                  <a:pt x="11087" y="6662"/>
                </a:lnTo>
                <a:lnTo>
                  <a:pt x="11000" y="5000"/>
                </a:lnTo>
                <a:lnTo>
                  <a:pt x="9524" y="5769"/>
                </a:lnTo>
                <a:lnTo>
                  <a:pt x="10045" y="6067"/>
                </a:lnTo>
                <a:lnTo>
                  <a:pt x="6740" y="11851"/>
                </a:lnTo>
                <a:close/>
                <a:moveTo>
                  <a:pt x="7000" y="12300"/>
                </a:moveTo>
                <a:lnTo>
                  <a:pt x="9600" y="12300"/>
                </a:lnTo>
                <a:lnTo>
                  <a:pt x="9600" y="12900"/>
                </a:lnTo>
                <a:lnTo>
                  <a:pt x="11000" y="12000"/>
                </a:lnTo>
                <a:lnTo>
                  <a:pt x="9600" y="11100"/>
                </a:lnTo>
                <a:lnTo>
                  <a:pt x="9600" y="11700"/>
                </a:lnTo>
                <a:lnTo>
                  <a:pt x="7000" y="11700"/>
                </a:lnTo>
                <a:close/>
                <a:moveTo>
                  <a:pt x="6740" y="12149"/>
                </a:moveTo>
                <a:lnTo>
                  <a:pt x="10045" y="17933"/>
                </a:lnTo>
                <a:lnTo>
                  <a:pt x="9524" y="18231"/>
                </a:lnTo>
                <a:lnTo>
                  <a:pt x="11000" y="19000"/>
                </a:lnTo>
                <a:lnTo>
                  <a:pt x="11087" y="17338"/>
                </a:lnTo>
                <a:lnTo>
                  <a:pt x="10566" y="17636"/>
                </a:lnTo>
                <a:lnTo>
                  <a:pt x="7260" y="11851"/>
                </a:lnTo>
                <a:close/>
                <a:moveTo>
                  <a:pt x="17000" y="5000"/>
                </a:moveTo>
                <a:cubicBezTo>
                  <a:pt x="17000" y="6105"/>
                  <a:pt x="16105" y="7000"/>
                  <a:pt x="15000" y="7000"/>
                </a:cubicBezTo>
                <a:cubicBezTo>
                  <a:pt x="13895" y="7000"/>
                  <a:pt x="13000" y="6105"/>
                  <a:pt x="13000" y="5000"/>
                </a:cubicBezTo>
                <a:cubicBezTo>
                  <a:pt x="13000" y="3895"/>
                  <a:pt x="13895" y="3000"/>
                  <a:pt x="15000" y="3000"/>
                </a:cubicBezTo>
                <a:cubicBezTo>
                  <a:pt x="16105" y="3000"/>
                  <a:pt x="17000" y="3895"/>
                  <a:pt x="17000" y="5000"/>
                </a:cubicBezTo>
                <a:close/>
                <a:moveTo>
                  <a:pt x="17000" y="12000"/>
                </a:moveTo>
                <a:cubicBezTo>
                  <a:pt x="17000" y="13105"/>
                  <a:pt x="16105" y="14000"/>
                  <a:pt x="15000" y="14000"/>
                </a:cubicBezTo>
                <a:cubicBezTo>
                  <a:pt x="13895" y="14000"/>
                  <a:pt x="13000" y="13105"/>
                  <a:pt x="13000" y="12000"/>
                </a:cubicBezTo>
                <a:cubicBezTo>
                  <a:pt x="13000" y="10895"/>
                  <a:pt x="13895" y="10000"/>
                  <a:pt x="15000" y="10000"/>
                </a:cubicBezTo>
                <a:cubicBezTo>
                  <a:pt x="16105" y="10000"/>
                  <a:pt x="17000" y="10895"/>
                  <a:pt x="17000" y="12000"/>
                </a:cubicBezTo>
                <a:close/>
                <a:moveTo>
                  <a:pt x="17000" y="19000"/>
                </a:moveTo>
                <a:cubicBezTo>
                  <a:pt x="17000" y="20105"/>
                  <a:pt x="16105" y="21000"/>
                  <a:pt x="15000" y="21000"/>
                </a:cubicBezTo>
                <a:cubicBezTo>
                  <a:pt x="13895" y="21000"/>
                  <a:pt x="13000" y="20105"/>
                  <a:pt x="13000" y="19000"/>
                </a:cubicBezTo>
                <a:cubicBezTo>
                  <a:pt x="13000" y="17895"/>
                  <a:pt x="13895" y="17000"/>
                  <a:pt x="15000" y="17000"/>
                </a:cubicBezTo>
                <a:cubicBezTo>
                  <a:pt x="16105" y="17000"/>
                  <a:pt x="17000" y="17895"/>
                  <a:pt x="170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战略选项</a:t>
            </a:r>
          </a:p>
        </p:txBody>
      </p:sp>
      <p:sp>
        <p:nvSpPr>
          <p:cNvPr id="34" name="STRAT-035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00" y="14000"/>
                </a:moveTo>
                <a:lnTo>
                  <a:pt x="21600" y="14000"/>
                </a:lnTo>
                <a:cubicBezTo>
                  <a:pt x="21821" y="14000"/>
                  <a:pt x="22000" y="14179"/>
                  <a:pt x="22000" y="14400"/>
                </a:cubicBezTo>
                <a:lnTo>
                  <a:pt x="22000" y="15200"/>
                </a:lnTo>
                <a:cubicBezTo>
                  <a:pt x="22000" y="15421"/>
                  <a:pt x="21821" y="15600"/>
                  <a:pt x="21600" y="15600"/>
                </a:cubicBezTo>
                <a:lnTo>
                  <a:pt x="2400" y="15600"/>
                </a:lnTo>
                <a:cubicBezTo>
                  <a:pt x="2179" y="15600"/>
                  <a:pt x="2000" y="15421"/>
                  <a:pt x="2000" y="15200"/>
                </a:cubicBezTo>
                <a:lnTo>
                  <a:pt x="2000" y="14400"/>
                </a:lnTo>
                <a:cubicBezTo>
                  <a:pt x="2000" y="14179"/>
                  <a:pt x="2179" y="14000"/>
                  <a:pt x="2400" y="14000"/>
                </a:cubicBezTo>
                <a:close/>
                <a:moveTo>
                  <a:pt x="7000" y="13000"/>
                </a:moveTo>
                <a:lnTo>
                  <a:pt x="5000" y="17000"/>
                </a:lnTo>
                <a:lnTo>
                  <a:pt x="9000" y="17000"/>
                </a:lnTo>
                <a:close/>
                <a:moveTo>
                  <a:pt x="22500" y="11000"/>
                </a:moveTo>
                <a:cubicBezTo>
                  <a:pt x="22500" y="12381"/>
                  <a:pt x="21381" y="13500"/>
                  <a:pt x="20000" y="13500"/>
                </a:cubicBezTo>
                <a:cubicBezTo>
                  <a:pt x="18619" y="13500"/>
                  <a:pt x="17500" y="12381"/>
                  <a:pt x="17500" y="11000"/>
                </a:cubicBezTo>
                <a:cubicBezTo>
                  <a:pt x="17500" y="9619"/>
                  <a:pt x="18619" y="8500"/>
                  <a:pt x="20000" y="8500"/>
                </a:cubicBezTo>
                <a:cubicBezTo>
                  <a:pt x="21381" y="8500"/>
                  <a:pt x="22500" y="9619"/>
                  <a:pt x="22500" y="11000"/>
                </a:cubicBezTo>
                <a:close/>
                <a:moveTo>
                  <a:pt x="20250" y="8000"/>
                </a:moveTo>
                <a:lnTo>
                  <a:pt x="20250" y="6200"/>
                </a:lnTo>
                <a:lnTo>
                  <a:pt x="20800" y="6200"/>
                </a:lnTo>
                <a:lnTo>
                  <a:pt x="20000" y="5000"/>
                </a:lnTo>
                <a:lnTo>
                  <a:pt x="19200" y="6200"/>
                </a:lnTo>
                <a:lnTo>
                  <a:pt x="19750" y="6200"/>
                </a:lnTo>
                <a:lnTo>
                  <a:pt x="19750" y="8000"/>
                </a:lnTo>
                <a:close/>
                <a:moveTo>
                  <a:pt x="5500" y="13000"/>
                </a:moveTo>
                <a:cubicBezTo>
                  <a:pt x="5500" y="13828"/>
                  <a:pt x="4828" y="14500"/>
                  <a:pt x="4000" y="14500"/>
                </a:cubicBezTo>
                <a:cubicBezTo>
                  <a:pt x="3172" y="14500"/>
                  <a:pt x="2500" y="13828"/>
                  <a:pt x="2500" y="13000"/>
                </a:cubicBezTo>
                <a:cubicBezTo>
                  <a:pt x="2500" y="12172"/>
                  <a:pt x="3172" y="11500"/>
                  <a:pt x="4000" y="11500"/>
                </a:cubicBezTo>
                <a:cubicBezTo>
                  <a:pt x="4828" y="11500"/>
                  <a:pt x="5500" y="12172"/>
                  <a:pt x="5500" y="13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战略杠杆</a:t>
            </a:r>
          </a:p>
        </p:txBody>
      </p:sp>
      <p:sp>
        <p:nvSpPr>
          <p:cNvPr id="37" name="STRAT-036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21700"/>
                </a:moveTo>
                <a:lnTo>
                  <a:pt x="9600" y="21700"/>
                </a:lnTo>
                <a:lnTo>
                  <a:pt x="9600" y="22700"/>
                </a:lnTo>
                <a:lnTo>
                  <a:pt x="12000" y="21000"/>
                </a:lnTo>
                <a:lnTo>
                  <a:pt x="9600" y="19300"/>
                </a:lnTo>
                <a:lnTo>
                  <a:pt x="9600" y="20300"/>
                </a:lnTo>
                <a:lnTo>
                  <a:pt x="3000" y="20300"/>
                </a:lnTo>
                <a:close/>
                <a:moveTo>
                  <a:pt x="12700" y="16000"/>
                </a:moveTo>
                <a:lnTo>
                  <a:pt x="12700" y="6400"/>
                </a:lnTo>
                <a:lnTo>
                  <a:pt x="13700" y="6400"/>
                </a:lnTo>
                <a:lnTo>
                  <a:pt x="12000" y="4000"/>
                </a:lnTo>
                <a:lnTo>
                  <a:pt x="10300" y="6400"/>
                </a:lnTo>
                <a:lnTo>
                  <a:pt x="11300" y="6400"/>
                </a:lnTo>
                <a:lnTo>
                  <a:pt x="11300" y="16000"/>
                </a:lnTo>
                <a:close/>
                <a:moveTo>
                  <a:pt x="12000" y="21000"/>
                </a:moveTo>
                <a:quadBezTo>
                  <a:pt x="12000" y="18000"/>
                  <a:pt x="14000" y="18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战略转向</a:t>
            </a:r>
          </a:p>
        </p:txBody>
      </p:sp>
      <p:sp>
        <p:nvSpPr>
          <p:cNvPr id="40" name="STRAT-037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9000"/>
                </a:moveTo>
                <a:lnTo>
                  <a:pt x="8000" y="18000"/>
                </a:lnTo>
                <a:lnTo>
                  <a:pt x="12000" y="17000"/>
                </a:lnTo>
                <a:lnTo>
                  <a:pt x="15000" y="13000"/>
                </a:lnTo>
                <a:lnTo>
                  <a:pt x="19000" y="5000"/>
                </a:lnTo>
                <a:moveTo>
                  <a:pt x="3098" y="19490"/>
                </a:moveTo>
                <a:lnTo>
                  <a:pt x="8098" y="18490"/>
                </a:lnTo>
                <a:lnTo>
                  <a:pt x="7902" y="17510"/>
                </a:lnTo>
                <a:lnTo>
                  <a:pt x="2902" y="18510"/>
                </a:lnTo>
                <a:close/>
                <a:moveTo>
                  <a:pt x="8121" y="18485"/>
                </a:moveTo>
                <a:lnTo>
                  <a:pt x="12121" y="17485"/>
                </a:lnTo>
                <a:lnTo>
                  <a:pt x="11879" y="16515"/>
                </a:lnTo>
                <a:lnTo>
                  <a:pt x="7879" y="17515"/>
                </a:lnTo>
                <a:close/>
                <a:moveTo>
                  <a:pt x="12400" y="17300"/>
                </a:moveTo>
                <a:lnTo>
                  <a:pt x="15400" y="13300"/>
                </a:lnTo>
                <a:lnTo>
                  <a:pt x="14600" y="12700"/>
                </a:lnTo>
                <a:lnTo>
                  <a:pt x="11600" y="16700"/>
                </a:lnTo>
                <a:close/>
                <a:moveTo>
                  <a:pt x="15447" y="13224"/>
                </a:moveTo>
                <a:lnTo>
                  <a:pt x="19447" y="5224"/>
                </a:lnTo>
                <a:lnTo>
                  <a:pt x="18553" y="4776"/>
                </a:lnTo>
                <a:lnTo>
                  <a:pt x="14553" y="12776"/>
                </a:lnTo>
                <a:close/>
                <a:moveTo>
                  <a:pt x="13600" y="17000"/>
                </a:moveTo>
                <a:cubicBezTo>
                  <a:pt x="13600" y="17884"/>
                  <a:pt x="12884" y="18600"/>
                  <a:pt x="12000" y="18600"/>
                </a:cubicBezTo>
                <a:cubicBezTo>
                  <a:pt x="11116" y="18600"/>
                  <a:pt x="10400" y="17884"/>
                  <a:pt x="10400" y="17000"/>
                </a:cubicBezTo>
                <a:cubicBezTo>
                  <a:pt x="10400" y="16116"/>
                  <a:pt x="11116" y="15400"/>
                  <a:pt x="12000" y="15400"/>
                </a:cubicBezTo>
                <a:cubicBezTo>
                  <a:pt x="12884" y="15400"/>
                  <a:pt x="13600" y="16116"/>
                  <a:pt x="13600" y="17000"/>
                </a:cubicBezTo>
                <a:close/>
                <a:moveTo>
                  <a:pt x="12700" y="17000"/>
                </a:moveTo>
                <a:cubicBezTo>
                  <a:pt x="12700" y="17387"/>
                  <a:pt x="12387" y="17700"/>
                  <a:pt x="12000" y="17700"/>
                </a:cubicBezTo>
                <a:cubicBezTo>
                  <a:pt x="11613" y="17700"/>
                  <a:pt x="11300" y="17387"/>
                  <a:pt x="11300" y="17000"/>
                </a:cubicBezTo>
                <a:cubicBezTo>
                  <a:pt x="11300" y="16613"/>
                  <a:pt x="11613" y="16300"/>
                  <a:pt x="12000" y="16300"/>
                </a:cubicBezTo>
                <a:cubicBezTo>
                  <a:pt x="12387" y="16300"/>
                  <a:pt x="12700" y="16613"/>
                  <a:pt x="127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拐点</a:t>
            </a:r>
          </a:p>
        </p:txBody>
      </p:sp>
      <p:sp>
        <p:nvSpPr>
          <p:cNvPr id="43" name="STRAT-038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4000"/>
                </a:moveTo>
                <a:lnTo>
                  <a:pt x="18928" y="8000"/>
                </a:lnTo>
                <a:lnTo>
                  <a:pt x="18928" y="16000"/>
                </a:lnTo>
                <a:lnTo>
                  <a:pt x="12000" y="20000"/>
                </a:lnTo>
                <a:lnTo>
                  <a:pt x="5072" y="16000"/>
                </a:lnTo>
                <a:lnTo>
                  <a:pt x="5072" y="8000"/>
                </a:lnTo>
                <a:close/>
                <a:moveTo>
                  <a:pt x="12000" y="9000"/>
                </a:moveTo>
                <a:lnTo>
                  <a:pt x="12588" y="11191"/>
                </a:lnTo>
                <a:lnTo>
                  <a:pt x="14853" y="11073"/>
                </a:lnTo>
                <a:lnTo>
                  <a:pt x="12951" y="12309"/>
                </a:lnTo>
                <a:lnTo>
                  <a:pt x="13763" y="14427"/>
                </a:lnTo>
                <a:lnTo>
                  <a:pt x="12000" y="13000"/>
                </a:lnTo>
                <a:lnTo>
                  <a:pt x="10237" y="14427"/>
                </a:lnTo>
                <a:lnTo>
                  <a:pt x="11049" y="12309"/>
                </a:lnTo>
                <a:lnTo>
                  <a:pt x="9147" y="11073"/>
                </a:lnTo>
                <a:lnTo>
                  <a:pt x="11412" y="1119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战略主题</a:t>
            </a:r>
          </a:p>
        </p:txBody>
      </p:sp>
      <p:sp>
        <p:nvSpPr>
          <p:cNvPr id="46" name="STRAT-039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6800" y="8000"/>
                </a:moveTo>
                <a:cubicBezTo>
                  <a:pt x="6800" y="8994"/>
                  <a:pt x="5994" y="9800"/>
                  <a:pt x="5000" y="9800"/>
                </a:cubicBezTo>
                <a:cubicBezTo>
                  <a:pt x="4006" y="9800"/>
                  <a:pt x="3200" y="8994"/>
                  <a:pt x="3200" y="8000"/>
                </a:cubicBezTo>
                <a:cubicBezTo>
                  <a:pt x="3200" y="7006"/>
                  <a:pt x="4006" y="6200"/>
                  <a:pt x="5000" y="6200"/>
                </a:cubicBezTo>
                <a:cubicBezTo>
                  <a:pt x="5994" y="6200"/>
                  <a:pt x="6800" y="7006"/>
                  <a:pt x="6800" y="8000"/>
                </a:cubicBezTo>
                <a:close/>
                <a:moveTo>
                  <a:pt x="21000" y="9000"/>
                </a:moveTo>
                <a:cubicBezTo>
                  <a:pt x="21000" y="10105"/>
                  <a:pt x="20105" y="11000"/>
                  <a:pt x="19000" y="11000"/>
                </a:cubicBezTo>
                <a:cubicBezTo>
                  <a:pt x="17895" y="11000"/>
                  <a:pt x="17000" y="10105"/>
                  <a:pt x="17000" y="9000"/>
                </a:cubicBezTo>
                <a:cubicBezTo>
                  <a:pt x="17000" y="7895"/>
                  <a:pt x="17895" y="7000"/>
                  <a:pt x="19000" y="7000"/>
                </a:cubicBezTo>
                <a:cubicBezTo>
                  <a:pt x="20105" y="7000"/>
                  <a:pt x="21000" y="7895"/>
                  <a:pt x="21000" y="9000"/>
                </a:cubicBezTo>
                <a:close/>
                <a:moveTo>
                  <a:pt x="8500" y="18000"/>
                </a:moveTo>
                <a:cubicBezTo>
                  <a:pt x="8500" y="18828"/>
                  <a:pt x="7828" y="19500"/>
                  <a:pt x="7000" y="19500"/>
                </a:cubicBezTo>
                <a:cubicBezTo>
                  <a:pt x="6172" y="19500"/>
                  <a:pt x="5500" y="18828"/>
                  <a:pt x="5500" y="18000"/>
                </a:cubicBezTo>
                <a:cubicBezTo>
                  <a:pt x="5500" y="17172"/>
                  <a:pt x="6172" y="16500"/>
                  <a:pt x="7000" y="16500"/>
                </a:cubicBezTo>
                <a:cubicBezTo>
                  <a:pt x="7828" y="16500"/>
                  <a:pt x="8500" y="17172"/>
                  <a:pt x="8500" y="18000"/>
                </a:cubicBezTo>
                <a:close/>
                <a:moveTo>
                  <a:pt x="19200" y="18000"/>
                </a:moveTo>
                <a:cubicBezTo>
                  <a:pt x="19200" y="19215"/>
                  <a:pt x="18215" y="20200"/>
                  <a:pt x="17000" y="20200"/>
                </a:cubicBezTo>
                <a:cubicBezTo>
                  <a:pt x="15785" y="20200"/>
                  <a:pt x="14800" y="19215"/>
                  <a:pt x="14800" y="18000"/>
                </a:cubicBezTo>
                <a:cubicBezTo>
                  <a:pt x="14800" y="16785"/>
                  <a:pt x="15785" y="15800"/>
                  <a:pt x="17000" y="15800"/>
                </a:cubicBezTo>
                <a:cubicBezTo>
                  <a:pt x="18215" y="15800"/>
                  <a:pt x="19200" y="16785"/>
                  <a:pt x="19200" y="18000"/>
                </a:cubicBezTo>
                <a:close/>
                <a:moveTo>
                  <a:pt x="13800" y="4000"/>
                </a:moveTo>
                <a:cubicBezTo>
                  <a:pt x="13800" y="4994"/>
                  <a:pt x="12994" y="5800"/>
                  <a:pt x="12000" y="5800"/>
                </a:cubicBezTo>
                <a:cubicBezTo>
                  <a:pt x="11006" y="5800"/>
                  <a:pt x="10200" y="4994"/>
                  <a:pt x="10200" y="4000"/>
                </a:cubicBezTo>
                <a:cubicBezTo>
                  <a:pt x="10200" y="3006"/>
                  <a:pt x="11006" y="2200"/>
                  <a:pt x="12000" y="2200"/>
                </a:cubicBezTo>
                <a:cubicBezTo>
                  <a:pt x="12994" y="2200"/>
                  <a:pt x="13800" y="3006"/>
                  <a:pt x="13800" y="4000"/>
                </a:cubicBezTo>
                <a:close/>
                <a:moveTo>
                  <a:pt x="12099" y="11826"/>
                </a:moveTo>
                <a:lnTo>
                  <a:pt x="5099" y="7826"/>
                </a:lnTo>
                <a:lnTo>
                  <a:pt x="4901" y="8174"/>
                </a:lnTo>
                <a:lnTo>
                  <a:pt x="11901" y="12174"/>
                </a:lnTo>
                <a:close/>
                <a:moveTo>
                  <a:pt x="12079" y="12184"/>
                </a:moveTo>
                <a:lnTo>
                  <a:pt x="19079" y="9184"/>
                </a:lnTo>
                <a:lnTo>
                  <a:pt x="18921" y="8816"/>
                </a:lnTo>
                <a:lnTo>
                  <a:pt x="11921" y="11816"/>
                </a:lnTo>
                <a:close/>
                <a:moveTo>
                  <a:pt x="11846" y="11872"/>
                </a:moveTo>
                <a:lnTo>
                  <a:pt x="6846" y="17872"/>
                </a:lnTo>
                <a:lnTo>
                  <a:pt x="7154" y="18128"/>
                </a:lnTo>
                <a:lnTo>
                  <a:pt x="12154" y="12128"/>
                </a:lnTo>
                <a:close/>
                <a:moveTo>
                  <a:pt x="11846" y="12128"/>
                </a:moveTo>
                <a:lnTo>
                  <a:pt x="16846" y="18128"/>
                </a:lnTo>
                <a:lnTo>
                  <a:pt x="17154" y="17872"/>
                </a:lnTo>
                <a:lnTo>
                  <a:pt x="12154" y="11872"/>
                </a:lnTo>
                <a:close/>
                <a:moveTo>
                  <a:pt x="12200" y="12000"/>
                </a:moveTo>
                <a:lnTo>
                  <a:pt x="12200" y="4000"/>
                </a:lnTo>
                <a:lnTo>
                  <a:pt x="11800" y="4000"/>
                </a:lnTo>
                <a:lnTo>
                  <a:pt x="11800" y="1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竞争格局</a:t>
            </a:r>
          </a:p>
        </p:txBody>
      </p:sp>
      <p:sp>
        <p:nvSpPr>
          <p:cNvPr id="49" name="STRAT-040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00" y="12000"/>
                </a:moveTo>
                <a:cubicBezTo>
                  <a:pt x="6000" y="13105"/>
                  <a:pt x="5105" y="14000"/>
                  <a:pt x="4000" y="14000"/>
                </a:cubicBezTo>
                <a:cubicBezTo>
                  <a:pt x="2895" y="14000"/>
                  <a:pt x="2000" y="13105"/>
                  <a:pt x="2000" y="12000"/>
                </a:cubicBezTo>
                <a:cubicBezTo>
                  <a:pt x="2000" y="10895"/>
                  <a:pt x="2895" y="10000"/>
                  <a:pt x="4000" y="10000"/>
                </a:cubicBezTo>
                <a:cubicBezTo>
                  <a:pt x="5105" y="10000"/>
                  <a:pt x="6000" y="10895"/>
                  <a:pt x="6000" y="12000"/>
                </a:cubicBezTo>
                <a:close/>
                <a:moveTo>
                  <a:pt x="6203" y="12145"/>
                </a:moveTo>
                <a:lnTo>
                  <a:pt x="10506" y="6122"/>
                </a:lnTo>
                <a:lnTo>
                  <a:pt x="10954" y="6441"/>
                </a:lnTo>
                <a:lnTo>
                  <a:pt x="11000" y="5000"/>
                </a:lnTo>
                <a:lnTo>
                  <a:pt x="9652" y="5511"/>
                </a:lnTo>
                <a:lnTo>
                  <a:pt x="10099" y="5831"/>
                </a:lnTo>
                <a:lnTo>
                  <a:pt x="5797" y="11855"/>
                </a:lnTo>
                <a:close/>
                <a:moveTo>
                  <a:pt x="6000" y="12250"/>
                </a:moveTo>
                <a:lnTo>
                  <a:pt x="9800" y="12250"/>
                </a:lnTo>
                <a:lnTo>
                  <a:pt x="9800" y="12800"/>
                </a:lnTo>
                <a:lnTo>
                  <a:pt x="11000" y="12000"/>
                </a:lnTo>
                <a:lnTo>
                  <a:pt x="9800" y="11200"/>
                </a:lnTo>
                <a:lnTo>
                  <a:pt x="9800" y="11750"/>
                </a:lnTo>
                <a:lnTo>
                  <a:pt x="6000" y="11750"/>
                </a:lnTo>
                <a:close/>
                <a:moveTo>
                  <a:pt x="5797" y="12145"/>
                </a:moveTo>
                <a:lnTo>
                  <a:pt x="10099" y="18169"/>
                </a:lnTo>
                <a:lnTo>
                  <a:pt x="9652" y="18489"/>
                </a:lnTo>
                <a:lnTo>
                  <a:pt x="11000" y="19000"/>
                </a:lnTo>
                <a:lnTo>
                  <a:pt x="10954" y="17559"/>
                </a:lnTo>
                <a:lnTo>
                  <a:pt x="10506" y="17878"/>
                </a:lnTo>
                <a:lnTo>
                  <a:pt x="6203" y="11855"/>
                </a:lnTo>
                <a:close/>
                <a:moveTo>
                  <a:pt x="13000" y="4000"/>
                </a:moveTo>
                <a:lnTo>
                  <a:pt x="20000" y="4000"/>
                </a:lnTo>
                <a:lnTo>
                  <a:pt x="20000" y="7000"/>
                </a:lnTo>
                <a:lnTo>
                  <a:pt x="13000" y="7000"/>
                </a:lnTo>
                <a:close/>
                <a:moveTo>
                  <a:pt x="13000" y="11000"/>
                </a:moveTo>
                <a:lnTo>
                  <a:pt x="20000" y="11000"/>
                </a:lnTo>
                <a:lnTo>
                  <a:pt x="20000" y="14000"/>
                </a:lnTo>
                <a:lnTo>
                  <a:pt x="13000" y="14000"/>
                </a:lnTo>
                <a:close/>
                <a:moveTo>
                  <a:pt x="13000" y="18000"/>
                </a:moveTo>
                <a:lnTo>
                  <a:pt x="20000" y="18000"/>
                </a:lnTo>
                <a:lnTo>
                  <a:pt x="20000" y="21000"/>
                </a:lnTo>
                <a:lnTo>
                  <a:pt x="13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STRAT-040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情景规划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02_流程模型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4E79"/>
                </a:solidFill>
              </a:rPr>
              <a:t>FLOW · 30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每个图标对应一个公开商业方法论框架。Shape Fill 一键改色。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02_流程模型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FLOW · 第 1/2 页 · 共 30 个</a:t>
            </a:r>
          </a:p>
        </p:txBody>
      </p:sp>
      <p:sp>
        <p:nvSpPr>
          <p:cNvPr id="4" name="FLOW-001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PDCA循环</a:t>
            </a:r>
          </a:p>
        </p:txBody>
      </p:sp>
      <p:sp>
        <p:nvSpPr>
          <p:cNvPr id="7" name="FLOW-002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10000"/>
                </a:moveTo>
                <a:lnTo>
                  <a:pt x="4700" y="10000"/>
                </a:lnTo>
                <a:cubicBezTo>
                  <a:pt x="4866" y="10000"/>
                  <a:pt x="5000" y="10134"/>
                  <a:pt x="5000" y="10300"/>
                </a:cubicBezTo>
                <a:lnTo>
                  <a:pt x="5000" y="13700"/>
                </a:lnTo>
                <a:cubicBezTo>
                  <a:pt x="5000" y="13866"/>
                  <a:pt x="4866" y="14000"/>
                  <a:pt x="4700" y="14000"/>
                </a:cubicBezTo>
                <a:lnTo>
                  <a:pt x="2300" y="14000"/>
                </a:lnTo>
                <a:cubicBezTo>
                  <a:pt x="2134" y="14000"/>
                  <a:pt x="2000" y="13866"/>
                  <a:pt x="2000" y="13700"/>
                </a:cubicBezTo>
                <a:lnTo>
                  <a:pt x="2000" y="10300"/>
                </a:lnTo>
                <a:cubicBezTo>
                  <a:pt x="2000" y="10134"/>
                  <a:pt x="2134" y="10000"/>
                  <a:pt x="2300" y="10000"/>
                </a:cubicBezTo>
                <a:close/>
                <a:moveTo>
                  <a:pt x="7000" y="10400"/>
                </a:moveTo>
                <a:lnTo>
                  <a:pt x="8600" y="12000"/>
                </a:lnTo>
                <a:lnTo>
                  <a:pt x="7000" y="13600"/>
                </a:lnTo>
                <a:lnTo>
                  <a:pt x="5400" y="12000"/>
                </a:lnTo>
                <a:close/>
                <a:moveTo>
                  <a:pt x="9300" y="10000"/>
                </a:moveTo>
                <a:lnTo>
                  <a:pt x="11700" y="10000"/>
                </a:lnTo>
                <a:cubicBezTo>
                  <a:pt x="11866" y="10000"/>
                  <a:pt x="12000" y="10134"/>
                  <a:pt x="12000" y="10300"/>
                </a:cubicBezTo>
                <a:lnTo>
                  <a:pt x="12000" y="13700"/>
                </a:lnTo>
                <a:cubicBezTo>
                  <a:pt x="12000" y="13866"/>
                  <a:pt x="11866" y="14000"/>
                  <a:pt x="11700" y="14000"/>
                </a:cubicBezTo>
                <a:lnTo>
                  <a:pt x="9300" y="14000"/>
                </a:lnTo>
                <a:cubicBezTo>
                  <a:pt x="9134" y="14000"/>
                  <a:pt x="9000" y="13866"/>
                  <a:pt x="9000" y="13700"/>
                </a:cubicBezTo>
                <a:lnTo>
                  <a:pt x="9000" y="10300"/>
                </a:lnTo>
                <a:cubicBezTo>
                  <a:pt x="9000" y="10134"/>
                  <a:pt x="9134" y="10000"/>
                  <a:pt x="9300" y="10000"/>
                </a:cubicBezTo>
                <a:close/>
                <a:moveTo>
                  <a:pt x="14000" y="10400"/>
                </a:moveTo>
                <a:lnTo>
                  <a:pt x="15600" y="12000"/>
                </a:lnTo>
                <a:lnTo>
                  <a:pt x="14000" y="13600"/>
                </a:lnTo>
                <a:lnTo>
                  <a:pt x="12400" y="12000"/>
                </a:lnTo>
                <a:close/>
                <a:moveTo>
                  <a:pt x="16300" y="10000"/>
                </a:moveTo>
                <a:lnTo>
                  <a:pt x="18700" y="10000"/>
                </a:lnTo>
                <a:cubicBezTo>
                  <a:pt x="18866" y="10000"/>
                  <a:pt x="19000" y="10134"/>
                  <a:pt x="19000" y="10300"/>
                </a:cubicBezTo>
                <a:lnTo>
                  <a:pt x="19000" y="13700"/>
                </a:lnTo>
                <a:cubicBezTo>
                  <a:pt x="19000" y="13866"/>
                  <a:pt x="18866" y="14000"/>
                  <a:pt x="18700" y="14000"/>
                </a:cubicBezTo>
                <a:lnTo>
                  <a:pt x="16300" y="14000"/>
                </a:lnTo>
                <a:cubicBezTo>
                  <a:pt x="16134" y="14000"/>
                  <a:pt x="16000" y="13866"/>
                  <a:pt x="16000" y="13700"/>
                </a:cubicBezTo>
                <a:lnTo>
                  <a:pt x="16000" y="10300"/>
                </a:lnTo>
                <a:cubicBezTo>
                  <a:pt x="16000" y="10134"/>
                  <a:pt x="16134" y="10000"/>
                  <a:pt x="16300" y="10000"/>
                </a:cubicBezTo>
                <a:close/>
                <a:moveTo>
                  <a:pt x="21000" y="10400"/>
                </a:moveTo>
                <a:lnTo>
                  <a:pt x="22600" y="12000"/>
                </a:lnTo>
                <a:lnTo>
                  <a:pt x="21000" y="13600"/>
                </a:lnTo>
                <a:lnTo>
                  <a:pt x="19400" y="1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Stage-Gate</a:t>
            </a:r>
          </a:p>
        </p:txBody>
      </p:sp>
      <p:sp>
        <p:nvSpPr>
          <p:cNvPr id="10" name="FLOW-003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300" y="2000"/>
                </a:moveTo>
                <a:lnTo>
                  <a:pt x="5300" y="2000"/>
                </a:lnTo>
                <a:cubicBezTo>
                  <a:pt x="5466" y="2000"/>
                  <a:pt x="5600" y="2134"/>
                  <a:pt x="5600" y="2300"/>
                </a:cubicBezTo>
                <a:lnTo>
                  <a:pt x="5600" y="21700"/>
                </a:lnTo>
                <a:cubicBezTo>
                  <a:pt x="5600" y="21866"/>
                  <a:pt x="5466" y="22000"/>
                  <a:pt x="53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6300" y="6000"/>
                </a:moveTo>
                <a:lnTo>
                  <a:pt x="9300" y="6000"/>
                </a:lnTo>
                <a:cubicBezTo>
                  <a:pt x="9466" y="6000"/>
                  <a:pt x="9600" y="6134"/>
                  <a:pt x="9600" y="6300"/>
                </a:cubicBezTo>
                <a:lnTo>
                  <a:pt x="9600" y="21700"/>
                </a:lnTo>
                <a:cubicBezTo>
                  <a:pt x="9600" y="21866"/>
                  <a:pt x="9466" y="22000"/>
                  <a:pt x="9300" y="22000"/>
                </a:cubicBezTo>
                <a:lnTo>
                  <a:pt x="6300" y="22000"/>
                </a:lnTo>
                <a:cubicBezTo>
                  <a:pt x="6134" y="22000"/>
                  <a:pt x="6000" y="21866"/>
                  <a:pt x="6000" y="21700"/>
                </a:cubicBezTo>
                <a:lnTo>
                  <a:pt x="6000" y="6300"/>
                </a:lnTo>
                <a:cubicBezTo>
                  <a:pt x="6000" y="6134"/>
                  <a:pt x="6134" y="6000"/>
                  <a:pt x="6300" y="6000"/>
                </a:cubicBezTo>
                <a:close/>
                <a:moveTo>
                  <a:pt x="10300" y="10000"/>
                </a:moveTo>
                <a:lnTo>
                  <a:pt x="13300" y="10000"/>
                </a:lnTo>
                <a:cubicBezTo>
                  <a:pt x="13466" y="10000"/>
                  <a:pt x="13600" y="10134"/>
                  <a:pt x="13600" y="10300"/>
                </a:cubicBezTo>
                <a:lnTo>
                  <a:pt x="13600" y="21700"/>
                </a:lnTo>
                <a:cubicBezTo>
                  <a:pt x="13600" y="21866"/>
                  <a:pt x="13466" y="22000"/>
                  <a:pt x="13300" y="22000"/>
                </a:cubicBezTo>
                <a:lnTo>
                  <a:pt x="10300" y="22000"/>
                </a:lnTo>
                <a:cubicBezTo>
                  <a:pt x="10134" y="22000"/>
                  <a:pt x="10000" y="21866"/>
                  <a:pt x="10000" y="21700"/>
                </a:cubicBezTo>
                <a:lnTo>
                  <a:pt x="10000" y="10300"/>
                </a:lnTo>
                <a:cubicBezTo>
                  <a:pt x="10000" y="10134"/>
                  <a:pt x="10134" y="10000"/>
                  <a:pt x="10300" y="10000"/>
                </a:cubicBezTo>
                <a:close/>
                <a:moveTo>
                  <a:pt x="14300" y="14000"/>
                </a:moveTo>
                <a:lnTo>
                  <a:pt x="17300" y="14000"/>
                </a:lnTo>
                <a:cubicBezTo>
                  <a:pt x="17466" y="14000"/>
                  <a:pt x="17600" y="14134"/>
                  <a:pt x="17600" y="14300"/>
                </a:cubicBezTo>
                <a:lnTo>
                  <a:pt x="17600" y="21700"/>
                </a:lnTo>
                <a:cubicBezTo>
                  <a:pt x="17600" y="21866"/>
                  <a:pt x="17466" y="22000"/>
                  <a:pt x="17300" y="22000"/>
                </a:cubicBezTo>
                <a:lnTo>
                  <a:pt x="14300" y="22000"/>
                </a:lnTo>
                <a:cubicBezTo>
                  <a:pt x="14134" y="22000"/>
                  <a:pt x="14000" y="21866"/>
                  <a:pt x="14000" y="21700"/>
                </a:cubicBezTo>
                <a:lnTo>
                  <a:pt x="14000" y="14300"/>
                </a:lnTo>
                <a:cubicBezTo>
                  <a:pt x="14000" y="14134"/>
                  <a:pt x="14134" y="14000"/>
                  <a:pt x="14300" y="14000"/>
                </a:cubicBezTo>
                <a:close/>
                <a:moveTo>
                  <a:pt x="18300" y="18000"/>
                </a:moveTo>
                <a:lnTo>
                  <a:pt x="21300" y="18000"/>
                </a:lnTo>
                <a:cubicBezTo>
                  <a:pt x="21466" y="18000"/>
                  <a:pt x="21600" y="18134"/>
                  <a:pt x="21600" y="18300"/>
                </a:cubicBezTo>
                <a:lnTo>
                  <a:pt x="21600" y="21700"/>
                </a:lnTo>
                <a:cubicBezTo>
                  <a:pt x="21600" y="21866"/>
                  <a:pt x="21466" y="22000"/>
                  <a:pt x="21300" y="22000"/>
                </a:cubicBezTo>
                <a:lnTo>
                  <a:pt x="18300" y="22000"/>
                </a:lnTo>
                <a:cubicBezTo>
                  <a:pt x="18134" y="22000"/>
                  <a:pt x="18000" y="21866"/>
                  <a:pt x="18000" y="21700"/>
                </a:cubicBezTo>
                <a:lnTo>
                  <a:pt x="18000" y="18300"/>
                </a:lnTo>
                <a:cubicBezTo>
                  <a:pt x="18000" y="18134"/>
                  <a:pt x="18134" y="18000"/>
                  <a:pt x="183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瀑布流程</a:t>
            </a:r>
          </a:p>
        </p:txBody>
      </p:sp>
      <p:sp>
        <p:nvSpPr>
          <p:cNvPr id="13" name="FLOW-004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  <a:moveTo>
                  <a:pt x="18500" y="12000"/>
                </a:moveTo>
                <a:cubicBezTo>
                  <a:pt x="18500" y="8410"/>
                  <a:pt x="15590" y="5500"/>
                  <a:pt x="12000" y="5500"/>
                </a:cubicBezTo>
                <a:cubicBezTo>
                  <a:pt x="8410" y="5500"/>
                  <a:pt x="5500" y="8410"/>
                  <a:pt x="5500" y="12000"/>
                </a:cubicBezTo>
                <a:cubicBezTo>
                  <a:pt x="5500" y="15590"/>
                  <a:pt x="8410" y="18500"/>
                  <a:pt x="12000" y="18500"/>
                </a:cubicBezTo>
                <a:cubicBezTo>
                  <a:pt x="15590" y="18500"/>
                  <a:pt x="18500" y="15590"/>
                  <a:pt x="18500" y="12000"/>
                </a:cubicBezTo>
                <a:close/>
                <a:moveTo>
                  <a:pt x="15000" y="6000"/>
                </a:moveTo>
                <a:lnTo>
                  <a:pt x="12000" y="4000"/>
                </a:lnTo>
                <a:lnTo>
                  <a:pt x="15000" y="2000"/>
                </a:lnTo>
                <a:close/>
                <a:moveTo>
                  <a:pt x="9000" y="18000"/>
                </a:moveTo>
                <a:lnTo>
                  <a:pt x="12000" y="20000"/>
                </a:lnTo>
                <a:lnTo>
                  <a:pt x="9000" y="22000"/>
                </a:lnTo>
                <a:close/>
                <a:moveTo>
                  <a:pt x="13400" y="12000"/>
                </a:moveTo>
                <a:cubicBezTo>
                  <a:pt x="13400" y="12773"/>
                  <a:pt x="12773" y="13400"/>
                  <a:pt x="12000" y="13400"/>
                </a:cubicBezTo>
                <a:cubicBezTo>
                  <a:pt x="11227" y="13400"/>
                  <a:pt x="10600" y="12773"/>
                  <a:pt x="10600" y="12000"/>
                </a:cubicBezTo>
                <a:cubicBezTo>
                  <a:pt x="10600" y="11227"/>
                  <a:pt x="11227" y="10600"/>
                  <a:pt x="12000" y="10600"/>
                </a:cubicBezTo>
                <a:cubicBezTo>
                  <a:pt x="12773" y="10600"/>
                  <a:pt x="13400" y="11227"/>
                  <a:pt x="134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敏捷迭代</a:t>
            </a:r>
          </a:p>
        </p:txBody>
      </p:sp>
      <p:sp>
        <p:nvSpPr>
          <p:cNvPr id="16" name="FLOW-005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12000"/>
                </a:moveTo>
                <a:cubicBezTo>
                  <a:pt x="12000" y="10000"/>
                  <a:pt x="14000" y="10000"/>
                  <a:pt x="14000" y="12000"/>
                </a:cubicBezTo>
                <a:cubicBezTo>
                  <a:pt x="14000" y="14000"/>
                  <a:pt x="10000" y="14000"/>
                  <a:pt x="10000" y="12000"/>
                </a:cubicBezTo>
                <a:cubicBezTo>
                  <a:pt x="10000" y="9000"/>
                  <a:pt x="15000" y="9000"/>
                  <a:pt x="15000" y="12000"/>
                </a:cubicBezTo>
                <a:cubicBezTo>
                  <a:pt x="15000" y="16000"/>
                  <a:pt x="8000" y="16000"/>
                  <a:pt x="8000" y="12000"/>
                </a:cubicBezTo>
                <a:cubicBezTo>
                  <a:pt x="8000" y="7000"/>
                  <a:pt x="17000" y="7000"/>
                  <a:pt x="17000" y="12000"/>
                </a:cubicBezTo>
                <a:cubicBezTo>
                  <a:pt x="17000" y="18000"/>
                  <a:pt x="6000" y="18000"/>
                  <a:pt x="6000" y="12000"/>
                </a:cubicBezTo>
                <a:moveTo>
                  <a:pt x="13000" y="12000"/>
                </a:moveTo>
                <a:cubicBezTo>
                  <a:pt x="13000" y="12552"/>
                  <a:pt x="12552" y="13000"/>
                  <a:pt x="12000" y="13000"/>
                </a:cubicBezTo>
                <a:cubicBezTo>
                  <a:pt x="11448" y="13000"/>
                  <a:pt x="11000" y="12552"/>
                  <a:pt x="11000" y="12000"/>
                </a:cubicBezTo>
                <a:cubicBezTo>
                  <a:pt x="11000" y="11448"/>
                  <a:pt x="11448" y="11000"/>
                  <a:pt x="12000" y="11000"/>
                </a:cubicBezTo>
                <a:cubicBezTo>
                  <a:pt x="12552" y="11000"/>
                  <a:pt x="13000" y="11448"/>
                  <a:pt x="130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迭代螺旋</a:t>
            </a:r>
          </a:p>
        </p:txBody>
      </p:sp>
      <p:sp>
        <p:nvSpPr>
          <p:cNvPr id="19" name="FLOW-006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18000"/>
                </a:moveTo>
                <a:lnTo>
                  <a:pt x="21800" y="18000"/>
                </a:lnTo>
                <a:cubicBezTo>
                  <a:pt x="21910" y="18000"/>
                  <a:pt x="22000" y="18090"/>
                  <a:pt x="22000" y="18200"/>
                </a:cubicBezTo>
                <a:lnTo>
                  <a:pt x="22000" y="18800"/>
                </a:lnTo>
                <a:cubicBezTo>
                  <a:pt x="22000" y="18910"/>
                  <a:pt x="21910" y="19000"/>
                  <a:pt x="21800" y="19000"/>
                </a:cubicBezTo>
                <a:lnTo>
                  <a:pt x="2200" y="19000"/>
                </a:lnTo>
                <a:cubicBezTo>
                  <a:pt x="2090" y="19000"/>
                  <a:pt x="2000" y="18910"/>
                  <a:pt x="2000" y="18800"/>
                </a:cubicBezTo>
                <a:lnTo>
                  <a:pt x="2000" y="18200"/>
                </a:lnTo>
                <a:cubicBezTo>
                  <a:pt x="2000" y="18090"/>
                  <a:pt x="2090" y="18000"/>
                  <a:pt x="2200" y="18000"/>
                </a:cubicBezTo>
                <a:close/>
                <a:moveTo>
                  <a:pt x="6400" y="18000"/>
                </a:moveTo>
                <a:cubicBezTo>
                  <a:pt x="6400" y="18773"/>
                  <a:pt x="5773" y="19400"/>
                  <a:pt x="5000" y="19400"/>
                </a:cubicBezTo>
                <a:cubicBezTo>
                  <a:pt x="4227" y="19400"/>
                  <a:pt x="3600" y="18773"/>
                  <a:pt x="3600" y="18000"/>
                </a:cubicBezTo>
                <a:cubicBezTo>
                  <a:pt x="3600" y="17227"/>
                  <a:pt x="4227" y="16600"/>
                  <a:pt x="5000" y="16600"/>
                </a:cubicBezTo>
                <a:cubicBezTo>
                  <a:pt x="5773" y="16600"/>
                  <a:pt x="6400" y="17227"/>
                  <a:pt x="6400" y="18000"/>
                </a:cubicBezTo>
                <a:close/>
                <a:moveTo>
                  <a:pt x="12400" y="18000"/>
                </a:moveTo>
                <a:cubicBezTo>
                  <a:pt x="12400" y="18773"/>
                  <a:pt x="11773" y="19400"/>
                  <a:pt x="11000" y="19400"/>
                </a:cubicBezTo>
                <a:cubicBezTo>
                  <a:pt x="10227" y="19400"/>
                  <a:pt x="9600" y="18773"/>
                  <a:pt x="9600" y="18000"/>
                </a:cubicBezTo>
                <a:cubicBezTo>
                  <a:pt x="9600" y="17227"/>
                  <a:pt x="10227" y="16600"/>
                  <a:pt x="11000" y="16600"/>
                </a:cubicBezTo>
                <a:cubicBezTo>
                  <a:pt x="11773" y="16600"/>
                  <a:pt x="12400" y="17227"/>
                  <a:pt x="12400" y="18000"/>
                </a:cubicBezTo>
                <a:close/>
                <a:moveTo>
                  <a:pt x="18400" y="18000"/>
                </a:moveTo>
                <a:cubicBezTo>
                  <a:pt x="18400" y="18773"/>
                  <a:pt x="17773" y="19400"/>
                  <a:pt x="17000" y="19400"/>
                </a:cubicBezTo>
                <a:cubicBezTo>
                  <a:pt x="16227" y="19400"/>
                  <a:pt x="15600" y="18773"/>
                  <a:pt x="15600" y="18000"/>
                </a:cubicBezTo>
                <a:cubicBezTo>
                  <a:pt x="15600" y="17227"/>
                  <a:pt x="16227" y="16600"/>
                  <a:pt x="17000" y="16600"/>
                </a:cubicBezTo>
                <a:cubicBezTo>
                  <a:pt x="17773" y="16600"/>
                  <a:pt x="18400" y="17227"/>
                  <a:pt x="18400" y="18000"/>
                </a:cubicBezTo>
                <a:close/>
                <a:moveTo>
                  <a:pt x="22400" y="18000"/>
                </a:moveTo>
                <a:cubicBezTo>
                  <a:pt x="22400" y="18773"/>
                  <a:pt x="21773" y="19400"/>
                  <a:pt x="21000" y="19400"/>
                </a:cubicBezTo>
                <a:cubicBezTo>
                  <a:pt x="20227" y="19400"/>
                  <a:pt x="19600" y="18773"/>
                  <a:pt x="19600" y="18000"/>
                </a:cubicBezTo>
                <a:cubicBezTo>
                  <a:pt x="19600" y="17227"/>
                  <a:pt x="20227" y="16600"/>
                  <a:pt x="21000" y="16600"/>
                </a:cubicBezTo>
                <a:cubicBezTo>
                  <a:pt x="21773" y="16600"/>
                  <a:pt x="22400" y="17227"/>
                  <a:pt x="22400" y="18000"/>
                </a:cubicBezTo>
                <a:close/>
                <a:moveTo>
                  <a:pt x="3300" y="12000"/>
                </a:moveTo>
                <a:lnTo>
                  <a:pt x="6700" y="12000"/>
                </a:lnTo>
                <a:cubicBezTo>
                  <a:pt x="6866" y="12000"/>
                  <a:pt x="7000" y="12134"/>
                  <a:pt x="7000" y="12300"/>
                </a:cubicBezTo>
                <a:lnTo>
                  <a:pt x="7000" y="15700"/>
                </a:lnTo>
                <a:cubicBezTo>
                  <a:pt x="7000" y="15866"/>
                  <a:pt x="6866" y="16000"/>
                  <a:pt x="6700" y="16000"/>
                </a:cubicBezTo>
                <a:lnTo>
                  <a:pt x="3300" y="16000"/>
                </a:lnTo>
                <a:cubicBezTo>
                  <a:pt x="3134" y="16000"/>
                  <a:pt x="3000" y="15866"/>
                  <a:pt x="3000" y="15700"/>
                </a:cubicBezTo>
                <a:lnTo>
                  <a:pt x="3000" y="12300"/>
                </a:lnTo>
                <a:cubicBezTo>
                  <a:pt x="3000" y="12134"/>
                  <a:pt x="3134" y="12000"/>
                  <a:pt x="3300" y="12000"/>
                </a:cubicBezTo>
                <a:close/>
                <a:moveTo>
                  <a:pt x="9300" y="8000"/>
                </a:moveTo>
                <a:lnTo>
                  <a:pt x="12700" y="8000"/>
                </a:lnTo>
                <a:cubicBezTo>
                  <a:pt x="12866" y="8000"/>
                  <a:pt x="13000" y="8134"/>
                  <a:pt x="13000" y="8300"/>
                </a:cubicBezTo>
                <a:lnTo>
                  <a:pt x="13000" y="11700"/>
                </a:lnTo>
                <a:cubicBezTo>
                  <a:pt x="13000" y="11866"/>
                  <a:pt x="12866" y="12000"/>
                  <a:pt x="12700" y="12000"/>
                </a:cubicBezTo>
                <a:lnTo>
                  <a:pt x="9300" y="12000"/>
                </a:lnTo>
                <a:cubicBezTo>
                  <a:pt x="9134" y="12000"/>
                  <a:pt x="9000" y="11866"/>
                  <a:pt x="9000" y="11700"/>
                </a:cubicBezTo>
                <a:lnTo>
                  <a:pt x="9000" y="8300"/>
                </a:lnTo>
                <a:cubicBezTo>
                  <a:pt x="9000" y="8134"/>
                  <a:pt x="9134" y="8000"/>
                  <a:pt x="9300" y="8000"/>
                </a:cubicBezTo>
                <a:close/>
                <a:moveTo>
                  <a:pt x="15300" y="4000"/>
                </a:moveTo>
                <a:lnTo>
                  <a:pt x="18700" y="4000"/>
                </a:lnTo>
                <a:cubicBezTo>
                  <a:pt x="18866" y="4000"/>
                  <a:pt x="19000" y="4134"/>
                  <a:pt x="19000" y="4300"/>
                </a:cubicBezTo>
                <a:lnTo>
                  <a:pt x="19000" y="7700"/>
                </a:lnTo>
                <a:cubicBezTo>
                  <a:pt x="19000" y="7866"/>
                  <a:pt x="18866" y="8000"/>
                  <a:pt x="18700" y="8000"/>
                </a:cubicBezTo>
                <a:lnTo>
                  <a:pt x="15300" y="8000"/>
                </a:lnTo>
                <a:cubicBezTo>
                  <a:pt x="15134" y="8000"/>
                  <a:pt x="15000" y="7866"/>
                  <a:pt x="15000" y="7700"/>
                </a:cubicBezTo>
                <a:lnTo>
                  <a:pt x="15000" y="4300"/>
                </a:lnTo>
                <a:cubicBezTo>
                  <a:pt x="15000" y="4134"/>
                  <a:pt x="15134" y="4000"/>
                  <a:pt x="15300" y="4000"/>
                </a:cubicBezTo>
                <a:close/>
                <a:moveTo>
                  <a:pt x="4800" y="16000"/>
                </a:moveTo>
                <a:lnTo>
                  <a:pt x="4800" y="18000"/>
                </a:lnTo>
                <a:lnTo>
                  <a:pt x="5200" y="18000"/>
                </a:lnTo>
                <a:lnTo>
                  <a:pt x="5200" y="16000"/>
                </a:lnTo>
                <a:close/>
                <a:moveTo>
                  <a:pt x="10800" y="12000"/>
                </a:moveTo>
                <a:lnTo>
                  <a:pt x="10800" y="18000"/>
                </a:lnTo>
                <a:lnTo>
                  <a:pt x="11200" y="18000"/>
                </a:lnTo>
                <a:lnTo>
                  <a:pt x="11200" y="12000"/>
                </a:lnTo>
                <a:close/>
                <a:moveTo>
                  <a:pt x="16800" y="8000"/>
                </a:moveTo>
                <a:lnTo>
                  <a:pt x="16800" y="18000"/>
                </a:lnTo>
                <a:lnTo>
                  <a:pt x="17200" y="18000"/>
                </a:lnTo>
                <a:lnTo>
                  <a:pt x="17200" y="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路线图</a:t>
            </a:r>
          </a:p>
        </p:txBody>
      </p:sp>
      <p:sp>
        <p:nvSpPr>
          <p:cNvPr id="22" name="FLOW-007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00" y="12000"/>
                </a:moveTo>
                <a:cubicBezTo>
                  <a:pt x="4600" y="12884"/>
                  <a:pt x="3884" y="13600"/>
                  <a:pt x="3000" y="13600"/>
                </a:cubicBezTo>
                <a:cubicBezTo>
                  <a:pt x="2116" y="13600"/>
                  <a:pt x="1400" y="12884"/>
                  <a:pt x="1400" y="12000"/>
                </a:cubicBezTo>
                <a:cubicBezTo>
                  <a:pt x="1400" y="11116"/>
                  <a:pt x="2116" y="10400"/>
                  <a:pt x="3000" y="10400"/>
                </a:cubicBezTo>
                <a:cubicBezTo>
                  <a:pt x="3884" y="10400"/>
                  <a:pt x="4600" y="11116"/>
                  <a:pt x="4600" y="12000"/>
                </a:cubicBezTo>
                <a:close/>
                <a:moveTo>
                  <a:pt x="9600" y="6000"/>
                </a:moveTo>
                <a:cubicBezTo>
                  <a:pt x="9600" y="6884"/>
                  <a:pt x="8884" y="7600"/>
                  <a:pt x="8000" y="7600"/>
                </a:cubicBezTo>
                <a:cubicBezTo>
                  <a:pt x="7116" y="7600"/>
                  <a:pt x="6400" y="6884"/>
                  <a:pt x="6400" y="6000"/>
                </a:cubicBezTo>
                <a:cubicBezTo>
                  <a:pt x="6400" y="5116"/>
                  <a:pt x="7116" y="4400"/>
                  <a:pt x="8000" y="4400"/>
                </a:cubicBezTo>
                <a:cubicBezTo>
                  <a:pt x="8884" y="4400"/>
                  <a:pt x="9600" y="5116"/>
                  <a:pt x="9600" y="6000"/>
                </a:cubicBezTo>
                <a:close/>
                <a:moveTo>
                  <a:pt x="9600" y="18000"/>
                </a:moveTo>
                <a:cubicBezTo>
                  <a:pt x="9600" y="18884"/>
                  <a:pt x="8884" y="19600"/>
                  <a:pt x="8000" y="19600"/>
                </a:cubicBezTo>
                <a:cubicBezTo>
                  <a:pt x="7116" y="19600"/>
                  <a:pt x="6400" y="18884"/>
                  <a:pt x="6400" y="18000"/>
                </a:cubicBezTo>
                <a:cubicBezTo>
                  <a:pt x="6400" y="17116"/>
                  <a:pt x="7116" y="16400"/>
                  <a:pt x="8000" y="16400"/>
                </a:cubicBezTo>
                <a:cubicBezTo>
                  <a:pt x="8884" y="16400"/>
                  <a:pt x="9600" y="17116"/>
                  <a:pt x="9600" y="18000"/>
                </a:cubicBezTo>
                <a:close/>
                <a:moveTo>
                  <a:pt x="15600" y="12000"/>
                </a:moveTo>
                <a:cubicBezTo>
                  <a:pt x="15600" y="12884"/>
                  <a:pt x="14884" y="13600"/>
                  <a:pt x="14000" y="13600"/>
                </a:cubicBezTo>
                <a:cubicBezTo>
                  <a:pt x="13116" y="13600"/>
                  <a:pt x="12400" y="12884"/>
                  <a:pt x="12400" y="12000"/>
                </a:cubicBezTo>
                <a:cubicBezTo>
                  <a:pt x="12400" y="11116"/>
                  <a:pt x="13116" y="10400"/>
                  <a:pt x="14000" y="10400"/>
                </a:cubicBezTo>
                <a:cubicBezTo>
                  <a:pt x="14884" y="10400"/>
                  <a:pt x="15600" y="11116"/>
                  <a:pt x="15600" y="12000"/>
                </a:cubicBezTo>
                <a:close/>
                <a:moveTo>
                  <a:pt x="21600" y="8000"/>
                </a:moveTo>
                <a:cubicBezTo>
                  <a:pt x="21600" y="8884"/>
                  <a:pt x="20884" y="9600"/>
                  <a:pt x="20000" y="9600"/>
                </a:cubicBezTo>
                <a:cubicBezTo>
                  <a:pt x="19116" y="9600"/>
                  <a:pt x="18400" y="8884"/>
                  <a:pt x="18400" y="8000"/>
                </a:cubicBezTo>
                <a:cubicBezTo>
                  <a:pt x="18400" y="7116"/>
                  <a:pt x="19116" y="6400"/>
                  <a:pt x="20000" y="6400"/>
                </a:cubicBezTo>
                <a:cubicBezTo>
                  <a:pt x="20884" y="6400"/>
                  <a:pt x="21600" y="7116"/>
                  <a:pt x="21600" y="8000"/>
                </a:cubicBezTo>
                <a:close/>
                <a:moveTo>
                  <a:pt x="21600" y="16000"/>
                </a:moveTo>
                <a:cubicBezTo>
                  <a:pt x="21600" y="16884"/>
                  <a:pt x="20884" y="17600"/>
                  <a:pt x="20000" y="17600"/>
                </a:cubicBezTo>
                <a:cubicBezTo>
                  <a:pt x="19116" y="17600"/>
                  <a:pt x="18400" y="16884"/>
                  <a:pt x="18400" y="16000"/>
                </a:cubicBezTo>
                <a:cubicBezTo>
                  <a:pt x="18400" y="15116"/>
                  <a:pt x="19116" y="14400"/>
                  <a:pt x="20000" y="14400"/>
                </a:cubicBezTo>
                <a:cubicBezTo>
                  <a:pt x="20884" y="14400"/>
                  <a:pt x="21600" y="15116"/>
                  <a:pt x="21600" y="16000"/>
                </a:cubicBezTo>
                <a:close/>
                <a:moveTo>
                  <a:pt x="3154" y="12128"/>
                </a:moveTo>
                <a:lnTo>
                  <a:pt x="8154" y="6128"/>
                </a:lnTo>
                <a:lnTo>
                  <a:pt x="7846" y="5872"/>
                </a:lnTo>
                <a:lnTo>
                  <a:pt x="2846" y="11872"/>
                </a:lnTo>
                <a:close/>
                <a:moveTo>
                  <a:pt x="2846" y="12128"/>
                </a:moveTo>
                <a:lnTo>
                  <a:pt x="7846" y="18128"/>
                </a:lnTo>
                <a:lnTo>
                  <a:pt x="8154" y="17872"/>
                </a:lnTo>
                <a:lnTo>
                  <a:pt x="3154" y="11872"/>
                </a:lnTo>
                <a:close/>
                <a:moveTo>
                  <a:pt x="7859" y="6141"/>
                </a:moveTo>
                <a:lnTo>
                  <a:pt x="13859" y="12141"/>
                </a:lnTo>
                <a:lnTo>
                  <a:pt x="14141" y="11859"/>
                </a:lnTo>
                <a:lnTo>
                  <a:pt x="8141" y="5859"/>
                </a:lnTo>
                <a:close/>
                <a:moveTo>
                  <a:pt x="8141" y="18141"/>
                </a:moveTo>
                <a:lnTo>
                  <a:pt x="14141" y="12141"/>
                </a:lnTo>
                <a:lnTo>
                  <a:pt x="13859" y="11859"/>
                </a:lnTo>
                <a:lnTo>
                  <a:pt x="7859" y="17859"/>
                </a:lnTo>
                <a:close/>
                <a:moveTo>
                  <a:pt x="14111" y="12166"/>
                </a:moveTo>
                <a:lnTo>
                  <a:pt x="20111" y="8166"/>
                </a:lnTo>
                <a:lnTo>
                  <a:pt x="19889" y="7834"/>
                </a:lnTo>
                <a:lnTo>
                  <a:pt x="13889" y="11834"/>
                </a:lnTo>
                <a:close/>
                <a:moveTo>
                  <a:pt x="13889" y="12166"/>
                </a:moveTo>
                <a:lnTo>
                  <a:pt x="19889" y="16166"/>
                </a:lnTo>
                <a:lnTo>
                  <a:pt x="20111" y="15834"/>
                </a:lnTo>
                <a:lnTo>
                  <a:pt x="14111" y="11834"/>
                </a:lnTo>
                <a:close/>
                <a:moveTo>
                  <a:pt x="3000" y="12000"/>
                </a:moveTo>
                <a:lnTo>
                  <a:pt x="8000" y="6000"/>
                </a:lnTo>
                <a:lnTo>
                  <a:pt x="14000" y="12000"/>
                </a:lnTo>
                <a:lnTo>
                  <a:pt x="20000" y="8000"/>
                </a:lnTo>
                <a:moveTo>
                  <a:pt x="3538" y="12448"/>
                </a:moveTo>
                <a:lnTo>
                  <a:pt x="8538" y="6448"/>
                </a:lnTo>
                <a:lnTo>
                  <a:pt x="7462" y="5552"/>
                </a:lnTo>
                <a:lnTo>
                  <a:pt x="2462" y="11552"/>
                </a:lnTo>
                <a:close/>
                <a:moveTo>
                  <a:pt x="7505" y="6495"/>
                </a:moveTo>
                <a:lnTo>
                  <a:pt x="13505" y="12495"/>
                </a:lnTo>
                <a:lnTo>
                  <a:pt x="14495" y="11505"/>
                </a:lnTo>
                <a:lnTo>
                  <a:pt x="8495" y="5505"/>
                </a:lnTo>
                <a:close/>
                <a:moveTo>
                  <a:pt x="14388" y="12582"/>
                </a:moveTo>
                <a:lnTo>
                  <a:pt x="20388" y="8582"/>
                </a:lnTo>
                <a:lnTo>
                  <a:pt x="19612" y="7418"/>
                </a:lnTo>
                <a:lnTo>
                  <a:pt x="13612" y="1141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关键路径</a:t>
            </a:r>
          </a:p>
        </p:txBody>
      </p:sp>
      <p:sp>
        <p:nvSpPr>
          <p:cNvPr id="25" name="FLOW-008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4000"/>
                </a:moveTo>
                <a:lnTo>
                  <a:pt x="9700" y="4000"/>
                </a:lnTo>
                <a:cubicBezTo>
                  <a:pt x="9866" y="4000"/>
                  <a:pt x="10000" y="4134"/>
                  <a:pt x="10000" y="4300"/>
                </a:cubicBezTo>
                <a:lnTo>
                  <a:pt x="10000" y="5700"/>
                </a:lnTo>
                <a:cubicBezTo>
                  <a:pt x="10000" y="5866"/>
                  <a:pt x="9866" y="6000"/>
                  <a:pt x="9700" y="6000"/>
                </a:cubicBezTo>
                <a:lnTo>
                  <a:pt x="2300" y="6000"/>
                </a:lnTo>
                <a:cubicBezTo>
                  <a:pt x="2134" y="6000"/>
                  <a:pt x="2000" y="5866"/>
                  <a:pt x="2000" y="5700"/>
                </a:cubicBezTo>
                <a:lnTo>
                  <a:pt x="2000" y="4300"/>
                </a:lnTo>
                <a:cubicBezTo>
                  <a:pt x="2000" y="4134"/>
                  <a:pt x="2134" y="4000"/>
                  <a:pt x="2300" y="4000"/>
                </a:cubicBezTo>
                <a:close/>
                <a:moveTo>
                  <a:pt x="5300" y="8000"/>
                </a:moveTo>
                <a:lnTo>
                  <a:pt x="14700" y="8000"/>
                </a:lnTo>
                <a:cubicBezTo>
                  <a:pt x="14866" y="8000"/>
                  <a:pt x="15000" y="8134"/>
                  <a:pt x="15000" y="8300"/>
                </a:cubicBezTo>
                <a:lnTo>
                  <a:pt x="15000" y="9700"/>
                </a:lnTo>
                <a:cubicBezTo>
                  <a:pt x="15000" y="9866"/>
                  <a:pt x="14866" y="10000"/>
                  <a:pt x="14700" y="10000"/>
                </a:cubicBezTo>
                <a:lnTo>
                  <a:pt x="5300" y="10000"/>
                </a:lnTo>
                <a:cubicBezTo>
                  <a:pt x="5134" y="10000"/>
                  <a:pt x="5000" y="9866"/>
                  <a:pt x="5000" y="9700"/>
                </a:cubicBezTo>
                <a:lnTo>
                  <a:pt x="5000" y="8300"/>
                </a:lnTo>
                <a:cubicBezTo>
                  <a:pt x="5000" y="8134"/>
                  <a:pt x="5134" y="8000"/>
                  <a:pt x="5300" y="8000"/>
                </a:cubicBezTo>
                <a:close/>
                <a:moveTo>
                  <a:pt x="8300" y="12000"/>
                </a:moveTo>
                <a:lnTo>
                  <a:pt x="17700" y="12000"/>
                </a:lnTo>
                <a:cubicBezTo>
                  <a:pt x="17866" y="12000"/>
                  <a:pt x="18000" y="12134"/>
                  <a:pt x="18000" y="12300"/>
                </a:cubicBezTo>
                <a:lnTo>
                  <a:pt x="18000" y="13700"/>
                </a:lnTo>
                <a:cubicBezTo>
                  <a:pt x="18000" y="13866"/>
                  <a:pt x="17866" y="14000"/>
                  <a:pt x="17700" y="14000"/>
                </a:cubicBezTo>
                <a:lnTo>
                  <a:pt x="8300" y="14000"/>
                </a:lnTo>
                <a:cubicBezTo>
                  <a:pt x="8134" y="14000"/>
                  <a:pt x="8000" y="13866"/>
                  <a:pt x="8000" y="13700"/>
                </a:cubicBezTo>
                <a:lnTo>
                  <a:pt x="8000" y="12300"/>
                </a:lnTo>
                <a:cubicBezTo>
                  <a:pt x="8000" y="12134"/>
                  <a:pt x="8134" y="12000"/>
                  <a:pt x="8300" y="12000"/>
                </a:cubicBezTo>
                <a:close/>
                <a:moveTo>
                  <a:pt x="12300" y="16000"/>
                </a:moveTo>
                <a:lnTo>
                  <a:pt x="19700" y="16000"/>
                </a:lnTo>
                <a:cubicBezTo>
                  <a:pt x="19866" y="16000"/>
                  <a:pt x="20000" y="16134"/>
                  <a:pt x="20000" y="16300"/>
                </a:cubicBezTo>
                <a:lnTo>
                  <a:pt x="20000" y="17700"/>
                </a:lnTo>
                <a:cubicBezTo>
                  <a:pt x="20000" y="17866"/>
                  <a:pt x="19866" y="18000"/>
                  <a:pt x="19700" y="18000"/>
                </a:cubicBezTo>
                <a:lnTo>
                  <a:pt x="12300" y="18000"/>
                </a:lnTo>
                <a:cubicBezTo>
                  <a:pt x="12134" y="18000"/>
                  <a:pt x="12000" y="17866"/>
                  <a:pt x="12000" y="17700"/>
                </a:cubicBezTo>
                <a:lnTo>
                  <a:pt x="12000" y="16300"/>
                </a:lnTo>
                <a:cubicBezTo>
                  <a:pt x="12000" y="16134"/>
                  <a:pt x="12134" y="16000"/>
                  <a:pt x="12300" y="16000"/>
                </a:cubicBezTo>
                <a:close/>
                <a:moveTo>
                  <a:pt x="2100" y="20000"/>
                </a:moveTo>
                <a:lnTo>
                  <a:pt x="21900" y="20000"/>
                </a:lnTo>
                <a:cubicBezTo>
                  <a:pt x="21955" y="20000"/>
                  <a:pt x="22000" y="20045"/>
                  <a:pt x="22000" y="20100"/>
                </a:cubicBezTo>
                <a:lnTo>
                  <a:pt x="22000" y="20400"/>
                </a:lnTo>
                <a:cubicBezTo>
                  <a:pt x="22000" y="20455"/>
                  <a:pt x="21955" y="20500"/>
                  <a:pt x="21900" y="20500"/>
                </a:cubicBezTo>
                <a:lnTo>
                  <a:pt x="2100" y="20500"/>
                </a:lnTo>
                <a:cubicBezTo>
                  <a:pt x="2045" y="20500"/>
                  <a:pt x="2000" y="20455"/>
                  <a:pt x="2000" y="20400"/>
                </a:cubicBezTo>
                <a:lnTo>
                  <a:pt x="2000" y="20100"/>
                </a:lnTo>
                <a:cubicBezTo>
                  <a:pt x="2000" y="20045"/>
                  <a:pt x="2045" y="20000"/>
                  <a:pt x="2100" y="20000"/>
                </a:cubicBezTo>
                <a:close/>
                <a:moveTo>
                  <a:pt x="1850" y="3000"/>
                </a:moveTo>
                <a:lnTo>
                  <a:pt x="1850" y="21000"/>
                </a:lnTo>
                <a:lnTo>
                  <a:pt x="2150" y="21000"/>
                </a:lnTo>
                <a:lnTo>
                  <a:pt x="2150" y="3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甘特图</a:t>
            </a:r>
          </a:p>
        </p:txBody>
      </p:sp>
      <p:sp>
        <p:nvSpPr>
          <p:cNvPr id="28" name="FLOW-009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00" y="12000"/>
                </a:moveTo>
                <a:cubicBezTo>
                  <a:pt x="5800" y="12994"/>
                  <a:pt x="4994" y="13800"/>
                  <a:pt x="4000" y="13800"/>
                </a:cubicBezTo>
                <a:cubicBezTo>
                  <a:pt x="3006" y="13800"/>
                  <a:pt x="2200" y="12994"/>
                  <a:pt x="2200" y="12000"/>
                </a:cubicBezTo>
                <a:cubicBezTo>
                  <a:pt x="2200" y="11006"/>
                  <a:pt x="3006" y="10200"/>
                  <a:pt x="4000" y="10200"/>
                </a:cubicBezTo>
                <a:cubicBezTo>
                  <a:pt x="4994" y="10200"/>
                  <a:pt x="5800" y="11006"/>
                  <a:pt x="5800" y="12000"/>
                </a:cubicBezTo>
                <a:close/>
                <a:moveTo>
                  <a:pt x="21800" y="5000"/>
                </a:moveTo>
                <a:cubicBezTo>
                  <a:pt x="21800" y="5994"/>
                  <a:pt x="20994" y="6800"/>
                  <a:pt x="20000" y="6800"/>
                </a:cubicBezTo>
                <a:cubicBezTo>
                  <a:pt x="19006" y="6800"/>
                  <a:pt x="18200" y="5994"/>
                  <a:pt x="18200" y="5000"/>
                </a:cubicBezTo>
                <a:cubicBezTo>
                  <a:pt x="18200" y="4006"/>
                  <a:pt x="19006" y="3200"/>
                  <a:pt x="20000" y="3200"/>
                </a:cubicBezTo>
                <a:cubicBezTo>
                  <a:pt x="20994" y="3200"/>
                  <a:pt x="21800" y="4006"/>
                  <a:pt x="21800" y="5000"/>
                </a:cubicBezTo>
                <a:close/>
                <a:moveTo>
                  <a:pt x="21800" y="12000"/>
                </a:moveTo>
                <a:cubicBezTo>
                  <a:pt x="21800" y="12994"/>
                  <a:pt x="20994" y="13800"/>
                  <a:pt x="20000" y="13800"/>
                </a:cubicBezTo>
                <a:cubicBezTo>
                  <a:pt x="19006" y="13800"/>
                  <a:pt x="18200" y="12994"/>
                  <a:pt x="18200" y="12000"/>
                </a:cubicBezTo>
                <a:cubicBezTo>
                  <a:pt x="18200" y="11006"/>
                  <a:pt x="19006" y="10200"/>
                  <a:pt x="20000" y="10200"/>
                </a:cubicBezTo>
                <a:cubicBezTo>
                  <a:pt x="20994" y="10200"/>
                  <a:pt x="21800" y="11006"/>
                  <a:pt x="21800" y="12000"/>
                </a:cubicBezTo>
                <a:close/>
                <a:moveTo>
                  <a:pt x="21800" y="19000"/>
                </a:moveTo>
                <a:cubicBezTo>
                  <a:pt x="21800" y="19994"/>
                  <a:pt x="20994" y="20800"/>
                  <a:pt x="20000" y="20800"/>
                </a:cubicBezTo>
                <a:cubicBezTo>
                  <a:pt x="19006" y="20800"/>
                  <a:pt x="18200" y="19994"/>
                  <a:pt x="18200" y="19000"/>
                </a:cubicBezTo>
                <a:cubicBezTo>
                  <a:pt x="18200" y="18006"/>
                  <a:pt x="19006" y="17200"/>
                  <a:pt x="20000" y="17200"/>
                </a:cubicBezTo>
                <a:cubicBezTo>
                  <a:pt x="20994" y="17200"/>
                  <a:pt x="21800" y="18006"/>
                  <a:pt x="21800" y="19000"/>
                </a:cubicBezTo>
                <a:close/>
                <a:moveTo>
                  <a:pt x="6101" y="12173"/>
                </a:moveTo>
                <a:lnTo>
                  <a:pt x="17237" y="5677"/>
                </a:lnTo>
                <a:lnTo>
                  <a:pt x="17489" y="6109"/>
                </a:lnTo>
                <a:lnTo>
                  <a:pt x="18000" y="5000"/>
                </a:lnTo>
                <a:lnTo>
                  <a:pt x="16784" y="4899"/>
                </a:lnTo>
                <a:lnTo>
                  <a:pt x="17035" y="5331"/>
                </a:lnTo>
                <a:lnTo>
                  <a:pt x="5899" y="11827"/>
                </a:lnTo>
                <a:close/>
                <a:moveTo>
                  <a:pt x="6000" y="12200"/>
                </a:moveTo>
                <a:lnTo>
                  <a:pt x="17000" y="12200"/>
                </a:lnTo>
                <a:lnTo>
                  <a:pt x="17000" y="12700"/>
                </a:lnTo>
                <a:lnTo>
                  <a:pt x="18000" y="12000"/>
                </a:lnTo>
                <a:lnTo>
                  <a:pt x="17000" y="11300"/>
                </a:lnTo>
                <a:lnTo>
                  <a:pt x="17000" y="11800"/>
                </a:lnTo>
                <a:lnTo>
                  <a:pt x="6000" y="11800"/>
                </a:lnTo>
                <a:close/>
                <a:moveTo>
                  <a:pt x="5899" y="12173"/>
                </a:moveTo>
                <a:lnTo>
                  <a:pt x="17035" y="18669"/>
                </a:lnTo>
                <a:lnTo>
                  <a:pt x="16784" y="19101"/>
                </a:lnTo>
                <a:lnTo>
                  <a:pt x="18000" y="19000"/>
                </a:lnTo>
                <a:lnTo>
                  <a:pt x="17489" y="17891"/>
                </a:lnTo>
                <a:lnTo>
                  <a:pt x="17237" y="18323"/>
                </a:lnTo>
                <a:lnTo>
                  <a:pt x="6101" y="1182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流程分叉</a:t>
            </a:r>
          </a:p>
        </p:txBody>
      </p:sp>
      <p:sp>
        <p:nvSpPr>
          <p:cNvPr id="31" name="FLOW-010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00" y="5000"/>
                </a:moveTo>
                <a:cubicBezTo>
                  <a:pt x="5800" y="5994"/>
                  <a:pt x="4994" y="6800"/>
                  <a:pt x="4000" y="6800"/>
                </a:cubicBezTo>
                <a:cubicBezTo>
                  <a:pt x="3006" y="6800"/>
                  <a:pt x="2200" y="5994"/>
                  <a:pt x="2200" y="5000"/>
                </a:cubicBezTo>
                <a:cubicBezTo>
                  <a:pt x="2200" y="4006"/>
                  <a:pt x="3006" y="3200"/>
                  <a:pt x="4000" y="3200"/>
                </a:cubicBezTo>
                <a:cubicBezTo>
                  <a:pt x="4994" y="3200"/>
                  <a:pt x="5800" y="4006"/>
                  <a:pt x="5800" y="5000"/>
                </a:cubicBezTo>
                <a:close/>
                <a:moveTo>
                  <a:pt x="5800" y="12000"/>
                </a:moveTo>
                <a:cubicBezTo>
                  <a:pt x="5800" y="12994"/>
                  <a:pt x="4994" y="13800"/>
                  <a:pt x="4000" y="13800"/>
                </a:cubicBezTo>
                <a:cubicBezTo>
                  <a:pt x="3006" y="13800"/>
                  <a:pt x="2200" y="12994"/>
                  <a:pt x="2200" y="12000"/>
                </a:cubicBezTo>
                <a:cubicBezTo>
                  <a:pt x="2200" y="11006"/>
                  <a:pt x="3006" y="10200"/>
                  <a:pt x="4000" y="10200"/>
                </a:cubicBezTo>
                <a:cubicBezTo>
                  <a:pt x="4994" y="10200"/>
                  <a:pt x="5800" y="11006"/>
                  <a:pt x="5800" y="12000"/>
                </a:cubicBezTo>
                <a:close/>
                <a:moveTo>
                  <a:pt x="5800" y="19000"/>
                </a:moveTo>
                <a:cubicBezTo>
                  <a:pt x="5800" y="19994"/>
                  <a:pt x="4994" y="20800"/>
                  <a:pt x="4000" y="20800"/>
                </a:cubicBezTo>
                <a:cubicBezTo>
                  <a:pt x="3006" y="20800"/>
                  <a:pt x="2200" y="19994"/>
                  <a:pt x="2200" y="19000"/>
                </a:cubicBezTo>
                <a:cubicBezTo>
                  <a:pt x="2200" y="18006"/>
                  <a:pt x="3006" y="17200"/>
                  <a:pt x="4000" y="17200"/>
                </a:cubicBezTo>
                <a:cubicBezTo>
                  <a:pt x="4994" y="17200"/>
                  <a:pt x="5800" y="18006"/>
                  <a:pt x="5800" y="19000"/>
                </a:cubicBezTo>
                <a:close/>
                <a:moveTo>
                  <a:pt x="21800" y="12000"/>
                </a:moveTo>
                <a:cubicBezTo>
                  <a:pt x="21800" y="12994"/>
                  <a:pt x="20994" y="13800"/>
                  <a:pt x="20000" y="13800"/>
                </a:cubicBezTo>
                <a:cubicBezTo>
                  <a:pt x="19006" y="13800"/>
                  <a:pt x="18200" y="12994"/>
                  <a:pt x="18200" y="12000"/>
                </a:cubicBezTo>
                <a:cubicBezTo>
                  <a:pt x="18200" y="11006"/>
                  <a:pt x="19006" y="10200"/>
                  <a:pt x="20000" y="10200"/>
                </a:cubicBezTo>
                <a:cubicBezTo>
                  <a:pt x="20994" y="10200"/>
                  <a:pt x="21800" y="11006"/>
                  <a:pt x="21800" y="12000"/>
                </a:cubicBezTo>
                <a:close/>
                <a:moveTo>
                  <a:pt x="5899" y="5173"/>
                </a:moveTo>
                <a:lnTo>
                  <a:pt x="17035" y="11669"/>
                </a:lnTo>
                <a:lnTo>
                  <a:pt x="16784" y="12101"/>
                </a:lnTo>
                <a:lnTo>
                  <a:pt x="18000" y="12000"/>
                </a:lnTo>
                <a:lnTo>
                  <a:pt x="17489" y="10891"/>
                </a:lnTo>
                <a:lnTo>
                  <a:pt x="17237" y="11323"/>
                </a:lnTo>
                <a:lnTo>
                  <a:pt x="6101" y="4827"/>
                </a:lnTo>
                <a:close/>
                <a:moveTo>
                  <a:pt x="6000" y="12200"/>
                </a:moveTo>
                <a:lnTo>
                  <a:pt x="17000" y="12200"/>
                </a:lnTo>
                <a:lnTo>
                  <a:pt x="17000" y="12700"/>
                </a:lnTo>
                <a:lnTo>
                  <a:pt x="18000" y="12000"/>
                </a:lnTo>
                <a:lnTo>
                  <a:pt x="17000" y="11300"/>
                </a:lnTo>
                <a:lnTo>
                  <a:pt x="17000" y="11800"/>
                </a:lnTo>
                <a:lnTo>
                  <a:pt x="6000" y="11800"/>
                </a:lnTo>
                <a:close/>
                <a:moveTo>
                  <a:pt x="6101" y="19173"/>
                </a:moveTo>
                <a:lnTo>
                  <a:pt x="17237" y="12677"/>
                </a:lnTo>
                <a:lnTo>
                  <a:pt x="17489" y="13109"/>
                </a:lnTo>
                <a:lnTo>
                  <a:pt x="18000" y="12000"/>
                </a:lnTo>
                <a:lnTo>
                  <a:pt x="16784" y="11899"/>
                </a:lnTo>
                <a:lnTo>
                  <a:pt x="17035" y="12331"/>
                </a:lnTo>
                <a:lnTo>
                  <a:pt x="5899" y="1882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流程汇合</a:t>
            </a:r>
          </a:p>
        </p:txBody>
      </p:sp>
      <p:sp>
        <p:nvSpPr>
          <p:cNvPr id="34" name="FLOW-011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000"/>
                </a:moveTo>
                <a:lnTo>
                  <a:pt x="14000" y="4000"/>
                </a:lnTo>
                <a:lnTo>
                  <a:pt x="12000" y="6000"/>
                </a:lnTo>
                <a:lnTo>
                  <a:pt x="10000" y="4000"/>
                </a:lnTo>
                <a:close/>
                <a:moveTo>
                  <a:pt x="11859" y="5859"/>
                </a:moveTo>
                <a:lnTo>
                  <a:pt x="6859" y="10859"/>
                </a:lnTo>
                <a:lnTo>
                  <a:pt x="7141" y="11141"/>
                </a:lnTo>
                <a:lnTo>
                  <a:pt x="12141" y="6141"/>
                </a:lnTo>
                <a:close/>
                <a:moveTo>
                  <a:pt x="11859" y="6141"/>
                </a:moveTo>
                <a:lnTo>
                  <a:pt x="16859" y="11141"/>
                </a:lnTo>
                <a:lnTo>
                  <a:pt x="17141" y="10859"/>
                </a:lnTo>
                <a:lnTo>
                  <a:pt x="12141" y="5859"/>
                </a:lnTo>
                <a:close/>
                <a:moveTo>
                  <a:pt x="7000" y="10400"/>
                </a:moveTo>
                <a:lnTo>
                  <a:pt x="8600" y="12000"/>
                </a:lnTo>
                <a:lnTo>
                  <a:pt x="7000" y="13600"/>
                </a:lnTo>
                <a:lnTo>
                  <a:pt x="5400" y="12000"/>
                </a:lnTo>
                <a:close/>
                <a:moveTo>
                  <a:pt x="17000" y="10400"/>
                </a:moveTo>
                <a:lnTo>
                  <a:pt x="18600" y="12000"/>
                </a:lnTo>
                <a:lnTo>
                  <a:pt x="17000" y="13600"/>
                </a:lnTo>
                <a:lnTo>
                  <a:pt x="15400" y="12000"/>
                </a:lnTo>
                <a:close/>
                <a:moveTo>
                  <a:pt x="6829" y="13897"/>
                </a:moveTo>
                <a:lnTo>
                  <a:pt x="3829" y="18897"/>
                </a:lnTo>
                <a:lnTo>
                  <a:pt x="4171" y="19103"/>
                </a:lnTo>
                <a:lnTo>
                  <a:pt x="7171" y="14103"/>
                </a:lnTo>
                <a:close/>
                <a:moveTo>
                  <a:pt x="6829" y="14103"/>
                </a:moveTo>
                <a:lnTo>
                  <a:pt x="9829" y="19103"/>
                </a:lnTo>
                <a:lnTo>
                  <a:pt x="10171" y="18897"/>
                </a:lnTo>
                <a:lnTo>
                  <a:pt x="7171" y="13897"/>
                </a:lnTo>
                <a:close/>
                <a:moveTo>
                  <a:pt x="16829" y="13897"/>
                </a:moveTo>
                <a:lnTo>
                  <a:pt x="13829" y="18897"/>
                </a:lnTo>
                <a:lnTo>
                  <a:pt x="14171" y="19103"/>
                </a:lnTo>
                <a:lnTo>
                  <a:pt x="17171" y="14103"/>
                </a:lnTo>
                <a:close/>
                <a:moveTo>
                  <a:pt x="16829" y="14103"/>
                </a:moveTo>
                <a:lnTo>
                  <a:pt x="19829" y="19103"/>
                </a:lnTo>
                <a:lnTo>
                  <a:pt x="20171" y="18897"/>
                </a:lnTo>
                <a:lnTo>
                  <a:pt x="17171" y="13897"/>
                </a:lnTo>
                <a:close/>
                <a:moveTo>
                  <a:pt x="5200" y="19000"/>
                </a:moveTo>
                <a:cubicBezTo>
                  <a:pt x="5200" y="19663"/>
                  <a:pt x="4663" y="20200"/>
                  <a:pt x="4000" y="20200"/>
                </a:cubicBezTo>
                <a:cubicBezTo>
                  <a:pt x="3337" y="20200"/>
                  <a:pt x="2800" y="19663"/>
                  <a:pt x="2800" y="19000"/>
                </a:cubicBezTo>
                <a:cubicBezTo>
                  <a:pt x="2800" y="18337"/>
                  <a:pt x="3337" y="17800"/>
                  <a:pt x="4000" y="17800"/>
                </a:cubicBezTo>
                <a:cubicBezTo>
                  <a:pt x="4663" y="17800"/>
                  <a:pt x="5200" y="18337"/>
                  <a:pt x="5200" y="19000"/>
                </a:cubicBezTo>
                <a:close/>
                <a:moveTo>
                  <a:pt x="11200" y="19000"/>
                </a:moveTo>
                <a:cubicBezTo>
                  <a:pt x="11200" y="19663"/>
                  <a:pt x="10663" y="20200"/>
                  <a:pt x="10000" y="20200"/>
                </a:cubicBezTo>
                <a:cubicBezTo>
                  <a:pt x="9337" y="20200"/>
                  <a:pt x="8800" y="19663"/>
                  <a:pt x="8800" y="19000"/>
                </a:cubicBezTo>
                <a:cubicBezTo>
                  <a:pt x="8800" y="18337"/>
                  <a:pt x="9337" y="17800"/>
                  <a:pt x="10000" y="17800"/>
                </a:cubicBezTo>
                <a:cubicBezTo>
                  <a:pt x="10663" y="17800"/>
                  <a:pt x="11200" y="18337"/>
                  <a:pt x="11200" y="19000"/>
                </a:cubicBezTo>
                <a:close/>
                <a:moveTo>
                  <a:pt x="15200" y="19000"/>
                </a:moveTo>
                <a:cubicBezTo>
                  <a:pt x="15200" y="19663"/>
                  <a:pt x="14663" y="20200"/>
                  <a:pt x="14000" y="20200"/>
                </a:cubicBezTo>
                <a:cubicBezTo>
                  <a:pt x="13337" y="20200"/>
                  <a:pt x="12800" y="19663"/>
                  <a:pt x="12800" y="19000"/>
                </a:cubicBezTo>
                <a:cubicBezTo>
                  <a:pt x="12800" y="18337"/>
                  <a:pt x="13337" y="17800"/>
                  <a:pt x="14000" y="17800"/>
                </a:cubicBezTo>
                <a:cubicBezTo>
                  <a:pt x="14663" y="17800"/>
                  <a:pt x="15200" y="18337"/>
                  <a:pt x="15200" y="19000"/>
                </a:cubicBezTo>
                <a:close/>
                <a:moveTo>
                  <a:pt x="21200" y="19000"/>
                </a:moveTo>
                <a:cubicBezTo>
                  <a:pt x="21200" y="19663"/>
                  <a:pt x="20663" y="20200"/>
                  <a:pt x="20000" y="20200"/>
                </a:cubicBezTo>
                <a:cubicBezTo>
                  <a:pt x="19337" y="20200"/>
                  <a:pt x="18800" y="19663"/>
                  <a:pt x="18800" y="19000"/>
                </a:cubicBezTo>
                <a:cubicBezTo>
                  <a:pt x="18800" y="18337"/>
                  <a:pt x="19337" y="17800"/>
                  <a:pt x="20000" y="17800"/>
                </a:cubicBezTo>
                <a:cubicBezTo>
                  <a:pt x="20663" y="17800"/>
                  <a:pt x="21200" y="18337"/>
                  <a:pt x="212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决策树</a:t>
            </a:r>
          </a:p>
        </p:txBody>
      </p:sp>
      <p:sp>
        <p:nvSpPr>
          <p:cNvPr id="37" name="FLOW-012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3000"/>
                </a:moveTo>
                <a:lnTo>
                  <a:pt x="22000" y="3000"/>
                </a:lnTo>
                <a:lnTo>
                  <a:pt x="20000" y="7000"/>
                </a:lnTo>
                <a:lnTo>
                  <a:pt x="4000" y="7000"/>
                </a:lnTo>
                <a:close/>
                <a:moveTo>
                  <a:pt x="4000" y="7500"/>
                </a:moveTo>
                <a:lnTo>
                  <a:pt x="20000" y="7500"/>
                </a:lnTo>
                <a:lnTo>
                  <a:pt x="18000" y="11000"/>
                </a:lnTo>
                <a:lnTo>
                  <a:pt x="6000" y="11000"/>
                </a:lnTo>
                <a:close/>
                <a:moveTo>
                  <a:pt x="6000" y="11500"/>
                </a:moveTo>
                <a:lnTo>
                  <a:pt x="18000" y="11500"/>
                </a:lnTo>
                <a:lnTo>
                  <a:pt x="16000" y="14500"/>
                </a:lnTo>
                <a:lnTo>
                  <a:pt x="8000" y="14500"/>
                </a:lnTo>
                <a:close/>
                <a:moveTo>
                  <a:pt x="8000" y="15000"/>
                </a:moveTo>
                <a:lnTo>
                  <a:pt x="16000" y="15000"/>
                </a:lnTo>
                <a:lnTo>
                  <a:pt x="14500" y="17500"/>
                </a:lnTo>
                <a:lnTo>
                  <a:pt x="9500" y="17500"/>
                </a:lnTo>
                <a:close/>
                <a:moveTo>
                  <a:pt x="9500" y="18000"/>
                </a:moveTo>
                <a:lnTo>
                  <a:pt x="14500" y="18000"/>
                </a:lnTo>
                <a:lnTo>
                  <a:pt x="13500" y="20000"/>
                </a:lnTo>
                <a:lnTo>
                  <a:pt x="10500" y="20000"/>
                </a:lnTo>
                <a:close/>
                <a:moveTo>
                  <a:pt x="10500" y="20500"/>
                </a:moveTo>
                <a:lnTo>
                  <a:pt x="13500" y="20500"/>
                </a:lnTo>
                <a:lnTo>
                  <a:pt x="120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六阶漏斗</a:t>
            </a:r>
          </a:p>
        </p:txBody>
      </p:sp>
      <p:sp>
        <p:nvSpPr>
          <p:cNvPr id="40" name="FLOW-013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447" y="21224"/>
                </a:moveTo>
                <a:lnTo>
                  <a:pt x="4447" y="17224"/>
                </a:lnTo>
                <a:lnTo>
                  <a:pt x="3553" y="16776"/>
                </a:lnTo>
                <a:lnTo>
                  <a:pt x="1553" y="20776"/>
                </a:lnTo>
                <a:close/>
                <a:moveTo>
                  <a:pt x="3842" y="17474"/>
                </a:moveTo>
                <a:lnTo>
                  <a:pt x="6842" y="18474"/>
                </a:lnTo>
                <a:lnTo>
                  <a:pt x="7158" y="17526"/>
                </a:lnTo>
                <a:lnTo>
                  <a:pt x="4158" y="16526"/>
                </a:lnTo>
                <a:close/>
                <a:moveTo>
                  <a:pt x="7354" y="18354"/>
                </a:moveTo>
                <a:lnTo>
                  <a:pt x="9354" y="16354"/>
                </a:lnTo>
                <a:lnTo>
                  <a:pt x="8646" y="15646"/>
                </a:lnTo>
                <a:lnTo>
                  <a:pt x="6646" y="17646"/>
                </a:lnTo>
                <a:close/>
                <a:moveTo>
                  <a:pt x="9277" y="16416"/>
                </a:moveTo>
                <a:lnTo>
                  <a:pt x="12277" y="14416"/>
                </a:lnTo>
                <a:lnTo>
                  <a:pt x="11723" y="13584"/>
                </a:lnTo>
                <a:lnTo>
                  <a:pt x="8723" y="15584"/>
                </a:lnTo>
                <a:close/>
                <a:moveTo>
                  <a:pt x="11584" y="14277"/>
                </a:moveTo>
                <a:lnTo>
                  <a:pt x="13584" y="17277"/>
                </a:lnTo>
                <a:lnTo>
                  <a:pt x="14416" y="16723"/>
                </a:lnTo>
                <a:lnTo>
                  <a:pt x="12416" y="13723"/>
                </a:lnTo>
                <a:close/>
                <a:moveTo>
                  <a:pt x="13842" y="17474"/>
                </a:moveTo>
                <a:lnTo>
                  <a:pt x="16842" y="18474"/>
                </a:lnTo>
                <a:lnTo>
                  <a:pt x="17158" y="17526"/>
                </a:lnTo>
                <a:lnTo>
                  <a:pt x="14158" y="16526"/>
                </a:lnTo>
                <a:close/>
                <a:moveTo>
                  <a:pt x="17400" y="18300"/>
                </a:moveTo>
                <a:lnTo>
                  <a:pt x="20400" y="14300"/>
                </a:lnTo>
                <a:lnTo>
                  <a:pt x="19600" y="13700"/>
                </a:lnTo>
                <a:lnTo>
                  <a:pt x="16600" y="17700"/>
                </a:lnTo>
                <a:close/>
                <a:moveTo>
                  <a:pt x="20354" y="14354"/>
                </a:moveTo>
                <a:lnTo>
                  <a:pt x="22354" y="12354"/>
                </a:lnTo>
                <a:lnTo>
                  <a:pt x="21646" y="11646"/>
                </a:lnTo>
                <a:lnTo>
                  <a:pt x="19646" y="13646"/>
                </a:lnTo>
                <a:close/>
                <a:moveTo>
                  <a:pt x="3000" y="21000"/>
                </a:moveTo>
                <a:cubicBezTo>
                  <a:pt x="3000" y="21552"/>
                  <a:pt x="2552" y="22000"/>
                  <a:pt x="2000" y="22000"/>
                </a:cubicBezTo>
                <a:cubicBezTo>
                  <a:pt x="1448" y="22000"/>
                  <a:pt x="1000" y="21552"/>
                  <a:pt x="1000" y="21000"/>
                </a:cubicBezTo>
                <a:cubicBezTo>
                  <a:pt x="1000" y="20448"/>
                  <a:pt x="1448" y="20000"/>
                  <a:pt x="2000" y="20000"/>
                </a:cubicBezTo>
                <a:cubicBezTo>
                  <a:pt x="2552" y="20000"/>
                  <a:pt x="3000" y="20448"/>
                  <a:pt x="3000" y="21000"/>
                </a:cubicBezTo>
                <a:close/>
                <a:moveTo>
                  <a:pt x="8000" y="18000"/>
                </a:moveTo>
                <a:cubicBezTo>
                  <a:pt x="8000" y="18552"/>
                  <a:pt x="7552" y="19000"/>
                  <a:pt x="7000" y="19000"/>
                </a:cubicBezTo>
                <a:cubicBezTo>
                  <a:pt x="6448" y="19000"/>
                  <a:pt x="6000" y="18552"/>
                  <a:pt x="6000" y="18000"/>
                </a:cubicBezTo>
                <a:cubicBezTo>
                  <a:pt x="6000" y="17448"/>
                  <a:pt x="6448" y="17000"/>
                  <a:pt x="7000" y="17000"/>
                </a:cubicBezTo>
                <a:cubicBezTo>
                  <a:pt x="7552" y="17000"/>
                  <a:pt x="8000" y="17448"/>
                  <a:pt x="8000" y="18000"/>
                </a:cubicBezTo>
                <a:close/>
                <a:moveTo>
                  <a:pt x="13000" y="14000"/>
                </a:moveTo>
                <a:cubicBezTo>
                  <a:pt x="13000" y="14552"/>
                  <a:pt x="12552" y="15000"/>
                  <a:pt x="12000" y="15000"/>
                </a:cubicBezTo>
                <a:cubicBezTo>
                  <a:pt x="11448" y="15000"/>
                  <a:pt x="11000" y="14552"/>
                  <a:pt x="11000" y="14000"/>
                </a:cubicBezTo>
                <a:cubicBezTo>
                  <a:pt x="11000" y="13448"/>
                  <a:pt x="11448" y="13000"/>
                  <a:pt x="12000" y="13000"/>
                </a:cubicBezTo>
                <a:cubicBezTo>
                  <a:pt x="12552" y="13000"/>
                  <a:pt x="13000" y="13448"/>
                  <a:pt x="13000" y="14000"/>
                </a:cubicBezTo>
                <a:close/>
                <a:moveTo>
                  <a:pt x="18000" y="18000"/>
                </a:moveTo>
                <a:cubicBezTo>
                  <a:pt x="18000" y="18552"/>
                  <a:pt x="17552" y="19000"/>
                  <a:pt x="17000" y="19000"/>
                </a:cubicBezTo>
                <a:cubicBezTo>
                  <a:pt x="16448" y="19000"/>
                  <a:pt x="16000" y="18552"/>
                  <a:pt x="16000" y="18000"/>
                </a:cubicBezTo>
                <a:cubicBezTo>
                  <a:pt x="16000" y="17448"/>
                  <a:pt x="16448" y="17000"/>
                  <a:pt x="17000" y="17000"/>
                </a:cubicBezTo>
                <a:cubicBezTo>
                  <a:pt x="17552" y="17000"/>
                  <a:pt x="18000" y="17448"/>
                  <a:pt x="18000" y="18000"/>
                </a:cubicBezTo>
                <a:close/>
                <a:moveTo>
                  <a:pt x="23000" y="12000"/>
                </a:moveTo>
                <a:cubicBezTo>
                  <a:pt x="23000" y="12552"/>
                  <a:pt x="22552" y="13000"/>
                  <a:pt x="22000" y="13000"/>
                </a:cubicBezTo>
                <a:cubicBezTo>
                  <a:pt x="21448" y="13000"/>
                  <a:pt x="21000" y="12552"/>
                  <a:pt x="21000" y="12000"/>
                </a:cubicBezTo>
                <a:cubicBezTo>
                  <a:pt x="21000" y="11448"/>
                  <a:pt x="21448" y="11000"/>
                  <a:pt x="22000" y="11000"/>
                </a:cubicBezTo>
                <a:cubicBezTo>
                  <a:pt x="22552" y="11000"/>
                  <a:pt x="23000" y="11448"/>
                  <a:pt x="230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客户旅程</a:t>
            </a:r>
          </a:p>
        </p:txBody>
      </p:sp>
      <p:sp>
        <p:nvSpPr>
          <p:cNvPr id="43" name="FLOW-014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167" y="12000"/>
                </a:moveTo>
                <a:cubicBezTo>
                  <a:pt x="6167" y="12920"/>
                  <a:pt x="5420" y="13667"/>
                  <a:pt x="4500" y="13667"/>
                </a:cubicBezTo>
                <a:cubicBezTo>
                  <a:pt x="3580" y="13667"/>
                  <a:pt x="2833" y="12920"/>
                  <a:pt x="2833" y="12000"/>
                </a:cubicBezTo>
                <a:cubicBezTo>
                  <a:pt x="2833" y="11080"/>
                  <a:pt x="3580" y="10333"/>
                  <a:pt x="4500" y="10333"/>
                </a:cubicBezTo>
                <a:cubicBezTo>
                  <a:pt x="5420" y="10333"/>
                  <a:pt x="6167" y="11080"/>
                  <a:pt x="6167" y="12000"/>
                </a:cubicBezTo>
                <a:close/>
                <a:moveTo>
                  <a:pt x="6367" y="12250"/>
                </a:moveTo>
                <a:lnTo>
                  <a:pt x="6633" y="12250"/>
                </a:lnTo>
                <a:lnTo>
                  <a:pt x="6633" y="12700"/>
                </a:lnTo>
                <a:lnTo>
                  <a:pt x="7633" y="12000"/>
                </a:lnTo>
                <a:lnTo>
                  <a:pt x="6633" y="11300"/>
                </a:lnTo>
                <a:lnTo>
                  <a:pt x="6633" y="11750"/>
                </a:lnTo>
                <a:lnTo>
                  <a:pt x="6367" y="11750"/>
                </a:lnTo>
                <a:close/>
                <a:moveTo>
                  <a:pt x="11167" y="12000"/>
                </a:moveTo>
                <a:cubicBezTo>
                  <a:pt x="11167" y="12920"/>
                  <a:pt x="10420" y="13667"/>
                  <a:pt x="9500" y="13667"/>
                </a:cubicBezTo>
                <a:cubicBezTo>
                  <a:pt x="8580" y="13667"/>
                  <a:pt x="7833" y="12920"/>
                  <a:pt x="7833" y="12000"/>
                </a:cubicBezTo>
                <a:cubicBezTo>
                  <a:pt x="7833" y="11080"/>
                  <a:pt x="8580" y="10333"/>
                  <a:pt x="9500" y="10333"/>
                </a:cubicBezTo>
                <a:cubicBezTo>
                  <a:pt x="10420" y="10333"/>
                  <a:pt x="11167" y="11080"/>
                  <a:pt x="11167" y="12000"/>
                </a:cubicBezTo>
                <a:close/>
                <a:moveTo>
                  <a:pt x="11367" y="12250"/>
                </a:moveTo>
                <a:lnTo>
                  <a:pt x="11633" y="12250"/>
                </a:lnTo>
                <a:lnTo>
                  <a:pt x="11633" y="12700"/>
                </a:lnTo>
                <a:lnTo>
                  <a:pt x="12633" y="12000"/>
                </a:lnTo>
                <a:lnTo>
                  <a:pt x="11633" y="11300"/>
                </a:lnTo>
                <a:lnTo>
                  <a:pt x="11633" y="11750"/>
                </a:lnTo>
                <a:lnTo>
                  <a:pt x="11367" y="11750"/>
                </a:lnTo>
                <a:close/>
                <a:moveTo>
                  <a:pt x="16167" y="12000"/>
                </a:moveTo>
                <a:cubicBezTo>
                  <a:pt x="16167" y="12920"/>
                  <a:pt x="15420" y="13667"/>
                  <a:pt x="14500" y="13667"/>
                </a:cubicBezTo>
                <a:cubicBezTo>
                  <a:pt x="13580" y="13667"/>
                  <a:pt x="12833" y="12920"/>
                  <a:pt x="12833" y="12000"/>
                </a:cubicBezTo>
                <a:cubicBezTo>
                  <a:pt x="12833" y="11080"/>
                  <a:pt x="13580" y="10333"/>
                  <a:pt x="14500" y="10333"/>
                </a:cubicBezTo>
                <a:cubicBezTo>
                  <a:pt x="15420" y="10333"/>
                  <a:pt x="16167" y="11080"/>
                  <a:pt x="16167" y="12000"/>
                </a:cubicBezTo>
                <a:close/>
                <a:moveTo>
                  <a:pt x="16367" y="12250"/>
                </a:moveTo>
                <a:lnTo>
                  <a:pt x="16633" y="12250"/>
                </a:lnTo>
                <a:lnTo>
                  <a:pt x="16633" y="12700"/>
                </a:lnTo>
                <a:lnTo>
                  <a:pt x="17633" y="12000"/>
                </a:lnTo>
                <a:lnTo>
                  <a:pt x="16633" y="11300"/>
                </a:lnTo>
                <a:lnTo>
                  <a:pt x="16633" y="11750"/>
                </a:lnTo>
                <a:lnTo>
                  <a:pt x="16367" y="11750"/>
                </a:lnTo>
                <a:close/>
                <a:moveTo>
                  <a:pt x="21167" y="12000"/>
                </a:moveTo>
                <a:cubicBezTo>
                  <a:pt x="21167" y="12920"/>
                  <a:pt x="20420" y="13667"/>
                  <a:pt x="19500" y="13667"/>
                </a:cubicBezTo>
                <a:cubicBezTo>
                  <a:pt x="18580" y="13667"/>
                  <a:pt x="17833" y="12920"/>
                  <a:pt x="17833" y="12000"/>
                </a:cubicBezTo>
                <a:cubicBezTo>
                  <a:pt x="17833" y="11080"/>
                  <a:pt x="18580" y="10333"/>
                  <a:pt x="19500" y="10333"/>
                </a:cubicBezTo>
                <a:cubicBezTo>
                  <a:pt x="20420" y="10333"/>
                  <a:pt x="21167" y="11080"/>
                  <a:pt x="21167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AIDA模型</a:t>
            </a:r>
          </a:p>
        </p:txBody>
      </p:sp>
      <p:sp>
        <p:nvSpPr>
          <p:cNvPr id="46" name="FLOW-015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10667"/>
                </a:moveTo>
                <a:lnTo>
                  <a:pt x="5333" y="12000"/>
                </a:lnTo>
                <a:lnTo>
                  <a:pt x="4000" y="13333"/>
                </a:lnTo>
                <a:lnTo>
                  <a:pt x="2667" y="12000"/>
                </a:lnTo>
                <a:close/>
                <a:moveTo>
                  <a:pt x="5533" y="12250"/>
                </a:moveTo>
                <a:lnTo>
                  <a:pt x="5467" y="12250"/>
                </a:lnTo>
                <a:lnTo>
                  <a:pt x="5467" y="12700"/>
                </a:lnTo>
                <a:lnTo>
                  <a:pt x="6467" y="12000"/>
                </a:lnTo>
                <a:lnTo>
                  <a:pt x="5467" y="11300"/>
                </a:lnTo>
                <a:lnTo>
                  <a:pt x="5467" y="11750"/>
                </a:lnTo>
                <a:lnTo>
                  <a:pt x="5533" y="11750"/>
                </a:lnTo>
                <a:close/>
                <a:moveTo>
                  <a:pt x="8000" y="10667"/>
                </a:moveTo>
                <a:lnTo>
                  <a:pt x="9333" y="12000"/>
                </a:lnTo>
                <a:lnTo>
                  <a:pt x="8000" y="13333"/>
                </a:lnTo>
                <a:lnTo>
                  <a:pt x="6667" y="12000"/>
                </a:lnTo>
                <a:close/>
                <a:moveTo>
                  <a:pt x="9533" y="12250"/>
                </a:moveTo>
                <a:lnTo>
                  <a:pt x="9467" y="12250"/>
                </a:lnTo>
                <a:lnTo>
                  <a:pt x="9467" y="12700"/>
                </a:lnTo>
                <a:lnTo>
                  <a:pt x="10467" y="12000"/>
                </a:lnTo>
                <a:lnTo>
                  <a:pt x="9467" y="11300"/>
                </a:lnTo>
                <a:lnTo>
                  <a:pt x="9467" y="11750"/>
                </a:lnTo>
                <a:lnTo>
                  <a:pt x="9533" y="11750"/>
                </a:lnTo>
                <a:close/>
                <a:moveTo>
                  <a:pt x="12000" y="10667"/>
                </a:moveTo>
                <a:lnTo>
                  <a:pt x="13333" y="12000"/>
                </a:lnTo>
                <a:lnTo>
                  <a:pt x="12000" y="13333"/>
                </a:lnTo>
                <a:lnTo>
                  <a:pt x="10667" y="12000"/>
                </a:lnTo>
                <a:close/>
                <a:moveTo>
                  <a:pt x="13533" y="12250"/>
                </a:moveTo>
                <a:lnTo>
                  <a:pt x="13467" y="12250"/>
                </a:lnTo>
                <a:lnTo>
                  <a:pt x="13467" y="12700"/>
                </a:lnTo>
                <a:lnTo>
                  <a:pt x="14467" y="12000"/>
                </a:lnTo>
                <a:lnTo>
                  <a:pt x="13467" y="11300"/>
                </a:lnTo>
                <a:lnTo>
                  <a:pt x="13467" y="11750"/>
                </a:lnTo>
                <a:lnTo>
                  <a:pt x="13533" y="11750"/>
                </a:lnTo>
                <a:close/>
                <a:moveTo>
                  <a:pt x="16000" y="10667"/>
                </a:moveTo>
                <a:lnTo>
                  <a:pt x="17333" y="12000"/>
                </a:lnTo>
                <a:lnTo>
                  <a:pt x="16000" y="13333"/>
                </a:lnTo>
                <a:lnTo>
                  <a:pt x="14667" y="12000"/>
                </a:lnTo>
                <a:close/>
                <a:moveTo>
                  <a:pt x="17533" y="12250"/>
                </a:moveTo>
                <a:lnTo>
                  <a:pt x="17467" y="12250"/>
                </a:lnTo>
                <a:lnTo>
                  <a:pt x="17467" y="12700"/>
                </a:lnTo>
                <a:lnTo>
                  <a:pt x="18467" y="12000"/>
                </a:lnTo>
                <a:lnTo>
                  <a:pt x="17467" y="11300"/>
                </a:lnTo>
                <a:lnTo>
                  <a:pt x="17467" y="11750"/>
                </a:lnTo>
                <a:lnTo>
                  <a:pt x="17533" y="11750"/>
                </a:lnTo>
                <a:close/>
                <a:moveTo>
                  <a:pt x="20000" y="10667"/>
                </a:moveTo>
                <a:lnTo>
                  <a:pt x="21333" y="12000"/>
                </a:lnTo>
                <a:lnTo>
                  <a:pt x="20000" y="13333"/>
                </a:lnTo>
                <a:lnTo>
                  <a:pt x="18667" y="1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AARRR指标</a:t>
            </a:r>
          </a:p>
        </p:txBody>
      </p:sp>
      <p:sp>
        <p:nvSpPr>
          <p:cNvPr id="49" name="FLOW-016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967" y="10667"/>
                </a:moveTo>
                <a:lnTo>
                  <a:pt x="5033" y="10667"/>
                </a:lnTo>
                <a:cubicBezTo>
                  <a:pt x="5199" y="10667"/>
                  <a:pt x="5333" y="10801"/>
                  <a:pt x="5333" y="10967"/>
                </a:cubicBezTo>
                <a:lnTo>
                  <a:pt x="5333" y="13033"/>
                </a:lnTo>
                <a:cubicBezTo>
                  <a:pt x="5333" y="13199"/>
                  <a:pt x="5199" y="13333"/>
                  <a:pt x="5033" y="13333"/>
                </a:cubicBezTo>
                <a:lnTo>
                  <a:pt x="2967" y="13333"/>
                </a:lnTo>
                <a:cubicBezTo>
                  <a:pt x="2801" y="13333"/>
                  <a:pt x="2667" y="13199"/>
                  <a:pt x="2667" y="13033"/>
                </a:cubicBezTo>
                <a:lnTo>
                  <a:pt x="2667" y="10967"/>
                </a:lnTo>
                <a:cubicBezTo>
                  <a:pt x="2667" y="10801"/>
                  <a:pt x="2801" y="10667"/>
                  <a:pt x="2967" y="10667"/>
                </a:cubicBezTo>
                <a:close/>
                <a:moveTo>
                  <a:pt x="5533" y="12250"/>
                </a:moveTo>
                <a:lnTo>
                  <a:pt x="5467" y="12250"/>
                </a:lnTo>
                <a:lnTo>
                  <a:pt x="5467" y="12700"/>
                </a:lnTo>
                <a:lnTo>
                  <a:pt x="6467" y="12000"/>
                </a:lnTo>
                <a:lnTo>
                  <a:pt x="5467" y="11300"/>
                </a:lnTo>
                <a:lnTo>
                  <a:pt x="5467" y="11750"/>
                </a:lnTo>
                <a:lnTo>
                  <a:pt x="5533" y="11750"/>
                </a:lnTo>
                <a:close/>
                <a:moveTo>
                  <a:pt x="6967" y="10667"/>
                </a:moveTo>
                <a:lnTo>
                  <a:pt x="9033" y="10667"/>
                </a:lnTo>
                <a:cubicBezTo>
                  <a:pt x="9199" y="10667"/>
                  <a:pt x="9333" y="10801"/>
                  <a:pt x="9333" y="10967"/>
                </a:cubicBezTo>
                <a:lnTo>
                  <a:pt x="9333" y="13033"/>
                </a:lnTo>
                <a:cubicBezTo>
                  <a:pt x="9333" y="13199"/>
                  <a:pt x="9199" y="13333"/>
                  <a:pt x="9033" y="13333"/>
                </a:cubicBezTo>
                <a:lnTo>
                  <a:pt x="6967" y="13333"/>
                </a:lnTo>
                <a:cubicBezTo>
                  <a:pt x="6801" y="13333"/>
                  <a:pt x="6667" y="13199"/>
                  <a:pt x="6667" y="13033"/>
                </a:cubicBezTo>
                <a:lnTo>
                  <a:pt x="6667" y="10967"/>
                </a:lnTo>
                <a:cubicBezTo>
                  <a:pt x="6667" y="10801"/>
                  <a:pt x="6801" y="10667"/>
                  <a:pt x="6967" y="10667"/>
                </a:cubicBezTo>
                <a:close/>
                <a:moveTo>
                  <a:pt x="9533" y="12250"/>
                </a:moveTo>
                <a:lnTo>
                  <a:pt x="9467" y="12250"/>
                </a:lnTo>
                <a:lnTo>
                  <a:pt x="9467" y="12700"/>
                </a:lnTo>
                <a:lnTo>
                  <a:pt x="10467" y="12000"/>
                </a:lnTo>
                <a:lnTo>
                  <a:pt x="9467" y="11300"/>
                </a:lnTo>
                <a:lnTo>
                  <a:pt x="9467" y="11750"/>
                </a:lnTo>
                <a:lnTo>
                  <a:pt x="9533" y="11750"/>
                </a:lnTo>
                <a:close/>
                <a:moveTo>
                  <a:pt x="10967" y="10667"/>
                </a:moveTo>
                <a:lnTo>
                  <a:pt x="13033" y="10667"/>
                </a:lnTo>
                <a:cubicBezTo>
                  <a:pt x="13199" y="10667"/>
                  <a:pt x="13333" y="10801"/>
                  <a:pt x="13333" y="10967"/>
                </a:cubicBezTo>
                <a:lnTo>
                  <a:pt x="13333" y="13033"/>
                </a:lnTo>
                <a:cubicBezTo>
                  <a:pt x="13333" y="13199"/>
                  <a:pt x="13199" y="13333"/>
                  <a:pt x="13033" y="13333"/>
                </a:cubicBezTo>
                <a:lnTo>
                  <a:pt x="10967" y="13333"/>
                </a:lnTo>
                <a:cubicBezTo>
                  <a:pt x="10801" y="13333"/>
                  <a:pt x="10667" y="13199"/>
                  <a:pt x="10667" y="13033"/>
                </a:cubicBezTo>
                <a:lnTo>
                  <a:pt x="10667" y="10967"/>
                </a:lnTo>
                <a:cubicBezTo>
                  <a:pt x="10667" y="10801"/>
                  <a:pt x="10801" y="10667"/>
                  <a:pt x="10967" y="10667"/>
                </a:cubicBezTo>
                <a:close/>
                <a:moveTo>
                  <a:pt x="13533" y="12250"/>
                </a:moveTo>
                <a:lnTo>
                  <a:pt x="13467" y="12250"/>
                </a:lnTo>
                <a:lnTo>
                  <a:pt x="13467" y="12700"/>
                </a:lnTo>
                <a:lnTo>
                  <a:pt x="14467" y="12000"/>
                </a:lnTo>
                <a:lnTo>
                  <a:pt x="13467" y="11300"/>
                </a:lnTo>
                <a:lnTo>
                  <a:pt x="13467" y="11750"/>
                </a:lnTo>
                <a:lnTo>
                  <a:pt x="13533" y="11750"/>
                </a:lnTo>
                <a:close/>
                <a:moveTo>
                  <a:pt x="14967" y="10667"/>
                </a:moveTo>
                <a:lnTo>
                  <a:pt x="17033" y="10667"/>
                </a:lnTo>
                <a:cubicBezTo>
                  <a:pt x="17199" y="10667"/>
                  <a:pt x="17333" y="10801"/>
                  <a:pt x="17333" y="10967"/>
                </a:cubicBezTo>
                <a:lnTo>
                  <a:pt x="17333" y="13033"/>
                </a:lnTo>
                <a:cubicBezTo>
                  <a:pt x="17333" y="13199"/>
                  <a:pt x="17199" y="13333"/>
                  <a:pt x="17033" y="13333"/>
                </a:cubicBezTo>
                <a:lnTo>
                  <a:pt x="14967" y="13333"/>
                </a:lnTo>
                <a:cubicBezTo>
                  <a:pt x="14801" y="13333"/>
                  <a:pt x="14667" y="13199"/>
                  <a:pt x="14667" y="13033"/>
                </a:cubicBezTo>
                <a:lnTo>
                  <a:pt x="14667" y="10967"/>
                </a:lnTo>
                <a:cubicBezTo>
                  <a:pt x="14667" y="10801"/>
                  <a:pt x="14801" y="10667"/>
                  <a:pt x="14967" y="10667"/>
                </a:cubicBezTo>
                <a:close/>
                <a:moveTo>
                  <a:pt x="17533" y="12250"/>
                </a:moveTo>
                <a:lnTo>
                  <a:pt x="17467" y="12250"/>
                </a:lnTo>
                <a:lnTo>
                  <a:pt x="17467" y="12700"/>
                </a:lnTo>
                <a:lnTo>
                  <a:pt x="18467" y="12000"/>
                </a:lnTo>
                <a:lnTo>
                  <a:pt x="17467" y="11300"/>
                </a:lnTo>
                <a:lnTo>
                  <a:pt x="17467" y="11750"/>
                </a:lnTo>
                <a:lnTo>
                  <a:pt x="17533" y="11750"/>
                </a:lnTo>
                <a:close/>
                <a:moveTo>
                  <a:pt x="18967" y="10667"/>
                </a:moveTo>
                <a:lnTo>
                  <a:pt x="21033" y="10667"/>
                </a:lnTo>
                <a:cubicBezTo>
                  <a:pt x="21199" y="10667"/>
                  <a:pt x="21333" y="10801"/>
                  <a:pt x="21333" y="10967"/>
                </a:cubicBezTo>
                <a:lnTo>
                  <a:pt x="21333" y="13033"/>
                </a:lnTo>
                <a:cubicBezTo>
                  <a:pt x="21333" y="13199"/>
                  <a:pt x="21199" y="13333"/>
                  <a:pt x="21033" y="13333"/>
                </a:cubicBezTo>
                <a:lnTo>
                  <a:pt x="18967" y="13333"/>
                </a:lnTo>
                <a:cubicBezTo>
                  <a:pt x="18801" y="13333"/>
                  <a:pt x="18667" y="13199"/>
                  <a:pt x="18667" y="13033"/>
                </a:cubicBezTo>
                <a:lnTo>
                  <a:pt x="18667" y="10967"/>
                </a:lnTo>
                <a:cubicBezTo>
                  <a:pt x="18667" y="10801"/>
                  <a:pt x="18801" y="10667"/>
                  <a:pt x="18967" y="10667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DMAIC流程</a:t>
            </a:r>
          </a:p>
        </p:txBody>
      </p:sp>
      <p:sp>
        <p:nvSpPr>
          <p:cNvPr id="52" name="FLOW-017"/>
          <p:cNvSpPr/>
          <p:nvPr/>
        </p:nvSpPr>
        <p:spPr>
          <a:xfrm>
            <a:off x="722376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65" y="21523"/>
                </a:moveTo>
                <a:lnTo>
                  <a:pt x="19223" y="7516"/>
                </a:lnTo>
                <a:lnTo>
                  <a:pt x="20086" y="8488"/>
                </a:lnTo>
                <a:lnTo>
                  <a:pt x="21000" y="5000"/>
                </a:lnTo>
                <a:lnTo>
                  <a:pt x="17429" y="5498"/>
                </a:lnTo>
                <a:lnTo>
                  <a:pt x="18293" y="6470"/>
                </a:lnTo>
                <a:lnTo>
                  <a:pt x="2535" y="20477"/>
                </a:lnTo>
                <a:close/>
                <a:moveTo>
                  <a:pt x="8800" y="17000"/>
                </a:moveTo>
                <a:cubicBezTo>
                  <a:pt x="8800" y="17442"/>
                  <a:pt x="8442" y="17800"/>
                  <a:pt x="8000" y="17800"/>
                </a:cubicBezTo>
                <a:cubicBezTo>
                  <a:pt x="7558" y="17800"/>
                  <a:pt x="7200" y="17442"/>
                  <a:pt x="7200" y="17000"/>
                </a:cubicBezTo>
                <a:cubicBezTo>
                  <a:pt x="7200" y="16558"/>
                  <a:pt x="7558" y="16200"/>
                  <a:pt x="8000" y="16200"/>
                </a:cubicBezTo>
                <a:cubicBezTo>
                  <a:pt x="8442" y="16200"/>
                  <a:pt x="8800" y="16558"/>
                  <a:pt x="8800" y="17000"/>
                </a:cubicBezTo>
                <a:close/>
                <a:moveTo>
                  <a:pt x="13800" y="12000"/>
                </a:moveTo>
                <a:cubicBezTo>
                  <a:pt x="13800" y="12442"/>
                  <a:pt x="13442" y="12800"/>
                  <a:pt x="13000" y="12800"/>
                </a:cubicBezTo>
                <a:cubicBezTo>
                  <a:pt x="12558" y="12800"/>
                  <a:pt x="12200" y="12442"/>
                  <a:pt x="12200" y="12000"/>
                </a:cubicBezTo>
                <a:cubicBezTo>
                  <a:pt x="12200" y="11558"/>
                  <a:pt x="12558" y="11200"/>
                  <a:pt x="13000" y="11200"/>
                </a:cubicBezTo>
                <a:cubicBezTo>
                  <a:pt x="13442" y="11200"/>
                  <a:pt x="13800" y="11558"/>
                  <a:pt x="13800" y="12000"/>
                </a:cubicBezTo>
                <a:close/>
                <a:moveTo>
                  <a:pt x="18800" y="7000"/>
                </a:moveTo>
                <a:cubicBezTo>
                  <a:pt x="18800" y="7442"/>
                  <a:pt x="18442" y="7800"/>
                  <a:pt x="18000" y="7800"/>
                </a:cubicBezTo>
                <a:cubicBezTo>
                  <a:pt x="17558" y="7800"/>
                  <a:pt x="17200" y="7442"/>
                  <a:pt x="17200" y="7000"/>
                </a:cubicBezTo>
                <a:cubicBezTo>
                  <a:pt x="17200" y="6558"/>
                  <a:pt x="17558" y="6200"/>
                  <a:pt x="18000" y="6200"/>
                </a:cubicBezTo>
                <a:cubicBezTo>
                  <a:pt x="18442" y="6200"/>
                  <a:pt x="18800" y="6558"/>
                  <a:pt x="188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04088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持续改进</a:t>
            </a:r>
          </a:p>
        </p:txBody>
      </p:sp>
      <p:sp>
        <p:nvSpPr>
          <p:cNvPr id="55" name="FLOW-018"/>
          <p:cNvSpPr/>
          <p:nvPr/>
        </p:nvSpPr>
        <p:spPr>
          <a:xfrm>
            <a:off x="88696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81" y="4328"/>
                </a:moveTo>
                <a:lnTo>
                  <a:pt x="11381" y="21328"/>
                </a:lnTo>
                <a:lnTo>
                  <a:pt x="12619" y="20672"/>
                </a:lnTo>
                <a:lnTo>
                  <a:pt x="3619" y="3672"/>
                </a:lnTo>
                <a:close/>
                <a:moveTo>
                  <a:pt x="12619" y="21328"/>
                </a:moveTo>
                <a:lnTo>
                  <a:pt x="21619" y="4328"/>
                </a:lnTo>
                <a:lnTo>
                  <a:pt x="20381" y="3672"/>
                </a:lnTo>
                <a:lnTo>
                  <a:pt x="11381" y="20672"/>
                </a:lnTo>
                <a:close/>
                <a:moveTo>
                  <a:pt x="4400" y="4000"/>
                </a:moveTo>
                <a:cubicBezTo>
                  <a:pt x="4400" y="4773"/>
                  <a:pt x="3773" y="5400"/>
                  <a:pt x="3000" y="5400"/>
                </a:cubicBezTo>
                <a:cubicBezTo>
                  <a:pt x="2227" y="5400"/>
                  <a:pt x="1600" y="4773"/>
                  <a:pt x="1600" y="4000"/>
                </a:cubicBezTo>
                <a:cubicBezTo>
                  <a:pt x="1600" y="3227"/>
                  <a:pt x="2227" y="2600"/>
                  <a:pt x="3000" y="2600"/>
                </a:cubicBezTo>
                <a:cubicBezTo>
                  <a:pt x="3773" y="2600"/>
                  <a:pt x="4400" y="3227"/>
                  <a:pt x="4400" y="4000"/>
                </a:cubicBezTo>
                <a:close/>
                <a:moveTo>
                  <a:pt x="8200" y="11000"/>
                </a:moveTo>
                <a:cubicBezTo>
                  <a:pt x="8200" y="11663"/>
                  <a:pt x="7663" y="12200"/>
                  <a:pt x="7000" y="12200"/>
                </a:cubicBezTo>
                <a:cubicBezTo>
                  <a:pt x="6337" y="12200"/>
                  <a:pt x="5800" y="11663"/>
                  <a:pt x="5800" y="11000"/>
                </a:cubicBezTo>
                <a:cubicBezTo>
                  <a:pt x="5800" y="10337"/>
                  <a:pt x="6337" y="9800"/>
                  <a:pt x="7000" y="9800"/>
                </a:cubicBezTo>
                <a:cubicBezTo>
                  <a:pt x="7663" y="9800"/>
                  <a:pt x="8200" y="10337"/>
                  <a:pt x="8200" y="11000"/>
                </a:cubicBezTo>
                <a:close/>
                <a:moveTo>
                  <a:pt x="12200" y="18000"/>
                </a:moveTo>
                <a:cubicBezTo>
                  <a:pt x="12200" y="18663"/>
                  <a:pt x="11663" y="19200"/>
                  <a:pt x="11000" y="19200"/>
                </a:cubicBezTo>
                <a:cubicBezTo>
                  <a:pt x="10337" y="19200"/>
                  <a:pt x="9800" y="18663"/>
                  <a:pt x="9800" y="18000"/>
                </a:cubicBezTo>
                <a:cubicBezTo>
                  <a:pt x="9800" y="17337"/>
                  <a:pt x="10337" y="16800"/>
                  <a:pt x="11000" y="16800"/>
                </a:cubicBezTo>
                <a:cubicBezTo>
                  <a:pt x="11663" y="16800"/>
                  <a:pt x="12200" y="17337"/>
                  <a:pt x="12200" y="18000"/>
                </a:cubicBezTo>
                <a:close/>
                <a:moveTo>
                  <a:pt x="14200" y="18000"/>
                </a:moveTo>
                <a:cubicBezTo>
                  <a:pt x="14200" y="18663"/>
                  <a:pt x="13663" y="19200"/>
                  <a:pt x="13000" y="19200"/>
                </a:cubicBezTo>
                <a:cubicBezTo>
                  <a:pt x="12337" y="19200"/>
                  <a:pt x="11800" y="18663"/>
                  <a:pt x="11800" y="18000"/>
                </a:cubicBezTo>
                <a:cubicBezTo>
                  <a:pt x="11800" y="17337"/>
                  <a:pt x="12337" y="16800"/>
                  <a:pt x="13000" y="16800"/>
                </a:cubicBezTo>
                <a:cubicBezTo>
                  <a:pt x="13663" y="16800"/>
                  <a:pt x="14200" y="17337"/>
                  <a:pt x="14200" y="18000"/>
                </a:cubicBezTo>
                <a:close/>
                <a:moveTo>
                  <a:pt x="18200" y="11000"/>
                </a:moveTo>
                <a:cubicBezTo>
                  <a:pt x="18200" y="11663"/>
                  <a:pt x="17663" y="12200"/>
                  <a:pt x="17000" y="12200"/>
                </a:cubicBezTo>
                <a:cubicBezTo>
                  <a:pt x="16337" y="12200"/>
                  <a:pt x="15800" y="11663"/>
                  <a:pt x="15800" y="11000"/>
                </a:cubicBezTo>
                <a:cubicBezTo>
                  <a:pt x="15800" y="10337"/>
                  <a:pt x="16337" y="9800"/>
                  <a:pt x="17000" y="9800"/>
                </a:cubicBezTo>
                <a:cubicBezTo>
                  <a:pt x="17663" y="9800"/>
                  <a:pt x="18200" y="10337"/>
                  <a:pt x="18200" y="11000"/>
                </a:cubicBezTo>
                <a:close/>
                <a:moveTo>
                  <a:pt x="22400" y="4000"/>
                </a:moveTo>
                <a:cubicBezTo>
                  <a:pt x="22400" y="4773"/>
                  <a:pt x="21773" y="5400"/>
                  <a:pt x="21000" y="5400"/>
                </a:cubicBezTo>
                <a:cubicBezTo>
                  <a:pt x="20227" y="5400"/>
                  <a:pt x="19600" y="4773"/>
                  <a:pt x="19600" y="4000"/>
                </a:cubicBezTo>
                <a:cubicBezTo>
                  <a:pt x="19600" y="3227"/>
                  <a:pt x="20227" y="2600"/>
                  <a:pt x="21000" y="2600"/>
                </a:cubicBezTo>
                <a:cubicBezTo>
                  <a:pt x="21773" y="2600"/>
                  <a:pt x="22400" y="3227"/>
                  <a:pt x="22400" y="4000"/>
                </a:cubicBezTo>
                <a:close/>
                <a:moveTo>
                  <a:pt x="3000" y="4150"/>
                </a:moveTo>
                <a:lnTo>
                  <a:pt x="21000" y="4150"/>
                </a:lnTo>
                <a:lnTo>
                  <a:pt x="21000" y="3850"/>
                </a:lnTo>
                <a:lnTo>
                  <a:pt x="3000" y="3850"/>
                </a:lnTo>
                <a:close/>
                <a:moveTo>
                  <a:pt x="7000" y="11150"/>
                </a:moveTo>
                <a:lnTo>
                  <a:pt x="17000" y="11150"/>
                </a:lnTo>
                <a:lnTo>
                  <a:pt x="17000" y="10850"/>
                </a:lnTo>
                <a:lnTo>
                  <a:pt x="7000" y="108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V模型</a:t>
            </a:r>
          </a:p>
        </p:txBody>
      </p:sp>
      <p:sp>
        <p:nvSpPr>
          <p:cNvPr id="58" name="FLOW-019"/>
          <p:cNvSpPr/>
          <p:nvPr/>
        </p:nvSpPr>
        <p:spPr>
          <a:xfrm>
            <a:off x="6400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构建-测量-学习</a:t>
            </a:r>
          </a:p>
        </p:txBody>
      </p:sp>
      <p:sp>
        <p:nvSpPr>
          <p:cNvPr id="61" name="FLOW-020"/>
          <p:cNvSpPr/>
          <p:nvPr/>
        </p:nvSpPr>
        <p:spPr>
          <a:xfrm>
            <a:off x="228600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5000"/>
                </a:moveTo>
                <a:lnTo>
                  <a:pt x="19700" y="5000"/>
                </a:lnTo>
                <a:cubicBezTo>
                  <a:pt x="19866" y="5000"/>
                  <a:pt x="20000" y="5134"/>
                  <a:pt x="20000" y="5300"/>
                </a:cubicBezTo>
                <a:lnTo>
                  <a:pt x="20000" y="7100"/>
                </a:lnTo>
                <a:cubicBezTo>
                  <a:pt x="20000" y="7266"/>
                  <a:pt x="19866" y="7400"/>
                  <a:pt x="19700" y="7400"/>
                </a:cubicBezTo>
                <a:lnTo>
                  <a:pt x="2300" y="7400"/>
                </a:lnTo>
                <a:cubicBezTo>
                  <a:pt x="2134" y="7400"/>
                  <a:pt x="2000" y="7266"/>
                  <a:pt x="2000" y="7100"/>
                </a:cubicBezTo>
                <a:lnTo>
                  <a:pt x="2000" y="5300"/>
                </a:lnTo>
                <a:cubicBezTo>
                  <a:pt x="2000" y="5134"/>
                  <a:pt x="2134" y="5000"/>
                  <a:pt x="2300" y="5000"/>
                </a:cubicBezTo>
                <a:close/>
                <a:moveTo>
                  <a:pt x="2300" y="9000"/>
                </a:moveTo>
                <a:lnTo>
                  <a:pt x="15700" y="9000"/>
                </a:lnTo>
                <a:cubicBezTo>
                  <a:pt x="15866" y="9000"/>
                  <a:pt x="16000" y="9134"/>
                  <a:pt x="16000" y="9300"/>
                </a:cubicBezTo>
                <a:lnTo>
                  <a:pt x="16000" y="11100"/>
                </a:lnTo>
                <a:cubicBezTo>
                  <a:pt x="16000" y="11266"/>
                  <a:pt x="15866" y="11400"/>
                  <a:pt x="15700" y="11400"/>
                </a:cubicBezTo>
                <a:lnTo>
                  <a:pt x="2300" y="11400"/>
                </a:lnTo>
                <a:cubicBezTo>
                  <a:pt x="2134" y="11400"/>
                  <a:pt x="2000" y="11266"/>
                  <a:pt x="2000" y="11100"/>
                </a:cubicBezTo>
                <a:lnTo>
                  <a:pt x="2000" y="9300"/>
                </a:lnTo>
                <a:cubicBezTo>
                  <a:pt x="2000" y="9134"/>
                  <a:pt x="2134" y="9000"/>
                  <a:pt x="2300" y="9000"/>
                </a:cubicBezTo>
                <a:close/>
                <a:moveTo>
                  <a:pt x="2300" y="13000"/>
                </a:moveTo>
                <a:lnTo>
                  <a:pt x="11700" y="13000"/>
                </a:lnTo>
                <a:cubicBezTo>
                  <a:pt x="11866" y="13000"/>
                  <a:pt x="12000" y="13134"/>
                  <a:pt x="12000" y="13300"/>
                </a:cubicBezTo>
                <a:lnTo>
                  <a:pt x="12000" y="15100"/>
                </a:lnTo>
                <a:cubicBezTo>
                  <a:pt x="12000" y="15266"/>
                  <a:pt x="11866" y="15400"/>
                  <a:pt x="11700" y="15400"/>
                </a:cubicBezTo>
                <a:lnTo>
                  <a:pt x="2300" y="15400"/>
                </a:lnTo>
                <a:cubicBezTo>
                  <a:pt x="2134" y="15400"/>
                  <a:pt x="2000" y="15266"/>
                  <a:pt x="2000" y="15100"/>
                </a:cubicBezTo>
                <a:lnTo>
                  <a:pt x="2000" y="13300"/>
                </a:lnTo>
                <a:cubicBezTo>
                  <a:pt x="2000" y="13134"/>
                  <a:pt x="2134" y="13000"/>
                  <a:pt x="2300" y="13000"/>
                </a:cubicBezTo>
                <a:close/>
                <a:moveTo>
                  <a:pt x="2300" y="17000"/>
                </a:moveTo>
                <a:lnTo>
                  <a:pt x="7700" y="17000"/>
                </a:lnTo>
                <a:cubicBezTo>
                  <a:pt x="7866" y="17000"/>
                  <a:pt x="8000" y="17134"/>
                  <a:pt x="8000" y="17300"/>
                </a:cubicBezTo>
                <a:lnTo>
                  <a:pt x="8000" y="19100"/>
                </a:lnTo>
                <a:cubicBezTo>
                  <a:pt x="8000" y="19266"/>
                  <a:pt x="7866" y="19400"/>
                  <a:pt x="7700" y="19400"/>
                </a:cubicBezTo>
                <a:lnTo>
                  <a:pt x="2300" y="19400"/>
                </a:lnTo>
                <a:cubicBezTo>
                  <a:pt x="2134" y="19400"/>
                  <a:pt x="2000" y="19266"/>
                  <a:pt x="2000" y="19100"/>
                </a:cubicBezTo>
                <a:lnTo>
                  <a:pt x="2000" y="17300"/>
                </a:lnTo>
                <a:cubicBezTo>
                  <a:pt x="2000" y="17134"/>
                  <a:pt x="2134" y="17000"/>
                  <a:pt x="2300" y="17000"/>
                </a:cubicBezTo>
                <a:close/>
                <a:moveTo>
                  <a:pt x="20800" y="6200"/>
                </a:moveTo>
                <a:cubicBezTo>
                  <a:pt x="20800" y="6642"/>
                  <a:pt x="20442" y="7000"/>
                  <a:pt x="20000" y="7000"/>
                </a:cubicBezTo>
                <a:cubicBezTo>
                  <a:pt x="19558" y="7000"/>
                  <a:pt x="19200" y="6642"/>
                  <a:pt x="19200" y="6200"/>
                </a:cubicBezTo>
                <a:cubicBezTo>
                  <a:pt x="19200" y="5758"/>
                  <a:pt x="19558" y="5400"/>
                  <a:pt x="20000" y="5400"/>
                </a:cubicBezTo>
                <a:cubicBezTo>
                  <a:pt x="20442" y="5400"/>
                  <a:pt x="20800" y="5758"/>
                  <a:pt x="20800" y="6200"/>
                </a:cubicBezTo>
                <a:close/>
                <a:moveTo>
                  <a:pt x="17800" y="10200"/>
                </a:moveTo>
                <a:cubicBezTo>
                  <a:pt x="17800" y="10642"/>
                  <a:pt x="17442" y="11000"/>
                  <a:pt x="17000" y="11000"/>
                </a:cubicBezTo>
                <a:cubicBezTo>
                  <a:pt x="16558" y="11000"/>
                  <a:pt x="16200" y="10642"/>
                  <a:pt x="16200" y="10200"/>
                </a:cubicBezTo>
                <a:cubicBezTo>
                  <a:pt x="16200" y="9758"/>
                  <a:pt x="16558" y="9400"/>
                  <a:pt x="17000" y="9400"/>
                </a:cubicBezTo>
                <a:cubicBezTo>
                  <a:pt x="17442" y="9400"/>
                  <a:pt x="17800" y="9758"/>
                  <a:pt x="17800" y="10200"/>
                </a:cubicBezTo>
                <a:close/>
                <a:moveTo>
                  <a:pt x="13800" y="14200"/>
                </a:moveTo>
                <a:cubicBezTo>
                  <a:pt x="13800" y="14642"/>
                  <a:pt x="13442" y="15000"/>
                  <a:pt x="13000" y="15000"/>
                </a:cubicBezTo>
                <a:cubicBezTo>
                  <a:pt x="12558" y="15000"/>
                  <a:pt x="12200" y="14642"/>
                  <a:pt x="12200" y="14200"/>
                </a:cubicBezTo>
                <a:cubicBezTo>
                  <a:pt x="12200" y="13758"/>
                  <a:pt x="12558" y="13400"/>
                  <a:pt x="13000" y="13400"/>
                </a:cubicBezTo>
                <a:cubicBezTo>
                  <a:pt x="13442" y="13400"/>
                  <a:pt x="13800" y="13758"/>
                  <a:pt x="13800" y="14200"/>
                </a:cubicBezTo>
                <a:close/>
                <a:moveTo>
                  <a:pt x="9800" y="18200"/>
                </a:moveTo>
                <a:cubicBezTo>
                  <a:pt x="9800" y="18642"/>
                  <a:pt x="9442" y="19000"/>
                  <a:pt x="9000" y="19000"/>
                </a:cubicBezTo>
                <a:cubicBezTo>
                  <a:pt x="8558" y="19000"/>
                  <a:pt x="8200" y="18642"/>
                  <a:pt x="8200" y="18200"/>
                </a:cubicBezTo>
                <a:cubicBezTo>
                  <a:pt x="8200" y="17758"/>
                  <a:pt x="8558" y="17400"/>
                  <a:pt x="9000" y="17400"/>
                </a:cubicBezTo>
                <a:cubicBezTo>
                  <a:pt x="9442" y="17400"/>
                  <a:pt x="9800" y="17758"/>
                  <a:pt x="9800" y="18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10312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待办队列</a:t>
            </a:r>
          </a:p>
        </p:txBody>
      </p:sp>
      <p:sp>
        <p:nvSpPr>
          <p:cNvPr id="64" name="FLOW-021"/>
          <p:cNvSpPr/>
          <p:nvPr/>
        </p:nvSpPr>
        <p:spPr>
          <a:xfrm>
            <a:off x="393192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800" y="7000"/>
                </a:moveTo>
                <a:cubicBezTo>
                  <a:pt x="7800" y="7994"/>
                  <a:pt x="6994" y="8800"/>
                  <a:pt x="6000" y="8800"/>
                </a:cubicBezTo>
                <a:cubicBezTo>
                  <a:pt x="5006" y="8800"/>
                  <a:pt x="4200" y="7994"/>
                  <a:pt x="4200" y="7000"/>
                </a:cubicBezTo>
                <a:cubicBezTo>
                  <a:pt x="4200" y="6006"/>
                  <a:pt x="5006" y="5200"/>
                  <a:pt x="6000" y="5200"/>
                </a:cubicBezTo>
                <a:cubicBezTo>
                  <a:pt x="6994" y="5200"/>
                  <a:pt x="7800" y="6006"/>
                  <a:pt x="7800" y="7000"/>
                </a:cubicBezTo>
                <a:close/>
                <a:moveTo>
                  <a:pt x="13800" y="7000"/>
                </a:moveTo>
                <a:cubicBezTo>
                  <a:pt x="13800" y="7994"/>
                  <a:pt x="12994" y="8800"/>
                  <a:pt x="12000" y="8800"/>
                </a:cubicBezTo>
                <a:cubicBezTo>
                  <a:pt x="11006" y="8800"/>
                  <a:pt x="10200" y="7994"/>
                  <a:pt x="10200" y="7000"/>
                </a:cubicBezTo>
                <a:cubicBezTo>
                  <a:pt x="10200" y="6006"/>
                  <a:pt x="11006" y="5200"/>
                  <a:pt x="12000" y="5200"/>
                </a:cubicBezTo>
                <a:cubicBezTo>
                  <a:pt x="12994" y="5200"/>
                  <a:pt x="13800" y="6006"/>
                  <a:pt x="13800" y="7000"/>
                </a:cubicBezTo>
                <a:close/>
                <a:moveTo>
                  <a:pt x="19800" y="7000"/>
                </a:moveTo>
                <a:cubicBezTo>
                  <a:pt x="19800" y="7994"/>
                  <a:pt x="18994" y="8800"/>
                  <a:pt x="18000" y="8800"/>
                </a:cubicBezTo>
                <a:cubicBezTo>
                  <a:pt x="17006" y="8800"/>
                  <a:pt x="16200" y="7994"/>
                  <a:pt x="16200" y="7000"/>
                </a:cubicBezTo>
                <a:cubicBezTo>
                  <a:pt x="16200" y="6006"/>
                  <a:pt x="17006" y="5200"/>
                  <a:pt x="18000" y="5200"/>
                </a:cubicBezTo>
                <a:cubicBezTo>
                  <a:pt x="18994" y="5200"/>
                  <a:pt x="19800" y="6006"/>
                  <a:pt x="19800" y="7000"/>
                </a:cubicBezTo>
                <a:close/>
                <a:moveTo>
                  <a:pt x="3000" y="18000"/>
                </a:moveTo>
                <a:lnTo>
                  <a:pt x="3000" y="11000"/>
                </a:lnTo>
                <a:quadBezTo>
                  <a:pt x="3000" y="9000"/>
                  <a:pt x="6000" y="9000"/>
                </a:quadBezTo>
                <a:quadBezTo>
                  <a:pt x="9000" y="9000"/>
                  <a:pt x="9000" y="11000"/>
                </a:quadBezTo>
                <a:moveTo>
                  <a:pt x="9000" y="18000"/>
                </a:moveTo>
                <a:lnTo>
                  <a:pt x="9000" y="11000"/>
                </a:lnTo>
                <a:quadBezTo>
                  <a:pt x="9000" y="9000"/>
                  <a:pt x="12000" y="9000"/>
                </a:quadBezTo>
                <a:quadBezTo>
                  <a:pt x="15000" y="9000"/>
                  <a:pt x="15000" y="11000"/>
                </a:quadBezTo>
                <a:moveTo>
                  <a:pt x="15000" y="18000"/>
                </a:moveTo>
                <a:lnTo>
                  <a:pt x="15000" y="11000"/>
                </a:lnTo>
                <a:quadBezTo>
                  <a:pt x="15000" y="9000"/>
                  <a:pt x="18000" y="9000"/>
                </a:quadBezTo>
                <a:quadBezTo>
                  <a:pt x="21000" y="9000"/>
                  <a:pt x="21000" y="11000"/>
                </a:quadBezTo>
                <a:lnTo>
                  <a:pt x="21000" y="18000"/>
                </a:lnTo>
                <a:moveTo>
                  <a:pt x="2300" y="19000"/>
                </a:moveTo>
                <a:lnTo>
                  <a:pt x="21700" y="19000"/>
                </a:lnTo>
                <a:cubicBezTo>
                  <a:pt x="21866" y="19000"/>
                  <a:pt x="22000" y="19134"/>
                  <a:pt x="22000" y="19300"/>
                </a:cubicBezTo>
                <a:lnTo>
                  <a:pt x="22000" y="19700"/>
                </a:lnTo>
                <a:cubicBezTo>
                  <a:pt x="22000" y="19866"/>
                  <a:pt x="21866" y="20000"/>
                  <a:pt x="21700" y="20000"/>
                </a:cubicBezTo>
                <a:lnTo>
                  <a:pt x="2300" y="20000"/>
                </a:lnTo>
                <a:cubicBezTo>
                  <a:pt x="2134" y="20000"/>
                  <a:pt x="2000" y="19866"/>
                  <a:pt x="2000" y="19700"/>
                </a:cubicBezTo>
                <a:lnTo>
                  <a:pt x="2000" y="19300"/>
                </a:lnTo>
                <a:cubicBezTo>
                  <a:pt x="2000" y="19134"/>
                  <a:pt x="2134" y="19000"/>
                  <a:pt x="2300" y="19000"/>
                </a:cubicBezTo>
                <a:close/>
                <a:moveTo>
                  <a:pt x="6600" y="4000"/>
                </a:moveTo>
                <a:cubicBezTo>
                  <a:pt x="6600" y="4331"/>
                  <a:pt x="6331" y="4600"/>
                  <a:pt x="6000" y="4600"/>
                </a:cubicBezTo>
                <a:cubicBezTo>
                  <a:pt x="5669" y="4600"/>
                  <a:pt x="5400" y="4331"/>
                  <a:pt x="5400" y="4000"/>
                </a:cubicBezTo>
                <a:cubicBezTo>
                  <a:pt x="5400" y="3669"/>
                  <a:pt x="5669" y="3400"/>
                  <a:pt x="6000" y="3400"/>
                </a:cubicBezTo>
                <a:cubicBezTo>
                  <a:pt x="6331" y="3400"/>
                  <a:pt x="6600" y="3669"/>
                  <a:pt x="6600" y="4000"/>
                </a:cubicBezTo>
                <a:close/>
                <a:moveTo>
                  <a:pt x="12600" y="4000"/>
                </a:moveTo>
                <a:cubicBezTo>
                  <a:pt x="12600" y="4331"/>
                  <a:pt x="12331" y="4600"/>
                  <a:pt x="12000" y="4600"/>
                </a:cubicBezTo>
                <a:cubicBezTo>
                  <a:pt x="11669" y="4600"/>
                  <a:pt x="11400" y="4331"/>
                  <a:pt x="11400" y="4000"/>
                </a:cubicBezTo>
                <a:cubicBezTo>
                  <a:pt x="11400" y="3669"/>
                  <a:pt x="11669" y="3400"/>
                  <a:pt x="12000" y="3400"/>
                </a:cubicBezTo>
                <a:cubicBezTo>
                  <a:pt x="12331" y="3400"/>
                  <a:pt x="12600" y="3669"/>
                  <a:pt x="12600" y="4000"/>
                </a:cubicBezTo>
                <a:close/>
                <a:moveTo>
                  <a:pt x="18600" y="4000"/>
                </a:moveTo>
                <a:cubicBezTo>
                  <a:pt x="18600" y="4331"/>
                  <a:pt x="18331" y="4600"/>
                  <a:pt x="18000" y="4600"/>
                </a:cubicBezTo>
                <a:cubicBezTo>
                  <a:pt x="17669" y="4600"/>
                  <a:pt x="17400" y="4331"/>
                  <a:pt x="17400" y="4000"/>
                </a:cubicBezTo>
                <a:cubicBezTo>
                  <a:pt x="17400" y="3669"/>
                  <a:pt x="17669" y="3400"/>
                  <a:pt x="18000" y="3400"/>
                </a:cubicBezTo>
                <a:cubicBezTo>
                  <a:pt x="18331" y="3400"/>
                  <a:pt x="18600" y="3669"/>
                  <a:pt x="18600" y="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74904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每日站会</a:t>
            </a:r>
          </a:p>
        </p:txBody>
      </p:sp>
      <p:sp>
        <p:nvSpPr>
          <p:cNvPr id="67" name="FLOW-022"/>
          <p:cNvSpPr/>
          <p:nvPr/>
        </p:nvSpPr>
        <p:spPr>
          <a:xfrm>
            <a:off x="557784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7029" y="21000"/>
                  <a:pt x="3000" y="16971"/>
                  <a:pt x="3000" y="12000"/>
                </a:cubicBez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close/>
                <a:moveTo>
                  <a:pt x="19000" y="12000"/>
                </a:moveTo>
                <a:cubicBezTo>
                  <a:pt x="19000" y="8134"/>
                  <a:pt x="15866" y="5000"/>
                  <a:pt x="12000" y="5000"/>
                </a:cubicBezTo>
                <a:cubicBezTo>
                  <a:pt x="8134" y="5000"/>
                  <a:pt x="5000" y="8134"/>
                  <a:pt x="5000" y="12000"/>
                </a:cubicBezTo>
                <a:cubicBezTo>
                  <a:pt x="5000" y="15866"/>
                  <a:pt x="8134" y="19000"/>
                  <a:pt x="12000" y="19000"/>
                </a:cubicBezTo>
                <a:cubicBezTo>
                  <a:pt x="15866" y="19000"/>
                  <a:pt x="19000" y="15866"/>
                  <a:pt x="19000" y="12000"/>
                </a:cubicBezTo>
                <a:close/>
                <a:moveTo>
                  <a:pt x="15000" y="6000"/>
                </a:moveTo>
                <a:lnTo>
                  <a:pt x="12000" y="4000"/>
                </a:lnTo>
                <a:lnTo>
                  <a:pt x="15000" y="2000"/>
                </a:lnTo>
                <a:close/>
                <a:moveTo>
                  <a:pt x="8000" y="11000"/>
                </a:moveTo>
                <a:lnTo>
                  <a:pt x="10000" y="13000"/>
                </a:lnTo>
                <a:lnTo>
                  <a:pt x="14000" y="9000"/>
                </a:lnTo>
                <a:moveTo>
                  <a:pt x="7646" y="11354"/>
                </a:moveTo>
                <a:lnTo>
                  <a:pt x="9646" y="13354"/>
                </a:lnTo>
                <a:lnTo>
                  <a:pt x="10354" y="12646"/>
                </a:lnTo>
                <a:lnTo>
                  <a:pt x="8354" y="10646"/>
                </a:lnTo>
                <a:close/>
                <a:moveTo>
                  <a:pt x="10354" y="13354"/>
                </a:moveTo>
                <a:lnTo>
                  <a:pt x="14354" y="9354"/>
                </a:lnTo>
                <a:lnTo>
                  <a:pt x="13646" y="8646"/>
                </a:lnTo>
                <a:lnTo>
                  <a:pt x="9646" y="1264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39496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复盘</a:t>
            </a:r>
          </a:p>
        </p:txBody>
      </p:sp>
      <p:sp>
        <p:nvSpPr>
          <p:cNvPr id="70" name="FLOW-023"/>
          <p:cNvSpPr/>
          <p:nvPr/>
        </p:nvSpPr>
        <p:spPr>
          <a:xfrm>
            <a:off x="722376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00" y="4000"/>
                </a:moveTo>
                <a:lnTo>
                  <a:pt x="21400" y="4000"/>
                </a:lnTo>
                <a:cubicBezTo>
                  <a:pt x="21731" y="4000"/>
                  <a:pt x="22000" y="4269"/>
                  <a:pt x="22000" y="4600"/>
                </a:cubicBezTo>
                <a:lnTo>
                  <a:pt x="22000" y="19400"/>
                </a:lnTo>
                <a:cubicBezTo>
                  <a:pt x="22000" y="19731"/>
                  <a:pt x="21731" y="20000"/>
                  <a:pt x="21400" y="20000"/>
                </a:cubicBezTo>
                <a:lnTo>
                  <a:pt x="2600" y="20000"/>
                </a:lnTo>
                <a:cubicBezTo>
                  <a:pt x="2269" y="20000"/>
                  <a:pt x="2000" y="19731"/>
                  <a:pt x="2000" y="19400"/>
                </a:cubicBezTo>
                <a:lnTo>
                  <a:pt x="2000" y="4600"/>
                </a:lnTo>
                <a:cubicBezTo>
                  <a:pt x="2000" y="4269"/>
                  <a:pt x="2269" y="4000"/>
                  <a:pt x="2600" y="4000"/>
                </a:cubicBezTo>
                <a:close/>
                <a:moveTo>
                  <a:pt x="7800" y="4000"/>
                </a:moveTo>
                <a:lnTo>
                  <a:pt x="7800" y="20000"/>
                </a:lnTo>
                <a:lnTo>
                  <a:pt x="8200" y="20000"/>
                </a:lnTo>
                <a:lnTo>
                  <a:pt x="8200" y="4000"/>
                </a:lnTo>
                <a:close/>
                <a:moveTo>
                  <a:pt x="14800" y="4000"/>
                </a:moveTo>
                <a:lnTo>
                  <a:pt x="14800" y="20000"/>
                </a:lnTo>
                <a:lnTo>
                  <a:pt x="15200" y="20000"/>
                </a:lnTo>
                <a:lnTo>
                  <a:pt x="15200" y="4000"/>
                </a:lnTo>
                <a:close/>
                <a:moveTo>
                  <a:pt x="3200" y="6000"/>
                </a:moveTo>
                <a:lnTo>
                  <a:pt x="6800" y="6000"/>
                </a:lnTo>
                <a:cubicBezTo>
                  <a:pt x="6910" y="6000"/>
                  <a:pt x="7000" y="6090"/>
                  <a:pt x="7000" y="6200"/>
                </a:cubicBezTo>
                <a:lnTo>
                  <a:pt x="7000" y="8200"/>
                </a:lnTo>
                <a:cubicBezTo>
                  <a:pt x="7000" y="8310"/>
                  <a:pt x="6910" y="8400"/>
                  <a:pt x="6800" y="8400"/>
                </a:cubicBezTo>
                <a:lnTo>
                  <a:pt x="3200" y="8400"/>
                </a:lnTo>
                <a:cubicBezTo>
                  <a:pt x="3090" y="8400"/>
                  <a:pt x="3000" y="8310"/>
                  <a:pt x="3000" y="8200"/>
                </a:cubicBezTo>
                <a:lnTo>
                  <a:pt x="3000" y="6200"/>
                </a:lnTo>
                <a:cubicBezTo>
                  <a:pt x="3000" y="6090"/>
                  <a:pt x="3090" y="6000"/>
                  <a:pt x="3200" y="6000"/>
                </a:cubicBezTo>
                <a:close/>
                <a:moveTo>
                  <a:pt x="3200" y="9500"/>
                </a:moveTo>
                <a:lnTo>
                  <a:pt x="6800" y="9500"/>
                </a:lnTo>
                <a:cubicBezTo>
                  <a:pt x="6910" y="9500"/>
                  <a:pt x="7000" y="9590"/>
                  <a:pt x="7000" y="9700"/>
                </a:cubicBezTo>
                <a:lnTo>
                  <a:pt x="7000" y="11700"/>
                </a:lnTo>
                <a:cubicBezTo>
                  <a:pt x="7000" y="11810"/>
                  <a:pt x="6910" y="11900"/>
                  <a:pt x="6800" y="11900"/>
                </a:cubicBezTo>
                <a:lnTo>
                  <a:pt x="3200" y="11900"/>
                </a:lnTo>
                <a:cubicBezTo>
                  <a:pt x="3090" y="11900"/>
                  <a:pt x="3000" y="11810"/>
                  <a:pt x="3000" y="11700"/>
                </a:cubicBezTo>
                <a:lnTo>
                  <a:pt x="3000" y="9700"/>
                </a:lnTo>
                <a:cubicBezTo>
                  <a:pt x="3000" y="9590"/>
                  <a:pt x="3090" y="9500"/>
                  <a:pt x="3200" y="9500"/>
                </a:cubicBezTo>
                <a:close/>
                <a:moveTo>
                  <a:pt x="9200" y="6000"/>
                </a:moveTo>
                <a:lnTo>
                  <a:pt x="13800" y="6000"/>
                </a:lnTo>
                <a:cubicBezTo>
                  <a:pt x="13910" y="6000"/>
                  <a:pt x="14000" y="6090"/>
                  <a:pt x="14000" y="6200"/>
                </a:cubicBezTo>
                <a:lnTo>
                  <a:pt x="14000" y="8200"/>
                </a:lnTo>
                <a:cubicBezTo>
                  <a:pt x="14000" y="8310"/>
                  <a:pt x="13910" y="8400"/>
                  <a:pt x="13800" y="8400"/>
                </a:cubicBezTo>
                <a:lnTo>
                  <a:pt x="9200" y="8400"/>
                </a:lnTo>
                <a:cubicBezTo>
                  <a:pt x="9090" y="8400"/>
                  <a:pt x="9000" y="8310"/>
                  <a:pt x="9000" y="8200"/>
                </a:cubicBezTo>
                <a:lnTo>
                  <a:pt x="9000" y="6200"/>
                </a:lnTo>
                <a:cubicBezTo>
                  <a:pt x="9000" y="6090"/>
                  <a:pt x="9090" y="6000"/>
                  <a:pt x="9200" y="6000"/>
                </a:cubicBezTo>
                <a:close/>
                <a:moveTo>
                  <a:pt x="9200" y="9500"/>
                </a:moveTo>
                <a:lnTo>
                  <a:pt x="13800" y="9500"/>
                </a:lnTo>
                <a:cubicBezTo>
                  <a:pt x="13910" y="9500"/>
                  <a:pt x="14000" y="9590"/>
                  <a:pt x="14000" y="9700"/>
                </a:cubicBezTo>
                <a:lnTo>
                  <a:pt x="14000" y="11700"/>
                </a:lnTo>
                <a:cubicBezTo>
                  <a:pt x="14000" y="11810"/>
                  <a:pt x="13910" y="11900"/>
                  <a:pt x="13800" y="11900"/>
                </a:cubicBezTo>
                <a:lnTo>
                  <a:pt x="9200" y="11900"/>
                </a:lnTo>
                <a:cubicBezTo>
                  <a:pt x="9090" y="11900"/>
                  <a:pt x="9000" y="11810"/>
                  <a:pt x="9000" y="11700"/>
                </a:cubicBezTo>
                <a:lnTo>
                  <a:pt x="9000" y="9700"/>
                </a:lnTo>
                <a:cubicBezTo>
                  <a:pt x="9000" y="9590"/>
                  <a:pt x="9090" y="9500"/>
                  <a:pt x="9200" y="9500"/>
                </a:cubicBezTo>
                <a:close/>
                <a:moveTo>
                  <a:pt x="16200" y="6000"/>
                </a:moveTo>
                <a:lnTo>
                  <a:pt x="20800" y="6000"/>
                </a:lnTo>
                <a:cubicBezTo>
                  <a:pt x="20910" y="6000"/>
                  <a:pt x="21000" y="6090"/>
                  <a:pt x="21000" y="6200"/>
                </a:cubicBezTo>
                <a:lnTo>
                  <a:pt x="21000" y="8200"/>
                </a:lnTo>
                <a:cubicBezTo>
                  <a:pt x="21000" y="8310"/>
                  <a:pt x="20910" y="8400"/>
                  <a:pt x="20800" y="8400"/>
                </a:cubicBezTo>
                <a:lnTo>
                  <a:pt x="16200" y="8400"/>
                </a:lnTo>
                <a:cubicBezTo>
                  <a:pt x="16090" y="8400"/>
                  <a:pt x="16000" y="8310"/>
                  <a:pt x="16000" y="8200"/>
                </a:cubicBezTo>
                <a:lnTo>
                  <a:pt x="16000" y="6200"/>
                </a:lnTo>
                <a:cubicBezTo>
                  <a:pt x="16000" y="6090"/>
                  <a:pt x="16090" y="6000"/>
                  <a:pt x="16200" y="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04088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Sprint看板</a:t>
            </a:r>
          </a:p>
        </p:txBody>
      </p:sp>
      <p:sp>
        <p:nvSpPr>
          <p:cNvPr id="73" name="FLOW-024"/>
          <p:cNvSpPr/>
          <p:nvPr/>
        </p:nvSpPr>
        <p:spPr>
          <a:xfrm>
            <a:off x="88696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868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OODA循环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02_流程模型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FLOW · 第 2/2 页 · 共 30 个</a:t>
            </a:r>
          </a:p>
        </p:txBody>
      </p:sp>
      <p:sp>
        <p:nvSpPr>
          <p:cNvPr id="4" name="FLOW-025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7029" y="21000"/>
                  <a:pt x="3000" y="16971"/>
                  <a:pt x="3000" y="12000"/>
                </a:cubicBez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close/>
                <a:moveTo>
                  <a:pt x="19000" y="12000"/>
                </a:moveTo>
                <a:cubicBezTo>
                  <a:pt x="19000" y="8134"/>
                  <a:pt x="15866" y="5000"/>
                  <a:pt x="12000" y="5000"/>
                </a:cubicBezTo>
                <a:cubicBezTo>
                  <a:pt x="8134" y="5000"/>
                  <a:pt x="5000" y="8134"/>
                  <a:pt x="5000" y="12000"/>
                </a:cubicBezTo>
                <a:cubicBezTo>
                  <a:pt x="5000" y="15866"/>
                  <a:pt x="8134" y="19000"/>
                  <a:pt x="12000" y="19000"/>
                </a:cubicBezTo>
                <a:cubicBezTo>
                  <a:pt x="15866" y="19000"/>
                  <a:pt x="19000" y="15866"/>
                  <a:pt x="19000" y="12000"/>
                </a:cubicBezTo>
                <a:close/>
                <a:moveTo>
                  <a:pt x="15000" y="6000"/>
                </a:moveTo>
                <a:lnTo>
                  <a:pt x="12000" y="4000"/>
                </a:lnTo>
                <a:lnTo>
                  <a:pt x="15000" y="2000"/>
                </a:lnTo>
                <a:close/>
                <a:moveTo>
                  <a:pt x="21600" y="12000"/>
                </a:moveTo>
                <a:cubicBezTo>
                  <a:pt x="21600" y="12884"/>
                  <a:pt x="20884" y="13600"/>
                  <a:pt x="20000" y="13600"/>
                </a:cubicBezTo>
                <a:cubicBezTo>
                  <a:pt x="19116" y="13600"/>
                  <a:pt x="18400" y="12884"/>
                  <a:pt x="18400" y="12000"/>
                </a:cubicBezTo>
                <a:cubicBezTo>
                  <a:pt x="18400" y="11116"/>
                  <a:pt x="19116" y="10400"/>
                  <a:pt x="20000" y="10400"/>
                </a:cubicBezTo>
                <a:cubicBezTo>
                  <a:pt x="20884" y="10400"/>
                  <a:pt x="21600" y="11116"/>
                  <a:pt x="21600" y="12000"/>
                </a:cubicBezTo>
                <a:close/>
                <a:moveTo>
                  <a:pt x="13600" y="20000"/>
                </a:moveTo>
                <a:cubicBezTo>
                  <a:pt x="13600" y="20884"/>
                  <a:pt x="12884" y="21600"/>
                  <a:pt x="12000" y="21600"/>
                </a:cubicBezTo>
                <a:cubicBezTo>
                  <a:pt x="11116" y="21600"/>
                  <a:pt x="10400" y="20884"/>
                  <a:pt x="10400" y="20000"/>
                </a:cubicBezTo>
                <a:cubicBezTo>
                  <a:pt x="10400" y="19116"/>
                  <a:pt x="11116" y="18400"/>
                  <a:pt x="12000" y="18400"/>
                </a:cubicBezTo>
                <a:cubicBezTo>
                  <a:pt x="12884" y="18400"/>
                  <a:pt x="13600" y="19116"/>
                  <a:pt x="13600" y="20000"/>
                </a:cubicBezTo>
                <a:close/>
                <a:moveTo>
                  <a:pt x="5600" y="12000"/>
                </a:moveTo>
                <a:cubicBezTo>
                  <a:pt x="5600" y="12884"/>
                  <a:pt x="4884" y="13600"/>
                  <a:pt x="4000" y="13600"/>
                </a:cubicBezTo>
                <a:cubicBezTo>
                  <a:pt x="3116" y="13600"/>
                  <a:pt x="2400" y="12884"/>
                  <a:pt x="2400" y="12000"/>
                </a:cubicBezTo>
                <a:cubicBezTo>
                  <a:pt x="2400" y="11116"/>
                  <a:pt x="3116" y="10400"/>
                  <a:pt x="4000" y="10400"/>
                </a:cubicBezTo>
                <a:cubicBezTo>
                  <a:pt x="4884" y="10400"/>
                  <a:pt x="5600" y="11116"/>
                  <a:pt x="5600" y="12000"/>
                </a:cubicBezTo>
                <a:close/>
                <a:moveTo>
                  <a:pt x="13600" y="4000"/>
                </a:moveTo>
                <a:cubicBezTo>
                  <a:pt x="13600" y="4884"/>
                  <a:pt x="12884" y="5600"/>
                  <a:pt x="12000" y="5600"/>
                </a:cubicBezTo>
                <a:cubicBezTo>
                  <a:pt x="11116" y="5600"/>
                  <a:pt x="10400" y="4884"/>
                  <a:pt x="10400" y="4000"/>
                </a:cubicBezTo>
                <a:cubicBezTo>
                  <a:pt x="10400" y="3116"/>
                  <a:pt x="11116" y="2400"/>
                  <a:pt x="12000" y="2400"/>
                </a:cubicBezTo>
                <a:cubicBezTo>
                  <a:pt x="12884" y="2400"/>
                  <a:pt x="13600" y="3116"/>
                  <a:pt x="13600" y="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检查点循环</a:t>
            </a:r>
          </a:p>
        </p:txBody>
      </p:sp>
      <p:sp>
        <p:nvSpPr>
          <p:cNvPr id="7" name="FLOW-026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精益循环</a:t>
            </a:r>
          </a:p>
        </p:txBody>
      </p:sp>
      <p:sp>
        <p:nvSpPr>
          <p:cNvPr id="10" name="FLOW-027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8000"/>
                </a:moveTo>
                <a:quadBezTo>
                  <a:pt x="8000" y="8000"/>
                  <a:pt x="12000" y="8000"/>
                </a:quadBezTo>
                <a:quadBezTo>
                  <a:pt x="16000" y="8000"/>
                  <a:pt x="22000" y="8000"/>
                </a:quadBezTo>
                <a:moveTo>
                  <a:pt x="2000" y="8700"/>
                </a:moveTo>
                <a:lnTo>
                  <a:pt x="22000" y="8700"/>
                </a:lnTo>
                <a:lnTo>
                  <a:pt x="22000" y="7300"/>
                </a:lnTo>
                <a:lnTo>
                  <a:pt x="2000" y="7300"/>
                </a:lnTo>
                <a:close/>
                <a:moveTo>
                  <a:pt x="2000" y="16000"/>
                </a:moveTo>
                <a:quadBezTo>
                  <a:pt x="8000" y="16000"/>
                  <a:pt x="12000" y="16000"/>
                </a:quadBezTo>
                <a:quadBezTo>
                  <a:pt x="16000" y="16000"/>
                  <a:pt x="22000" y="16000"/>
                </a:quadBezTo>
                <a:moveTo>
                  <a:pt x="2000" y="16700"/>
                </a:moveTo>
                <a:lnTo>
                  <a:pt x="22000" y="16700"/>
                </a:lnTo>
                <a:lnTo>
                  <a:pt x="22000" y="15300"/>
                </a:lnTo>
                <a:lnTo>
                  <a:pt x="2000" y="15300"/>
                </a:lnTo>
                <a:close/>
                <a:moveTo>
                  <a:pt x="7400" y="8000"/>
                </a:moveTo>
                <a:cubicBezTo>
                  <a:pt x="7400" y="8773"/>
                  <a:pt x="6773" y="9400"/>
                  <a:pt x="6000" y="9400"/>
                </a:cubicBezTo>
                <a:cubicBezTo>
                  <a:pt x="5227" y="9400"/>
                  <a:pt x="4600" y="8773"/>
                  <a:pt x="4600" y="8000"/>
                </a:cubicBezTo>
                <a:cubicBezTo>
                  <a:pt x="4600" y="7227"/>
                  <a:pt x="5227" y="6600"/>
                  <a:pt x="6000" y="6600"/>
                </a:cubicBezTo>
                <a:cubicBezTo>
                  <a:pt x="6773" y="6600"/>
                  <a:pt x="7400" y="7227"/>
                  <a:pt x="7400" y="8000"/>
                </a:cubicBezTo>
                <a:close/>
                <a:moveTo>
                  <a:pt x="13400" y="8000"/>
                </a:moveTo>
                <a:cubicBezTo>
                  <a:pt x="13400" y="8773"/>
                  <a:pt x="12773" y="9400"/>
                  <a:pt x="12000" y="9400"/>
                </a:cubicBezTo>
                <a:cubicBezTo>
                  <a:pt x="11227" y="9400"/>
                  <a:pt x="10600" y="8773"/>
                  <a:pt x="10600" y="8000"/>
                </a:cubicBezTo>
                <a:cubicBezTo>
                  <a:pt x="10600" y="7227"/>
                  <a:pt x="11227" y="6600"/>
                  <a:pt x="12000" y="6600"/>
                </a:cubicBezTo>
                <a:cubicBezTo>
                  <a:pt x="12773" y="6600"/>
                  <a:pt x="13400" y="7227"/>
                  <a:pt x="13400" y="8000"/>
                </a:cubicBezTo>
                <a:close/>
                <a:moveTo>
                  <a:pt x="19400" y="8000"/>
                </a:moveTo>
                <a:cubicBezTo>
                  <a:pt x="19400" y="8773"/>
                  <a:pt x="18773" y="9400"/>
                  <a:pt x="18000" y="9400"/>
                </a:cubicBezTo>
                <a:cubicBezTo>
                  <a:pt x="17227" y="9400"/>
                  <a:pt x="16600" y="8773"/>
                  <a:pt x="16600" y="8000"/>
                </a:cubicBezTo>
                <a:cubicBezTo>
                  <a:pt x="16600" y="7227"/>
                  <a:pt x="17227" y="6600"/>
                  <a:pt x="18000" y="6600"/>
                </a:cubicBezTo>
                <a:cubicBezTo>
                  <a:pt x="18773" y="6600"/>
                  <a:pt x="19400" y="7227"/>
                  <a:pt x="19400" y="8000"/>
                </a:cubicBezTo>
                <a:close/>
                <a:moveTo>
                  <a:pt x="7400" y="16000"/>
                </a:moveTo>
                <a:cubicBezTo>
                  <a:pt x="7400" y="16773"/>
                  <a:pt x="6773" y="17400"/>
                  <a:pt x="6000" y="17400"/>
                </a:cubicBezTo>
                <a:cubicBezTo>
                  <a:pt x="5227" y="17400"/>
                  <a:pt x="4600" y="16773"/>
                  <a:pt x="4600" y="16000"/>
                </a:cubicBezTo>
                <a:cubicBezTo>
                  <a:pt x="4600" y="15227"/>
                  <a:pt x="5227" y="14600"/>
                  <a:pt x="6000" y="14600"/>
                </a:cubicBezTo>
                <a:cubicBezTo>
                  <a:pt x="6773" y="14600"/>
                  <a:pt x="7400" y="15227"/>
                  <a:pt x="7400" y="16000"/>
                </a:cubicBezTo>
                <a:close/>
                <a:moveTo>
                  <a:pt x="13400" y="16000"/>
                </a:moveTo>
                <a:cubicBezTo>
                  <a:pt x="13400" y="16773"/>
                  <a:pt x="12773" y="17400"/>
                  <a:pt x="12000" y="17400"/>
                </a:cubicBezTo>
                <a:cubicBezTo>
                  <a:pt x="11227" y="17400"/>
                  <a:pt x="10600" y="16773"/>
                  <a:pt x="10600" y="16000"/>
                </a:cubicBezTo>
                <a:cubicBezTo>
                  <a:pt x="10600" y="15227"/>
                  <a:pt x="11227" y="14600"/>
                  <a:pt x="12000" y="14600"/>
                </a:cubicBezTo>
                <a:cubicBezTo>
                  <a:pt x="12773" y="14600"/>
                  <a:pt x="13400" y="15227"/>
                  <a:pt x="13400" y="16000"/>
                </a:cubicBezTo>
                <a:close/>
                <a:moveTo>
                  <a:pt x="19400" y="16000"/>
                </a:moveTo>
                <a:cubicBezTo>
                  <a:pt x="19400" y="16773"/>
                  <a:pt x="18773" y="17400"/>
                  <a:pt x="18000" y="17400"/>
                </a:cubicBezTo>
                <a:cubicBezTo>
                  <a:pt x="17227" y="17400"/>
                  <a:pt x="16600" y="16773"/>
                  <a:pt x="16600" y="16000"/>
                </a:cubicBezTo>
                <a:cubicBezTo>
                  <a:pt x="16600" y="15227"/>
                  <a:pt x="17227" y="14600"/>
                  <a:pt x="18000" y="14600"/>
                </a:cubicBezTo>
                <a:cubicBezTo>
                  <a:pt x="18773" y="14600"/>
                  <a:pt x="19400" y="15227"/>
                  <a:pt x="19400" y="16000"/>
                </a:cubicBezTo>
                <a:close/>
                <a:moveTo>
                  <a:pt x="11800" y="8000"/>
                </a:moveTo>
                <a:lnTo>
                  <a:pt x="11800" y="16000"/>
                </a:lnTo>
                <a:lnTo>
                  <a:pt x="12200" y="16000"/>
                </a:lnTo>
                <a:lnTo>
                  <a:pt x="12200" y="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双轨开发</a:t>
            </a:r>
          </a:p>
        </p:txBody>
      </p:sp>
      <p:sp>
        <p:nvSpPr>
          <p:cNvPr id="13" name="FLOW-028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00" y="10000"/>
                </a:moveTo>
                <a:lnTo>
                  <a:pt x="5600" y="10000"/>
                </a:lnTo>
                <a:cubicBezTo>
                  <a:pt x="5821" y="10000"/>
                  <a:pt x="6000" y="10179"/>
                  <a:pt x="6000" y="10400"/>
                </a:cubicBezTo>
                <a:lnTo>
                  <a:pt x="6000" y="13600"/>
                </a:lnTo>
                <a:cubicBezTo>
                  <a:pt x="6000" y="13821"/>
                  <a:pt x="5821" y="14000"/>
                  <a:pt x="5600" y="14000"/>
                </a:cubicBezTo>
                <a:lnTo>
                  <a:pt x="2400" y="14000"/>
                </a:lnTo>
                <a:cubicBezTo>
                  <a:pt x="2179" y="14000"/>
                  <a:pt x="2000" y="13821"/>
                  <a:pt x="2000" y="13600"/>
                </a:cubicBezTo>
                <a:lnTo>
                  <a:pt x="2000" y="10400"/>
                </a:lnTo>
                <a:cubicBezTo>
                  <a:pt x="2000" y="10179"/>
                  <a:pt x="2179" y="10000"/>
                  <a:pt x="2400" y="10000"/>
                </a:cubicBezTo>
                <a:close/>
                <a:moveTo>
                  <a:pt x="2000" y="11000"/>
                </a:moveTo>
                <a:lnTo>
                  <a:pt x="4000" y="12000"/>
                </a:lnTo>
                <a:lnTo>
                  <a:pt x="6000" y="11000"/>
                </a:lnTo>
                <a:moveTo>
                  <a:pt x="6500" y="12200"/>
                </a:moveTo>
                <a:lnTo>
                  <a:pt x="7500" y="12200"/>
                </a:lnTo>
                <a:lnTo>
                  <a:pt x="7500" y="12700"/>
                </a:lnTo>
                <a:lnTo>
                  <a:pt x="8500" y="12000"/>
                </a:lnTo>
                <a:lnTo>
                  <a:pt x="7500" y="11300"/>
                </a:lnTo>
                <a:lnTo>
                  <a:pt x="7500" y="11800"/>
                </a:lnTo>
                <a:lnTo>
                  <a:pt x="6500" y="11800"/>
                </a:lnTo>
                <a:close/>
                <a:moveTo>
                  <a:pt x="9400" y="10000"/>
                </a:moveTo>
                <a:lnTo>
                  <a:pt x="12600" y="10000"/>
                </a:lnTo>
                <a:cubicBezTo>
                  <a:pt x="12821" y="10000"/>
                  <a:pt x="13000" y="10179"/>
                  <a:pt x="13000" y="10400"/>
                </a:cubicBezTo>
                <a:lnTo>
                  <a:pt x="13000" y="13600"/>
                </a:lnTo>
                <a:cubicBezTo>
                  <a:pt x="13000" y="13821"/>
                  <a:pt x="12821" y="14000"/>
                  <a:pt x="12600" y="14000"/>
                </a:cubicBezTo>
                <a:lnTo>
                  <a:pt x="9400" y="14000"/>
                </a:lnTo>
                <a:cubicBezTo>
                  <a:pt x="9179" y="14000"/>
                  <a:pt x="9000" y="13821"/>
                  <a:pt x="9000" y="13600"/>
                </a:cubicBezTo>
                <a:lnTo>
                  <a:pt x="9000" y="10400"/>
                </a:lnTo>
                <a:cubicBezTo>
                  <a:pt x="9000" y="10179"/>
                  <a:pt x="9179" y="10000"/>
                  <a:pt x="9400" y="10000"/>
                </a:cubicBezTo>
                <a:close/>
                <a:moveTo>
                  <a:pt x="13500" y="12200"/>
                </a:moveTo>
                <a:lnTo>
                  <a:pt x="14500" y="12200"/>
                </a:lnTo>
                <a:lnTo>
                  <a:pt x="14500" y="12700"/>
                </a:lnTo>
                <a:lnTo>
                  <a:pt x="15500" y="12000"/>
                </a:lnTo>
                <a:lnTo>
                  <a:pt x="14500" y="11300"/>
                </a:lnTo>
                <a:lnTo>
                  <a:pt x="14500" y="11800"/>
                </a:lnTo>
                <a:lnTo>
                  <a:pt x="13500" y="11800"/>
                </a:lnTo>
                <a:close/>
                <a:moveTo>
                  <a:pt x="16400" y="10000"/>
                </a:moveTo>
                <a:lnTo>
                  <a:pt x="19600" y="10000"/>
                </a:lnTo>
                <a:cubicBezTo>
                  <a:pt x="19821" y="10000"/>
                  <a:pt x="20000" y="10179"/>
                  <a:pt x="20000" y="10400"/>
                </a:cubicBezTo>
                <a:lnTo>
                  <a:pt x="20000" y="13600"/>
                </a:lnTo>
                <a:cubicBezTo>
                  <a:pt x="20000" y="13821"/>
                  <a:pt x="19821" y="14000"/>
                  <a:pt x="19600" y="14000"/>
                </a:cubicBezTo>
                <a:lnTo>
                  <a:pt x="16400" y="14000"/>
                </a:lnTo>
                <a:cubicBezTo>
                  <a:pt x="16179" y="14000"/>
                  <a:pt x="16000" y="13821"/>
                  <a:pt x="16000" y="13600"/>
                </a:cubicBezTo>
                <a:lnTo>
                  <a:pt x="16000" y="10400"/>
                </a:lnTo>
                <a:cubicBezTo>
                  <a:pt x="16000" y="10179"/>
                  <a:pt x="16179" y="10000"/>
                  <a:pt x="16400" y="10000"/>
                </a:cubicBezTo>
                <a:close/>
                <a:moveTo>
                  <a:pt x="10763" y="11079"/>
                </a:moveTo>
                <a:lnTo>
                  <a:pt x="11263" y="12579"/>
                </a:lnTo>
                <a:lnTo>
                  <a:pt x="11737" y="12421"/>
                </a:lnTo>
                <a:lnTo>
                  <a:pt x="11237" y="10921"/>
                </a:lnTo>
                <a:close/>
                <a:moveTo>
                  <a:pt x="11708" y="12639"/>
                </a:moveTo>
                <a:lnTo>
                  <a:pt x="12708" y="11139"/>
                </a:lnTo>
                <a:lnTo>
                  <a:pt x="12292" y="10861"/>
                </a:lnTo>
                <a:lnTo>
                  <a:pt x="11292" y="12361"/>
                </a:lnTo>
                <a:close/>
                <a:moveTo>
                  <a:pt x="17763" y="11079"/>
                </a:moveTo>
                <a:lnTo>
                  <a:pt x="18263" y="12579"/>
                </a:lnTo>
                <a:lnTo>
                  <a:pt x="18737" y="12421"/>
                </a:lnTo>
                <a:lnTo>
                  <a:pt x="18237" y="10921"/>
                </a:lnTo>
                <a:close/>
                <a:moveTo>
                  <a:pt x="18708" y="12639"/>
                </a:moveTo>
                <a:lnTo>
                  <a:pt x="19708" y="11139"/>
                </a:lnTo>
                <a:lnTo>
                  <a:pt x="19292" y="10861"/>
                </a:lnTo>
                <a:lnTo>
                  <a:pt x="18292" y="1236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审批链</a:t>
            </a:r>
          </a:p>
        </p:txBody>
      </p:sp>
      <p:sp>
        <p:nvSpPr>
          <p:cNvPr id="16" name="FLOW-029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300" y="17000"/>
                </a:moveTo>
                <a:lnTo>
                  <a:pt x="6700" y="17000"/>
                </a:lnTo>
                <a:cubicBezTo>
                  <a:pt x="6866" y="17000"/>
                  <a:pt x="7000" y="17134"/>
                  <a:pt x="7000" y="17300"/>
                </a:cubicBezTo>
                <a:lnTo>
                  <a:pt x="7000" y="20700"/>
                </a:lnTo>
                <a:cubicBezTo>
                  <a:pt x="7000" y="20866"/>
                  <a:pt x="6866" y="21000"/>
                  <a:pt x="6700" y="21000"/>
                </a:cubicBezTo>
                <a:lnTo>
                  <a:pt x="3300" y="21000"/>
                </a:lnTo>
                <a:cubicBezTo>
                  <a:pt x="3134" y="21000"/>
                  <a:pt x="3000" y="20866"/>
                  <a:pt x="3000" y="20700"/>
                </a:cubicBezTo>
                <a:lnTo>
                  <a:pt x="3000" y="17300"/>
                </a:lnTo>
                <a:cubicBezTo>
                  <a:pt x="3000" y="17134"/>
                  <a:pt x="3134" y="17000"/>
                  <a:pt x="3300" y="17000"/>
                </a:cubicBezTo>
                <a:close/>
                <a:moveTo>
                  <a:pt x="8300" y="13000"/>
                </a:moveTo>
                <a:lnTo>
                  <a:pt x="11700" y="13000"/>
                </a:lnTo>
                <a:cubicBezTo>
                  <a:pt x="11866" y="13000"/>
                  <a:pt x="12000" y="13134"/>
                  <a:pt x="12000" y="13300"/>
                </a:cubicBezTo>
                <a:lnTo>
                  <a:pt x="12000" y="16700"/>
                </a:lnTo>
                <a:cubicBezTo>
                  <a:pt x="12000" y="16866"/>
                  <a:pt x="11866" y="17000"/>
                  <a:pt x="11700" y="17000"/>
                </a:cubicBezTo>
                <a:lnTo>
                  <a:pt x="8300" y="17000"/>
                </a:lnTo>
                <a:cubicBezTo>
                  <a:pt x="8134" y="17000"/>
                  <a:pt x="8000" y="16866"/>
                  <a:pt x="8000" y="16700"/>
                </a:cubicBezTo>
                <a:lnTo>
                  <a:pt x="8000" y="13300"/>
                </a:lnTo>
                <a:cubicBezTo>
                  <a:pt x="8000" y="13134"/>
                  <a:pt x="8134" y="13000"/>
                  <a:pt x="8300" y="13000"/>
                </a:cubicBezTo>
                <a:close/>
                <a:moveTo>
                  <a:pt x="13300" y="9000"/>
                </a:moveTo>
                <a:lnTo>
                  <a:pt x="16700" y="9000"/>
                </a:lnTo>
                <a:cubicBezTo>
                  <a:pt x="16866" y="9000"/>
                  <a:pt x="17000" y="9134"/>
                  <a:pt x="17000" y="9300"/>
                </a:cubicBezTo>
                <a:lnTo>
                  <a:pt x="17000" y="12700"/>
                </a:lnTo>
                <a:cubicBezTo>
                  <a:pt x="17000" y="12866"/>
                  <a:pt x="16866" y="13000"/>
                  <a:pt x="16700" y="13000"/>
                </a:cubicBezTo>
                <a:lnTo>
                  <a:pt x="13300" y="13000"/>
                </a:lnTo>
                <a:cubicBezTo>
                  <a:pt x="13134" y="13000"/>
                  <a:pt x="13000" y="12866"/>
                  <a:pt x="13000" y="12700"/>
                </a:cubicBezTo>
                <a:lnTo>
                  <a:pt x="13000" y="9300"/>
                </a:lnTo>
                <a:cubicBezTo>
                  <a:pt x="13000" y="9134"/>
                  <a:pt x="13134" y="9000"/>
                  <a:pt x="13300" y="9000"/>
                </a:cubicBezTo>
                <a:close/>
                <a:moveTo>
                  <a:pt x="18300" y="5000"/>
                </a:moveTo>
                <a:lnTo>
                  <a:pt x="20700" y="5000"/>
                </a:lnTo>
                <a:cubicBezTo>
                  <a:pt x="20866" y="5000"/>
                  <a:pt x="21000" y="5134"/>
                  <a:pt x="21000" y="5300"/>
                </a:cubicBezTo>
                <a:lnTo>
                  <a:pt x="21000" y="8700"/>
                </a:lnTo>
                <a:cubicBezTo>
                  <a:pt x="21000" y="8866"/>
                  <a:pt x="20866" y="9000"/>
                  <a:pt x="20700" y="9000"/>
                </a:cubicBezTo>
                <a:lnTo>
                  <a:pt x="18300" y="9000"/>
                </a:lnTo>
                <a:cubicBezTo>
                  <a:pt x="18134" y="9000"/>
                  <a:pt x="18000" y="8866"/>
                  <a:pt x="18000" y="8700"/>
                </a:cubicBezTo>
                <a:lnTo>
                  <a:pt x="18000" y="5300"/>
                </a:lnTo>
                <a:cubicBezTo>
                  <a:pt x="18000" y="5134"/>
                  <a:pt x="18134" y="5000"/>
                  <a:pt x="18300" y="5000"/>
                </a:cubicBezTo>
                <a:close/>
                <a:moveTo>
                  <a:pt x="3000" y="18000"/>
                </a:moveTo>
                <a:lnTo>
                  <a:pt x="4000" y="18000"/>
                </a:lnTo>
                <a:lnTo>
                  <a:pt x="4000" y="18600"/>
                </a:lnTo>
                <a:lnTo>
                  <a:pt x="3000" y="18600"/>
                </a:lnTo>
                <a:close/>
                <a:moveTo>
                  <a:pt x="8000" y="14000"/>
                </a:moveTo>
                <a:lnTo>
                  <a:pt x="9000" y="14000"/>
                </a:lnTo>
                <a:lnTo>
                  <a:pt x="9000" y="14600"/>
                </a:lnTo>
                <a:lnTo>
                  <a:pt x="8000" y="14600"/>
                </a:lnTo>
                <a:close/>
                <a:moveTo>
                  <a:pt x="13000" y="10000"/>
                </a:moveTo>
                <a:lnTo>
                  <a:pt x="14000" y="10000"/>
                </a:lnTo>
                <a:lnTo>
                  <a:pt x="14000" y="10600"/>
                </a:lnTo>
                <a:lnTo>
                  <a:pt x="13000" y="10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分阶段推广</a:t>
            </a:r>
          </a:p>
        </p:txBody>
      </p:sp>
      <p:sp>
        <p:nvSpPr>
          <p:cNvPr id="19" name="FLOW-030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9000"/>
                </a:moveTo>
                <a:lnTo>
                  <a:pt x="7000" y="9000"/>
                </a:lnTo>
                <a:lnTo>
                  <a:pt x="7000" y="9500"/>
                </a:lnTo>
                <a:lnTo>
                  <a:pt x="8000" y="8000"/>
                </a:lnTo>
                <a:lnTo>
                  <a:pt x="7000" y="6500"/>
                </a:lnTo>
                <a:lnTo>
                  <a:pt x="7000" y="7000"/>
                </a:lnTo>
                <a:lnTo>
                  <a:pt x="2000" y="7000"/>
                </a:lnTo>
                <a:close/>
                <a:moveTo>
                  <a:pt x="8000" y="7000"/>
                </a:moveTo>
                <a:lnTo>
                  <a:pt x="10000" y="11000"/>
                </a:lnTo>
                <a:lnTo>
                  <a:pt x="8000" y="15000"/>
                </a:lnTo>
                <a:close/>
                <a:moveTo>
                  <a:pt x="10000" y="11000"/>
                </a:moveTo>
                <a:lnTo>
                  <a:pt x="14000" y="11000"/>
                </a:lnTo>
                <a:lnTo>
                  <a:pt x="14000" y="13000"/>
                </a:lnTo>
                <a:lnTo>
                  <a:pt x="10000" y="13000"/>
                </a:lnTo>
                <a:close/>
                <a:moveTo>
                  <a:pt x="14000" y="11000"/>
                </a:moveTo>
                <a:lnTo>
                  <a:pt x="16000" y="7000"/>
                </a:lnTo>
                <a:lnTo>
                  <a:pt x="16000" y="15000"/>
                </a:lnTo>
                <a:close/>
                <a:moveTo>
                  <a:pt x="16000" y="13000"/>
                </a:moveTo>
                <a:lnTo>
                  <a:pt x="21000" y="13000"/>
                </a:lnTo>
                <a:lnTo>
                  <a:pt x="21000" y="13500"/>
                </a:lnTo>
                <a:lnTo>
                  <a:pt x="22000" y="12000"/>
                </a:lnTo>
                <a:lnTo>
                  <a:pt x="21000" y="10500"/>
                </a:lnTo>
                <a:lnTo>
                  <a:pt x="21000" y="11000"/>
                </a:lnTo>
                <a:lnTo>
                  <a:pt x="16000" y="1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FLOW-030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瓶颈节点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03_组织架构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4E79"/>
                </a:solidFill>
              </a:rPr>
              <a:t>ORG · 30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每个图标对应一个公开商业方法论框架。Shape Fill 一键改色。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03_组织架构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ORG · 第 1/2 页 · 共 30 个</a:t>
            </a:r>
          </a:p>
        </p:txBody>
      </p:sp>
      <p:sp>
        <p:nvSpPr>
          <p:cNvPr id="4" name="ORG-001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3000"/>
                </a:moveTo>
                <a:lnTo>
                  <a:pt x="13000" y="3000"/>
                </a:lnTo>
                <a:lnTo>
                  <a:pt x="15000" y="7200"/>
                </a:lnTo>
                <a:lnTo>
                  <a:pt x="9000" y="7200"/>
                </a:lnTo>
                <a:close/>
                <a:moveTo>
                  <a:pt x="9000" y="7600"/>
                </a:moveTo>
                <a:lnTo>
                  <a:pt x="15000" y="7600"/>
                </a:lnTo>
                <a:lnTo>
                  <a:pt x="17000" y="11800"/>
                </a:lnTo>
                <a:lnTo>
                  <a:pt x="7000" y="11800"/>
                </a:lnTo>
                <a:close/>
                <a:moveTo>
                  <a:pt x="7000" y="12200"/>
                </a:moveTo>
                <a:lnTo>
                  <a:pt x="17000" y="12200"/>
                </a:lnTo>
                <a:lnTo>
                  <a:pt x="19000" y="16400"/>
                </a:lnTo>
                <a:lnTo>
                  <a:pt x="5000" y="16400"/>
                </a:lnTo>
                <a:close/>
                <a:moveTo>
                  <a:pt x="5000" y="16800"/>
                </a:moveTo>
                <a:lnTo>
                  <a:pt x="19000" y="16800"/>
                </a:lnTo>
                <a:lnTo>
                  <a:pt x="21000" y="21000"/>
                </a:lnTo>
                <a:lnTo>
                  <a:pt x="3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四层金字塔</a:t>
            </a:r>
          </a:p>
        </p:txBody>
      </p:sp>
      <p:sp>
        <p:nvSpPr>
          <p:cNvPr id="7" name="ORG-002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3000"/>
                </a:moveTo>
                <a:lnTo>
                  <a:pt x="13000" y="3000"/>
                </a:lnTo>
                <a:lnTo>
                  <a:pt x="15667" y="8733"/>
                </a:lnTo>
                <a:lnTo>
                  <a:pt x="8333" y="8733"/>
                </a:lnTo>
                <a:close/>
                <a:moveTo>
                  <a:pt x="8333" y="9133"/>
                </a:moveTo>
                <a:lnTo>
                  <a:pt x="15667" y="9133"/>
                </a:lnTo>
                <a:lnTo>
                  <a:pt x="18333" y="14867"/>
                </a:lnTo>
                <a:lnTo>
                  <a:pt x="5667" y="14867"/>
                </a:lnTo>
                <a:close/>
                <a:moveTo>
                  <a:pt x="5667" y="15267"/>
                </a:moveTo>
                <a:lnTo>
                  <a:pt x="18333" y="15267"/>
                </a:lnTo>
                <a:lnTo>
                  <a:pt x="21000" y="21000"/>
                </a:lnTo>
                <a:lnTo>
                  <a:pt x="3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三层金字塔</a:t>
            </a:r>
          </a:p>
        </p:txBody>
      </p:sp>
      <p:sp>
        <p:nvSpPr>
          <p:cNvPr id="10" name="ORG-003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21000" y="3000"/>
                </a:lnTo>
                <a:lnTo>
                  <a:pt x="18333" y="8733"/>
                </a:lnTo>
                <a:lnTo>
                  <a:pt x="5667" y="8733"/>
                </a:lnTo>
                <a:close/>
                <a:moveTo>
                  <a:pt x="5667" y="9133"/>
                </a:moveTo>
                <a:lnTo>
                  <a:pt x="18333" y="9133"/>
                </a:lnTo>
                <a:lnTo>
                  <a:pt x="15667" y="14867"/>
                </a:lnTo>
                <a:lnTo>
                  <a:pt x="8333" y="14867"/>
                </a:lnTo>
                <a:close/>
                <a:moveTo>
                  <a:pt x="8333" y="15267"/>
                </a:moveTo>
                <a:lnTo>
                  <a:pt x="15667" y="15267"/>
                </a:lnTo>
                <a:lnTo>
                  <a:pt x="13000" y="21000"/>
                </a:lnTo>
                <a:lnTo>
                  <a:pt x="11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倒金字塔</a:t>
            </a:r>
          </a:p>
        </p:txBody>
      </p:sp>
      <p:sp>
        <p:nvSpPr>
          <p:cNvPr id="13" name="ORG-004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00" y="3000"/>
                </a:moveTo>
                <a:lnTo>
                  <a:pt x="8600" y="3000"/>
                </a:lnTo>
                <a:cubicBezTo>
                  <a:pt x="8821" y="3000"/>
                  <a:pt x="9000" y="3179"/>
                  <a:pt x="9000" y="3400"/>
                </a:cubicBezTo>
                <a:lnTo>
                  <a:pt x="9000" y="8600"/>
                </a:lnTo>
                <a:cubicBezTo>
                  <a:pt x="9000" y="8821"/>
                  <a:pt x="8821" y="9000"/>
                  <a:pt x="8600" y="9000"/>
                </a:cubicBezTo>
                <a:lnTo>
                  <a:pt x="3400" y="9000"/>
                </a:lnTo>
                <a:cubicBezTo>
                  <a:pt x="3179" y="9000"/>
                  <a:pt x="3000" y="8821"/>
                  <a:pt x="3000" y="8600"/>
                </a:cubicBezTo>
                <a:lnTo>
                  <a:pt x="3000" y="3400"/>
                </a:lnTo>
                <a:cubicBezTo>
                  <a:pt x="3000" y="3179"/>
                  <a:pt x="3179" y="3000"/>
                  <a:pt x="3400" y="3000"/>
                </a:cubicBezTo>
                <a:close/>
                <a:moveTo>
                  <a:pt x="9900" y="3000"/>
                </a:moveTo>
                <a:lnTo>
                  <a:pt x="15100" y="3000"/>
                </a:lnTo>
                <a:cubicBezTo>
                  <a:pt x="15321" y="3000"/>
                  <a:pt x="15500" y="3179"/>
                  <a:pt x="15500" y="3400"/>
                </a:cubicBezTo>
                <a:lnTo>
                  <a:pt x="15500" y="8600"/>
                </a:lnTo>
                <a:cubicBezTo>
                  <a:pt x="15500" y="8821"/>
                  <a:pt x="15321" y="9000"/>
                  <a:pt x="15100" y="9000"/>
                </a:cubicBezTo>
                <a:lnTo>
                  <a:pt x="9900" y="9000"/>
                </a:lnTo>
                <a:cubicBezTo>
                  <a:pt x="9679" y="9000"/>
                  <a:pt x="9500" y="8821"/>
                  <a:pt x="9500" y="8600"/>
                </a:cubicBezTo>
                <a:lnTo>
                  <a:pt x="9500" y="3400"/>
                </a:lnTo>
                <a:cubicBezTo>
                  <a:pt x="9500" y="3179"/>
                  <a:pt x="9679" y="3000"/>
                  <a:pt x="9900" y="3000"/>
                </a:cubicBezTo>
                <a:close/>
                <a:moveTo>
                  <a:pt x="16400" y="3000"/>
                </a:moveTo>
                <a:lnTo>
                  <a:pt x="21600" y="3000"/>
                </a:lnTo>
                <a:cubicBezTo>
                  <a:pt x="21821" y="3000"/>
                  <a:pt x="22000" y="3179"/>
                  <a:pt x="22000" y="3400"/>
                </a:cubicBezTo>
                <a:lnTo>
                  <a:pt x="22000" y="8600"/>
                </a:lnTo>
                <a:cubicBezTo>
                  <a:pt x="22000" y="8821"/>
                  <a:pt x="21821" y="9000"/>
                  <a:pt x="21600" y="9000"/>
                </a:cubicBezTo>
                <a:lnTo>
                  <a:pt x="16400" y="9000"/>
                </a:lnTo>
                <a:cubicBezTo>
                  <a:pt x="16179" y="9000"/>
                  <a:pt x="16000" y="8821"/>
                  <a:pt x="16000" y="8600"/>
                </a:cubicBezTo>
                <a:lnTo>
                  <a:pt x="16000" y="3400"/>
                </a:lnTo>
                <a:cubicBezTo>
                  <a:pt x="16000" y="3179"/>
                  <a:pt x="16179" y="3000"/>
                  <a:pt x="16400" y="3000"/>
                </a:cubicBezTo>
                <a:close/>
                <a:moveTo>
                  <a:pt x="3400" y="9500"/>
                </a:moveTo>
                <a:lnTo>
                  <a:pt x="8600" y="9500"/>
                </a:lnTo>
                <a:cubicBezTo>
                  <a:pt x="8821" y="9500"/>
                  <a:pt x="9000" y="9679"/>
                  <a:pt x="9000" y="9900"/>
                </a:cubicBezTo>
                <a:lnTo>
                  <a:pt x="9000" y="15100"/>
                </a:lnTo>
                <a:cubicBezTo>
                  <a:pt x="9000" y="15321"/>
                  <a:pt x="8821" y="15500"/>
                  <a:pt x="8600" y="15500"/>
                </a:cubicBezTo>
                <a:lnTo>
                  <a:pt x="3400" y="15500"/>
                </a:lnTo>
                <a:cubicBezTo>
                  <a:pt x="3179" y="15500"/>
                  <a:pt x="3000" y="15321"/>
                  <a:pt x="3000" y="15100"/>
                </a:cubicBezTo>
                <a:lnTo>
                  <a:pt x="3000" y="9900"/>
                </a:lnTo>
                <a:cubicBezTo>
                  <a:pt x="3000" y="9679"/>
                  <a:pt x="3179" y="9500"/>
                  <a:pt x="3400" y="9500"/>
                </a:cubicBezTo>
                <a:close/>
                <a:moveTo>
                  <a:pt x="9900" y="9500"/>
                </a:moveTo>
                <a:lnTo>
                  <a:pt x="15100" y="9500"/>
                </a:lnTo>
                <a:cubicBezTo>
                  <a:pt x="15321" y="9500"/>
                  <a:pt x="15500" y="9679"/>
                  <a:pt x="15500" y="9900"/>
                </a:cubicBezTo>
                <a:lnTo>
                  <a:pt x="15500" y="15100"/>
                </a:lnTo>
                <a:cubicBezTo>
                  <a:pt x="15500" y="15321"/>
                  <a:pt x="15321" y="15500"/>
                  <a:pt x="15100" y="15500"/>
                </a:cubicBezTo>
                <a:lnTo>
                  <a:pt x="9900" y="15500"/>
                </a:lnTo>
                <a:cubicBezTo>
                  <a:pt x="9679" y="15500"/>
                  <a:pt x="9500" y="15321"/>
                  <a:pt x="9500" y="15100"/>
                </a:cubicBezTo>
                <a:lnTo>
                  <a:pt x="9500" y="9900"/>
                </a:lnTo>
                <a:cubicBezTo>
                  <a:pt x="9500" y="9679"/>
                  <a:pt x="9679" y="9500"/>
                  <a:pt x="9900" y="9500"/>
                </a:cubicBezTo>
                <a:close/>
                <a:moveTo>
                  <a:pt x="16400" y="9500"/>
                </a:moveTo>
                <a:lnTo>
                  <a:pt x="21600" y="9500"/>
                </a:lnTo>
                <a:cubicBezTo>
                  <a:pt x="21821" y="9500"/>
                  <a:pt x="22000" y="9679"/>
                  <a:pt x="22000" y="9900"/>
                </a:cubicBezTo>
                <a:lnTo>
                  <a:pt x="22000" y="15100"/>
                </a:lnTo>
                <a:cubicBezTo>
                  <a:pt x="22000" y="15321"/>
                  <a:pt x="21821" y="15500"/>
                  <a:pt x="21600" y="15500"/>
                </a:cubicBezTo>
                <a:lnTo>
                  <a:pt x="16400" y="15500"/>
                </a:lnTo>
                <a:cubicBezTo>
                  <a:pt x="16179" y="15500"/>
                  <a:pt x="16000" y="15321"/>
                  <a:pt x="16000" y="15100"/>
                </a:cubicBezTo>
                <a:lnTo>
                  <a:pt x="16000" y="9900"/>
                </a:lnTo>
                <a:cubicBezTo>
                  <a:pt x="16000" y="9679"/>
                  <a:pt x="16179" y="9500"/>
                  <a:pt x="16400" y="9500"/>
                </a:cubicBezTo>
                <a:close/>
                <a:moveTo>
                  <a:pt x="3400" y="16000"/>
                </a:moveTo>
                <a:lnTo>
                  <a:pt x="8600" y="16000"/>
                </a:lnTo>
                <a:cubicBezTo>
                  <a:pt x="8821" y="16000"/>
                  <a:pt x="9000" y="16179"/>
                  <a:pt x="9000" y="16400"/>
                </a:cubicBezTo>
                <a:lnTo>
                  <a:pt x="9000" y="21600"/>
                </a:lnTo>
                <a:cubicBezTo>
                  <a:pt x="9000" y="21821"/>
                  <a:pt x="8821" y="22000"/>
                  <a:pt x="8600" y="22000"/>
                </a:cubicBezTo>
                <a:lnTo>
                  <a:pt x="3400" y="22000"/>
                </a:lnTo>
                <a:cubicBezTo>
                  <a:pt x="3179" y="22000"/>
                  <a:pt x="3000" y="21821"/>
                  <a:pt x="3000" y="21600"/>
                </a:cubicBezTo>
                <a:lnTo>
                  <a:pt x="3000" y="16400"/>
                </a:lnTo>
                <a:cubicBezTo>
                  <a:pt x="3000" y="16179"/>
                  <a:pt x="3179" y="16000"/>
                  <a:pt x="3400" y="16000"/>
                </a:cubicBezTo>
                <a:close/>
                <a:moveTo>
                  <a:pt x="9900" y="16000"/>
                </a:moveTo>
                <a:lnTo>
                  <a:pt x="15100" y="16000"/>
                </a:lnTo>
                <a:cubicBezTo>
                  <a:pt x="15321" y="16000"/>
                  <a:pt x="15500" y="16179"/>
                  <a:pt x="15500" y="16400"/>
                </a:cubicBezTo>
                <a:lnTo>
                  <a:pt x="15500" y="21600"/>
                </a:lnTo>
                <a:cubicBezTo>
                  <a:pt x="15500" y="21821"/>
                  <a:pt x="15321" y="22000"/>
                  <a:pt x="15100" y="22000"/>
                </a:cubicBezTo>
                <a:lnTo>
                  <a:pt x="9900" y="22000"/>
                </a:lnTo>
                <a:cubicBezTo>
                  <a:pt x="9679" y="22000"/>
                  <a:pt x="9500" y="21821"/>
                  <a:pt x="9500" y="21600"/>
                </a:cubicBezTo>
                <a:lnTo>
                  <a:pt x="9500" y="16400"/>
                </a:lnTo>
                <a:cubicBezTo>
                  <a:pt x="9500" y="16179"/>
                  <a:pt x="9679" y="16000"/>
                  <a:pt x="9900" y="16000"/>
                </a:cubicBezTo>
                <a:close/>
                <a:moveTo>
                  <a:pt x="16400" y="16000"/>
                </a:moveTo>
                <a:lnTo>
                  <a:pt x="21600" y="16000"/>
                </a:lnTo>
                <a:cubicBezTo>
                  <a:pt x="21821" y="16000"/>
                  <a:pt x="22000" y="16179"/>
                  <a:pt x="22000" y="16400"/>
                </a:cubicBezTo>
                <a:lnTo>
                  <a:pt x="22000" y="21600"/>
                </a:lnTo>
                <a:cubicBezTo>
                  <a:pt x="22000" y="21821"/>
                  <a:pt x="21821" y="22000"/>
                  <a:pt x="21600" y="22000"/>
                </a:cubicBezTo>
                <a:lnTo>
                  <a:pt x="16400" y="22000"/>
                </a:lnTo>
                <a:cubicBezTo>
                  <a:pt x="16179" y="22000"/>
                  <a:pt x="16000" y="21821"/>
                  <a:pt x="16000" y="21600"/>
                </a:cubicBezTo>
                <a:lnTo>
                  <a:pt x="16000" y="16400"/>
                </a:lnTo>
                <a:cubicBezTo>
                  <a:pt x="16000" y="16179"/>
                  <a:pt x="16179" y="16000"/>
                  <a:pt x="164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矩阵组织</a:t>
            </a:r>
          </a:p>
        </p:txBody>
      </p:sp>
      <p:sp>
        <p:nvSpPr>
          <p:cNvPr id="16" name="ORG-005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00" y="6000"/>
                </a:moveTo>
                <a:lnTo>
                  <a:pt x="5500" y="6000"/>
                </a:lnTo>
                <a:cubicBezTo>
                  <a:pt x="5776" y="6000"/>
                  <a:pt x="6000" y="6224"/>
                  <a:pt x="6000" y="6500"/>
                </a:cubicBezTo>
                <a:lnTo>
                  <a:pt x="6000" y="19500"/>
                </a:lnTo>
                <a:cubicBezTo>
                  <a:pt x="6000" y="19776"/>
                  <a:pt x="5776" y="20000"/>
                  <a:pt x="5500" y="20000"/>
                </a:cubicBezTo>
                <a:lnTo>
                  <a:pt x="2500" y="20000"/>
                </a:lnTo>
                <a:cubicBezTo>
                  <a:pt x="2224" y="20000"/>
                  <a:pt x="2000" y="19776"/>
                  <a:pt x="2000" y="19500"/>
                </a:cubicBezTo>
                <a:lnTo>
                  <a:pt x="2000" y="6500"/>
                </a:lnTo>
                <a:cubicBezTo>
                  <a:pt x="2000" y="6224"/>
                  <a:pt x="2224" y="6000"/>
                  <a:pt x="2500" y="6000"/>
                </a:cubicBezTo>
                <a:close/>
                <a:moveTo>
                  <a:pt x="7500" y="6000"/>
                </a:moveTo>
                <a:lnTo>
                  <a:pt x="10500" y="6000"/>
                </a:lnTo>
                <a:cubicBezTo>
                  <a:pt x="10776" y="6000"/>
                  <a:pt x="11000" y="6224"/>
                  <a:pt x="11000" y="6500"/>
                </a:cubicBezTo>
                <a:lnTo>
                  <a:pt x="11000" y="19500"/>
                </a:lnTo>
                <a:cubicBezTo>
                  <a:pt x="11000" y="19776"/>
                  <a:pt x="10776" y="20000"/>
                  <a:pt x="10500" y="20000"/>
                </a:cubicBezTo>
                <a:lnTo>
                  <a:pt x="7500" y="20000"/>
                </a:lnTo>
                <a:cubicBezTo>
                  <a:pt x="7224" y="20000"/>
                  <a:pt x="7000" y="19776"/>
                  <a:pt x="7000" y="19500"/>
                </a:cubicBezTo>
                <a:lnTo>
                  <a:pt x="7000" y="6500"/>
                </a:lnTo>
                <a:cubicBezTo>
                  <a:pt x="7000" y="6224"/>
                  <a:pt x="7224" y="6000"/>
                  <a:pt x="7500" y="6000"/>
                </a:cubicBezTo>
                <a:close/>
                <a:moveTo>
                  <a:pt x="12500" y="6000"/>
                </a:moveTo>
                <a:lnTo>
                  <a:pt x="15500" y="6000"/>
                </a:lnTo>
                <a:cubicBezTo>
                  <a:pt x="15776" y="6000"/>
                  <a:pt x="16000" y="6224"/>
                  <a:pt x="16000" y="6500"/>
                </a:cubicBezTo>
                <a:lnTo>
                  <a:pt x="16000" y="19500"/>
                </a:lnTo>
                <a:cubicBezTo>
                  <a:pt x="16000" y="19776"/>
                  <a:pt x="15776" y="20000"/>
                  <a:pt x="15500" y="20000"/>
                </a:cubicBezTo>
                <a:lnTo>
                  <a:pt x="12500" y="20000"/>
                </a:lnTo>
                <a:cubicBezTo>
                  <a:pt x="12224" y="20000"/>
                  <a:pt x="12000" y="19776"/>
                  <a:pt x="12000" y="19500"/>
                </a:cubicBezTo>
                <a:lnTo>
                  <a:pt x="12000" y="6500"/>
                </a:lnTo>
                <a:cubicBezTo>
                  <a:pt x="12000" y="6224"/>
                  <a:pt x="12224" y="6000"/>
                  <a:pt x="12500" y="6000"/>
                </a:cubicBezTo>
                <a:close/>
                <a:moveTo>
                  <a:pt x="17500" y="6000"/>
                </a:moveTo>
                <a:lnTo>
                  <a:pt x="20500" y="6000"/>
                </a:lnTo>
                <a:cubicBezTo>
                  <a:pt x="20776" y="6000"/>
                  <a:pt x="21000" y="6224"/>
                  <a:pt x="21000" y="6500"/>
                </a:cubicBezTo>
                <a:lnTo>
                  <a:pt x="21000" y="19500"/>
                </a:lnTo>
                <a:cubicBezTo>
                  <a:pt x="21000" y="19776"/>
                  <a:pt x="20776" y="20000"/>
                  <a:pt x="20500" y="20000"/>
                </a:cubicBezTo>
                <a:lnTo>
                  <a:pt x="17500" y="20000"/>
                </a:lnTo>
                <a:cubicBezTo>
                  <a:pt x="17224" y="20000"/>
                  <a:pt x="17000" y="19776"/>
                  <a:pt x="17000" y="19500"/>
                </a:cubicBezTo>
                <a:lnTo>
                  <a:pt x="17000" y="6500"/>
                </a:lnTo>
                <a:cubicBezTo>
                  <a:pt x="17000" y="6224"/>
                  <a:pt x="17224" y="6000"/>
                  <a:pt x="17500" y="6000"/>
                </a:cubicBezTo>
                <a:close/>
                <a:moveTo>
                  <a:pt x="2300" y="4000"/>
                </a:moveTo>
                <a:lnTo>
                  <a:pt x="20700" y="4000"/>
                </a:lnTo>
                <a:cubicBezTo>
                  <a:pt x="20866" y="4000"/>
                  <a:pt x="21000" y="4134"/>
                  <a:pt x="21000" y="4300"/>
                </a:cubicBezTo>
                <a:lnTo>
                  <a:pt x="21000" y="5700"/>
                </a:lnTo>
                <a:cubicBezTo>
                  <a:pt x="21000" y="5866"/>
                  <a:pt x="20866" y="6000"/>
                  <a:pt x="20700" y="6000"/>
                </a:cubicBezTo>
                <a:lnTo>
                  <a:pt x="2300" y="6000"/>
                </a:lnTo>
                <a:cubicBezTo>
                  <a:pt x="2134" y="6000"/>
                  <a:pt x="2000" y="5866"/>
                  <a:pt x="2000" y="5700"/>
                </a:cubicBezTo>
                <a:lnTo>
                  <a:pt x="2000" y="4300"/>
                </a:lnTo>
                <a:cubicBezTo>
                  <a:pt x="2000" y="4134"/>
                  <a:pt x="2134" y="4000"/>
                  <a:pt x="2300" y="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职能筒仓</a:t>
            </a:r>
          </a:p>
        </p:txBody>
      </p:sp>
      <p:sp>
        <p:nvSpPr>
          <p:cNvPr id="19" name="ORG-006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00" y="3000"/>
                </a:moveTo>
                <a:lnTo>
                  <a:pt x="14700" y="3000"/>
                </a:lnTo>
                <a:cubicBezTo>
                  <a:pt x="14866" y="3000"/>
                  <a:pt x="15000" y="3134"/>
                  <a:pt x="15000" y="3300"/>
                </a:cubicBezTo>
                <a:lnTo>
                  <a:pt x="15000" y="5700"/>
                </a:lnTo>
                <a:cubicBezTo>
                  <a:pt x="15000" y="5866"/>
                  <a:pt x="14866" y="6000"/>
                  <a:pt x="14700" y="6000"/>
                </a:cubicBezTo>
                <a:lnTo>
                  <a:pt x="9300" y="6000"/>
                </a:lnTo>
                <a:cubicBezTo>
                  <a:pt x="9134" y="6000"/>
                  <a:pt x="9000" y="5866"/>
                  <a:pt x="9000" y="5700"/>
                </a:cubicBezTo>
                <a:lnTo>
                  <a:pt x="9000" y="3300"/>
                </a:lnTo>
                <a:cubicBezTo>
                  <a:pt x="9000" y="3134"/>
                  <a:pt x="9134" y="3000"/>
                  <a:pt x="9300" y="3000"/>
                </a:cubicBezTo>
                <a:close/>
                <a:moveTo>
                  <a:pt x="11800" y="6000"/>
                </a:moveTo>
                <a:lnTo>
                  <a:pt x="11800" y="9000"/>
                </a:lnTo>
                <a:lnTo>
                  <a:pt x="12200" y="9000"/>
                </a:lnTo>
                <a:lnTo>
                  <a:pt x="12200" y="6000"/>
                </a:lnTo>
                <a:close/>
                <a:moveTo>
                  <a:pt x="2300" y="9000"/>
                </a:moveTo>
                <a:lnTo>
                  <a:pt x="7700" y="9000"/>
                </a:lnTo>
                <a:cubicBezTo>
                  <a:pt x="7866" y="9000"/>
                  <a:pt x="8000" y="9134"/>
                  <a:pt x="8000" y="9300"/>
                </a:cubicBezTo>
                <a:lnTo>
                  <a:pt x="8000" y="11700"/>
                </a:lnTo>
                <a:cubicBezTo>
                  <a:pt x="8000" y="11866"/>
                  <a:pt x="7866" y="12000"/>
                  <a:pt x="7700" y="12000"/>
                </a:cubicBezTo>
                <a:lnTo>
                  <a:pt x="2300" y="12000"/>
                </a:lnTo>
                <a:cubicBezTo>
                  <a:pt x="2134" y="12000"/>
                  <a:pt x="2000" y="11866"/>
                  <a:pt x="2000" y="11700"/>
                </a:cubicBezTo>
                <a:lnTo>
                  <a:pt x="2000" y="9300"/>
                </a:lnTo>
                <a:cubicBezTo>
                  <a:pt x="2000" y="9134"/>
                  <a:pt x="2134" y="9000"/>
                  <a:pt x="2300" y="9000"/>
                </a:cubicBezTo>
                <a:close/>
                <a:moveTo>
                  <a:pt x="9300" y="9000"/>
                </a:moveTo>
                <a:lnTo>
                  <a:pt x="14700" y="9000"/>
                </a:lnTo>
                <a:cubicBezTo>
                  <a:pt x="14866" y="9000"/>
                  <a:pt x="15000" y="9134"/>
                  <a:pt x="15000" y="9300"/>
                </a:cubicBezTo>
                <a:lnTo>
                  <a:pt x="15000" y="11700"/>
                </a:lnTo>
                <a:cubicBezTo>
                  <a:pt x="15000" y="11866"/>
                  <a:pt x="14866" y="12000"/>
                  <a:pt x="14700" y="12000"/>
                </a:cubicBezTo>
                <a:lnTo>
                  <a:pt x="9300" y="12000"/>
                </a:lnTo>
                <a:cubicBezTo>
                  <a:pt x="9134" y="12000"/>
                  <a:pt x="9000" y="11866"/>
                  <a:pt x="9000" y="11700"/>
                </a:cubicBezTo>
                <a:lnTo>
                  <a:pt x="9000" y="9300"/>
                </a:lnTo>
                <a:cubicBezTo>
                  <a:pt x="9000" y="9134"/>
                  <a:pt x="9134" y="9000"/>
                  <a:pt x="9300" y="9000"/>
                </a:cubicBezTo>
                <a:close/>
                <a:moveTo>
                  <a:pt x="16300" y="9000"/>
                </a:moveTo>
                <a:lnTo>
                  <a:pt x="21700" y="9000"/>
                </a:lnTo>
                <a:cubicBezTo>
                  <a:pt x="21866" y="9000"/>
                  <a:pt x="22000" y="9134"/>
                  <a:pt x="22000" y="9300"/>
                </a:cubicBezTo>
                <a:lnTo>
                  <a:pt x="22000" y="11700"/>
                </a:lnTo>
                <a:cubicBezTo>
                  <a:pt x="22000" y="11866"/>
                  <a:pt x="21866" y="12000"/>
                  <a:pt x="21700" y="12000"/>
                </a:cubicBezTo>
                <a:lnTo>
                  <a:pt x="16300" y="12000"/>
                </a:lnTo>
                <a:cubicBezTo>
                  <a:pt x="16134" y="12000"/>
                  <a:pt x="16000" y="11866"/>
                  <a:pt x="16000" y="11700"/>
                </a:cubicBezTo>
                <a:lnTo>
                  <a:pt x="16000" y="9300"/>
                </a:lnTo>
                <a:cubicBezTo>
                  <a:pt x="16000" y="9134"/>
                  <a:pt x="16134" y="9000"/>
                  <a:pt x="16300" y="9000"/>
                </a:cubicBezTo>
                <a:close/>
                <a:moveTo>
                  <a:pt x="4800" y="12000"/>
                </a:moveTo>
                <a:lnTo>
                  <a:pt x="4800" y="14000"/>
                </a:lnTo>
                <a:lnTo>
                  <a:pt x="5200" y="14000"/>
                </a:lnTo>
                <a:lnTo>
                  <a:pt x="5200" y="12000"/>
                </a:lnTo>
                <a:close/>
                <a:moveTo>
                  <a:pt x="11800" y="12000"/>
                </a:moveTo>
                <a:lnTo>
                  <a:pt x="11800" y="14000"/>
                </a:lnTo>
                <a:lnTo>
                  <a:pt x="12200" y="14000"/>
                </a:lnTo>
                <a:lnTo>
                  <a:pt x="12200" y="12000"/>
                </a:lnTo>
                <a:close/>
                <a:moveTo>
                  <a:pt x="18800" y="12000"/>
                </a:moveTo>
                <a:lnTo>
                  <a:pt x="18800" y="14000"/>
                </a:lnTo>
                <a:lnTo>
                  <a:pt x="19200" y="14000"/>
                </a:lnTo>
                <a:lnTo>
                  <a:pt x="19200" y="12000"/>
                </a:lnTo>
                <a:close/>
                <a:moveTo>
                  <a:pt x="3300" y="14000"/>
                </a:moveTo>
                <a:lnTo>
                  <a:pt x="6700" y="14000"/>
                </a:lnTo>
                <a:cubicBezTo>
                  <a:pt x="6866" y="14000"/>
                  <a:pt x="7000" y="14134"/>
                  <a:pt x="7000" y="14300"/>
                </a:cubicBezTo>
                <a:lnTo>
                  <a:pt x="7000" y="19700"/>
                </a:lnTo>
                <a:cubicBezTo>
                  <a:pt x="7000" y="19866"/>
                  <a:pt x="6866" y="20000"/>
                  <a:pt x="6700" y="20000"/>
                </a:cubicBezTo>
                <a:lnTo>
                  <a:pt x="3300" y="20000"/>
                </a:lnTo>
                <a:cubicBezTo>
                  <a:pt x="3134" y="20000"/>
                  <a:pt x="3000" y="19866"/>
                  <a:pt x="3000" y="19700"/>
                </a:cubicBezTo>
                <a:lnTo>
                  <a:pt x="3000" y="14300"/>
                </a:lnTo>
                <a:cubicBezTo>
                  <a:pt x="3000" y="14134"/>
                  <a:pt x="3134" y="14000"/>
                  <a:pt x="3300" y="14000"/>
                </a:cubicBezTo>
                <a:close/>
                <a:moveTo>
                  <a:pt x="10300" y="14000"/>
                </a:moveTo>
                <a:lnTo>
                  <a:pt x="13700" y="14000"/>
                </a:lnTo>
                <a:cubicBezTo>
                  <a:pt x="13866" y="14000"/>
                  <a:pt x="14000" y="14134"/>
                  <a:pt x="14000" y="14300"/>
                </a:cubicBezTo>
                <a:lnTo>
                  <a:pt x="14000" y="19700"/>
                </a:lnTo>
                <a:cubicBezTo>
                  <a:pt x="14000" y="19866"/>
                  <a:pt x="13866" y="20000"/>
                  <a:pt x="13700" y="20000"/>
                </a:cubicBezTo>
                <a:lnTo>
                  <a:pt x="10300" y="20000"/>
                </a:lnTo>
                <a:cubicBezTo>
                  <a:pt x="10134" y="20000"/>
                  <a:pt x="10000" y="19866"/>
                  <a:pt x="10000" y="19700"/>
                </a:cubicBezTo>
                <a:lnTo>
                  <a:pt x="10000" y="14300"/>
                </a:lnTo>
                <a:cubicBezTo>
                  <a:pt x="10000" y="14134"/>
                  <a:pt x="10134" y="14000"/>
                  <a:pt x="10300" y="14000"/>
                </a:cubicBezTo>
                <a:close/>
                <a:moveTo>
                  <a:pt x="17300" y="14000"/>
                </a:moveTo>
                <a:lnTo>
                  <a:pt x="20700" y="14000"/>
                </a:lnTo>
                <a:cubicBezTo>
                  <a:pt x="20866" y="14000"/>
                  <a:pt x="21000" y="14134"/>
                  <a:pt x="21000" y="14300"/>
                </a:cubicBezTo>
                <a:lnTo>
                  <a:pt x="21000" y="19700"/>
                </a:lnTo>
                <a:cubicBezTo>
                  <a:pt x="21000" y="19866"/>
                  <a:pt x="20866" y="20000"/>
                  <a:pt x="20700" y="20000"/>
                </a:cubicBezTo>
                <a:lnTo>
                  <a:pt x="17300" y="20000"/>
                </a:lnTo>
                <a:cubicBezTo>
                  <a:pt x="17134" y="20000"/>
                  <a:pt x="17000" y="19866"/>
                  <a:pt x="17000" y="19700"/>
                </a:cubicBezTo>
                <a:lnTo>
                  <a:pt x="17000" y="14300"/>
                </a:lnTo>
                <a:cubicBezTo>
                  <a:pt x="17000" y="14134"/>
                  <a:pt x="17134" y="14000"/>
                  <a:pt x="17300" y="1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事业部制</a:t>
            </a:r>
          </a:p>
        </p:txBody>
      </p:sp>
      <p:sp>
        <p:nvSpPr>
          <p:cNvPr id="22" name="ORG-007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2250" y="12000"/>
                </a:moveTo>
                <a:lnTo>
                  <a:pt x="12250" y="3000"/>
                </a:lnTo>
                <a:lnTo>
                  <a:pt x="11750" y="3000"/>
                </a:lnTo>
                <a:lnTo>
                  <a:pt x="11750" y="12000"/>
                </a:lnTo>
                <a:close/>
                <a:moveTo>
                  <a:pt x="14000" y="3000"/>
                </a:moveTo>
                <a:cubicBezTo>
                  <a:pt x="14000" y="4105"/>
                  <a:pt x="13105" y="5000"/>
                  <a:pt x="12000" y="5000"/>
                </a:cubicBezTo>
                <a:cubicBezTo>
                  <a:pt x="10895" y="5000"/>
                  <a:pt x="10000" y="4105"/>
                  <a:pt x="10000" y="3000"/>
                </a:cubicBezTo>
                <a:cubicBezTo>
                  <a:pt x="10000" y="1895"/>
                  <a:pt x="10895" y="1000"/>
                  <a:pt x="12000" y="1000"/>
                </a:cubicBezTo>
                <a:cubicBezTo>
                  <a:pt x="13105" y="1000"/>
                  <a:pt x="14000" y="1895"/>
                  <a:pt x="14000" y="3000"/>
                </a:cubicBezTo>
                <a:close/>
                <a:moveTo>
                  <a:pt x="12125" y="12217"/>
                </a:moveTo>
                <a:lnTo>
                  <a:pt x="19919" y="7717"/>
                </a:lnTo>
                <a:lnTo>
                  <a:pt x="19669" y="7283"/>
                </a:lnTo>
                <a:lnTo>
                  <a:pt x="11875" y="11783"/>
                </a:lnTo>
                <a:close/>
                <a:moveTo>
                  <a:pt x="21794" y="7500"/>
                </a:moveTo>
                <a:cubicBezTo>
                  <a:pt x="21794" y="8605"/>
                  <a:pt x="20899" y="9500"/>
                  <a:pt x="19794" y="9500"/>
                </a:cubicBezTo>
                <a:cubicBezTo>
                  <a:pt x="18690" y="9500"/>
                  <a:pt x="17794" y="8605"/>
                  <a:pt x="17794" y="7500"/>
                </a:cubicBezTo>
                <a:cubicBezTo>
                  <a:pt x="17794" y="6395"/>
                  <a:pt x="18690" y="5500"/>
                  <a:pt x="19794" y="5500"/>
                </a:cubicBezTo>
                <a:cubicBezTo>
                  <a:pt x="20899" y="5500"/>
                  <a:pt x="21794" y="6395"/>
                  <a:pt x="21794" y="7500"/>
                </a:cubicBezTo>
                <a:close/>
                <a:moveTo>
                  <a:pt x="11875" y="12217"/>
                </a:moveTo>
                <a:lnTo>
                  <a:pt x="19669" y="16717"/>
                </a:lnTo>
                <a:lnTo>
                  <a:pt x="19919" y="16283"/>
                </a:lnTo>
                <a:lnTo>
                  <a:pt x="12125" y="11783"/>
                </a:lnTo>
                <a:close/>
                <a:moveTo>
                  <a:pt x="21794" y="16500"/>
                </a:moveTo>
                <a:cubicBezTo>
                  <a:pt x="21794" y="17605"/>
                  <a:pt x="20899" y="18500"/>
                  <a:pt x="19794" y="18500"/>
                </a:cubicBezTo>
                <a:cubicBezTo>
                  <a:pt x="18690" y="18500"/>
                  <a:pt x="17794" y="17605"/>
                  <a:pt x="17794" y="16500"/>
                </a:cubicBezTo>
                <a:cubicBezTo>
                  <a:pt x="17794" y="15395"/>
                  <a:pt x="18690" y="14500"/>
                  <a:pt x="19794" y="14500"/>
                </a:cubicBezTo>
                <a:cubicBezTo>
                  <a:pt x="20899" y="14500"/>
                  <a:pt x="21794" y="15395"/>
                  <a:pt x="21794" y="16500"/>
                </a:cubicBezTo>
                <a:close/>
                <a:moveTo>
                  <a:pt x="11750" y="12000"/>
                </a:moveTo>
                <a:lnTo>
                  <a:pt x="11750" y="21000"/>
                </a:lnTo>
                <a:lnTo>
                  <a:pt x="12250" y="21000"/>
                </a:lnTo>
                <a:lnTo>
                  <a:pt x="12250" y="12000"/>
                </a:lnTo>
                <a:close/>
                <a:moveTo>
                  <a:pt x="14000" y="21000"/>
                </a:moveTo>
                <a:cubicBezTo>
                  <a:pt x="14000" y="22105"/>
                  <a:pt x="13105" y="23000"/>
                  <a:pt x="12000" y="23000"/>
                </a:cubicBezTo>
                <a:cubicBezTo>
                  <a:pt x="10895" y="23000"/>
                  <a:pt x="10000" y="22105"/>
                  <a:pt x="10000" y="21000"/>
                </a:cubicBezTo>
                <a:cubicBezTo>
                  <a:pt x="10000" y="19895"/>
                  <a:pt x="10895" y="19000"/>
                  <a:pt x="12000" y="19000"/>
                </a:cubicBezTo>
                <a:cubicBezTo>
                  <a:pt x="13105" y="19000"/>
                  <a:pt x="14000" y="19895"/>
                  <a:pt x="14000" y="21000"/>
                </a:cubicBezTo>
                <a:close/>
                <a:moveTo>
                  <a:pt x="11875" y="11783"/>
                </a:moveTo>
                <a:lnTo>
                  <a:pt x="4081" y="16283"/>
                </a:lnTo>
                <a:lnTo>
                  <a:pt x="4331" y="16717"/>
                </a:lnTo>
                <a:lnTo>
                  <a:pt x="12125" y="12217"/>
                </a:lnTo>
                <a:close/>
                <a:moveTo>
                  <a:pt x="6206" y="16500"/>
                </a:moveTo>
                <a:cubicBezTo>
                  <a:pt x="6206" y="17605"/>
                  <a:pt x="5310" y="18500"/>
                  <a:pt x="4206" y="18500"/>
                </a:cubicBezTo>
                <a:cubicBezTo>
                  <a:pt x="3101" y="18500"/>
                  <a:pt x="2206" y="17605"/>
                  <a:pt x="2206" y="16500"/>
                </a:cubicBezTo>
                <a:cubicBezTo>
                  <a:pt x="2206" y="15395"/>
                  <a:pt x="3101" y="14500"/>
                  <a:pt x="4206" y="14500"/>
                </a:cubicBezTo>
                <a:cubicBezTo>
                  <a:pt x="5310" y="14500"/>
                  <a:pt x="6206" y="15395"/>
                  <a:pt x="6206" y="16500"/>
                </a:cubicBezTo>
                <a:close/>
                <a:moveTo>
                  <a:pt x="12125" y="11783"/>
                </a:moveTo>
                <a:lnTo>
                  <a:pt x="4331" y="7283"/>
                </a:lnTo>
                <a:lnTo>
                  <a:pt x="4081" y="7717"/>
                </a:lnTo>
                <a:lnTo>
                  <a:pt x="11875" y="12217"/>
                </a:lnTo>
                <a:close/>
                <a:moveTo>
                  <a:pt x="6206" y="7500"/>
                </a:moveTo>
                <a:cubicBezTo>
                  <a:pt x="6206" y="8605"/>
                  <a:pt x="5310" y="9500"/>
                  <a:pt x="4206" y="9500"/>
                </a:cubicBezTo>
                <a:cubicBezTo>
                  <a:pt x="3101" y="9500"/>
                  <a:pt x="2206" y="8605"/>
                  <a:pt x="2206" y="7500"/>
                </a:cubicBezTo>
                <a:cubicBezTo>
                  <a:pt x="2206" y="6395"/>
                  <a:pt x="3101" y="5500"/>
                  <a:pt x="4206" y="5500"/>
                </a:cubicBezTo>
                <a:cubicBezTo>
                  <a:pt x="5310" y="5500"/>
                  <a:pt x="6206" y="6395"/>
                  <a:pt x="6206" y="7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中心辐射CoE</a:t>
            </a:r>
          </a:p>
        </p:txBody>
      </p:sp>
      <p:sp>
        <p:nvSpPr>
          <p:cNvPr id="25" name="ORG-008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600" y="6000"/>
                </a:moveTo>
                <a:cubicBezTo>
                  <a:pt x="7600" y="6884"/>
                  <a:pt x="6884" y="7600"/>
                  <a:pt x="6000" y="7600"/>
                </a:cubicBezTo>
                <a:cubicBezTo>
                  <a:pt x="5116" y="7600"/>
                  <a:pt x="4400" y="6884"/>
                  <a:pt x="4400" y="6000"/>
                </a:cubicBezTo>
                <a:cubicBezTo>
                  <a:pt x="4400" y="5116"/>
                  <a:pt x="5116" y="4400"/>
                  <a:pt x="6000" y="4400"/>
                </a:cubicBezTo>
                <a:cubicBezTo>
                  <a:pt x="6884" y="4400"/>
                  <a:pt x="7600" y="5116"/>
                  <a:pt x="7600" y="6000"/>
                </a:cubicBezTo>
                <a:close/>
                <a:moveTo>
                  <a:pt x="19600" y="6000"/>
                </a:moveTo>
                <a:cubicBezTo>
                  <a:pt x="19600" y="6884"/>
                  <a:pt x="18884" y="7600"/>
                  <a:pt x="18000" y="7600"/>
                </a:cubicBezTo>
                <a:cubicBezTo>
                  <a:pt x="17116" y="7600"/>
                  <a:pt x="16400" y="6884"/>
                  <a:pt x="16400" y="6000"/>
                </a:cubicBezTo>
                <a:cubicBezTo>
                  <a:pt x="16400" y="5116"/>
                  <a:pt x="17116" y="4400"/>
                  <a:pt x="18000" y="4400"/>
                </a:cubicBezTo>
                <a:cubicBezTo>
                  <a:pt x="18884" y="4400"/>
                  <a:pt x="19600" y="5116"/>
                  <a:pt x="19600" y="6000"/>
                </a:cubicBezTo>
                <a:close/>
                <a:moveTo>
                  <a:pt x="13600" y="12000"/>
                </a:moveTo>
                <a:cubicBezTo>
                  <a:pt x="13600" y="12884"/>
                  <a:pt x="12884" y="13600"/>
                  <a:pt x="12000" y="13600"/>
                </a:cubicBezTo>
                <a:cubicBezTo>
                  <a:pt x="11116" y="13600"/>
                  <a:pt x="10400" y="12884"/>
                  <a:pt x="10400" y="12000"/>
                </a:cubicBezTo>
                <a:cubicBezTo>
                  <a:pt x="10400" y="11116"/>
                  <a:pt x="11116" y="10400"/>
                  <a:pt x="12000" y="10400"/>
                </a:cubicBezTo>
                <a:cubicBezTo>
                  <a:pt x="12884" y="10400"/>
                  <a:pt x="13600" y="11116"/>
                  <a:pt x="13600" y="12000"/>
                </a:cubicBezTo>
                <a:close/>
                <a:moveTo>
                  <a:pt x="7600" y="18000"/>
                </a:moveTo>
                <a:cubicBezTo>
                  <a:pt x="7600" y="18884"/>
                  <a:pt x="6884" y="19600"/>
                  <a:pt x="6000" y="19600"/>
                </a:cubicBezTo>
                <a:cubicBezTo>
                  <a:pt x="5116" y="19600"/>
                  <a:pt x="4400" y="18884"/>
                  <a:pt x="4400" y="18000"/>
                </a:cubicBezTo>
                <a:cubicBezTo>
                  <a:pt x="4400" y="17116"/>
                  <a:pt x="5116" y="16400"/>
                  <a:pt x="6000" y="16400"/>
                </a:cubicBezTo>
                <a:cubicBezTo>
                  <a:pt x="6884" y="16400"/>
                  <a:pt x="7600" y="17116"/>
                  <a:pt x="7600" y="18000"/>
                </a:cubicBezTo>
                <a:close/>
                <a:moveTo>
                  <a:pt x="19600" y="18000"/>
                </a:moveTo>
                <a:cubicBezTo>
                  <a:pt x="19600" y="18884"/>
                  <a:pt x="18884" y="19600"/>
                  <a:pt x="18000" y="19600"/>
                </a:cubicBezTo>
                <a:cubicBezTo>
                  <a:pt x="17116" y="19600"/>
                  <a:pt x="16400" y="18884"/>
                  <a:pt x="16400" y="18000"/>
                </a:cubicBezTo>
                <a:cubicBezTo>
                  <a:pt x="16400" y="17116"/>
                  <a:pt x="17116" y="16400"/>
                  <a:pt x="18000" y="16400"/>
                </a:cubicBezTo>
                <a:cubicBezTo>
                  <a:pt x="18884" y="16400"/>
                  <a:pt x="19600" y="17116"/>
                  <a:pt x="19600" y="18000"/>
                </a:cubicBezTo>
                <a:close/>
                <a:moveTo>
                  <a:pt x="6000" y="6200"/>
                </a:moveTo>
                <a:lnTo>
                  <a:pt x="18000" y="6200"/>
                </a:lnTo>
                <a:lnTo>
                  <a:pt x="18000" y="5800"/>
                </a:lnTo>
                <a:lnTo>
                  <a:pt x="6000" y="5800"/>
                </a:lnTo>
                <a:close/>
                <a:moveTo>
                  <a:pt x="5859" y="6141"/>
                </a:moveTo>
                <a:lnTo>
                  <a:pt x="11859" y="12141"/>
                </a:lnTo>
                <a:lnTo>
                  <a:pt x="12141" y="11859"/>
                </a:lnTo>
                <a:lnTo>
                  <a:pt x="6141" y="5859"/>
                </a:lnTo>
                <a:close/>
                <a:moveTo>
                  <a:pt x="5800" y="6000"/>
                </a:moveTo>
                <a:lnTo>
                  <a:pt x="5800" y="18000"/>
                </a:lnTo>
                <a:lnTo>
                  <a:pt x="6200" y="18000"/>
                </a:lnTo>
                <a:lnTo>
                  <a:pt x="6200" y="6000"/>
                </a:lnTo>
                <a:close/>
                <a:moveTo>
                  <a:pt x="17859" y="5859"/>
                </a:moveTo>
                <a:lnTo>
                  <a:pt x="11859" y="11859"/>
                </a:lnTo>
                <a:lnTo>
                  <a:pt x="12141" y="12141"/>
                </a:lnTo>
                <a:lnTo>
                  <a:pt x="18141" y="6141"/>
                </a:lnTo>
                <a:close/>
                <a:moveTo>
                  <a:pt x="17800" y="6000"/>
                </a:moveTo>
                <a:lnTo>
                  <a:pt x="17800" y="18000"/>
                </a:lnTo>
                <a:lnTo>
                  <a:pt x="18200" y="18000"/>
                </a:lnTo>
                <a:lnTo>
                  <a:pt x="18200" y="6000"/>
                </a:lnTo>
                <a:close/>
                <a:moveTo>
                  <a:pt x="11859" y="11859"/>
                </a:moveTo>
                <a:lnTo>
                  <a:pt x="5859" y="17859"/>
                </a:lnTo>
                <a:lnTo>
                  <a:pt x="6141" y="18141"/>
                </a:lnTo>
                <a:lnTo>
                  <a:pt x="12141" y="12141"/>
                </a:lnTo>
                <a:close/>
                <a:moveTo>
                  <a:pt x="11859" y="12141"/>
                </a:moveTo>
                <a:lnTo>
                  <a:pt x="17859" y="18141"/>
                </a:lnTo>
                <a:lnTo>
                  <a:pt x="18141" y="17859"/>
                </a:lnTo>
                <a:lnTo>
                  <a:pt x="12141" y="11859"/>
                </a:lnTo>
                <a:close/>
                <a:moveTo>
                  <a:pt x="6000" y="18200"/>
                </a:moveTo>
                <a:lnTo>
                  <a:pt x="18000" y="18200"/>
                </a:lnTo>
                <a:lnTo>
                  <a:pt x="18000" y="17800"/>
                </a:lnTo>
                <a:lnTo>
                  <a:pt x="6000" y="178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网络型组织</a:t>
            </a:r>
          </a:p>
        </p:txBody>
      </p:sp>
      <p:sp>
        <p:nvSpPr>
          <p:cNvPr id="28" name="ORG-009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0500" y="12000"/>
                </a:moveTo>
                <a:cubicBezTo>
                  <a:pt x="20500" y="7306"/>
                  <a:pt x="16694" y="3500"/>
                  <a:pt x="12000" y="3500"/>
                </a:cubicBezTo>
                <a:cubicBezTo>
                  <a:pt x="7306" y="3500"/>
                  <a:pt x="3500" y="7306"/>
                  <a:pt x="3500" y="12000"/>
                </a:cubicBezTo>
                <a:cubicBezTo>
                  <a:pt x="3500" y="16694"/>
                  <a:pt x="7306" y="20500"/>
                  <a:pt x="12000" y="20500"/>
                </a:cubicBezTo>
                <a:cubicBezTo>
                  <a:pt x="16694" y="20500"/>
                  <a:pt x="20500" y="16694"/>
                  <a:pt x="20500" y="12000"/>
                </a:cubicBezTo>
                <a:close/>
                <a:moveTo>
                  <a:pt x="19000" y="12000"/>
                </a:moveTo>
                <a:cubicBezTo>
                  <a:pt x="19000" y="15866"/>
                  <a:pt x="15866" y="19000"/>
                  <a:pt x="12000" y="19000"/>
                </a:cubicBezTo>
                <a:cubicBezTo>
                  <a:pt x="8134" y="19000"/>
                  <a:pt x="5000" y="15866"/>
                  <a:pt x="5000" y="12000"/>
                </a:cubicBezTo>
                <a:cubicBezTo>
                  <a:pt x="5000" y="8134"/>
                  <a:pt x="8134" y="5000"/>
                  <a:pt x="12000" y="5000"/>
                </a:cubicBezTo>
                <a:cubicBezTo>
                  <a:pt x="15866" y="5000"/>
                  <a:pt x="19000" y="8134"/>
                  <a:pt x="19000" y="12000"/>
                </a:cubicBezTo>
                <a:close/>
                <a:moveTo>
                  <a:pt x="17500" y="12000"/>
                </a:moveTo>
                <a:cubicBezTo>
                  <a:pt x="17500" y="8962"/>
                  <a:pt x="15038" y="6500"/>
                  <a:pt x="12000" y="6500"/>
                </a:cubicBezTo>
                <a:cubicBezTo>
                  <a:pt x="8962" y="6500"/>
                  <a:pt x="6500" y="8962"/>
                  <a:pt x="6500" y="12000"/>
                </a:cubicBezTo>
                <a:cubicBezTo>
                  <a:pt x="6500" y="15038"/>
                  <a:pt x="8962" y="17500"/>
                  <a:pt x="12000" y="17500"/>
                </a:cubicBezTo>
                <a:cubicBezTo>
                  <a:pt x="15038" y="17500"/>
                  <a:pt x="17500" y="15038"/>
                  <a:pt x="17500" y="12000"/>
                </a:cubicBezTo>
                <a:close/>
                <a:moveTo>
                  <a:pt x="16000" y="12000"/>
                </a:moveTo>
                <a:cubicBezTo>
                  <a:pt x="16000" y="14209"/>
                  <a:pt x="14209" y="16000"/>
                  <a:pt x="12000" y="16000"/>
                </a:cubicBezTo>
                <a:cubicBezTo>
                  <a:pt x="9791" y="16000"/>
                  <a:pt x="8000" y="14209"/>
                  <a:pt x="8000" y="12000"/>
                </a:cubicBezTo>
                <a:cubicBezTo>
                  <a:pt x="8000" y="9791"/>
                  <a:pt x="9791" y="8000"/>
                  <a:pt x="12000" y="8000"/>
                </a:cubicBezTo>
                <a:cubicBezTo>
                  <a:pt x="14209" y="8000"/>
                  <a:pt x="16000" y="9791"/>
                  <a:pt x="16000" y="12000"/>
                </a:cubicBezTo>
                <a:close/>
                <a:moveTo>
                  <a:pt x="14500" y="12000"/>
                </a:moveTo>
                <a:cubicBezTo>
                  <a:pt x="14500" y="10619"/>
                  <a:pt x="13381" y="9500"/>
                  <a:pt x="12000" y="9500"/>
                </a:cubicBezTo>
                <a:cubicBezTo>
                  <a:pt x="10619" y="9500"/>
                  <a:pt x="9500" y="10619"/>
                  <a:pt x="9500" y="12000"/>
                </a:cubicBezTo>
                <a:cubicBezTo>
                  <a:pt x="9500" y="13381"/>
                  <a:pt x="10619" y="14500"/>
                  <a:pt x="12000" y="14500"/>
                </a:cubicBezTo>
                <a:cubicBezTo>
                  <a:pt x="13381" y="14500"/>
                  <a:pt x="14500" y="13381"/>
                  <a:pt x="14500" y="12000"/>
                </a:cubicBezTo>
                <a:close/>
                <a:moveTo>
                  <a:pt x="13200" y="12000"/>
                </a:moveTo>
                <a:cubicBezTo>
                  <a:pt x="13200" y="12663"/>
                  <a:pt x="12663" y="13200"/>
                  <a:pt x="12000" y="13200"/>
                </a:cubicBezTo>
                <a:cubicBezTo>
                  <a:pt x="11337" y="13200"/>
                  <a:pt x="10800" y="12663"/>
                  <a:pt x="10800" y="12000"/>
                </a:cubicBezTo>
                <a:cubicBezTo>
                  <a:pt x="10800" y="11337"/>
                  <a:pt x="11337" y="10800"/>
                  <a:pt x="12000" y="10800"/>
                </a:cubicBezTo>
                <a:cubicBezTo>
                  <a:pt x="12663" y="10800"/>
                  <a:pt x="13200" y="11337"/>
                  <a:pt x="132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合弄制圆环</a:t>
            </a:r>
          </a:p>
        </p:txBody>
      </p:sp>
      <p:sp>
        <p:nvSpPr>
          <p:cNvPr id="31" name="ORG-010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4000"/>
                </a:moveTo>
                <a:lnTo>
                  <a:pt x="21000" y="4000"/>
                </a:lnTo>
                <a:cubicBezTo>
                  <a:pt x="21552" y="4000"/>
                  <a:pt x="22000" y="4448"/>
                  <a:pt x="22000" y="5000"/>
                </a:cubicBezTo>
                <a:lnTo>
                  <a:pt x="22000" y="19000"/>
                </a:lnTo>
                <a:cubicBezTo>
                  <a:pt x="22000" y="19552"/>
                  <a:pt x="21552" y="20000"/>
                  <a:pt x="21000" y="20000"/>
                </a:cubicBezTo>
                <a:lnTo>
                  <a:pt x="3000" y="20000"/>
                </a:lnTo>
                <a:cubicBezTo>
                  <a:pt x="2448" y="20000"/>
                  <a:pt x="2000" y="19552"/>
                  <a:pt x="2000" y="19000"/>
                </a:cubicBezTo>
                <a:lnTo>
                  <a:pt x="2000" y="5000"/>
                </a:lnTo>
                <a:cubicBezTo>
                  <a:pt x="2000" y="4448"/>
                  <a:pt x="2448" y="4000"/>
                  <a:pt x="3000" y="4000"/>
                </a:cubicBezTo>
                <a:close/>
                <a:moveTo>
                  <a:pt x="7400" y="9000"/>
                </a:moveTo>
                <a:cubicBezTo>
                  <a:pt x="7400" y="9773"/>
                  <a:pt x="6773" y="10400"/>
                  <a:pt x="6000" y="10400"/>
                </a:cubicBezTo>
                <a:cubicBezTo>
                  <a:pt x="5227" y="10400"/>
                  <a:pt x="4600" y="9773"/>
                  <a:pt x="4600" y="9000"/>
                </a:cubicBezTo>
                <a:cubicBezTo>
                  <a:pt x="4600" y="8227"/>
                  <a:pt x="5227" y="7600"/>
                  <a:pt x="6000" y="7600"/>
                </a:cubicBezTo>
                <a:cubicBezTo>
                  <a:pt x="6773" y="7600"/>
                  <a:pt x="7400" y="8227"/>
                  <a:pt x="7400" y="9000"/>
                </a:cubicBezTo>
                <a:close/>
                <a:moveTo>
                  <a:pt x="12400" y="9000"/>
                </a:moveTo>
                <a:cubicBezTo>
                  <a:pt x="12400" y="9773"/>
                  <a:pt x="11773" y="10400"/>
                  <a:pt x="11000" y="10400"/>
                </a:cubicBezTo>
                <a:cubicBezTo>
                  <a:pt x="10227" y="10400"/>
                  <a:pt x="9600" y="9773"/>
                  <a:pt x="9600" y="9000"/>
                </a:cubicBezTo>
                <a:cubicBezTo>
                  <a:pt x="9600" y="8227"/>
                  <a:pt x="10227" y="7600"/>
                  <a:pt x="11000" y="7600"/>
                </a:cubicBezTo>
                <a:cubicBezTo>
                  <a:pt x="11773" y="7600"/>
                  <a:pt x="12400" y="8227"/>
                  <a:pt x="12400" y="9000"/>
                </a:cubicBezTo>
                <a:close/>
                <a:moveTo>
                  <a:pt x="18400" y="9000"/>
                </a:moveTo>
                <a:cubicBezTo>
                  <a:pt x="18400" y="9773"/>
                  <a:pt x="17773" y="10400"/>
                  <a:pt x="17000" y="10400"/>
                </a:cubicBezTo>
                <a:cubicBezTo>
                  <a:pt x="16227" y="10400"/>
                  <a:pt x="15600" y="9773"/>
                  <a:pt x="15600" y="9000"/>
                </a:cubicBezTo>
                <a:cubicBezTo>
                  <a:pt x="15600" y="8227"/>
                  <a:pt x="16227" y="7600"/>
                  <a:pt x="17000" y="7600"/>
                </a:cubicBezTo>
                <a:cubicBezTo>
                  <a:pt x="17773" y="7600"/>
                  <a:pt x="18400" y="8227"/>
                  <a:pt x="18400" y="9000"/>
                </a:cubicBezTo>
                <a:close/>
                <a:moveTo>
                  <a:pt x="7400" y="15000"/>
                </a:moveTo>
                <a:cubicBezTo>
                  <a:pt x="7400" y="15773"/>
                  <a:pt x="6773" y="16400"/>
                  <a:pt x="6000" y="16400"/>
                </a:cubicBezTo>
                <a:cubicBezTo>
                  <a:pt x="5227" y="16400"/>
                  <a:pt x="4600" y="15773"/>
                  <a:pt x="4600" y="15000"/>
                </a:cubicBezTo>
                <a:cubicBezTo>
                  <a:pt x="4600" y="14227"/>
                  <a:pt x="5227" y="13600"/>
                  <a:pt x="6000" y="13600"/>
                </a:cubicBezTo>
                <a:cubicBezTo>
                  <a:pt x="6773" y="13600"/>
                  <a:pt x="7400" y="14227"/>
                  <a:pt x="7400" y="15000"/>
                </a:cubicBezTo>
                <a:close/>
                <a:moveTo>
                  <a:pt x="12400" y="15000"/>
                </a:moveTo>
                <a:cubicBezTo>
                  <a:pt x="12400" y="15773"/>
                  <a:pt x="11773" y="16400"/>
                  <a:pt x="11000" y="16400"/>
                </a:cubicBezTo>
                <a:cubicBezTo>
                  <a:pt x="10227" y="16400"/>
                  <a:pt x="9600" y="15773"/>
                  <a:pt x="9600" y="15000"/>
                </a:cubicBezTo>
                <a:cubicBezTo>
                  <a:pt x="9600" y="14227"/>
                  <a:pt x="10227" y="13600"/>
                  <a:pt x="11000" y="13600"/>
                </a:cubicBezTo>
                <a:cubicBezTo>
                  <a:pt x="11773" y="13600"/>
                  <a:pt x="12400" y="14227"/>
                  <a:pt x="12400" y="15000"/>
                </a:cubicBezTo>
                <a:close/>
                <a:moveTo>
                  <a:pt x="18400" y="15000"/>
                </a:moveTo>
                <a:cubicBezTo>
                  <a:pt x="18400" y="15773"/>
                  <a:pt x="17773" y="16400"/>
                  <a:pt x="17000" y="16400"/>
                </a:cubicBezTo>
                <a:cubicBezTo>
                  <a:pt x="16227" y="16400"/>
                  <a:pt x="15600" y="15773"/>
                  <a:pt x="15600" y="15000"/>
                </a:cubicBezTo>
                <a:cubicBezTo>
                  <a:pt x="15600" y="14227"/>
                  <a:pt x="16227" y="13600"/>
                  <a:pt x="17000" y="13600"/>
                </a:cubicBezTo>
                <a:cubicBezTo>
                  <a:pt x="17773" y="13600"/>
                  <a:pt x="18400" y="14227"/>
                  <a:pt x="18400" y="15000"/>
                </a:cubicBezTo>
                <a:close/>
                <a:moveTo>
                  <a:pt x="4000" y="6250"/>
                </a:moveTo>
                <a:lnTo>
                  <a:pt x="9000" y="6250"/>
                </a:lnTo>
                <a:lnTo>
                  <a:pt x="9000" y="5750"/>
                </a:lnTo>
                <a:lnTo>
                  <a:pt x="4000" y="5750"/>
                </a:lnTo>
                <a:close/>
                <a:moveTo>
                  <a:pt x="4000" y="12250"/>
                </a:moveTo>
                <a:lnTo>
                  <a:pt x="14000" y="12250"/>
                </a:lnTo>
                <a:lnTo>
                  <a:pt x="14000" y="11750"/>
                </a:lnTo>
                <a:lnTo>
                  <a:pt x="4000" y="11750"/>
                </a:lnTo>
                <a:close/>
                <a:moveTo>
                  <a:pt x="4000" y="18250"/>
                </a:moveTo>
                <a:lnTo>
                  <a:pt x="19000" y="18250"/>
                </a:lnTo>
                <a:lnTo>
                  <a:pt x="19000" y="17750"/>
                </a:lnTo>
                <a:lnTo>
                  <a:pt x="4000" y="177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部落-小队</a:t>
            </a:r>
          </a:p>
        </p:txBody>
      </p:sp>
      <p:sp>
        <p:nvSpPr>
          <p:cNvPr id="34" name="ORG-011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000" y="8000"/>
                </a:moveTo>
                <a:cubicBezTo>
                  <a:pt x="10000" y="9105"/>
                  <a:pt x="9105" y="10000"/>
                  <a:pt x="8000" y="10000"/>
                </a:cubicBezTo>
                <a:cubicBezTo>
                  <a:pt x="6895" y="10000"/>
                  <a:pt x="6000" y="9105"/>
                  <a:pt x="6000" y="8000"/>
                </a:cubicBezTo>
                <a:cubicBezTo>
                  <a:pt x="6000" y="6895"/>
                  <a:pt x="6895" y="6000"/>
                  <a:pt x="8000" y="6000"/>
                </a:cubicBezTo>
                <a:cubicBezTo>
                  <a:pt x="9105" y="6000"/>
                  <a:pt x="10000" y="6895"/>
                  <a:pt x="10000" y="8000"/>
                </a:cubicBezTo>
                <a:close/>
                <a:moveTo>
                  <a:pt x="18000" y="8000"/>
                </a:moveTo>
                <a:cubicBezTo>
                  <a:pt x="18000" y="9105"/>
                  <a:pt x="17105" y="10000"/>
                  <a:pt x="16000" y="10000"/>
                </a:cubicBezTo>
                <a:cubicBezTo>
                  <a:pt x="14895" y="10000"/>
                  <a:pt x="14000" y="9105"/>
                  <a:pt x="14000" y="8000"/>
                </a:cubicBezTo>
                <a:cubicBezTo>
                  <a:pt x="14000" y="6895"/>
                  <a:pt x="14895" y="6000"/>
                  <a:pt x="16000" y="6000"/>
                </a:cubicBezTo>
                <a:cubicBezTo>
                  <a:pt x="17105" y="6000"/>
                  <a:pt x="18000" y="6895"/>
                  <a:pt x="18000" y="8000"/>
                </a:cubicBezTo>
                <a:close/>
                <a:moveTo>
                  <a:pt x="14000" y="16000"/>
                </a:moveTo>
                <a:cubicBezTo>
                  <a:pt x="14000" y="17105"/>
                  <a:pt x="13105" y="18000"/>
                  <a:pt x="12000" y="18000"/>
                </a:cubicBezTo>
                <a:cubicBezTo>
                  <a:pt x="10895" y="18000"/>
                  <a:pt x="10000" y="17105"/>
                  <a:pt x="10000" y="16000"/>
                </a:cubicBezTo>
                <a:cubicBezTo>
                  <a:pt x="10000" y="14895"/>
                  <a:pt x="10895" y="14000"/>
                  <a:pt x="12000" y="14000"/>
                </a:cubicBezTo>
                <a:cubicBezTo>
                  <a:pt x="13105" y="14000"/>
                  <a:pt x="14000" y="14895"/>
                  <a:pt x="14000" y="16000"/>
                </a:cubicBezTo>
                <a:close/>
                <a:moveTo>
                  <a:pt x="10000" y="8250"/>
                </a:moveTo>
                <a:lnTo>
                  <a:pt x="14000" y="8250"/>
                </a:lnTo>
                <a:lnTo>
                  <a:pt x="14000" y="7750"/>
                </a:lnTo>
                <a:lnTo>
                  <a:pt x="10000" y="7750"/>
                </a:lnTo>
                <a:close/>
                <a:moveTo>
                  <a:pt x="8776" y="10112"/>
                </a:moveTo>
                <a:lnTo>
                  <a:pt x="10776" y="14112"/>
                </a:lnTo>
                <a:lnTo>
                  <a:pt x="11224" y="13888"/>
                </a:lnTo>
                <a:lnTo>
                  <a:pt x="9224" y="9888"/>
                </a:lnTo>
                <a:close/>
                <a:moveTo>
                  <a:pt x="14776" y="9888"/>
                </a:moveTo>
                <a:lnTo>
                  <a:pt x="12776" y="13888"/>
                </a:lnTo>
                <a:lnTo>
                  <a:pt x="13224" y="14112"/>
                </a:lnTo>
                <a:lnTo>
                  <a:pt x="15224" y="10112"/>
                </a:lnTo>
                <a:close/>
                <a:moveTo>
                  <a:pt x="12000" y="10600"/>
                </a:moveTo>
                <a:lnTo>
                  <a:pt x="12283" y="11717"/>
                </a:lnTo>
                <a:lnTo>
                  <a:pt x="13400" y="12000"/>
                </a:lnTo>
                <a:lnTo>
                  <a:pt x="12283" y="12283"/>
                </a:lnTo>
                <a:lnTo>
                  <a:pt x="12000" y="13400"/>
                </a:lnTo>
                <a:lnTo>
                  <a:pt x="11717" y="12283"/>
                </a:lnTo>
                <a:lnTo>
                  <a:pt x="10600" y="12000"/>
                </a:lnTo>
                <a:lnTo>
                  <a:pt x="11717" y="117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Tiger Team</a:t>
            </a:r>
          </a:p>
        </p:txBody>
      </p:sp>
      <p:sp>
        <p:nvSpPr>
          <p:cNvPr id="37" name="ORG-012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3000"/>
                </a:moveTo>
                <a:cubicBezTo>
                  <a:pt x="21000" y="15209"/>
                  <a:pt x="16971" y="17000"/>
                  <a:pt x="12000" y="17000"/>
                </a:cubicBezTo>
                <a:cubicBezTo>
                  <a:pt x="7029" y="17000"/>
                  <a:pt x="3000" y="15209"/>
                  <a:pt x="3000" y="13000"/>
                </a:cubicBezTo>
                <a:cubicBezTo>
                  <a:pt x="3000" y="10791"/>
                  <a:pt x="7029" y="9000"/>
                  <a:pt x="12000" y="9000"/>
                </a:cubicBezTo>
                <a:cubicBezTo>
                  <a:pt x="16971" y="9000"/>
                  <a:pt x="21000" y="10791"/>
                  <a:pt x="21000" y="13000"/>
                </a:cubicBezTo>
                <a:close/>
                <a:moveTo>
                  <a:pt x="5600" y="9000"/>
                </a:moveTo>
                <a:cubicBezTo>
                  <a:pt x="5600" y="9884"/>
                  <a:pt x="4884" y="10600"/>
                  <a:pt x="4000" y="10600"/>
                </a:cubicBezTo>
                <a:cubicBezTo>
                  <a:pt x="3116" y="10600"/>
                  <a:pt x="2400" y="9884"/>
                  <a:pt x="2400" y="9000"/>
                </a:cubicBezTo>
                <a:cubicBezTo>
                  <a:pt x="2400" y="8116"/>
                  <a:pt x="3116" y="7400"/>
                  <a:pt x="4000" y="7400"/>
                </a:cubicBezTo>
                <a:cubicBezTo>
                  <a:pt x="4884" y="7400"/>
                  <a:pt x="5600" y="8116"/>
                  <a:pt x="5600" y="9000"/>
                </a:cubicBezTo>
                <a:close/>
                <a:moveTo>
                  <a:pt x="21600" y="9000"/>
                </a:moveTo>
                <a:cubicBezTo>
                  <a:pt x="21600" y="9884"/>
                  <a:pt x="20884" y="10600"/>
                  <a:pt x="20000" y="10600"/>
                </a:cubicBezTo>
                <a:cubicBezTo>
                  <a:pt x="19116" y="10600"/>
                  <a:pt x="18400" y="9884"/>
                  <a:pt x="18400" y="9000"/>
                </a:cubicBezTo>
                <a:cubicBezTo>
                  <a:pt x="18400" y="8116"/>
                  <a:pt x="19116" y="7400"/>
                  <a:pt x="20000" y="7400"/>
                </a:cubicBezTo>
                <a:cubicBezTo>
                  <a:pt x="20884" y="7400"/>
                  <a:pt x="21600" y="8116"/>
                  <a:pt x="21600" y="9000"/>
                </a:cubicBezTo>
                <a:close/>
                <a:moveTo>
                  <a:pt x="5600" y="17000"/>
                </a:moveTo>
                <a:cubicBezTo>
                  <a:pt x="5600" y="17884"/>
                  <a:pt x="4884" y="18600"/>
                  <a:pt x="4000" y="18600"/>
                </a:cubicBezTo>
                <a:cubicBezTo>
                  <a:pt x="3116" y="18600"/>
                  <a:pt x="2400" y="17884"/>
                  <a:pt x="2400" y="17000"/>
                </a:cubicBezTo>
                <a:cubicBezTo>
                  <a:pt x="2400" y="16116"/>
                  <a:pt x="3116" y="15400"/>
                  <a:pt x="4000" y="15400"/>
                </a:cubicBezTo>
                <a:cubicBezTo>
                  <a:pt x="4884" y="15400"/>
                  <a:pt x="5600" y="16116"/>
                  <a:pt x="5600" y="17000"/>
                </a:cubicBezTo>
                <a:close/>
                <a:moveTo>
                  <a:pt x="21600" y="17000"/>
                </a:moveTo>
                <a:cubicBezTo>
                  <a:pt x="21600" y="17884"/>
                  <a:pt x="20884" y="18600"/>
                  <a:pt x="20000" y="18600"/>
                </a:cubicBezTo>
                <a:cubicBezTo>
                  <a:pt x="19116" y="18600"/>
                  <a:pt x="18400" y="17884"/>
                  <a:pt x="18400" y="17000"/>
                </a:cubicBezTo>
                <a:cubicBezTo>
                  <a:pt x="18400" y="16116"/>
                  <a:pt x="19116" y="15400"/>
                  <a:pt x="20000" y="15400"/>
                </a:cubicBezTo>
                <a:cubicBezTo>
                  <a:pt x="20884" y="15400"/>
                  <a:pt x="21600" y="16116"/>
                  <a:pt x="21600" y="17000"/>
                </a:cubicBezTo>
                <a:close/>
                <a:moveTo>
                  <a:pt x="13600" y="6000"/>
                </a:moveTo>
                <a:cubicBezTo>
                  <a:pt x="13600" y="6884"/>
                  <a:pt x="12884" y="7600"/>
                  <a:pt x="12000" y="7600"/>
                </a:cubicBezTo>
                <a:cubicBezTo>
                  <a:pt x="11116" y="7600"/>
                  <a:pt x="10400" y="6884"/>
                  <a:pt x="10400" y="6000"/>
                </a:cubicBezTo>
                <a:cubicBezTo>
                  <a:pt x="10400" y="5116"/>
                  <a:pt x="11116" y="4400"/>
                  <a:pt x="12000" y="4400"/>
                </a:cubicBezTo>
                <a:cubicBezTo>
                  <a:pt x="12884" y="4400"/>
                  <a:pt x="13600" y="5116"/>
                  <a:pt x="13600" y="6000"/>
                </a:cubicBezTo>
                <a:close/>
                <a:moveTo>
                  <a:pt x="13600" y="20000"/>
                </a:moveTo>
                <a:cubicBezTo>
                  <a:pt x="13600" y="20884"/>
                  <a:pt x="12884" y="21600"/>
                  <a:pt x="12000" y="21600"/>
                </a:cubicBezTo>
                <a:cubicBezTo>
                  <a:pt x="11116" y="21600"/>
                  <a:pt x="10400" y="20884"/>
                  <a:pt x="10400" y="20000"/>
                </a:cubicBezTo>
                <a:cubicBezTo>
                  <a:pt x="10400" y="19116"/>
                  <a:pt x="11116" y="18400"/>
                  <a:pt x="12000" y="18400"/>
                </a:cubicBezTo>
                <a:cubicBezTo>
                  <a:pt x="12884" y="18400"/>
                  <a:pt x="13600" y="19116"/>
                  <a:pt x="136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指导委员会</a:t>
            </a:r>
          </a:p>
        </p:txBody>
      </p:sp>
      <p:sp>
        <p:nvSpPr>
          <p:cNvPr id="40" name="ORG-013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500" y="8000"/>
                </a:moveTo>
                <a:cubicBezTo>
                  <a:pt x="17500" y="11038"/>
                  <a:pt x="15038" y="13500"/>
                  <a:pt x="12000" y="13500"/>
                </a:cubicBezTo>
                <a:cubicBezTo>
                  <a:pt x="8962" y="13500"/>
                  <a:pt x="6500" y="11038"/>
                  <a:pt x="6500" y="8000"/>
                </a:cubicBezTo>
                <a:cubicBezTo>
                  <a:pt x="6500" y="4962"/>
                  <a:pt x="8962" y="2500"/>
                  <a:pt x="12000" y="2500"/>
                </a:cubicBezTo>
                <a:cubicBezTo>
                  <a:pt x="15038" y="2500"/>
                  <a:pt x="17500" y="4962"/>
                  <a:pt x="17500" y="8000"/>
                </a:cubicBezTo>
                <a:close/>
                <a:moveTo>
                  <a:pt x="16500" y="8000"/>
                </a:moveTo>
                <a:cubicBezTo>
                  <a:pt x="16500" y="5515"/>
                  <a:pt x="14485" y="3500"/>
                  <a:pt x="12000" y="3500"/>
                </a:cubicBezTo>
                <a:cubicBezTo>
                  <a:pt x="9515" y="3500"/>
                  <a:pt x="7500" y="5515"/>
                  <a:pt x="7500" y="8000"/>
                </a:cubicBezTo>
                <a:cubicBezTo>
                  <a:pt x="7500" y="10485"/>
                  <a:pt x="9515" y="12500"/>
                  <a:pt x="12000" y="12500"/>
                </a:cubicBezTo>
                <a:cubicBezTo>
                  <a:pt x="14485" y="12500"/>
                  <a:pt x="16500" y="10485"/>
                  <a:pt x="16500" y="8000"/>
                </a:cubicBezTo>
                <a:close/>
                <a:moveTo>
                  <a:pt x="13500" y="15000"/>
                </a:moveTo>
                <a:cubicBezTo>
                  <a:pt x="13500" y="18038"/>
                  <a:pt x="11038" y="20500"/>
                  <a:pt x="8000" y="20500"/>
                </a:cubicBezTo>
                <a:cubicBezTo>
                  <a:pt x="4962" y="20500"/>
                  <a:pt x="2500" y="18038"/>
                  <a:pt x="2500" y="15000"/>
                </a:cubicBezTo>
                <a:cubicBezTo>
                  <a:pt x="2500" y="11962"/>
                  <a:pt x="4962" y="9500"/>
                  <a:pt x="8000" y="9500"/>
                </a:cubicBezTo>
                <a:cubicBezTo>
                  <a:pt x="11038" y="9500"/>
                  <a:pt x="13500" y="11962"/>
                  <a:pt x="13500" y="15000"/>
                </a:cubicBezTo>
                <a:close/>
                <a:moveTo>
                  <a:pt x="12500" y="15000"/>
                </a:moveTo>
                <a:cubicBezTo>
                  <a:pt x="12500" y="12515"/>
                  <a:pt x="10485" y="10500"/>
                  <a:pt x="8000" y="10500"/>
                </a:cubicBezTo>
                <a:cubicBezTo>
                  <a:pt x="5515" y="10500"/>
                  <a:pt x="3500" y="12515"/>
                  <a:pt x="3500" y="15000"/>
                </a:cubicBezTo>
                <a:cubicBezTo>
                  <a:pt x="3500" y="17485"/>
                  <a:pt x="5515" y="19500"/>
                  <a:pt x="8000" y="19500"/>
                </a:cubicBezTo>
                <a:cubicBezTo>
                  <a:pt x="10485" y="19500"/>
                  <a:pt x="12500" y="17485"/>
                  <a:pt x="12500" y="15000"/>
                </a:cubicBezTo>
                <a:close/>
                <a:moveTo>
                  <a:pt x="21500" y="15000"/>
                </a:moveTo>
                <a:cubicBezTo>
                  <a:pt x="21500" y="18038"/>
                  <a:pt x="19038" y="20500"/>
                  <a:pt x="16000" y="20500"/>
                </a:cubicBezTo>
                <a:cubicBezTo>
                  <a:pt x="12962" y="20500"/>
                  <a:pt x="10500" y="18038"/>
                  <a:pt x="10500" y="15000"/>
                </a:cubicBezTo>
                <a:cubicBezTo>
                  <a:pt x="10500" y="11962"/>
                  <a:pt x="12962" y="9500"/>
                  <a:pt x="16000" y="9500"/>
                </a:cubicBezTo>
                <a:cubicBezTo>
                  <a:pt x="19038" y="9500"/>
                  <a:pt x="21500" y="11962"/>
                  <a:pt x="21500" y="15000"/>
                </a:cubicBezTo>
                <a:close/>
                <a:moveTo>
                  <a:pt x="20500" y="15000"/>
                </a:moveTo>
                <a:cubicBezTo>
                  <a:pt x="20500" y="12515"/>
                  <a:pt x="18485" y="10500"/>
                  <a:pt x="16000" y="10500"/>
                </a:cubicBezTo>
                <a:cubicBezTo>
                  <a:pt x="13515" y="10500"/>
                  <a:pt x="11500" y="12515"/>
                  <a:pt x="11500" y="15000"/>
                </a:cubicBezTo>
                <a:cubicBezTo>
                  <a:pt x="11500" y="17485"/>
                  <a:pt x="13515" y="19500"/>
                  <a:pt x="16000" y="19500"/>
                </a:cubicBezTo>
                <a:cubicBezTo>
                  <a:pt x="18485" y="19500"/>
                  <a:pt x="20500" y="17485"/>
                  <a:pt x="20500" y="1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跨职能团队</a:t>
            </a:r>
          </a:p>
        </p:txBody>
      </p:sp>
      <p:sp>
        <p:nvSpPr>
          <p:cNvPr id="43" name="ORG-014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000"/>
                </a:moveTo>
                <a:lnTo>
                  <a:pt x="6700" y="2000"/>
                </a:lnTo>
                <a:lnTo>
                  <a:pt x="6700" y="2400"/>
                </a:lnTo>
                <a:lnTo>
                  <a:pt x="2000" y="2400"/>
                </a:lnTo>
                <a:close/>
                <a:moveTo>
                  <a:pt x="2000" y="6300"/>
                </a:moveTo>
                <a:lnTo>
                  <a:pt x="6700" y="6300"/>
                </a:lnTo>
                <a:lnTo>
                  <a:pt x="6700" y="6700"/>
                </a:lnTo>
                <a:lnTo>
                  <a:pt x="2000" y="6700"/>
                </a:lnTo>
                <a:close/>
                <a:moveTo>
                  <a:pt x="2000" y="2000"/>
                </a:moveTo>
                <a:lnTo>
                  <a:pt x="2400" y="2000"/>
                </a:lnTo>
                <a:lnTo>
                  <a:pt x="2400" y="6700"/>
                </a:lnTo>
                <a:lnTo>
                  <a:pt x="2000" y="6700"/>
                </a:lnTo>
                <a:close/>
                <a:moveTo>
                  <a:pt x="6300" y="2000"/>
                </a:moveTo>
                <a:lnTo>
                  <a:pt x="6700" y="2000"/>
                </a:lnTo>
                <a:lnTo>
                  <a:pt x="6700" y="6700"/>
                </a:lnTo>
                <a:lnTo>
                  <a:pt x="6300" y="6700"/>
                </a:lnTo>
                <a:close/>
                <a:moveTo>
                  <a:pt x="7400" y="2000"/>
                </a:moveTo>
                <a:lnTo>
                  <a:pt x="11500" y="2000"/>
                </a:lnTo>
                <a:cubicBezTo>
                  <a:pt x="11666" y="2000"/>
                  <a:pt x="11800" y="2134"/>
                  <a:pt x="11800" y="2300"/>
                </a:cubicBezTo>
                <a:lnTo>
                  <a:pt x="11800" y="6400"/>
                </a:lnTo>
                <a:cubicBezTo>
                  <a:pt x="11800" y="6566"/>
                  <a:pt x="11666" y="6700"/>
                  <a:pt x="11500" y="6700"/>
                </a:cubicBezTo>
                <a:lnTo>
                  <a:pt x="7400" y="6700"/>
                </a:lnTo>
                <a:cubicBezTo>
                  <a:pt x="7234" y="6700"/>
                  <a:pt x="7100" y="6566"/>
                  <a:pt x="7100" y="6400"/>
                </a:cubicBezTo>
                <a:lnTo>
                  <a:pt x="7100" y="2300"/>
                </a:lnTo>
                <a:cubicBezTo>
                  <a:pt x="7100" y="2134"/>
                  <a:pt x="7234" y="2000"/>
                  <a:pt x="7400" y="2000"/>
                </a:cubicBezTo>
                <a:close/>
                <a:moveTo>
                  <a:pt x="12200" y="2000"/>
                </a:moveTo>
                <a:lnTo>
                  <a:pt x="16900" y="2000"/>
                </a:lnTo>
                <a:lnTo>
                  <a:pt x="16900" y="2400"/>
                </a:lnTo>
                <a:lnTo>
                  <a:pt x="12200" y="2400"/>
                </a:lnTo>
                <a:close/>
                <a:moveTo>
                  <a:pt x="12200" y="6300"/>
                </a:moveTo>
                <a:lnTo>
                  <a:pt x="16900" y="6300"/>
                </a:lnTo>
                <a:lnTo>
                  <a:pt x="16900" y="6700"/>
                </a:lnTo>
                <a:lnTo>
                  <a:pt x="12200" y="6700"/>
                </a:lnTo>
                <a:close/>
                <a:moveTo>
                  <a:pt x="12200" y="2000"/>
                </a:moveTo>
                <a:lnTo>
                  <a:pt x="12600" y="2000"/>
                </a:lnTo>
                <a:lnTo>
                  <a:pt x="12600" y="6700"/>
                </a:lnTo>
                <a:lnTo>
                  <a:pt x="12200" y="6700"/>
                </a:lnTo>
                <a:close/>
                <a:moveTo>
                  <a:pt x="16500" y="2000"/>
                </a:moveTo>
                <a:lnTo>
                  <a:pt x="16900" y="2000"/>
                </a:lnTo>
                <a:lnTo>
                  <a:pt x="16900" y="6700"/>
                </a:lnTo>
                <a:lnTo>
                  <a:pt x="16500" y="6700"/>
                </a:lnTo>
                <a:close/>
                <a:moveTo>
                  <a:pt x="17300" y="2000"/>
                </a:moveTo>
                <a:lnTo>
                  <a:pt x="22000" y="2000"/>
                </a:lnTo>
                <a:lnTo>
                  <a:pt x="22000" y="2400"/>
                </a:lnTo>
                <a:lnTo>
                  <a:pt x="17300" y="2400"/>
                </a:lnTo>
                <a:close/>
                <a:moveTo>
                  <a:pt x="17300" y="6300"/>
                </a:moveTo>
                <a:lnTo>
                  <a:pt x="22000" y="6300"/>
                </a:lnTo>
                <a:lnTo>
                  <a:pt x="22000" y="6700"/>
                </a:lnTo>
                <a:lnTo>
                  <a:pt x="17300" y="6700"/>
                </a:lnTo>
                <a:close/>
                <a:moveTo>
                  <a:pt x="17300" y="2000"/>
                </a:moveTo>
                <a:lnTo>
                  <a:pt x="17700" y="2000"/>
                </a:lnTo>
                <a:lnTo>
                  <a:pt x="17700" y="6700"/>
                </a:lnTo>
                <a:lnTo>
                  <a:pt x="17300" y="6700"/>
                </a:lnTo>
                <a:close/>
                <a:moveTo>
                  <a:pt x="21600" y="2000"/>
                </a:moveTo>
                <a:lnTo>
                  <a:pt x="22000" y="2000"/>
                </a:lnTo>
                <a:lnTo>
                  <a:pt x="22000" y="6700"/>
                </a:lnTo>
                <a:lnTo>
                  <a:pt x="21600" y="6700"/>
                </a:lnTo>
                <a:close/>
                <a:moveTo>
                  <a:pt x="2000" y="7100"/>
                </a:moveTo>
                <a:lnTo>
                  <a:pt x="6700" y="7100"/>
                </a:lnTo>
                <a:lnTo>
                  <a:pt x="6700" y="7500"/>
                </a:lnTo>
                <a:lnTo>
                  <a:pt x="2000" y="7500"/>
                </a:lnTo>
                <a:close/>
                <a:moveTo>
                  <a:pt x="2000" y="11400"/>
                </a:moveTo>
                <a:lnTo>
                  <a:pt x="6700" y="11400"/>
                </a:lnTo>
                <a:lnTo>
                  <a:pt x="6700" y="11800"/>
                </a:lnTo>
                <a:lnTo>
                  <a:pt x="2000" y="11800"/>
                </a:lnTo>
                <a:close/>
                <a:moveTo>
                  <a:pt x="2000" y="7100"/>
                </a:moveTo>
                <a:lnTo>
                  <a:pt x="2400" y="7100"/>
                </a:lnTo>
                <a:lnTo>
                  <a:pt x="2400" y="11800"/>
                </a:lnTo>
                <a:lnTo>
                  <a:pt x="2000" y="11800"/>
                </a:lnTo>
                <a:close/>
                <a:moveTo>
                  <a:pt x="6300" y="7100"/>
                </a:moveTo>
                <a:lnTo>
                  <a:pt x="6700" y="7100"/>
                </a:lnTo>
                <a:lnTo>
                  <a:pt x="6700" y="11800"/>
                </a:lnTo>
                <a:lnTo>
                  <a:pt x="6300" y="11800"/>
                </a:lnTo>
                <a:close/>
                <a:moveTo>
                  <a:pt x="7100" y="7100"/>
                </a:moveTo>
                <a:lnTo>
                  <a:pt x="11800" y="7100"/>
                </a:lnTo>
                <a:lnTo>
                  <a:pt x="11800" y="7500"/>
                </a:lnTo>
                <a:lnTo>
                  <a:pt x="7100" y="7500"/>
                </a:lnTo>
                <a:close/>
                <a:moveTo>
                  <a:pt x="7100" y="11400"/>
                </a:moveTo>
                <a:lnTo>
                  <a:pt x="11800" y="11400"/>
                </a:lnTo>
                <a:lnTo>
                  <a:pt x="11800" y="11800"/>
                </a:lnTo>
                <a:lnTo>
                  <a:pt x="7100" y="11800"/>
                </a:lnTo>
                <a:close/>
                <a:moveTo>
                  <a:pt x="7100" y="7100"/>
                </a:moveTo>
                <a:lnTo>
                  <a:pt x="7500" y="7100"/>
                </a:lnTo>
                <a:lnTo>
                  <a:pt x="7500" y="11800"/>
                </a:lnTo>
                <a:lnTo>
                  <a:pt x="7100" y="11800"/>
                </a:lnTo>
                <a:close/>
                <a:moveTo>
                  <a:pt x="11400" y="7100"/>
                </a:moveTo>
                <a:lnTo>
                  <a:pt x="11800" y="7100"/>
                </a:lnTo>
                <a:lnTo>
                  <a:pt x="11800" y="11800"/>
                </a:lnTo>
                <a:lnTo>
                  <a:pt x="11400" y="11800"/>
                </a:lnTo>
                <a:close/>
                <a:moveTo>
                  <a:pt x="12500" y="7100"/>
                </a:moveTo>
                <a:lnTo>
                  <a:pt x="16600" y="7100"/>
                </a:lnTo>
                <a:cubicBezTo>
                  <a:pt x="16766" y="7100"/>
                  <a:pt x="16900" y="7234"/>
                  <a:pt x="16900" y="7400"/>
                </a:cubicBezTo>
                <a:lnTo>
                  <a:pt x="16900" y="11500"/>
                </a:lnTo>
                <a:cubicBezTo>
                  <a:pt x="16900" y="11666"/>
                  <a:pt x="16766" y="11800"/>
                  <a:pt x="16600" y="11800"/>
                </a:cubicBezTo>
                <a:lnTo>
                  <a:pt x="12500" y="11800"/>
                </a:lnTo>
                <a:cubicBezTo>
                  <a:pt x="12334" y="11800"/>
                  <a:pt x="12200" y="11666"/>
                  <a:pt x="12200" y="11500"/>
                </a:cubicBezTo>
                <a:lnTo>
                  <a:pt x="12200" y="7400"/>
                </a:lnTo>
                <a:cubicBezTo>
                  <a:pt x="12200" y="7234"/>
                  <a:pt x="12334" y="7100"/>
                  <a:pt x="12500" y="7100"/>
                </a:cubicBezTo>
                <a:close/>
                <a:moveTo>
                  <a:pt x="17300" y="7100"/>
                </a:moveTo>
                <a:lnTo>
                  <a:pt x="22000" y="7100"/>
                </a:lnTo>
                <a:lnTo>
                  <a:pt x="22000" y="7500"/>
                </a:lnTo>
                <a:lnTo>
                  <a:pt x="17300" y="7500"/>
                </a:lnTo>
                <a:close/>
                <a:moveTo>
                  <a:pt x="17300" y="11400"/>
                </a:moveTo>
                <a:lnTo>
                  <a:pt x="22000" y="11400"/>
                </a:lnTo>
                <a:lnTo>
                  <a:pt x="22000" y="11800"/>
                </a:lnTo>
                <a:lnTo>
                  <a:pt x="17300" y="11800"/>
                </a:lnTo>
                <a:close/>
                <a:moveTo>
                  <a:pt x="17300" y="7100"/>
                </a:moveTo>
                <a:lnTo>
                  <a:pt x="17700" y="7100"/>
                </a:lnTo>
                <a:lnTo>
                  <a:pt x="17700" y="11800"/>
                </a:lnTo>
                <a:lnTo>
                  <a:pt x="17300" y="11800"/>
                </a:lnTo>
                <a:close/>
                <a:moveTo>
                  <a:pt x="21600" y="7100"/>
                </a:moveTo>
                <a:lnTo>
                  <a:pt x="22000" y="7100"/>
                </a:lnTo>
                <a:lnTo>
                  <a:pt x="22000" y="11800"/>
                </a:lnTo>
                <a:lnTo>
                  <a:pt x="21600" y="11800"/>
                </a:lnTo>
                <a:close/>
                <a:moveTo>
                  <a:pt x="2000" y="12200"/>
                </a:moveTo>
                <a:lnTo>
                  <a:pt x="6700" y="12200"/>
                </a:lnTo>
                <a:lnTo>
                  <a:pt x="6700" y="12600"/>
                </a:lnTo>
                <a:lnTo>
                  <a:pt x="2000" y="12600"/>
                </a:lnTo>
                <a:close/>
                <a:moveTo>
                  <a:pt x="2000" y="16500"/>
                </a:moveTo>
                <a:lnTo>
                  <a:pt x="6700" y="16500"/>
                </a:lnTo>
                <a:lnTo>
                  <a:pt x="6700" y="16900"/>
                </a:lnTo>
                <a:lnTo>
                  <a:pt x="2000" y="16900"/>
                </a:lnTo>
                <a:close/>
                <a:moveTo>
                  <a:pt x="2000" y="12200"/>
                </a:moveTo>
                <a:lnTo>
                  <a:pt x="2400" y="12200"/>
                </a:lnTo>
                <a:lnTo>
                  <a:pt x="2400" y="16900"/>
                </a:lnTo>
                <a:lnTo>
                  <a:pt x="2000" y="16900"/>
                </a:lnTo>
                <a:close/>
                <a:moveTo>
                  <a:pt x="6300" y="12200"/>
                </a:moveTo>
                <a:lnTo>
                  <a:pt x="6700" y="12200"/>
                </a:lnTo>
                <a:lnTo>
                  <a:pt x="6700" y="16900"/>
                </a:lnTo>
                <a:lnTo>
                  <a:pt x="6300" y="16900"/>
                </a:lnTo>
                <a:close/>
                <a:moveTo>
                  <a:pt x="7100" y="12200"/>
                </a:moveTo>
                <a:lnTo>
                  <a:pt x="11800" y="12200"/>
                </a:lnTo>
                <a:lnTo>
                  <a:pt x="11800" y="12600"/>
                </a:lnTo>
                <a:lnTo>
                  <a:pt x="7100" y="12600"/>
                </a:lnTo>
                <a:close/>
                <a:moveTo>
                  <a:pt x="7100" y="16500"/>
                </a:moveTo>
                <a:lnTo>
                  <a:pt x="11800" y="16500"/>
                </a:lnTo>
                <a:lnTo>
                  <a:pt x="11800" y="16900"/>
                </a:lnTo>
                <a:lnTo>
                  <a:pt x="7100" y="16900"/>
                </a:lnTo>
                <a:close/>
                <a:moveTo>
                  <a:pt x="7100" y="12200"/>
                </a:moveTo>
                <a:lnTo>
                  <a:pt x="7500" y="12200"/>
                </a:lnTo>
                <a:lnTo>
                  <a:pt x="7500" y="16900"/>
                </a:lnTo>
                <a:lnTo>
                  <a:pt x="7100" y="16900"/>
                </a:lnTo>
                <a:close/>
                <a:moveTo>
                  <a:pt x="11400" y="12200"/>
                </a:moveTo>
                <a:lnTo>
                  <a:pt x="11800" y="12200"/>
                </a:lnTo>
                <a:lnTo>
                  <a:pt x="11800" y="16900"/>
                </a:lnTo>
                <a:lnTo>
                  <a:pt x="11400" y="16900"/>
                </a:lnTo>
                <a:close/>
                <a:moveTo>
                  <a:pt x="12200" y="12200"/>
                </a:moveTo>
                <a:lnTo>
                  <a:pt x="16900" y="12200"/>
                </a:lnTo>
                <a:lnTo>
                  <a:pt x="16900" y="12600"/>
                </a:lnTo>
                <a:lnTo>
                  <a:pt x="12200" y="12600"/>
                </a:lnTo>
                <a:close/>
                <a:moveTo>
                  <a:pt x="12200" y="16500"/>
                </a:moveTo>
                <a:lnTo>
                  <a:pt x="16900" y="16500"/>
                </a:lnTo>
                <a:lnTo>
                  <a:pt x="16900" y="16900"/>
                </a:lnTo>
                <a:lnTo>
                  <a:pt x="12200" y="16900"/>
                </a:lnTo>
                <a:close/>
                <a:moveTo>
                  <a:pt x="12200" y="12200"/>
                </a:moveTo>
                <a:lnTo>
                  <a:pt x="12600" y="12200"/>
                </a:lnTo>
                <a:lnTo>
                  <a:pt x="12600" y="16900"/>
                </a:lnTo>
                <a:lnTo>
                  <a:pt x="12200" y="16900"/>
                </a:lnTo>
                <a:close/>
                <a:moveTo>
                  <a:pt x="16500" y="12200"/>
                </a:moveTo>
                <a:lnTo>
                  <a:pt x="16900" y="12200"/>
                </a:lnTo>
                <a:lnTo>
                  <a:pt x="16900" y="16900"/>
                </a:lnTo>
                <a:lnTo>
                  <a:pt x="16500" y="16900"/>
                </a:lnTo>
                <a:close/>
                <a:moveTo>
                  <a:pt x="17600" y="12200"/>
                </a:moveTo>
                <a:lnTo>
                  <a:pt x="21700" y="12200"/>
                </a:lnTo>
                <a:cubicBezTo>
                  <a:pt x="21866" y="12200"/>
                  <a:pt x="22000" y="12334"/>
                  <a:pt x="22000" y="12500"/>
                </a:cubicBezTo>
                <a:lnTo>
                  <a:pt x="22000" y="16600"/>
                </a:lnTo>
                <a:cubicBezTo>
                  <a:pt x="22000" y="16766"/>
                  <a:pt x="21866" y="16900"/>
                  <a:pt x="21700" y="16900"/>
                </a:cubicBezTo>
                <a:lnTo>
                  <a:pt x="17600" y="16900"/>
                </a:lnTo>
                <a:cubicBezTo>
                  <a:pt x="17434" y="16900"/>
                  <a:pt x="17300" y="16766"/>
                  <a:pt x="17300" y="16600"/>
                </a:cubicBezTo>
                <a:lnTo>
                  <a:pt x="17300" y="12500"/>
                </a:lnTo>
                <a:cubicBezTo>
                  <a:pt x="17300" y="12334"/>
                  <a:pt x="17434" y="12200"/>
                  <a:pt x="17600" y="12200"/>
                </a:cubicBezTo>
                <a:close/>
                <a:moveTo>
                  <a:pt x="2300" y="17300"/>
                </a:moveTo>
                <a:lnTo>
                  <a:pt x="6400" y="17300"/>
                </a:lnTo>
                <a:cubicBezTo>
                  <a:pt x="6566" y="17300"/>
                  <a:pt x="6700" y="17434"/>
                  <a:pt x="6700" y="17600"/>
                </a:cubicBezTo>
                <a:lnTo>
                  <a:pt x="6700" y="21700"/>
                </a:lnTo>
                <a:cubicBezTo>
                  <a:pt x="6700" y="21866"/>
                  <a:pt x="6566" y="22000"/>
                  <a:pt x="64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17600"/>
                </a:lnTo>
                <a:cubicBezTo>
                  <a:pt x="2000" y="17434"/>
                  <a:pt x="2134" y="17300"/>
                  <a:pt x="2300" y="17300"/>
                </a:cubicBezTo>
                <a:close/>
                <a:moveTo>
                  <a:pt x="7100" y="17300"/>
                </a:moveTo>
                <a:lnTo>
                  <a:pt x="11800" y="17300"/>
                </a:lnTo>
                <a:lnTo>
                  <a:pt x="11800" y="17700"/>
                </a:lnTo>
                <a:lnTo>
                  <a:pt x="7100" y="17700"/>
                </a:lnTo>
                <a:close/>
                <a:moveTo>
                  <a:pt x="7100" y="21600"/>
                </a:moveTo>
                <a:lnTo>
                  <a:pt x="11800" y="21600"/>
                </a:lnTo>
                <a:lnTo>
                  <a:pt x="11800" y="22000"/>
                </a:lnTo>
                <a:lnTo>
                  <a:pt x="7100" y="22000"/>
                </a:lnTo>
                <a:close/>
                <a:moveTo>
                  <a:pt x="7100" y="17300"/>
                </a:moveTo>
                <a:lnTo>
                  <a:pt x="7500" y="17300"/>
                </a:lnTo>
                <a:lnTo>
                  <a:pt x="7500" y="22000"/>
                </a:lnTo>
                <a:lnTo>
                  <a:pt x="7100" y="22000"/>
                </a:lnTo>
                <a:close/>
                <a:moveTo>
                  <a:pt x="11400" y="17300"/>
                </a:moveTo>
                <a:lnTo>
                  <a:pt x="11800" y="17300"/>
                </a:lnTo>
                <a:lnTo>
                  <a:pt x="11800" y="22000"/>
                </a:lnTo>
                <a:lnTo>
                  <a:pt x="11400" y="22000"/>
                </a:lnTo>
                <a:close/>
                <a:moveTo>
                  <a:pt x="12200" y="17300"/>
                </a:moveTo>
                <a:lnTo>
                  <a:pt x="16900" y="17300"/>
                </a:lnTo>
                <a:lnTo>
                  <a:pt x="16900" y="17700"/>
                </a:lnTo>
                <a:lnTo>
                  <a:pt x="12200" y="17700"/>
                </a:lnTo>
                <a:close/>
                <a:moveTo>
                  <a:pt x="12200" y="21600"/>
                </a:moveTo>
                <a:lnTo>
                  <a:pt x="16900" y="21600"/>
                </a:lnTo>
                <a:lnTo>
                  <a:pt x="16900" y="22000"/>
                </a:lnTo>
                <a:lnTo>
                  <a:pt x="12200" y="22000"/>
                </a:lnTo>
                <a:close/>
                <a:moveTo>
                  <a:pt x="12200" y="17300"/>
                </a:moveTo>
                <a:lnTo>
                  <a:pt x="12600" y="17300"/>
                </a:lnTo>
                <a:lnTo>
                  <a:pt x="12600" y="22000"/>
                </a:lnTo>
                <a:lnTo>
                  <a:pt x="12200" y="22000"/>
                </a:lnTo>
                <a:close/>
                <a:moveTo>
                  <a:pt x="16500" y="17300"/>
                </a:moveTo>
                <a:lnTo>
                  <a:pt x="16900" y="17300"/>
                </a:lnTo>
                <a:lnTo>
                  <a:pt x="16900" y="22000"/>
                </a:lnTo>
                <a:lnTo>
                  <a:pt x="16500" y="22000"/>
                </a:lnTo>
                <a:close/>
                <a:moveTo>
                  <a:pt x="17300" y="17300"/>
                </a:moveTo>
                <a:lnTo>
                  <a:pt x="22000" y="17300"/>
                </a:lnTo>
                <a:lnTo>
                  <a:pt x="22000" y="17700"/>
                </a:lnTo>
                <a:lnTo>
                  <a:pt x="17300" y="17700"/>
                </a:lnTo>
                <a:close/>
                <a:moveTo>
                  <a:pt x="17300" y="21600"/>
                </a:moveTo>
                <a:lnTo>
                  <a:pt x="22000" y="21600"/>
                </a:lnTo>
                <a:lnTo>
                  <a:pt x="22000" y="22000"/>
                </a:lnTo>
                <a:lnTo>
                  <a:pt x="17300" y="22000"/>
                </a:lnTo>
                <a:close/>
                <a:moveTo>
                  <a:pt x="17300" y="17300"/>
                </a:moveTo>
                <a:lnTo>
                  <a:pt x="17700" y="17300"/>
                </a:lnTo>
                <a:lnTo>
                  <a:pt x="17700" y="22000"/>
                </a:lnTo>
                <a:lnTo>
                  <a:pt x="17300" y="22000"/>
                </a:lnTo>
                <a:close/>
                <a:moveTo>
                  <a:pt x="21600" y="17300"/>
                </a:moveTo>
                <a:lnTo>
                  <a:pt x="22000" y="17300"/>
                </a:lnTo>
                <a:lnTo>
                  <a:pt x="22000" y="22000"/>
                </a:lnTo>
                <a:lnTo>
                  <a:pt x="216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RACI矩阵</a:t>
            </a:r>
          </a:p>
        </p:txBody>
      </p:sp>
      <p:sp>
        <p:nvSpPr>
          <p:cNvPr id="46" name="ORG-015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00" y="4000"/>
                </a:moveTo>
                <a:cubicBezTo>
                  <a:pt x="14000" y="5105"/>
                  <a:pt x="13105" y="6000"/>
                  <a:pt x="12000" y="6000"/>
                </a:cubicBezTo>
                <a:cubicBezTo>
                  <a:pt x="10895" y="6000"/>
                  <a:pt x="10000" y="5105"/>
                  <a:pt x="10000" y="4000"/>
                </a:cubicBezTo>
                <a:cubicBezTo>
                  <a:pt x="10000" y="2895"/>
                  <a:pt x="10895" y="2000"/>
                  <a:pt x="12000" y="2000"/>
                </a:cubicBezTo>
                <a:cubicBezTo>
                  <a:pt x="13105" y="2000"/>
                  <a:pt x="14000" y="2895"/>
                  <a:pt x="14000" y="4000"/>
                </a:cubicBezTo>
                <a:close/>
                <a:moveTo>
                  <a:pt x="11834" y="5889"/>
                </a:moveTo>
                <a:lnTo>
                  <a:pt x="3834" y="17889"/>
                </a:lnTo>
                <a:lnTo>
                  <a:pt x="4166" y="18111"/>
                </a:lnTo>
                <a:lnTo>
                  <a:pt x="12166" y="6111"/>
                </a:lnTo>
                <a:close/>
                <a:moveTo>
                  <a:pt x="11806" y="5951"/>
                </a:moveTo>
                <a:lnTo>
                  <a:pt x="8806" y="17951"/>
                </a:lnTo>
                <a:lnTo>
                  <a:pt x="9194" y="18049"/>
                </a:lnTo>
                <a:lnTo>
                  <a:pt x="12194" y="6049"/>
                </a:lnTo>
                <a:close/>
                <a:moveTo>
                  <a:pt x="11800" y="6000"/>
                </a:moveTo>
                <a:lnTo>
                  <a:pt x="11800" y="18000"/>
                </a:lnTo>
                <a:lnTo>
                  <a:pt x="12200" y="18000"/>
                </a:lnTo>
                <a:lnTo>
                  <a:pt x="12200" y="6000"/>
                </a:lnTo>
                <a:close/>
                <a:moveTo>
                  <a:pt x="11806" y="6049"/>
                </a:moveTo>
                <a:lnTo>
                  <a:pt x="14806" y="18049"/>
                </a:lnTo>
                <a:lnTo>
                  <a:pt x="15194" y="17951"/>
                </a:lnTo>
                <a:lnTo>
                  <a:pt x="12194" y="5951"/>
                </a:lnTo>
                <a:close/>
                <a:moveTo>
                  <a:pt x="11834" y="6111"/>
                </a:moveTo>
                <a:lnTo>
                  <a:pt x="19834" y="18111"/>
                </a:lnTo>
                <a:lnTo>
                  <a:pt x="20166" y="17889"/>
                </a:lnTo>
                <a:lnTo>
                  <a:pt x="12166" y="5889"/>
                </a:lnTo>
                <a:close/>
                <a:moveTo>
                  <a:pt x="5400" y="19000"/>
                </a:moveTo>
                <a:cubicBezTo>
                  <a:pt x="5400" y="19773"/>
                  <a:pt x="4773" y="20400"/>
                  <a:pt x="4000" y="20400"/>
                </a:cubicBezTo>
                <a:cubicBezTo>
                  <a:pt x="3227" y="20400"/>
                  <a:pt x="2600" y="19773"/>
                  <a:pt x="2600" y="19000"/>
                </a:cubicBezTo>
                <a:cubicBezTo>
                  <a:pt x="2600" y="18227"/>
                  <a:pt x="3227" y="17600"/>
                  <a:pt x="4000" y="17600"/>
                </a:cubicBezTo>
                <a:cubicBezTo>
                  <a:pt x="4773" y="17600"/>
                  <a:pt x="5400" y="18227"/>
                  <a:pt x="5400" y="19000"/>
                </a:cubicBezTo>
                <a:close/>
                <a:moveTo>
                  <a:pt x="10400" y="19000"/>
                </a:moveTo>
                <a:cubicBezTo>
                  <a:pt x="10400" y="19773"/>
                  <a:pt x="9773" y="20400"/>
                  <a:pt x="9000" y="20400"/>
                </a:cubicBezTo>
                <a:cubicBezTo>
                  <a:pt x="8227" y="20400"/>
                  <a:pt x="7600" y="19773"/>
                  <a:pt x="7600" y="19000"/>
                </a:cubicBezTo>
                <a:cubicBezTo>
                  <a:pt x="7600" y="18227"/>
                  <a:pt x="8227" y="17600"/>
                  <a:pt x="9000" y="17600"/>
                </a:cubicBezTo>
                <a:cubicBezTo>
                  <a:pt x="9773" y="17600"/>
                  <a:pt x="10400" y="18227"/>
                  <a:pt x="10400" y="19000"/>
                </a:cubicBezTo>
                <a:close/>
                <a:moveTo>
                  <a:pt x="13400" y="19000"/>
                </a:moveTo>
                <a:cubicBezTo>
                  <a:pt x="13400" y="19773"/>
                  <a:pt x="12773" y="20400"/>
                  <a:pt x="12000" y="20400"/>
                </a:cubicBezTo>
                <a:cubicBezTo>
                  <a:pt x="11227" y="20400"/>
                  <a:pt x="10600" y="19773"/>
                  <a:pt x="10600" y="19000"/>
                </a:cubicBezTo>
                <a:cubicBezTo>
                  <a:pt x="10600" y="18227"/>
                  <a:pt x="11227" y="17600"/>
                  <a:pt x="12000" y="17600"/>
                </a:cubicBezTo>
                <a:cubicBezTo>
                  <a:pt x="12773" y="17600"/>
                  <a:pt x="13400" y="18227"/>
                  <a:pt x="13400" y="19000"/>
                </a:cubicBezTo>
                <a:close/>
                <a:moveTo>
                  <a:pt x="16400" y="19000"/>
                </a:moveTo>
                <a:cubicBezTo>
                  <a:pt x="16400" y="19773"/>
                  <a:pt x="15773" y="20400"/>
                  <a:pt x="15000" y="20400"/>
                </a:cubicBezTo>
                <a:cubicBezTo>
                  <a:pt x="14227" y="20400"/>
                  <a:pt x="13600" y="19773"/>
                  <a:pt x="13600" y="19000"/>
                </a:cubicBezTo>
                <a:cubicBezTo>
                  <a:pt x="13600" y="18227"/>
                  <a:pt x="14227" y="17600"/>
                  <a:pt x="15000" y="17600"/>
                </a:cubicBezTo>
                <a:cubicBezTo>
                  <a:pt x="15773" y="17600"/>
                  <a:pt x="16400" y="18227"/>
                  <a:pt x="16400" y="19000"/>
                </a:cubicBezTo>
                <a:close/>
                <a:moveTo>
                  <a:pt x="21400" y="19000"/>
                </a:moveTo>
                <a:cubicBezTo>
                  <a:pt x="21400" y="19773"/>
                  <a:pt x="20773" y="20400"/>
                  <a:pt x="20000" y="20400"/>
                </a:cubicBezTo>
                <a:cubicBezTo>
                  <a:pt x="19227" y="20400"/>
                  <a:pt x="18600" y="19773"/>
                  <a:pt x="18600" y="19000"/>
                </a:cubicBezTo>
                <a:cubicBezTo>
                  <a:pt x="18600" y="18227"/>
                  <a:pt x="19227" y="17600"/>
                  <a:pt x="20000" y="17600"/>
                </a:cubicBezTo>
                <a:cubicBezTo>
                  <a:pt x="20773" y="17600"/>
                  <a:pt x="21400" y="18227"/>
                  <a:pt x="214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管理跨度</a:t>
            </a:r>
          </a:p>
        </p:txBody>
      </p:sp>
      <p:sp>
        <p:nvSpPr>
          <p:cNvPr id="49" name="ORG-016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00" y="3000"/>
                </a:moveTo>
                <a:lnTo>
                  <a:pt x="14700" y="3000"/>
                </a:lnTo>
                <a:cubicBezTo>
                  <a:pt x="14866" y="3000"/>
                  <a:pt x="15000" y="3134"/>
                  <a:pt x="15000" y="3300"/>
                </a:cubicBezTo>
                <a:lnTo>
                  <a:pt x="15000" y="5700"/>
                </a:lnTo>
                <a:cubicBezTo>
                  <a:pt x="15000" y="5866"/>
                  <a:pt x="14866" y="6000"/>
                  <a:pt x="14700" y="6000"/>
                </a:cubicBezTo>
                <a:lnTo>
                  <a:pt x="9300" y="6000"/>
                </a:lnTo>
                <a:cubicBezTo>
                  <a:pt x="9134" y="6000"/>
                  <a:pt x="9000" y="5866"/>
                  <a:pt x="9000" y="5700"/>
                </a:cubicBezTo>
                <a:lnTo>
                  <a:pt x="9000" y="3300"/>
                </a:lnTo>
                <a:cubicBezTo>
                  <a:pt x="9000" y="3134"/>
                  <a:pt x="9134" y="3000"/>
                  <a:pt x="9300" y="3000"/>
                </a:cubicBezTo>
                <a:close/>
                <a:moveTo>
                  <a:pt x="11800" y="6000"/>
                </a:moveTo>
                <a:lnTo>
                  <a:pt x="11800" y="8000"/>
                </a:lnTo>
                <a:lnTo>
                  <a:pt x="12200" y="8000"/>
                </a:lnTo>
                <a:lnTo>
                  <a:pt x="12200" y="6000"/>
                </a:lnTo>
                <a:close/>
                <a:moveTo>
                  <a:pt x="2300" y="8000"/>
                </a:moveTo>
                <a:lnTo>
                  <a:pt x="6700" y="8000"/>
                </a:lnTo>
                <a:cubicBezTo>
                  <a:pt x="6866" y="8000"/>
                  <a:pt x="7000" y="8134"/>
                  <a:pt x="7000" y="8300"/>
                </a:cubicBezTo>
                <a:lnTo>
                  <a:pt x="7000" y="10700"/>
                </a:lnTo>
                <a:cubicBezTo>
                  <a:pt x="7000" y="10866"/>
                  <a:pt x="6866" y="11000"/>
                  <a:pt x="6700" y="11000"/>
                </a:cubicBezTo>
                <a:lnTo>
                  <a:pt x="2300" y="11000"/>
                </a:lnTo>
                <a:cubicBezTo>
                  <a:pt x="2134" y="11000"/>
                  <a:pt x="2000" y="10866"/>
                  <a:pt x="2000" y="10700"/>
                </a:cubicBezTo>
                <a:lnTo>
                  <a:pt x="2000" y="8300"/>
                </a:lnTo>
                <a:cubicBezTo>
                  <a:pt x="2000" y="8134"/>
                  <a:pt x="2134" y="8000"/>
                  <a:pt x="2300" y="8000"/>
                </a:cubicBezTo>
                <a:close/>
                <a:moveTo>
                  <a:pt x="9300" y="8000"/>
                </a:moveTo>
                <a:lnTo>
                  <a:pt x="14700" y="8000"/>
                </a:lnTo>
                <a:cubicBezTo>
                  <a:pt x="14866" y="8000"/>
                  <a:pt x="15000" y="8134"/>
                  <a:pt x="15000" y="8300"/>
                </a:cubicBezTo>
                <a:lnTo>
                  <a:pt x="15000" y="10700"/>
                </a:lnTo>
                <a:cubicBezTo>
                  <a:pt x="15000" y="10866"/>
                  <a:pt x="14866" y="11000"/>
                  <a:pt x="14700" y="11000"/>
                </a:cubicBezTo>
                <a:lnTo>
                  <a:pt x="9300" y="11000"/>
                </a:lnTo>
                <a:cubicBezTo>
                  <a:pt x="9134" y="11000"/>
                  <a:pt x="9000" y="10866"/>
                  <a:pt x="9000" y="10700"/>
                </a:cubicBezTo>
                <a:lnTo>
                  <a:pt x="9000" y="8300"/>
                </a:lnTo>
                <a:cubicBezTo>
                  <a:pt x="9000" y="8134"/>
                  <a:pt x="9134" y="8000"/>
                  <a:pt x="9300" y="8000"/>
                </a:cubicBezTo>
                <a:close/>
                <a:moveTo>
                  <a:pt x="17300" y="8000"/>
                </a:moveTo>
                <a:lnTo>
                  <a:pt x="21700" y="8000"/>
                </a:lnTo>
                <a:cubicBezTo>
                  <a:pt x="21866" y="8000"/>
                  <a:pt x="22000" y="8134"/>
                  <a:pt x="22000" y="8300"/>
                </a:cubicBezTo>
                <a:lnTo>
                  <a:pt x="22000" y="10700"/>
                </a:lnTo>
                <a:cubicBezTo>
                  <a:pt x="22000" y="10866"/>
                  <a:pt x="21866" y="11000"/>
                  <a:pt x="21700" y="11000"/>
                </a:cubicBezTo>
                <a:lnTo>
                  <a:pt x="17300" y="11000"/>
                </a:lnTo>
                <a:cubicBezTo>
                  <a:pt x="17134" y="11000"/>
                  <a:pt x="17000" y="10866"/>
                  <a:pt x="17000" y="10700"/>
                </a:cubicBezTo>
                <a:lnTo>
                  <a:pt x="17000" y="8300"/>
                </a:lnTo>
                <a:cubicBezTo>
                  <a:pt x="17000" y="8134"/>
                  <a:pt x="17134" y="8000"/>
                  <a:pt x="17300" y="8000"/>
                </a:cubicBezTo>
                <a:close/>
                <a:moveTo>
                  <a:pt x="4300" y="11000"/>
                </a:moveTo>
                <a:lnTo>
                  <a:pt x="4300" y="14000"/>
                </a:lnTo>
                <a:lnTo>
                  <a:pt x="4700" y="14000"/>
                </a:lnTo>
                <a:lnTo>
                  <a:pt x="4700" y="11000"/>
                </a:lnTo>
                <a:close/>
                <a:moveTo>
                  <a:pt x="11800" y="11000"/>
                </a:moveTo>
                <a:lnTo>
                  <a:pt x="11800" y="14000"/>
                </a:lnTo>
                <a:lnTo>
                  <a:pt x="12200" y="14000"/>
                </a:lnTo>
                <a:lnTo>
                  <a:pt x="12200" y="11000"/>
                </a:lnTo>
                <a:close/>
                <a:moveTo>
                  <a:pt x="19300" y="11000"/>
                </a:moveTo>
                <a:lnTo>
                  <a:pt x="19300" y="14000"/>
                </a:lnTo>
                <a:lnTo>
                  <a:pt x="19700" y="14000"/>
                </a:lnTo>
                <a:lnTo>
                  <a:pt x="19700" y="11000"/>
                </a:lnTo>
                <a:close/>
                <a:moveTo>
                  <a:pt x="2300" y="14000"/>
                </a:moveTo>
                <a:lnTo>
                  <a:pt x="6700" y="14000"/>
                </a:lnTo>
                <a:cubicBezTo>
                  <a:pt x="6866" y="14000"/>
                  <a:pt x="7000" y="14134"/>
                  <a:pt x="7000" y="14300"/>
                </a:cubicBezTo>
                <a:lnTo>
                  <a:pt x="7000" y="16700"/>
                </a:lnTo>
                <a:cubicBezTo>
                  <a:pt x="7000" y="16866"/>
                  <a:pt x="6866" y="17000"/>
                  <a:pt x="6700" y="17000"/>
                </a:cubicBezTo>
                <a:lnTo>
                  <a:pt x="2300" y="17000"/>
                </a:lnTo>
                <a:cubicBezTo>
                  <a:pt x="2134" y="17000"/>
                  <a:pt x="2000" y="16866"/>
                  <a:pt x="2000" y="16700"/>
                </a:cubicBezTo>
                <a:lnTo>
                  <a:pt x="2000" y="14300"/>
                </a:lnTo>
                <a:cubicBezTo>
                  <a:pt x="2000" y="14134"/>
                  <a:pt x="2134" y="14000"/>
                  <a:pt x="2300" y="14000"/>
                </a:cubicBezTo>
                <a:close/>
                <a:moveTo>
                  <a:pt x="9300" y="14000"/>
                </a:moveTo>
                <a:lnTo>
                  <a:pt x="14700" y="14000"/>
                </a:lnTo>
                <a:cubicBezTo>
                  <a:pt x="14866" y="14000"/>
                  <a:pt x="15000" y="14134"/>
                  <a:pt x="15000" y="14300"/>
                </a:cubicBezTo>
                <a:lnTo>
                  <a:pt x="15000" y="16700"/>
                </a:lnTo>
                <a:cubicBezTo>
                  <a:pt x="15000" y="16866"/>
                  <a:pt x="14866" y="17000"/>
                  <a:pt x="14700" y="17000"/>
                </a:cubicBezTo>
                <a:lnTo>
                  <a:pt x="9300" y="17000"/>
                </a:lnTo>
                <a:cubicBezTo>
                  <a:pt x="9134" y="17000"/>
                  <a:pt x="9000" y="16866"/>
                  <a:pt x="9000" y="16700"/>
                </a:cubicBezTo>
                <a:lnTo>
                  <a:pt x="9000" y="14300"/>
                </a:lnTo>
                <a:cubicBezTo>
                  <a:pt x="9000" y="14134"/>
                  <a:pt x="9134" y="14000"/>
                  <a:pt x="9300" y="14000"/>
                </a:cubicBezTo>
                <a:close/>
                <a:moveTo>
                  <a:pt x="17300" y="14000"/>
                </a:moveTo>
                <a:lnTo>
                  <a:pt x="21700" y="14000"/>
                </a:lnTo>
                <a:cubicBezTo>
                  <a:pt x="21866" y="14000"/>
                  <a:pt x="22000" y="14134"/>
                  <a:pt x="22000" y="14300"/>
                </a:cubicBezTo>
                <a:lnTo>
                  <a:pt x="22000" y="16700"/>
                </a:lnTo>
                <a:cubicBezTo>
                  <a:pt x="22000" y="16866"/>
                  <a:pt x="21866" y="17000"/>
                  <a:pt x="21700" y="17000"/>
                </a:cubicBezTo>
                <a:lnTo>
                  <a:pt x="17300" y="17000"/>
                </a:lnTo>
                <a:cubicBezTo>
                  <a:pt x="17134" y="17000"/>
                  <a:pt x="17000" y="16866"/>
                  <a:pt x="17000" y="16700"/>
                </a:cubicBezTo>
                <a:lnTo>
                  <a:pt x="17000" y="14300"/>
                </a:lnTo>
                <a:cubicBezTo>
                  <a:pt x="17000" y="14134"/>
                  <a:pt x="17134" y="14000"/>
                  <a:pt x="17300" y="1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汇报层级</a:t>
            </a:r>
          </a:p>
        </p:txBody>
      </p:sp>
      <p:sp>
        <p:nvSpPr>
          <p:cNvPr id="52" name="ORG-017"/>
          <p:cNvSpPr/>
          <p:nvPr/>
        </p:nvSpPr>
        <p:spPr>
          <a:xfrm>
            <a:off x="722376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000" y="6000"/>
                </a:moveTo>
                <a:cubicBezTo>
                  <a:pt x="8000" y="7105"/>
                  <a:pt x="7105" y="8000"/>
                  <a:pt x="6000" y="8000"/>
                </a:cubicBezTo>
                <a:cubicBezTo>
                  <a:pt x="4895" y="8000"/>
                  <a:pt x="4000" y="7105"/>
                  <a:pt x="4000" y="6000"/>
                </a:cubicBezTo>
                <a:cubicBezTo>
                  <a:pt x="4000" y="4895"/>
                  <a:pt x="4895" y="4000"/>
                  <a:pt x="6000" y="4000"/>
                </a:cubicBezTo>
                <a:cubicBezTo>
                  <a:pt x="7105" y="4000"/>
                  <a:pt x="8000" y="4895"/>
                  <a:pt x="8000" y="6000"/>
                </a:cubicBezTo>
                <a:close/>
                <a:moveTo>
                  <a:pt x="20000" y="6000"/>
                </a:moveTo>
                <a:cubicBezTo>
                  <a:pt x="20000" y="7105"/>
                  <a:pt x="19105" y="8000"/>
                  <a:pt x="18000" y="8000"/>
                </a:cubicBezTo>
                <a:cubicBezTo>
                  <a:pt x="16895" y="8000"/>
                  <a:pt x="16000" y="7105"/>
                  <a:pt x="16000" y="6000"/>
                </a:cubicBezTo>
                <a:cubicBezTo>
                  <a:pt x="16000" y="4895"/>
                  <a:pt x="16895" y="4000"/>
                  <a:pt x="18000" y="4000"/>
                </a:cubicBezTo>
                <a:cubicBezTo>
                  <a:pt x="19105" y="4000"/>
                  <a:pt x="20000" y="4895"/>
                  <a:pt x="20000" y="6000"/>
                </a:cubicBezTo>
                <a:close/>
                <a:moveTo>
                  <a:pt x="14000" y="18000"/>
                </a:moveTo>
                <a:cubicBezTo>
                  <a:pt x="14000" y="19105"/>
                  <a:pt x="13105" y="20000"/>
                  <a:pt x="12000" y="20000"/>
                </a:cubicBezTo>
                <a:cubicBezTo>
                  <a:pt x="10895" y="20000"/>
                  <a:pt x="10000" y="19105"/>
                  <a:pt x="10000" y="18000"/>
                </a:cubicBezTo>
                <a:cubicBezTo>
                  <a:pt x="10000" y="16895"/>
                  <a:pt x="10895" y="16000"/>
                  <a:pt x="12000" y="16000"/>
                </a:cubicBezTo>
                <a:cubicBezTo>
                  <a:pt x="13105" y="16000"/>
                  <a:pt x="14000" y="16895"/>
                  <a:pt x="14000" y="18000"/>
                </a:cubicBezTo>
                <a:close/>
                <a:moveTo>
                  <a:pt x="5760" y="8180"/>
                </a:moveTo>
                <a:lnTo>
                  <a:pt x="11760" y="16180"/>
                </a:lnTo>
                <a:lnTo>
                  <a:pt x="12240" y="15820"/>
                </a:lnTo>
                <a:lnTo>
                  <a:pt x="6240" y="7820"/>
                </a:lnTo>
                <a:close/>
                <a:moveTo>
                  <a:pt x="18000" y="8000"/>
                </a:moveTo>
                <a:lnTo>
                  <a:pt x="17000" y="9000"/>
                </a:lnTo>
                <a:moveTo>
                  <a:pt x="16000" y="10000"/>
                </a:moveTo>
                <a:lnTo>
                  <a:pt x="15000" y="11000"/>
                </a:lnTo>
                <a:moveTo>
                  <a:pt x="14000" y="12000"/>
                </a:moveTo>
                <a:lnTo>
                  <a:pt x="13000" y="13000"/>
                </a:lnTo>
                <a:moveTo>
                  <a:pt x="13000" y="15000"/>
                </a:moveTo>
                <a:lnTo>
                  <a:pt x="12000" y="16000"/>
                </a:lnTo>
                <a:moveTo>
                  <a:pt x="17823" y="7823"/>
                </a:moveTo>
                <a:lnTo>
                  <a:pt x="16823" y="8823"/>
                </a:lnTo>
                <a:lnTo>
                  <a:pt x="17177" y="9177"/>
                </a:lnTo>
                <a:lnTo>
                  <a:pt x="18177" y="8177"/>
                </a:lnTo>
                <a:close/>
                <a:moveTo>
                  <a:pt x="15823" y="9823"/>
                </a:moveTo>
                <a:lnTo>
                  <a:pt x="14823" y="10823"/>
                </a:lnTo>
                <a:lnTo>
                  <a:pt x="15177" y="11177"/>
                </a:lnTo>
                <a:lnTo>
                  <a:pt x="16177" y="10177"/>
                </a:lnTo>
                <a:close/>
                <a:moveTo>
                  <a:pt x="13823" y="11823"/>
                </a:moveTo>
                <a:lnTo>
                  <a:pt x="12823" y="12823"/>
                </a:lnTo>
                <a:lnTo>
                  <a:pt x="13177" y="13177"/>
                </a:lnTo>
                <a:lnTo>
                  <a:pt x="14177" y="12177"/>
                </a:lnTo>
                <a:close/>
                <a:moveTo>
                  <a:pt x="12823" y="14823"/>
                </a:moveTo>
                <a:lnTo>
                  <a:pt x="11823" y="15823"/>
                </a:lnTo>
                <a:lnTo>
                  <a:pt x="12177" y="16177"/>
                </a:lnTo>
                <a:lnTo>
                  <a:pt x="13177" y="1517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04088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虚线汇报</a:t>
            </a:r>
          </a:p>
        </p:txBody>
      </p:sp>
      <p:sp>
        <p:nvSpPr>
          <p:cNvPr id="55" name="ORG-018"/>
          <p:cNvSpPr/>
          <p:nvPr/>
        </p:nvSpPr>
        <p:spPr>
          <a:xfrm>
            <a:off x="88696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00" y="4000"/>
                </a:moveTo>
                <a:lnTo>
                  <a:pt x="14700" y="4000"/>
                </a:lnTo>
                <a:cubicBezTo>
                  <a:pt x="14866" y="4000"/>
                  <a:pt x="15000" y="4134"/>
                  <a:pt x="15000" y="4300"/>
                </a:cubicBezTo>
                <a:lnTo>
                  <a:pt x="15000" y="6700"/>
                </a:lnTo>
                <a:cubicBezTo>
                  <a:pt x="15000" y="6866"/>
                  <a:pt x="14866" y="7000"/>
                  <a:pt x="14700" y="7000"/>
                </a:cubicBezTo>
                <a:lnTo>
                  <a:pt x="9300" y="7000"/>
                </a:lnTo>
                <a:cubicBezTo>
                  <a:pt x="9134" y="7000"/>
                  <a:pt x="9000" y="6866"/>
                  <a:pt x="9000" y="6700"/>
                </a:cubicBezTo>
                <a:lnTo>
                  <a:pt x="9000" y="4300"/>
                </a:lnTo>
                <a:cubicBezTo>
                  <a:pt x="9000" y="4134"/>
                  <a:pt x="9134" y="4000"/>
                  <a:pt x="9300" y="4000"/>
                </a:cubicBezTo>
                <a:close/>
                <a:moveTo>
                  <a:pt x="11800" y="7000"/>
                </a:moveTo>
                <a:lnTo>
                  <a:pt x="11800" y="11000"/>
                </a:lnTo>
                <a:lnTo>
                  <a:pt x="12200" y="11000"/>
                </a:lnTo>
                <a:lnTo>
                  <a:pt x="12200" y="7000"/>
                </a:lnTo>
                <a:close/>
                <a:moveTo>
                  <a:pt x="4600" y="14000"/>
                </a:moveTo>
                <a:cubicBezTo>
                  <a:pt x="4600" y="14884"/>
                  <a:pt x="3884" y="15600"/>
                  <a:pt x="3000" y="15600"/>
                </a:cubicBezTo>
                <a:cubicBezTo>
                  <a:pt x="2116" y="15600"/>
                  <a:pt x="1400" y="14884"/>
                  <a:pt x="1400" y="14000"/>
                </a:cubicBezTo>
                <a:cubicBezTo>
                  <a:pt x="1400" y="13116"/>
                  <a:pt x="2116" y="12400"/>
                  <a:pt x="3000" y="12400"/>
                </a:cubicBezTo>
                <a:cubicBezTo>
                  <a:pt x="3884" y="12400"/>
                  <a:pt x="4600" y="13116"/>
                  <a:pt x="4600" y="14000"/>
                </a:cubicBezTo>
                <a:close/>
                <a:moveTo>
                  <a:pt x="9100" y="14000"/>
                </a:moveTo>
                <a:cubicBezTo>
                  <a:pt x="9100" y="14884"/>
                  <a:pt x="8384" y="15600"/>
                  <a:pt x="7500" y="15600"/>
                </a:cubicBezTo>
                <a:cubicBezTo>
                  <a:pt x="6616" y="15600"/>
                  <a:pt x="5900" y="14884"/>
                  <a:pt x="5900" y="14000"/>
                </a:cubicBezTo>
                <a:cubicBezTo>
                  <a:pt x="5900" y="13116"/>
                  <a:pt x="6616" y="12400"/>
                  <a:pt x="7500" y="12400"/>
                </a:cubicBezTo>
                <a:cubicBezTo>
                  <a:pt x="8384" y="12400"/>
                  <a:pt x="9100" y="13116"/>
                  <a:pt x="9100" y="14000"/>
                </a:cubicBezTo>
                <a:close/>
                <a:moveTo>
                  <a:pt x="13600" y="14000"/>
                </a:moveTo>
                <a:cubicBezTo>
                  <a:pt x="13600" y="14884"/>
                  <a:pt x="12884" y="15600"/>
                  <a:pt x="12000" y="15600"/>
                </a:cubicBezTo>
                <a:cubicBezTo>
                  <a:pt x="11116" y="15600"/>
                  <a:pt x="10400" y="14884"/>
                  <a:pt x="10400" y="14000"/>
                </a:cubicBezTo>
                <a:cubicBezTo>
                  <a:pt x="10400" y="13116"/>
                  <a:pt x="11116" y="12400"/>
                  <a:pt x="12000" y="12400"/>
                </a:cubicBezTo>
                <a:cubicBezTo>
                  <a:pt x="12884" y="12400"/>
                  <a:pt x="13600" y="13116"/>
                  <a:pt x="13600" y="14000"/>
                </a:cubicBezTo>
                <a:close/>
                <a:moveTo>
                  <a:pt x="18100" y="14000"/>
                </a:moveTo>
                <a:cubicBezTo>
                  <a:pt x="18100" y="14884"/>
                  <a:pt x="17384" y="15600"/>
                  <a:pt x="16500" y="15600"/>
                </a:cubicBezTo>
                <a:cubicBezTo>
                  <a:pt x="15616" y="15600"/>
                  <a:pt x="14900" y="14884"/>
                  <a:pt x="14900" y="14000"/>
                </a:cubicBezTo>
                <a:cubicBezTo>
                  <a:pt x="14900" y="13116"/>
                  <a:pt x="15616" y="12400"/>
                  <a:pt x="16500" y="12400"/>
                </a:cubicBezTo>
                <a:cubicBezTo>
                  <a:pt x="17384" y="12400"/>
                  <a:pt x="18100" y="13116"/>
                  <a:pt x="18100" y="14000"/>
                </a:cubicBezTo>
                <a:close/>
                <a:moveTo>
                  <a:pt x="22600" y="14000"/>
                </a:moveTo>
                <a:cubicBezTo>
                  <a:pt x="22600" y="14884"/>
                  <a:pt x="21884" y="15600"/>
                  <a:pt x="21000" y="15600"/>
                </a:cubicBezTo>
                <a:cubicBezTo>
                  <a:pt x="20116" y="15600"/>
                  <a:pt x="19400" y="14884"/>
                  <a:pt x="19400" y="14000"/>
                </a:cubicBezTo>
                <a:cubicBezTo>
                  <a:pt x="19400" y="13116"/>
                  <a:pt x="20116" y="12400"/>
                  <a:pt x="21000" y="12400"/>
                </a:cubicBezTo>
                <a:cubicBezTo>
                  <a:pt x="21884" y="12400"/>
                  <a:pt x="22600" y="13116"/>
                  <a:pt x="22600" y="14000"/>
                </a:cubicBezTo>
                <a:close/>
                <a:moveTo>
                  <a:pt x="3000" y="12200"/>
                </a:moveTo>
                <a:lnTo>
                  <a:pt x="21000" y="12200"/>
                </a:lnTo>
                <a:lnTo>
                  <a:pt x="21000" y="11800"/>
                </a:lnTo>
                <a:lnTo>
                  <a:pt x="3000" y="11800"/>
                </a:lnTo>
                <a:close/>
                <a:moveTo>
                  <a:pt x="2800" y="12000"/>
                </a:moveTo>
                <a:lnTo>
                  <a:pt x="2800" y="14000"/>
                </a:lnTo>
                <a:lnTo>
                  <a:pt x="3200" y="14000"/>
                </a:lnTo>
                <a:lnTo>
                  <a:pt x="3200" y="12000"/>
                </a:lnTo>
                <a:close/>
                <a:moveTo>
                  <a:pt x="7300" y="12000"/>
                </a:moveTo>
                <a:lnTo>
                  <a:pt x="7300" y="14000"/>
                </a:lnTo>
                <a:lnTo>
                  <a:pt x="7700" y="14000"/>
                </a:lnTo>
                <a:lnTo>
                  <a:pt x="7700" y="12000"/>
                </a:lnTo>
                <a:close/>
                <a:moveTo>
                  <a:pt x="11800" y="12000"/>
                </a:moveTo>
                <a:lnTo>
                  <a:pt x="11800" y="14000"/>
                </a:lnTo>
                <a:lnTo>
                  <a:pt x="12200" y="14000"/>
                </a:lnTo>
                <a:lnTo>
                  <a:pt x="12200" y="12000"/>
                </a:lnTo>
                <a:close/>
                <a:moveTo>
                  <a:pt x="16300" y="12000"/>
                </a:moveTo>
                <a:lnTo>
                  <a:pt x="16300" y="14000"/>
                </a:lnTo>
                <a:lnTo>
                  <a:pt x="16700" y="14000"/>
                </a:lnTo>
                <a:lnTo>
                  <a:pt x="16700" y="12000"/>
                </a:lnTo>
                <a:close/>
                <a:moveTo>
                  <a:pt x="20800" y="12000"/>
                </a:moveTo>
                <a:lnTo>
                  <a:pt x="20800" y="14000"/>
                </a:lnTo>
                <a:lnTo>
                  <a:pt x="21200" y="14000"/>
                </a:lnTo>
                <a:lnTo>
                  <a:pt x="21200" y="1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扁平组织</a:t>
            </a:r>
          </a:p>
        </p:txBody>
      </p:sp>
      <p:sp>
        <p:nvSpPr>
          <p:cNvPr id="58" name="ORG-019"/>
          <p:cNvSpPr/>
          <p:nvPr/>
        </p:nvSpPr>
        <p:spPr>
          <a:xfrm>
            <a:off x="6400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1000" y="12000"/>
                </a:moveTo>
                <a:cubicBezTo>
                  <a:pt x="21000" y="7029"/>
                  <a:pt x="16971" y="3000"/>
                  <a:pt x="12000" y="3000"/>
                </a:cubicBezTo>
                <a:cubicBezTo>
                  <a:pt x="7029" y="3000"/>
                  <a:pt x="3000" y="7029"/>
                  <a:pt x="3000" y="12000"/>
                </a:cubicBezTo>
                <a:cubicBezTo>
                  <a:pt x="3000" y="16971"/>
                  <a:pt x="7029" y="21000"/>
                  <a:pt x="12000" y="21000"/>
                </a:cubicBezTo>
                <a:cubicBezTo>
                  <a:pt x="16971" y="21000"/>
                  <a:pt x="21000" y="16971"/>
                  <a:pt x="21000" y="12000"/>
                </a:cubicBezTo>
                <a:close/>
                <a:moveTo>
                  <a:pt x="19750" y="12000"/>
                </a:moveTo>
                <a:cubicBezTo>
                  <a:pt x="19750" y="16280"/>
                  <a:pt x="16280" y="19750"/>
                  <a:pt x="12000" y="19750"/>
                </a:cubicBezTo>
                <a:cubicBezTo>
                  <a:pt x="7720" y="19750"/>
                  <a:pt x="4250" y="16280"/>
                  <a:pt x="4250" y="12000"/>
                </a:cubicBezTo>
                <a:cubicBezTo>
                  <a:pt x="4250" y="7720"/>
                  <a:pt x="7720" y="4250"/>
                  <a:pt x="12000" y="4250"/>
                </a:cubicBezTo>
                <a:cubicBezTo>
                  <a:pt x="16280" y="4250"/>
                  <a:pt x="19750" y="7720"/>
                  <a:pt x="19750" y="12000"/>
                </a:cubicBezTo>
                <a:close/>
                <a:moveTo>
                  <a:pt x="18750" y="12000"/>
                </a:moveTo>
                <a:cubicBezTo>
                  <a:pt x="18750" y="8272"/>
                  <a:pt x="15728" y="5250"/>
                  <a:pt x="12000" y="5250"/>
                </a:cubicBezTo>
                <a:cubicBezTo>
                  <a:pt x="8272" y="5250"/>
                  <a:pt x="5250" y="8272"/>
                  <a:pt x="5250" y="12000"/>
                </a:cubicBezTo>
                <a:cubicBezTo>
                  <a:pt x="5250" y="15728"/>
                  <a:pt x="8272" y="18750"/>
                  <a:pt x="12000" y="18750"/>
                </a:cubicBezTo>
                <a:cubicBezTo>
                  <a:pt x="15728" y="18750"/>
                  <a:pt x="18750" y="15728"/>
                  <a:pt x="18750" y="12000"/>
                </a:cubicBezTo>
                <a:close/>
                <a:moveTo>
                  <a:pt x="17500" y="12000"/>
                </a:moveTo>
                <a:cubicBezTo>
                  <a:pt x="17500" y="15038"/>
                  <a:pt x="15038" y="17500"/>
                  <a:pt x="12000" y="17500"/>
                </a:cubicBezTo>
                <a:cubicBezTo>
                  <a:pt x="8962" y="17500"/>
                  <a:pt x="6500" y="15038"/>
                  <a:pt x="6500" y="12000"/>
                </a:cubicBezTo>
                <a:cubicBezTo>
                  <a:pt x="6500" y="8962"/>
                  <a:pt x="8962" y="6500"/>
                  <a:pt x="12000" y="6500"/>
                </a:cubicBezTo>
                <a:cubicBezTo>
                  <a:pt x="15038" y="6500"/>
                  <a:pt x="17500" y="8962"/>
                  <a:pt x="17500" y="12000"/>
                </a:cubicBezTo>
                <a:close/>
                <a:moveTo>
                  <a:pt x="16500" y="12000"/>
                </a:moveTo>
                <a:cubicBezTo>
                  <a:pt x="16500" y="9515"/>
                  <a:pt x="14485" y="7500"/>
                  <a:pt x="12000" y="7500"/>
                </a:cubicBezTo>
                <a:cubicBezTo>
                  <a:pt x="9515" y="7500"/>
                  <a:pt x="7500" y="9515"/>
                  <a:pt x="7500" y="12000"/>
                </a:cubicBezTo>
                <a:cubicBezTo>
                  <a:pt x="7500" y="14485"/>
                  <a:pt x="9515" y="16500"/>
                  <a:pt x="12000" y="16500"/>
                </a:cubicBezTo>
                <a:cubicBezTo>
                  <a:pt x="14485" y="16500"/>
                  <a:pt x="16500" y="14485"/>
                  <a:pt x="16500" y="12000"/>
                </a:cubicBezTo>
                <a:close/>
                <a:moveTo>
                  <a:pt x="15250" y="12000"/>
                </a:moveTo>
                <a:cubicBezTo>
                  <a:pt x="15250" y="13795"/>
                  <a:pt x="13795" y="15250"/>
                  <a:pt x="12000" y="15250"/>
                </a:cubicBezTo>
                <a:cubicBezTo>
                  <a:pt x="10205" y="15250"/>
                  <a:pt x="8750" y="13795"/>
                  <a:pt x="8750" y="12000"/>
                </a:cubicBezTo>
                <a:cubicBezTo>
                  <a:pt x="8750" y="10205"/>
                  <a:pt x="10205" y="8750"/>
                  <a:pt x="12000" y="8750"/>
                </a:cubicBezTo>
                <a:cubicBezTo>
                  <a:pt x="13795" y="8750"/>
                  <a:pt x="15250" y="10205"/>
                  <a:pt x="15250" y="12000"/>
                </a:cubicBezTo>
                <a:close/>
                <a:moveTo>
                  <a:pt x="14250" y="12000"/>
                </a:moveTo>
                <a:cubicBezTo>
                  <a:pt x="14250" y="10757"/>
                  <a:pt x="13243" y="9750"/>
                  <a:pt x="12000" y="9750"/>
                </a:cubicBezTo>
                <a:cubicBezTo>
                  <a:pt x="10757" y="9750"/>
                  <a:pt x="9750" y="10757"/>
                  <a:pt x="9750" y="12000"/>
                </a:cubicBezTo>
                <a:cubicBezTo>
                  <a:pt x="9750" y="13243"/>
                  <a:pt x="10757" y="14250"/>
                  <a:pt x="12000" y="14250"/>
                </a:cubicBezTo>
                <a:cubicBezTo>
                  <a:pt x="13243" y="14250"/>
                  <a:pt x="14250" y="13243"/>
                  <a:pt x="14250" y="12000"/>
                </a:cubicBezTo>
                <a:close/>
                <a:moveTo>
                  <a:pt x="13200" y="12000"/>
                </a:moveTo>
                <a:cubicBezTo>
                  <a:pt x="13200" y="12663"/>
                  <a:pt x="12663" y="13200"/>
                  <a:pt x="12000" y="13200"/>
                </a:cubicBezTo>
                <a:cubicBezTo>
                  <a:pt x="11337" y="13200"/>
                  <a:pt x="10800" y="12663"/>
                  <a:pt x="10800" y="12000"/>
                </a:cubicBezTo>
                <a:cubicBezTo>
                  <a:pt x="10800" y="11337"/>
                  <a:pt x="11337" y="10800"/>
                  <a:pt x="12000" y="10800"/>
                </a:cubicBezTo>
                <a:cubicBezTo>
                  <a:pt x="12663" y="10800"/>
                  <a:pt x="13200" y="11337"/>
                  <a:pt x="132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利益相关方</a:t>
            </a:r>
          </a:p>
        </p:txBody>
      </p:sp>
      <p:sp>
        <p:nvSpPr>
          <p:cNvPr id="61" name="ORG-020"/>
          <p:cNvSpPr/>
          <p:nvPr/>
        </p:nvSpPr>
        <p:spPr>
          <a:xfrm>
            <a:off x="228600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300" y="2000"/>
                </a:moveTo>
                <a:lnTo>
                  <a:pt x="6300" y="2000"/>
                </a:lnTo>
                <a:cubicBezTo>
                  <a:pt x="6466" y="2000"/>
                  <a:pt x="6600" y="2134"/>
                  <a:pt x="6600" y="2300"/>
                </a:cubicBezTo>
                <a:lnTo>
                  <a:pt x="6600" y="21700"/>
                </a:lnTo>
                <a:cubicBezTo>
                  <a:pt x="6600" y="21866"/>
                  <a:pt x="6466" y="22000"/>
                  <a:pt x="63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7300" y="7000"/>
                </a:moveTo>
                <a:lnTo>
                  <a:pt x="11300" y="7000"/>
                </a:lnTo>
                <a:cubicBezTo>
                  <a:pt x="11466" y="7000"/>
                  <a:pt x="11600" y="7134"/>
                  <a:pt x="11600" y="7300"/>
                </a:cubicBezTo>
                <a:lnTo>
                  <a:pt x="11600" y="21700"/>
                </a:lnTo>
                <a:cubicBezTo>
                  <a:pt x="11600" y="21866"/>
                  <a:pt x="11466" y="22000"/>
                  <a:pt x="11300" y="22000"/>
                </a:cubicBezTo>
                <a:lnTo>
                  <a:pt x="7300" y="22000"/>
                </a:lnTo>
                <a:cubicBezTo>
                  <a:pt x="7134" y="22000"/>
                  <a:pt x="7000" y="21866"/>
                  <a:pt x="7000" y="21700"/>
                </a:cubicBezTo>
                <a:lnTo>
                  <a:pt x="7000" y="7300"/>
                </a:lnTo>
                <a:cubicBezTo>
                  <a:pt x="7000" y="7134"/>
                  <a:pt x="7134" y="7000"/>
                  <a:pt x="7300" y="7000"/>
                </a:cubicBezTo>
                <a:close/>
                <a:moveTo>
                  <a:pt x="12300" y="12000"/>
                </a:moveTo>
                <a:lnTo>
                  <a:pt x="16300" y="12000"/>
                </a:lnTo>
                <a:cubicBezTo>
                  <a:pt x="16466" y="12000"/>
                  <a:pt x="16600" y="12134"/>
                  <a:pt x="16600" y="12300"/>
                </a:cubicBezTo>
                <a:lnTo>
                  <a:pt x="16600" y="21700"/>
                </a:lnTo>
                <a:cubicBezTo>
                  <a:pt x="16600" y="21866"/>
                  <a:pt x="16466" y="22000"/>
                  <a:pt x="16300" y="22000"/>
                </a:cubicBezTo>
                <a:lnTo>
                  <a:pt x="12300" y="22000"/>
                </a:lnTo>
                <a:cubicBezTo>
                  <a:pt x="12134" y="22000"/>
                  <a:pt x="12000" y="21866"/>
                  <a:pt x="12000" y="21700"/>
                </a:cubicBezTo>
                <a:lnTo>
                  <a:pt x="12000" y="12300"/>
                </a:lnTo>
                <a:cubicBezTo>
                  <a:pt x="12000" y="12134"/>
                  <a:pt x="12134" y="12000"/>
                  <a:pt x="12300" y="12000"/>
                </a:cubicBezTo>
                <a:close/>
                <a:moveTo>
                  <a:pt x="17300" y="17000"/>
                </a:moveTo>
                <a:lnTo>
                  <a:pt x="21300" y="17000"/>
                </a:lnTo>
                <a:cubicBezTo>
                  <a:pt x="21466" y="17000"/>
                  <a:pt x="21600" y="17134"/>
                  <a:pt x="21600" y="17300"/>
                </a:cubicBezTo>
                <a:lnTo>
                  <a:pt x="21600" y="21700"/>
                </a:lnTo>
                <a:cubicBezTo>
                  <a:pt x="21600" y="21866"/>
                  <a:pt x="21466" y="22000"/>
                  <a:pt x="21300" y="22000"/>
                </a:cubicBezTo>
                <a:lnTo>
                  <a:pt x="17300" y="22000"/>
                </a:lnTo>
                <a:cubicBezTo>
                  <a:pt x="17134" y="22000"/>
                  <a:pt x="17000" y="21866"/>
                  <a:pt x="17000" y="21700"/>
                </a:cubicBezTo>
                <a:lnTo>
                  <a:pt x="17000" y="17300"/>
                </a:lnTo>
                <a:cubicBezTo>
                  <a:pt x="17000" y="17134"/>
                  <a:pt x="17134" y="17000"/>
                  <a:pt x="173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10312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组织级联</a:t>
            </a:r>
          </a:p>
        </p:txBody>
      </p:sp>
      <p:sp>
        <p:nvSpPr>
          <p:cNvPr id="64" name="ORG-021"/>
          <p:cNvSpPr/>
          <p:nvPr/>
        </p:nvSpPr>
        <p:spPr>
          <a:xfrm>
            <a:off x="393192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00" y="5000"/>
                </a:moveTo>
                <a:cubicBezTo>
                  <a:pt x="14400" y="6325"/>
                  <a:pt x="13325" y="7400"/>
                  <a:pt x="12000" y="7400"/>
                </a:cubicBezTo>
                <a:cubicBezTo>
                  <a:pt x="10675" y="7400"/>
                  <a:pt x="9600" y="6325"/>
                  <a:pt x="9600" y="5000"/>
                </a:cubicBezTo>
                <a:cubicBezTo>
                  <a:pt x="9600" y="3675"/>
                  <a:pt x="10675" y="2600"/>
                  <a:pt x="12000" y="2600"/>
                </a:cubicBezTo>
                <a:cubicBezTo>
                  <a:pt x="13325" y="2600"/>
                  <a:pt x="14400" y="3675"/>
                  <a:pt x="14400" y="5000"/>
                </a:cubicBezTo>
                <a:close/>
                <a:moveTo>
                  <a:pt x="11846" y="7272"/>
                </a:moveTo>
                <a:lnTo>
                  <a:pt x="3846" y="16872"/>
                </a:lnTo>
                <a:lnTo>
                  <a:pt x="4154" y="17128"/>
                </a:lnTo>
                <a:lnTo>
                  <a:pt x="12154" y="7528"/>
                </a:lnTo>
                <a:close/>
                <a:moveTo>
                  <a:pt x="11809" y="7340"/>
                </a:moveTo>
                <a:lnTo>
                  <a:pt x="8809" y="16940"/>
                </a:lnTo>
                <a:lnTo>
                  <a:pt x="9191" y="17060"/>
                </a:lnTo>
                <a:lnTo>
                  <a:pt x="12191" y="7460"/>
                </a:lnTo>
                <a:close/>
                <a:moveTo>
                  <a:pt x="11804" y="7441"/>
                </a:moveTo>
                <a:lnTo>
                  <a:pt x="13804" y="17041"/>
                </a:lnTo>
                <a:lnTo>
                  <a:pt x="14196" y="16959"/>
                </a:lnTo>
                <a:lnTo>
                  <a:pt x="12196" y="7359"/>
                </a:lnTo>
                <a:close/>
                <a:moveTo>
                  <a:pt x="11846" y="7528"/>
                </a:moveTo>
                <a:lnTo>
                  <a:pt x="19846" y="17128"/>
                </a:lnTo>
                <a:lnTo>
                  <a:pt x="20154" y="16872"/>
                </a:lnTo>
                <a:lnTo>
                  <a:pt x="12154" y="7272"/>
                </a:lnTo>
                <a:close/>
                <a:moveTo>
                  <a:pt x="5600" y="19000"/>
                </a:moveTo>
                <a:cubicBezTo>
                  <a:pt x="5600" y="19884"/>
                  <a:pt x="4884" y="20600"/>
                  <a:pt x="4000" y="20600"/>
                </a:cubicBezTo>
                <a:cubicBezTo>
                  <a:pt x="3116" y="20600"/>
                  <a:pt x="2400" y="19884"/>
                  <a:pt x="2400" y="19000"/>
                </a:cubicBezTo>
                <a:cubicBezTo>
                  <a:pt x="2400" y="18116"/>
                  <a:pt x="3116" y="17400"/>
                  <a:pt x="4000" y="17400"/>
                </a:cubicBezTo>
                <a:cubicBezTo>
                  <a:pt x="4884" y="17400"/>
                  <a:pt x="5600" y="18116"/>
                  <a:pt x="5600" y="19000"/>
                </a:cubicBezTo>
                <a:close/>
                <a:moveTo>
                  <a:pt x="10600" y="19000"/>
                </a:moveTo>
                <a:cubicBezTo>
                  <a:pt x="10600" y="19884"/>
                  <a:pt x="9884" y="20600"/>
                  <a:pt x="9000" y="20600"/>
                </a:cubicBezTo>
                <a:cubicBezTo>
                  <a:pt x="8116" y="20600"/>
                  <a:pt x="7400" y="19884"/>
                  <a:pt x="7400" y="19000"/>
                </a:cubicBezTo>
                <a:cubicBezTo>
                  <a:pt x="7400" y="18116"/>
                  <a:pt x="8116" y="17400"/>
                  <a:pt x="9000" y="17400"/>
                </a:cubicBezTo>
                <a:cubicBezTo>
                  <a:pt x="9884" y="17400"/>
                  <a:pt x="10600" y="18116"/>
                  <a:pt x="10600" y="19000"/>
                </a:cubicBezTo>
                <a:close/>
                <a:moveTo>
                  <a:pt x="15600" y="19000"/>
                </a:moveTo>
                <a:cubicBezTo>
                  <a:pt x="15600" y="19884"/>
                  <a:pt x="14884" y="20600"/>
                  <a:pt x="14000" y="20600"/>
                </a:cubicBezTo>
                <a:cubicBezTo>
                  <a:pt x="13116" y="20600"/>
                  <a:pt x="12400" y="19884"/>
                  <a:pt x="12400" y="19000"/>
                </a:cubicBezTo>
                <a:cubicBezTo>
                  <a:pt x="12400" y="18116"/>
                  <a:pt x="13116" y="17400"/>
                  <a:pt x="14000" y="17400"/>
                </a:cubicBezTo>
                <a:cubicBezTo>
                  <a:pt x="14884" y="17400"/>
                  <a:pt x="15600" y="18116"/>
                  <a:pt x="15600" y="19000"/>
                </a:cubicBezTo>
                <a:close/>
                <a:moveTo>
                  <a:pt x="21600" y="19000"/>
                </a:moveTo>
                <a:cubicBezTo>
                  <a:pt x="21600" y="19884"/>
                  <a:pt x="20884" y="20600"/>
                  <a:pt x="20000" y="20600"/>
                </a:cubicBezTo>
                <a:cubicBezTo>
                  <a:pt x="19116" y="20600"/>
                  <a:pt x="18400" y="19884"/>
                  <a:pt x="18400" y="19000"/>
                </a:cubicBezTo>
                <a:cubicBezTo>
                  <a:pt x="18400" y="18116"/>
                  <a:pt x="19116" y="17400"/>
                  <a:pt x="20000" y="17400"/>
                </a:cubicBezTo>
                <a:cubicBezTo>
                  <a:pt x="20884" y="17400"/>
                  <a:pt x="21600" y="18116"/>
                  <a:pt x="216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74904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直接下属</a:t>
            </a:r>
          </a:p>
        </p:txBody>
      </p:sp>
      <p:sp>
        <p:nvSpPr>
          <p:cNvPr id="67" name="ORG-022"/>
          <p:cNvSpPr/>
          <p:nvPr/>
        </p:nvSpPr>
        <p:spPr>
          <a:xfrm>
            <a:off x="557784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000"/>
                </a:moveTo>
                <a:lnTo>
                  <a:pt x="6400" y="2000"/>
                </a:lnTo>
                <a:cubicBezTo>
                  <a:pt x="6566" y="2000"/>
                  <a:pt x="6700" y="2134"/>
                  <a:pt x="6700" y="2300"/>
                </a:cubicBezTo>
                <a:lnTo>
                  <a:pt x="6700" y="11500"/>
                </a:lnTo>
                <a:cubicBezTo>
                  <a:pt x="6700" y="11666"/>
                  <a:pt x="6566" y="11800"/>
                  <a:pt x="6400" y="11800"/>
                </a:cubicBezTo>
                <a:lnTo>
                  <a:pt x="2300" y="11800"/>
                </a:lnTo>
                <a:cubicBezTo>
                  <a:pt x="2134" y="11800"/>
                  <a:pt x="2000" y="11666"/>
                  <a:pt x="2000" y="115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7100" y="2000"/>
                </a:moveTo>
                <a:lnTo>
                  <a:pt x="11800" y="2000"/>
                </a:lnTo>
                <a:lnTo>
                  <a:pt x="11800" y="2400"/>
                </a:lnTo>
                <a:lnTo>
                  <a:pt x="7100" y="2400"/>
                </a:lnTo>
                <a:close/>
                <a:moveTo>
                  <a:pt x="7100" y="11400"/>
                </a:moveTo>
                <a:lnTo>
                  <a:pt x="11800" y="11400"/>
                </a:lnTo>
                <a:lnTo>
                  <a:pt x="11800" y="11800"/>
                </a:lnTo>
                <a:lnTo>
                  <a:pt x="7100" y="11800"/>
                </a:lnTo>
                <a:close/>
                <a:moveTo>
                  <a:pt x="7100" y="2000"/>
                </a:moveTo>
                <a:lnTo>
                  <a:pt x="7500" y="2000"/>
                </a:lnTo>
                <a:lnTo>
                  <a:pt x="7500" y="11800"/>
                </a:lnTo>
                <a:lnTo>
                  <a:pt x="7100" y="11800"/>
                </a:lnTo>
                <a:close/>
                <a:moveTo>
                  <a:pt x="11400" y="2000"/>
                </a:moveTo>
                <a:lnTo>
                  <a:pt x="11800" y="2000"/>
                </a:lnTo>
                <a:lnTo>
                  <a:pt x="11800" y="11800"/>
                </a:lnTo>
                <a:lnTo>
                  <a:pt x="11400" y="11800"/>
                </a:lnTo>
                <a:close/>
                <a:moveTo>
                  <a:pt x="12200" y="2000"/>
                </a:moveTo>
                <a:lnTo>
                  <a:pt x="16900" y="2000"/>
                </a:lnTo>
                <a:lnTo>
                  <a:pt x="16900" y="2400"/>
                </a:lnTo>
                <a:lnTo>
                  <a:pt x="12200" y="2400"/>
                </a:lnTo>
                <a:close/>
                <a:moveTo>
                  <a:pt x="12200" y="11400"/>
                </a:moveTo>
                <a:lnTo>
                  <a:pt x="16900" y="11400"/>
                </a:lnTo>
                <a:lnTo>
                  <a:pt x="16900" y="11800"/>
                </a:lnTo>
                <a:lnTo>
                  <a:pt x="12200" y="11800"/>
                </a:lnTo>
                <a:close/>
                <a:moveTo>
                  <a:pt x="12200" y="2000"/>
                </a:moveTo>
                <a:lnTo>
                  <a:pt x="12600" y="2000"/>
                </a:lnTo>
                <a:lnTo>
                  <a:pt x="12600" y="11800"/>
                </a:lnTo>
                <a:lnTo>
                  <a:pt x="12200" y="11800"/>
                </a:lnTo>
                <a:close/>
                <a:moveTo>
                  <a:pt x="16500" y="2000"/>
                </a:moveTo>
                <a:lnTo>
                  <a:pt x="16900" y="2000"/>
                </a:lnTo>
                <a:lnTo>
                  <a:pt x="16900" y="11800"/>
                </a:lnTo>
                <a:lnTo>
                  <a:pt x="16500" y="11800"/>
                </a:lnTo>
                <a:close/>
                <a:moveTo>
                  <a:pt x="17300" y="2000"/>
                </a:moveTo>
                <a:lnTo>
                  <a:pt x="22000" y="2000"/>
                </a:lnTo>
                <a:lnTo>
                  <a:pt x="22000" y="2400"/>
                </a:lnTo>
                <a:lnTo>
                  <a:pt x="17300" y="2400"/>
                </a:lnTo>
                <a:close/>
                <a:moveTo>
                  <a:pt x="17300" y="11400"/>
                </a:moveTo>
                <a:lnTo>
                  <a:pt x="22000" y="11400"/>
                </a:lnTo>
                <a:lnTo>
                  <a:pt x="22000" y="11800"/>
                </a:lnTo>
                <a:lnTo>
                  <a:pt x="17300" y="11800"/>
                </a:lnTo>
                <a:close/>
                <a:moveTo>
                  <a:pt x="17300" y="2000"/>
                </a:moveTo>
                <a:lnTo>
                  <a:pt x="17700" y="2000"/>
                </a:lnTo>
                <a:lnTo>
                  <a:pt x="17700" y="11800"/>
                </a:lnTo>
                <a:lnTo>
                  <a:pt x="17300" y="11800"/>
                </a:lnTo>
                <a:close/>
                <a:moveTo>
                  <a:pt x="21600" y="2000"/>
                </a:moveTo>
                <a:lnTo>
                  <a:pt x="22000" y="2000"/>
                </a:lnTo>
                <a:lnTo>
                  <a:pt x="22000" y="11800"/>
                </a:lnTo>
                <a:lnTo>
                  <a:pt x="21600" y="11800"/>
                </a:lnTo>
                <a:close/>
                <a:moveTo>
                  <a:pt x="2000" y="12200"/>
                </a:moveTo>
                <a:lnTo>
                  <a:pt x="6700" y="12200"/>
                </a:lnTo>
                <a:lnTo>
                  <a:pt x="6700" y="12600"/>
                </a:lnTo>
                <a:lnTo>
                  <a:pt x="2000" y="12600"/>
                </a:lnTo>
                <a:close/>
                <a:moveTo>
                  <a:pt x="2000" y="21600"/>
                </a:moveTo>
                <a:lnTo>
                  <a:pt x="6700" y="21600"/>
                </a:lnTo>
                <a:lnTo>
                  <a:pt x="6700" y="22000"/>
                </a:lnTo>
                <a:lnTo>
                  <a:pt x="2000" y="22000"/>
                </a:lnTo>
                <a:close/>
                <a:moveTo>
                  <a:pt x="2000" y="12200"/>
                </a:moveTo>
                <a:lnTo>
                  <a:pt x="2400" y="12200"/>
                </a:lnTo>
                <a:lnTo>
                  <a:pt x="2400" y="22000"/>
                </a:lnTo>
                <a:lnTo>
                  <a:pt x="2000" y="22000"/>
                </a:lnTo>
                <a:close/>
                <a:moveTo>
                  <a:pt x="6300" y="12200"/>
                </a:moveTo>
                <a:lnTo>
                  <a:pt x="6700" y="12200"/>
                </a:lnTo>
                <a:lnTo>
                  <a:pt x="6700" y="22000"/>
                </a:lnTo>
                <a:lnTo>
                  <a:pt x="6300" y="22000"/>
                </a:lnTo>
                <a:close/>
                <a:moveTo>
                  <a:pt x="7100" y="12200"/>
                </a:moveTo>
                <a:lnTo>
                  <a:pt x="11800" y="12200"/>
                </a:lnTo>
                <a:lnTo>
                  <a:pt x="11800" y="12600"/>
                </a:lnTo>
                <a:lnTo>
                  <a:pt x="7100" y="12600"/>
                </a:lnTo>
                <a:close/>
                <a:moveTo>
                  <a:pt x="7100" y="21600"/>
                </a:moveTo>
                <a:lnTo>
                  <a:pt x="11800" y="21600"/>
                </a:lnTo>
                <a:lnTo>
                  <a:pt x="11800" y="22000"/>
                </a:lnTo>
                <a:lnTo>
                  <a:pt x="7100" y="22000"/>
                </a:lnTo>
                <a:close/>
                <a:moveTo>
                  <a:pt x="7100" y="12200"/>
                </a:moveTo>
                <a:lnTo>
                  <a:pt x="7500" y="12200"/>
                </a:lnTo>
                <a:lnTo>
                  <a:pt x="7500" y="22000"/>
                </a:lnTo>
                <a:lnTo>
                  <a:pt x="7100" y="22000"/>
                </a:lnTo>
                <a:close/>
                <a:moveTo>
                  <a:pt x="11400" y="12200"/>
                </a:moveTo>
                <a:lnTo>
                  <a:pt x="11800" y="12200"/>
                </a:lnTo>
                <a:lnTo>
                  <a:pt x="11800" y="22000"/>
                </a:lnTo>
                <a:lnTo>
                  <a:pt x="11400" y="22000"/>
                </a:lnTo>
                <a:close/>
                <a:moveTo>
                  <a:pt x="12500" y="12200"/>
                </a:moveTo>
                <a:lnTo>
                  <a:pt x="16600" y="12200"/>
                </a:lnTo>
                <a:cubicBezTo>
                  <a:pt x="16766" y="12200"/>
                  <a:pt x="16900" y="12334"/>
                  <a:pt x="16900" y="12500"/>
                </a:cubicBezTo>
                <a:lnTo>
                  <a:pt x="16900" y="21700"/>
                </a:lnTo>
                <a:cubicBezTo>
                  <a:pt x="16900" y="21866"/>
                  <a:pt x="16766" y="22000"/>
                  <a:pt x="16600" y="22000"/>
                </a:cubicBezTo>
                <a:lnTo>
                  <a:pt x="12500" y="22000"/>
                </a:lnTo>
                <a:cubicBezTo>
                  <a:pt x="12334" y="22000"/>
                  <a:pt x="12200" y="21866"/>
                  <a:pt x="12200" y="21700"/>
                </a:cubicBezTo>
                <a:lnTo>
                  <a:pt x="12200" y="12500"/>
                </a:lnTo>
                <a:cubicBezTo>
                  <a:pt x="12200" y="12334"/>
                  <a:pt x="12334" y="12200"/>
                  <a:pt x="12500" y="12200"/>
                </a:cubicBezTo>
                <a:close/>
                <a:moveTo>
                  <a:pt x="17300" y="12200"/>
                </a:moveTo>
                <a:lnTo>
                  <a:pt x="22000" y="12200"/>
                </a:lnTo>
                <a:lnTo>
                  <a:pt x="22000" y="12600"/>
                </a:lnTo>
                <a:lnTo>
                  <a:pt x="17300" y="12600"/>
                </a:lnTo>
                <a:close/>
                <a:moveTo>
                  <a:pt x="17300" y="21600"/>
                </a:moveTo>
                <a:lnTo>
                  <a:pt x="22000" y="21600"/>
                </a:lnTo>
                <a:lnTo>
                  <a:pt x="22000" y="22000"/>
                </a:lnTo>
                <a:lnTo>
                  <a:pt x="17300" y="22000"/>
                </a:lnTo>
                <a:close/>
                <a:moveTo>
                  <a:pt x="17300" y="12200"/>
                </a:moveTo>
                <a:lnTo>
                  <a:pt x="17700" y="12200"/>
                </a:lnTo>
                <a:lnTo>
                  <a:pt x="17700" y="22000"/>
                </a:lnTo>
                <a:lnTo>
                  <a:pt x="17300" y="22000"/>
                </a:lnTo>
                <a:close/>
                <a:moveTo>
                  <a:pt x="21600" y="12200"/>
                </a:moveTo>
                <a:lnTo>
                  <a:pt x="22000" y="12200"/>
                </a:lnTo>
                <a:lnTo>
                  <a:pt x="22000" y="22000"/>
                </a:lnTo>
                <a:lnTo>
                  <a:pt x="216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39496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决策权分配</a:t>
            </a:r>
          </a:p>
        </p:txBody>
      </p:sp>
      <p:sp>
        <p:nvSpPr>
          <p:cNvPr id="70" name="ORG-023"/>
          <p:cNvSpPr/>
          <p:nvPr/>
        </p:nvSpPr>
        <p:spPr>
          <a:xfrm>
            <a:off x="722376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500" y="4000"/>
                </a:moveTo>
                <a:lnTo>
                  <a:pt x="11500" y="7400"/>
                </a:lnTo>
                <a:lnTo>
                  <a:pt x="10800" y="7400"/>
                </a:lnTo>
                <a:lnTo>
                  <a:pt x="12000" y="9000"/>
                </a:lnTo>
                <a:lnTo>
                  <a:pt x="13200" y="7400"/>
                </a:lnTo>
                <a:lnTo>
                  <a:pt x="12500" y="7400"/>
                </a:lnTo>
                <a:lnTo>
                  <a:pt x="12500" y="4000"/>
                </a:lnTo>
                <a:close/>
                <a:moveTo>
                  <a:pt x="7688" y="10750"/>
                </a:moveTo>
                <a:lnTo>
                  <a:pt x="4562" y="14657"/>
                </a:lnTo>
                <a:lnTo>
                  <a:pt x="4094" y="14282"/>
                </a:lnTo>
                <a:lnTo>
                  <a:pt x="4000" y="16000"/>
                </a:lnTo>
                <a:lnTo>
                  <a:pt x="5655" y="15531"/>
                </a:lnTo>
                <a:lnTo>
                  <a:pt x="5187" y="15157"/>
                </a:lnTo>
                <a:lnTo>
                  <a:pt x="8312" y="11250"/>
                </a:lnTo>
                <a:close/>
                <a:moveTo>
                  <a:pt x="11600" y="11000"/>
                </a:moveTo>
                <a:lnTo>
                  <a:pt x="11600" y="14600"/>
                </a:lnTo>
                <a:lnTo>
                  <a:pt x="11000" y="14600"/>
                </a:lnTo>
                <a:lnTo>
                  <a:pt x="12000" y="16000"/>
                </a:lnTo>
                <a:lnTo>
                  <a:pt x="13000" y="14600"/>
                </a:lnTo>
                <a:lnTo>
                  <a:pt x="12400" y="14600"/>
                </a:lnTo>
                <a:lnTo>
                  <a:pt x="12400" y="11000"/>
                </a:lnTo>
                <a:close/>
                <a:moveTo>
                  <a:pt x="15688" y="11250"/>
                </a:moveTo>
                <a:lnTo>
                  <a:pt x="18813" y="15157"/>
                </a:lnTo>
                <a:lnTo>
                  <a:pt x="18345" y="15531"/>
                </a:lnTo>
                <a:lnTo>
                  <a:pt x="20000" y="16000"/>
                </a:lnTo>
                <a:lnTo>
                  <a:pt x="19906" y="14282"/>
                </a:lnTo>
                <a:lnTo>
                  <a:pt x="19438" y="14657"/>
                </a:lnTo>
                <a:lnTo>
                  <a:pt x="16312" y="10750"/>
                </a:lnTo>
                <a:close/>
                <a:moveTo>
                  <a:pt x="13400" y="4000"/>
                </a:moveTo>
                <a:cubicBezTo>
                  <a:pt x="13400" y="4773"/>
                  <a:pt x="12773" y="5400"/>
                  <a:pt x="12000" y="5400"/>
                </a:cubicBezTo>
                <a:cubicBezTo>
                  <a:pt x="11227" y="5400"/>
                  <a:pt x="10600" y="4773"/>
                  <a:pt x="10600" y="4000"/>
                </a:cubicBezTo>
                <a:cubicBezTo>
                  <a:pt x="10600" y="3227"/>
                  <a:pt x="11227" y="2600"/>
                  <a:pt x="12000" y="2600"/>
                </a:cubicBezTo>
                <a:cubicBezTo>
                  <a:pt x="12773" y="2600"/>
                  <a:pt x="13400" y="3227"/>
                  <a:pt x="13400" y="4000"/>
                </a:cubicBezTo>
                <a:close/>
                <a:moveTo>
                  <a:pt x="5400" y="17000"/>
                </a:moveTo>
                <a:cubicBezTo>
                  <a:pt x="5400" y="17773"/>
                  <a:pt x="4773" y="18400"/>
                  <a:pt x="4000" y="18400"/>
                </a:cubicBezTo>
                <a:cubicBezTo>
                  <a:pt x="3227" y="18400"/>
                  <a:pt x="2600" y="17773"/>
                  <a:pt x="2600" y="17000"/>
                </a:cubicBezTo>
                <a:cubicBezTo>
                  <a:pt x="2600" y="16227"/>
                  <a:pt x="3227" y="15600"/>
                  <a:pt x="4000" y="15600"/>
                </a:cubicBezTo>
                <a:cubicBezTo>
                  <a:pt x="4773" y="15600"/>
                  <a:pt x="5400" y="16227"/>
                  <a:pt x="5400" y="17000"/>
                </a:cubicBezTo>
                <a:close/>
                <a:moveTo>
                  <a:pt x="13400" y="17000"/>
                </a:moveTo>
                <a:cubicBezTo>
                  <a:pt x="13400" y="17773"/>
                  <a:pt x="12773" y="18400"/>
                  <a:pt x="12000" y="18400"/>
                </a:cubicBezTo>
                <a:cubicBezTo>
                  <a:pt x="11227" y="18400"/>
                  <a:pt x="10600" y="17773"/>
                  <a:pt x="10600" y="17000"/>
                </a:cubicBezTo>
                <a:cubicBezTo>
                  <a:pt x="10600" y="16227"/>
                  <a:pt x="11227" y="15600"/>
                  <a:pt x="12000" y="15600"/>
                </a:cubicBezTo>
                <a:cubicBezTo>
                  <a:pt x="12773" y="15600"/>
                  <a:pt x="13400" y="16227"/>
                  <a:pt x="13400" y="17000"/>
                </a:cubicBezTo>
                <a:close/>
                <a:moveTo>
                  <a:pt x="21400" y="17000"/>
                </a:moveTo>
                <a:cubicBezTo>
                  <a:pt x="21400" y="17773"/>
                  <a:pt x="20773" y="18400"/>
                  <a:pt x="20000" y="18400"/>
                </a:cubicBezTo>
                <a:cubicBezTo>
                  <a:pt x="19227" y="18400"/>
                  <a:pt x="18600" y="17773"/>
                  <a:pt x="18600" y="17000"/>
                </a:cubicBezTo>
                <a:cubicBezTo>
                  <a:pt x="18600" y="16227"/>
                  <a:pt x="19227" y="15600"/>
                  <a:pt x="20000" y="15600"/>
                </a:cubicBezTo>
                <a:cubicBezTo>
                  <a:pt x="20773" y="15600"/>
                  <a:pt x="21400" y="16227"/>
                  <a:pt x="214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04088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授权层级</a:t>
            </a:r>
          </a:p>
        </p:txBody>
      </p:sp>
      <p:sp>
        <p:nvSpPr>
          <p:cNvPr id="73" name="ORG-024"/>
          <p:cNvSpPr/>
          <p:nvPr/>
        </p:nvSpPr>
        <p:spPr>
          <a:xfrm>
            <a:off x="88696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700" y="21000"/>
                </a:moveTo>
                <a:lnTo>
                  <a:pt x="4700" y="6600"/>
                </a:lnTo>
                <a:lnTo>
                  <a:pt x="5700" y="6600"/>
                </a:lnTo>
                <a:lnTo>
                  <a:pt x="4000" y="4000"/>
                </a:lnTo>
                <a:lnTo>
                  <a:pt x="2300" y="6600"/>
                </a:lnTo>
                <a:lnTo>
                  <a:pt x="3300" y="6600"/>
                </a:lnTo>
                <a:lnTo>
                  <a:pt x="3300" y="21000"/>
                </a:lnTo>
                <a:close/>
                <a:moveTo>
                  <a:pt x="5400" y="21000"/>
                </a:moveTo>
                <a:cubicBezTo>
                  <a:pt x="5400" y="21773"/>
                  <a:pt x="4773" y="22400"/>
                  <a:pt x="4000" y="22400"/>
                </a:cubicBezTo>
                <a:cubicBezTo>
                  <a:pt x="3227" y="22400"/>
                  <a:pt x="2600" y="21773"/>
                  <a:pt x="2600" y="21000"/>
                </a:cubicBezTo>
                <a:cubicBezTo>
                  <a:pt x="2600" y="20227"/>
                  <a:pt x="3227" y="19600"/>
                  <a:pt x="4000" y="19600"/>
                </a:cubicBezTo>
                <a:cubicBezTo>
                  <a:pt x="4773" y="19600"/>
                  <a:pt x="5400" y="20227"/>
                  <a:pt x="5400" y="21000"/>
                </a:cubicBezTo>
                <a:close/>
                <a:moveTo>
                  <a:pt x="5400" y="14000"/>
                </a:moveTo>
                <a:cubicBezTo>
                  <a:pt x="5400" y="14773"/>
                  <a:pt x="4773" y="15400"/>
                  <a:pt x="4000" y="15400"/>
                </a:cubicBezTo>
                <a:cubicBezTo>
                  <a:pt x="3227" y="15400"/>
                  <a:pt x="2600" y="14773"/>
                  <a:pt x="2600" y="14000"/>
                </a:cubicBezTo>
                <a:cubicBezTo>
                  <a:pt x="2600" y="13227"/>
                  <a:pt x="3227" y="12600"/>
                  <a:pt x="4000" y="12600"/>
                </a:cubicBezTo>
                <a:cubicBezTo>
                  <a:pt x="4773" y="12600"/>
                  <a:pt x="5400" y="13227"/>
                  <a:pt x="5400" y="14000"/>
                </a:cubicBezTo>
                <a:close/>
                <a:moveTo>
                  <a:pt x="5400" y="7000"/>
                </a:moveTo>
                <a:cubicBezTo>
                  <a:pt x="5400" y="7773"/>
                  <a:pt x="4773" y="8400"/>
                  <a:pt x="4000" y="8400"/>
                </a:cubicBezTo>
                <a:cubicBezTo>
                  <a:pt x="3227" y="8400"/>
                  <a:pt x="2600" y="7773"/>
                  <a:pt x="2600" y="7000"/>
                </a:cubicBezTo>
                <a:cubicBezTo>
                  <a:pt x="2600" y="6227"/>
                  <a:pt x="3227" y="5600"/>
                  <a:pt x="4000" y="5600"/>
                </a:cubicBezTo>
                <a:cubicBezTo>
                  <a:pt x="4773" y="5600"/>
                  <a:pt x="5400" y="6227"/>
                  <a:pt x="5400" y="7000"/>
                </a:cubicBezTo>
                <a:close/>
                <a:moveTo>
                  <a:pt x="4000" y="14250"/>
                </a:moveTo>
                <a:lnTo>
                  <a:pt x="12000" y="14250"/>
                </a:lnTo>
                <a:lnTo>
                  <a:pt x="12000" y="13750"/>
                </a:lnTo>
                <a:lnTo>
                  <a:pt x="4000" y="13750"/>
                </a:lnTo>
                <a:close/>
                <a:moveTo>
                  <a:pt x="4000" y="7250"/>
                </a:moveTo>
                <a:lnTo>
                  <a:pt x="16000" y="7250"/>
                </a:lnTo>
                <a:lnTo>
                  <a:pt x="16000" y="6750"/>
                </a:lnTo>
                <a:lnTo>
                  <a:pt x="4000" y="6750"/>
                </a:lnTo>
                <a:close/>
                <a:moveTo>
                  <a:pt x="13000" y="14000"/>
                </a:moveTo>
                <a:cubicBezTo>
                  <a:pt x="13000" y="14552"/>
                  <a:pt x="12552" y="15000"/>
                  <a:pt x="12000" y="15000"/>
                </a:cubicBezTo>
                <a:cubicBezTo>
                  <a:pt x="11448" y="15000"/>
                  <a:pt x="11000" y="14552"/>
                  <a:pt x="11000" y="14000"/>
                </a:cubicBezTo>
                <a:cubicBezTo>
                  <a:pt x="11000" y="13448"/>
                  <a:pt x="11448" y="13000"/>
                  <a:pt x="12000" y="13000"/>
                </a:cubicBezTo>
                <a:cubicBezTo>
                  <a:pt x="12552" y="13000"/>
                  <a:pt x="13000" y="13448"/>
                  <a:pt x="13000" y="14000"/>
                </a:cubicBezTo>
                <a:close/>
                <a:moveTo>
                  <a:pt x="17000" y="7000"/>
                </a:moveTo>
                <a:cubicBezTo>
                  <a:pt x="17000" y="7552"/>
                  <a:pt x="16552" y="8000"/>
                  <a:pt x="16000" y="8000"/>
                </a:cubicBezTo>
                <a:cubicBezTo>
                  <a:pt x="15448" y="8000"/>
                  <a:pt x="15000" y="7552"/>
                  <a:pt x="15000" y="7000"/>
                </a:cubicBezTo>
                <a:cubicBezTo>
                  <a:pt x="15000" y="6448"/>
                  <a:pt x="15448" y="6000"/>
                  <a:pt x="16000" y="6000"/>
                </a:cubicBezTo>
                <a:cubicBezTo>
                  <a:pt x="16552" y="6000"/>
                  <a:pt x="17000" y="6448"/>
                  <a:pt x="170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868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升级路径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03_组织架构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ORG · 第 2/2 页 · 共 30 个</a:t>
            </a:r>
          </a:p>
        </p:txBody>
      </p:sp>
      <p:sp>
        <p:nvSpPr>
          <p:cNvPr id="4" name="ORG-025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00" y="8000"/>
                </a:moveTo>
                <a:lnTo>
                  <a:pt x="7500" y="8000"/>
                </a:lnTo>
                <a:cubicBezTo>
                  <a:pt x="7776" y="8000"/>
                  <a:pt x="8000" y="8224"/>
                  <a:pt x="8000" y="8500"/>
                </a:cubicBezTo>
                <a:lnTo>
                  <a:pt x="8000" y="15500"/>
                </a:lnTo>
                <a:cubicBezTo>
                  <a:pt x="8000" y="15776"/>
                  <a:pt x="7776" y="16000"/>
                  <a:pt x="7500" y="16000"/>
                </a:cubicBezTo>
                <a:lnTo>
                  <a:pt x="2500" y="16000"/>
                </a:lnTo>
                <a:cubicBezTo>
                  <a:pt x="2224" y="16000"/>
                  <a:pt x="2000" y="15776"/>
                  <a:pt x="2000" y="15500"/>
                </a:cubicBezTo>
                <a:lnTo>
                  <a:pt x="2000" y="8500"/>
                </a:lnTo>
                <a:cubicBezTo>
                  <a:pt x="2000" y="8224"/>
                  <a:pt x="2224" y="8000"/>
                  <a:pt x="2500" y="8000"/>
                </a:cubicBezTo>
                <a:close/>
                <a:moveTo>
                  <a:pt x="9000" y="12700"/>
                </a:moveTo>
                <a:lnTo>
                  <a:pt x="12600" y="12700"/>
                </a:lnTo>
                <a:lnTo>
                  <a:pt x="12600" y="13700"/>
                </a:lnTo>
                <a:lnTo>
                  <a:pt x="15000" y="12000"/>
                </a:lnTo>
                <a:lnTo>
                  <a:pt x="12600" y="10300"/>
                </a:lnTo>
                <a:lnTo>
                  <a:pt x="12600" y="11300"/>
                </a:lnTo>
                <a:lnTo>
                  <a:pt x="9000" y="11300"/>
                </a:lnTo>
                <a:close/>
                <a:moveTo>
                  <a:pt x="24000" y="12000"/>
                </a:moveTo>
                <a:cubicBezTo>
                  <a:pt x="24000" y="14209"/>
                  <a:pt x="22209" y="16000"/>
                  <a:pt x="20000" y="16000"/>
                </a:cubicBezTo>
                <a:cubicBezTo>
                  <a:pt x="17791" y="16000"/>
                  <a:pt x="16000" y="14209"/>
                  <a:pt x="16000" y="12000"/>
                </a:cubicBezTo>
                <a:cubicBezTo>
                  <a:pt x="16000" y="9791"/>
                  <a:pt x="17791" y="8000"/>
                  <a:pt x="20000" y="8000"/>
                </a:cubicBezTo>
                <a:cubicBezTo>
                  <a:pt x="22209" y="8000"/>
                  <a:pt x="24000" y="9791"/>
                  <a:pt x="240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组织转型</a:t>
            </a:r>
          </a:p>
        </p:txBody>
      </p:sp>
      <p:sp>
        <p:nvSpPr>
          <p:cNvPr id="7" name="ORG-026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4000"/>
                </a:moveTo>
                <a:lnTo>
                  <a:pt x="8000" y="4000"/>
                </a:lnTo>
                <a:lnTo>
                  <a:pt x="8000" y="7000"/>
                </a:lnTo>
                <a:lnTo>
                  <a:pt x="2000" y="7000"/>
                </a:lnTo>
                <a:close/>
                <a:moveTo>
                  <a:pt x="8000" y="4000"/>
                </a:moveTo>
                <a:lnTo>
                  <a:pt x="14000" y="4000"/>
                </a:lnTo>
                <a:lnTo>
                  <a:pt x="14000" y="7000"/>
                </a:lnTo>
                <a:lnTo>
                  <a:pt x="8000" y="7000"/>
                </a:lnTo>
                <a:close/>
                <a:moveTo>
                  <a:pt x="14000" y="4000"/>
                </a:moveTo>
                <a:lnTo>
                  <a:pt x="20000" y="4000"/>
                </a:lnTo>
                <a:lnTo>
                  <a:pt x="20000" y="7000"/>
                </a:lnTo>
                <a:lnTo>
                  <a:pt x="14000" y="7000"/>
                </a:lnTo>
                <a:close/>
                <a:moveTo>
                  <a:pt x="2000" y="11000"/>
                </a:moveTo>
                <a:lnTo>
                  <a:pt x="8000" y="11000"/>
                </a:lnTo>
                <a:lnTo>
                  <a:pt x="8000" y="14000"/>
                </a:lnTo>
                <a:lnTo>
                  <a:pt x="2000" y="14000"/>
                </a:lnTo>
                <a:close/>
                <a:moveTo>
                  <a:pt x="8000" y="11000"/>
                </a:moveTo>
                <a:lnTo>
                  <a:pt x="14000" y="11000"/>
                </a:lnTo>
                <a:lnTo>
                  <a:pt x="14000" y="14000"/>
                </a:lnTo>
                <a:lnTo>
                  <a:pt x="8000" y="14000"/>
                </a:lnTo>
                <a:close/>
                <a:moveTo>
                  <a:pt x="2000" y="18000"/>
                </a:moveTo>
                <a:lnTo>
                  <a:pt x="8000" y="18000"/>
                </a:lnTo>
                <a:lnTo>
                  <a:pt x="8000" y="21000"/>
                </a:lnTo>
                <a:lnTo>
                  <a:pt x="2000" y="21000"/>
                </a:lnTo>
                <a:close/>
                <a:moveTo>
                  <a:pt x="11700" y="5500"/>
                </a:moveTo>
                <a:cubicBezTo>
                  <a:pt x="11700" y="5887"/>
                  <a:pt x="11387" y="6200"/>
                  <a:pt x="11000" y="6200"/>
                </a:cubicBezTo>
                <a:cubicBezTo>
                  <a:pt x="10613" y="6200"/>
                  <a:pt x="10300" y="5887"/>
                  <a:pt x="10300" y="5500"/>
                </a:cubicBezTo>
                <a:cubicBezTo>
                  <a:pt x="10300" y="5113"/>
                  <a:pt x="10613" y="4800"/>
                  <a:pt x="11000" y="4800"/>
                </a:cubicBezTo>
                <a:cubicBezTo>
                  <a:pt x="11387" y="4800"/>
                  <a:pt x="11700" y="5113"/>
                  <a:pt x="11700" y="5500"/>
                </a:cubicBezTo>
                <a:close/>
                <a:moveTo>
                  <a:pt x="17700" y="5500"/>
                </a:moveTo>
                <a:cubicBezTo>
                  <a:pt x="17700" y="5887"/>
                  <a:pt x="17387" y="6200"/>
                  <a:pt x="17000" y="6200"/>
                </a:cubicBezTo>
                <a:cubicBezTo>
                  <a:pt x="16613" y="6200"/>
                  <a:pt x="16300" y="5887"/>
                  <a:pt x="16300" y="5500"/>
                </a:cubicBezTo>
                <a:cubicBezTo>
                  <a:pt x="16300" y="5113"/>
                  <a:pt x="16613" y="4800"/>
                  <a:pt x="17000" y="4800"/>
                </a:cubicBezTo>
                <a:cubicBezTo>
                  <a:pt x="17387" y="4800"/>
                  <a:pt x="17700" y="5113"/>
                  <a:pt x="17700" y="5500"/>
                </a:cubicBezTo>
                <a:close/>
                <a:moveTo>
                  <a:pt x="5700" y="12500"/>
                </a:moveTo>
                <a:cubicBezTo>
                  <a:pt x="5700" y="12887"/>
                  <a:pt x="5387" y="13200"/>
                  <a:pt x="5000" y="13200"/>
                </a:cubicBezTo>
                <a:cubicBezTo>
                  <a:pt x="4613" y="13200"/>
                  <a:pt x="4300" y="12887"/>
                  <a:pt x="4300" y="12500"/>
                </a:cubicBezTo>
                <a:cubicBezTo>
                  <a:pt x="4300" y="12113"/>
                  <a:pt x="4613" y="11800"/>
                  <a:pt x="5000" y="11800"/>
                </a:cubicBezTo>
                <a:cubicBezTo>
                  <a:pt x="5387" y="11800"/>
                  <a:pt x="5700" y="12113"/>
                  <a:pt x="5700" y="12500"/>
                </a:cubicBezTo>
                <a:close/>
                <a:moveTo>
                  <a:pt x="11700" y="12500"/>
                </a:moveTo>
                <a:cubicBezTo>
                  <a:pt x="11700" y="12887"/>
                  <a:pt x="11387" y="13200"/>
                  <a:pt x="11000" y="13200"/>
                </a:cubicBezTo>
                <a:cubicBezTo>
                  <a:pt x="10613" y="13200"/>
                  <a:pt x="10300" y="12887"/>
                  <a:pt x="10300" y="12500"/>
                </a:cubicBezTo>
                <a:cubicBezTo>
                  <a:pt x="10300" y="12113"/>
                  <a:pt x="10613" y="11800"/>
                  <a:pt x="11000" y="11800"/>
                </a:cubicBezTo>
                <a:cubicBezTo>
                  <a:pt x="11387" y="11800"/>
                  <a:pt x="11700" y="12113"/>
                  <a:pt x="11700" y="12500"/>
                </a:cubicBezTo>
                <a:close/>
                <a:moveTo>
                  <a:pt x="5700" y="19500"/>
                </a:moveTo>
                <a:cubicBezTo>
                  <a:pt x="5700" y="19887"/>
                  <a:pt x="5387" y="20200"/>
                  <a:pt x="5000" y="20200"/>
                </a:cubicBezTo>
                <a:cubicBezTo>
                  <a:pt x="4613" y="20200"/>
                  <a:pt x="4300" y="19887"/>
                  <a:pt x="4300" y="19500"/>
                </a:cubicBezTo>
                <a:cubicBezTo>
                  <a:pt x="4300" y="19113"/>
                  <a:pt x="4613" y="18800"/>
                  <a:pt x="5000" y="18800"/>
                </a:cubicBezTo>
                <a:cubicBezTo>
                  <a:pt x="5387" y="18800"/>
                  <a:pt x="5700" y="19113"/>
                  <a:pt x="5700" y="19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人才管道</a:t>
            </a:r>
          </a:p>
        </p:txBody>
      </p:sp>
      <p:sp>
        <p:nvSpPr>
          <p:cNvPr id="10" name="ORG-027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300" y="17000"/>
                </a:moveTo>
                <a:lnTo>
                  <a:pt x="6300" y="17000"/>
                </a:lnTo>
                <a:cubicBezTo>
                  <a:pt x="6466" y="17000"/>
                  <a:pt x="6600" y="17134"/>
                  <a:pt x="6600" y="17300"/>
                </a:cubicBezTo>
                <a:lnTo>
                  <a:pt x="6600" y="21700"/>
                </a:lnTo>
                <a:cubicBezTo>
                  <a:pt x="6600" y="21866"/>
                  <a:pt x="6466" y="22000"/>
                  <a:pt x="63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17300"/>
                </a:lnTo>
                <a:cubicBezTo>
                  <a:pt x="2000" y="17134"/>
                  <a:pt x="2134" y="17000"/>
                  <a:pt x="2300" y="17000"/>
                </a:cubicBezTo>
                <a:close/>
                <a:moveTo>
                  <a:pt x="7300" y="12000"/>
                </a:moveTo>
                <a:lnTo>
                  <a:pt x="11300" y="12000"/>
                </a:lnTo>
                <a:cubicBezTo>
                  <a:pt x="11466" y="12000"/>
                  <a:pt x="11600" y="12134"/>
                  <a:pt x="11600" y="12300"/>
                </a:cubicBezTo>
                <a:lnTo>
                  <a:pt x="11600" y="21700"/>
                </a:lnTo>
                <a:cubicBezTo>
                  <a:pt x="11600" y="21866"/>
                  <a:pt x="11466" y="22000"/>
                  <a:pt x="11300" y="22000"/>
                </a:cubicBezTo>
                <a:lnTo>
                  <a:pt x="7300" y="22000"/>
                </a:lnTo>
                <a:cubicBezTo>
                  <a:pt x="7134" y="22000"/>
                  <a:pt x="7000" y="21866"/>
                  <a:pt x="7000" y="21700"/>
                </a:cubicBezTo>
                <a:lnTo>
                  <a:pt x="7000" y="12300"/>
                </a:lnTo>
                <a:cubicBezTo>
                  <a:pt x="7000" y="12134"/>
                  <a:pt x="7134" y="12000"/>
                  <a:pt x="7300" y="12000"/>
                </a:cubicBezTo>
                <a:close/>
                <a:moveTo>
                  <a:pt x="12300" y="7000"/>
                </a:moveTo>
                <a:lnTo>
                  <a:pt x="16300" y="7000"/>
                </a:lnTo>
                <a:cubicBezTo>
                  <a:pt x="16466" y="7000"/>
                  <a:pt x="16600" y="7134"/>
                  <a:pt x="16600" y="7300"/>
                </a:cubicBezTo>
                <a:lnTo>
                  <a:pt x="16600" y="21700"/>
                </a:lnTo>
                <a:cubicBezTo>
                  <a:pt x="16600" y="21866"/>
                  <a:pt x="16466" y="22000"/>
                  <a:pt x="16300" y="22000"/>
                </a:cubicBezTo>
                <a:lnTo>
                  <a:pt x="12300" y="22000"/>
                </a:lnTo>
                <a:cubicBezTo>
                  <a:pt x="12134" y="22000"/>
                  <a:pt x="12000" y="21866"/>
                  <a:pt x="12000" y="21700"/>
                </a:cubicBezTo>
                <a:lnTo>
                  <a:pt x="12000" y="7300"/>
                </a:lnTo>
                <a:cubicBezTo>
                  <a:pt x="12000" y="7134"/>
                  <a:pt x="12134" y="7000"/>
                  <a:pt x="12300" y="7000"/>
                </a:cubicBezTo>
                <a:close/>
                <a:moveTo>
                  <a:pt x="17300" y="2000"/>
                </a:moveTo>
                <a:lnTo>
                  <a:pt x="21300" y="2000"/>
                </a:lnTo>
                <a:cubicBezTo>
                  <a:pt x="21466" y="2000"/>
                  <a:pt x="21600" y="2134"/>
                  <a:pt x="21600" y="2300"/>
                </a:cubicBezTo>
                <a:lnTo>
                  <a:pt x="21600" y="21700"/>
                </a:lnTo>
                <a:cubicBezTo>
                  <a:pt x="21600" y="21866"/>
                  <a:pt x="21466" y="22000"/>
                  <a:pt x="21300" y="22000"/>
                </a:cubicBezTo>
                <a:lnTo>
                  <a:pt x="17300" y="22000"/>
                </a:lnTo>
                <a:cubicBezTo>
                  <a:pt x="17134" y="22000"/>
                  <a:pt x="17000" y="21866"/>
                  <a:pt x="17000" y="21700"/>
                </a:cubicBezTo>
                <a:lnTo>
                  <a:pt x="17000" y="2300"/>
                </a:lnTo>
                <a:cubicBezTo>
                  <a:pt x="17000" y="2134"/>
                  <a:pt x="17134" y="2000"/>
                  <a:pt x="17300" y="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继任阶梯</a:t>
            </a:r>
          </a:p>
        </p:txBody>
      </p:sp>
      <p:sp>
        <p:nvSpPr>
          <p:cNvPr id="13" name="ORG-028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3000"/>
                </a:moveTo>
                <a:lnTo>
                  <a:pt x="13000" y="3000"/>
                </a:lnTo>
                <a:lnTo>
                  <a:pt x="14600" y="6280"/>
                </a:lnTo>
                <a:lnTo>
                  <a:pt x="9400" y="6280"/>
                </a:lnTo>
                <a:close/>
                <a:moveTo>
                  <a:pt x="9400" y="6680"/>
                </a:moveTo>
                <a:lnTo>
                  <a:pt x="14600" y="6680"/>
                </a:lnTo>
                <a:lnTo>
                  <a:pt x="16200" y="9960"/>
                </a:lnTo>
                <a:lnTo>
                  <a:pt x="7800" y="9960"/>
                </a:lnTo>
                <a:close/>
                <a:moveTo>
                  <a:pt x="7800" y="10360"/>
                </a:moveTo>
                <a:lnTo>
                  <a:pt x="16200" y="10360"/>
                </a:lnTo>
                <a:lnTo>
                  <a:pt x="17800" y="13640"/>
                </a:lnTo>
                <a:lnTo>
                  <a:pt x="6200" y="13640"/>
                </a:lnTo>
                <a:close/>
                <a:moveTo>
                  <a:pt x="6200" y="14040"/>
                </a:moveTo>
                <a:lnTo>
                  <a:pt x="17800" y="14040"/>
                </a:lnTo>
                <a:lnTo>
                  <a:pt x="19400" y="17320"/>
                </a:lnTo>
                <a:lnTo>
                  <a:pt x="4600" y="17320"/>
                </a:lnTo>
                <a:close/>
                <a:moveTo>
                  <a:pt x="4600" y="17720"/>
                </a:moveTo>
                <a:lnTo>
                  <a:pt x="19400" y="17720"/>
                </a:lnTo>
                <a:lnTo>
                  <a:pt x="21000" y="21000"/>
                </a:lnTo>
                <a:lnTo>
                  <a:pt x="3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能力金字塔</a:t>
            </a:r>
          </a:p>
        </p:txBody>
      </p:sp>
      <p:sp>
        <p:nvSpPr>
          <p:cNvPr id="16" name="ORG-029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800" y="9000"/>
                </a:moveTo>
                <a:cubicBezTo>
                  <a:pt x="9800" y="9994"/>
                  <a:pt x="8994" y="10800"/>
                  <a:pt x="8000" y="10800"/>
                </a:cubicBezTo>
                <a:cubicBezTo>
                  <a:pt x="7006" y="10800"/>
                  <a:pt x="6200" y="9994"/>
                  <a:pt x="6200" y="9000"/>
                </a:cubicBezTo>
                <a:cubicBezTo>
                  <a:pt x="6200" y="8006"/>
                  <a:pt x="7006" y="7200"/>
                  <a:pt x="8000" y="7200"/>
                </a:cubicBezTo>
                <a:cubicBezTo>
                  <a:pt x="8994" y="7200"/>
                  <a:pt x="9800" y="8006"/>
                  <a:pt x="9800" y="9000"/>
                </a:cubicBezTo>
                <a:close/>
                <a:moveTo>
                  <a:pt x="17800" y="9000"/>
                </a:moveTo>
                <a:cubicBezTo>
                  <a:pt x="17800" y="9994"/>
                  <a:pt x="16994" y="10800"/>
                  <a:pt x="16000" y="10800"/>
                </a:cubicBezTo>
                <a:cubicBezTo>
                  <a:pt x="15006" y="10800"/>
                  <a:pt x="14200" y="9994"/>
                  <a:pt x="14200" y="9000"/>
                </a:cubicBezTo>
                <a:cubicBezTo>
                  <a:pt x="14200" y="8006"/>
                  <a:pt x="15006" y="7200"/>
                  <a:pt x="16000" y="7200"/>
                </a:cubicBezTo>
                <a:cubicBezTo>
                  <a:pt x="16994" y="7200"/>
                  <a:pt x="17800" y="8006"/>
                  <a:pt x="17800" y="9000"/>
                </a:cubicBezTo>
                <a:close/>
                <a:moveTo>
                  <a:pt x="9800" y="16000"/>
                </a:moveTo>
                <a:cubicBezTo>
                  <a:pt x="9800" y="16994"/>
                  <a:pt x="8994" y="17800"/>
                  <a:pt x="8000" y="17800"/>
                </a:cubicBezTo>
                <a:cubicBezTo>
                  <a:pt x="7006" y="17800"/>
                  <a:pt x="6200" y="16994"/>
                  <a:pt x="6200" y="16000"/>
                </a:cubicBezTo>
                <a:cubicBezTo>
                  <a:pt x="6200" y="15006"/>
                  <a:pt x="7006" y="14200"/>
                  <a:pt x="8000" y="14200"/>
                </a:cubicBezTo>
                <a:cubicBezTo>
                  <a:pt x="8994" y="14200"/>
                  <a:pt x="9800" y="15006"/>
                  <a:pt x="9800" y="16000"/>
                </a:cubicBezTo>
                <a:close/>
                <a:moveTo>
                  <a:pt x="17800" y="16000"/>
                </a:moveTo>
                <a:cubicBezTo>
                  <a:pt x="17800" y="16994"/>
                  <a:pt x="16994" y="17800"/>
                  <a:pt x="16000" y="17800"/>
                </a:cubicBezTo>
                <a:cubicBezTo>
                  <a:pt x="15006" y="17800"/>
                  <a:pt x="14200" y="16994"/>
                  <a:pt x="14200" y="16000"/>
                </a:cubicBezTo>
                <a:cubicBezTo>
                  <a:pt x="14200" y="15006"/>
                  <a:pt x="15006" y="14200"/>
                  <a:pt x="16000" y="14200"/>
                </a:cubicBezTo>
                <a:cubicBezTo>
                  <a:pt x="16994" y="14200"/>
                  <a:pt x="17800" y="15006"/>
                  <a:pt x="17800" y="16000"/>
                </a:cubicBezTo>
                <a:close/>
                <a:moveTo>
                  <a:pt x="8000" y="9250"/>
                </a:moveTo>
                <a:lnTo>
                  <a:pt x="16000" y="9250"/>
                </a:lnTo>
                <a:lnTo>
                  <a:pt x="16000" y="8750"/>
                </a:lnTo>
                <a:lnTo>
                  <a:pt x="8000" y="8750"/>
                </a:lnTo>
                <a:close/>
                <a:moveTo>
                  <a:pt x="8000" y="16250"/>
                </a:moveTo>
                <a:lnTo>
                  <a:pt x="16000" y="16250"/>
                </a:lnTo>
                <a:lnTo>
                  <a:pt x="16000" y="15750"/>
                </a:lnTo>
                <a:lnTo>
                  <a:pt x="8000" y="15750"/>
                </a:lnTo>
                <a:close/>
                <a:moveTo>
                  <a:pt x="7750" y="9000"/>
                </a:moveTo>
                <a:lnTo>
                  <a:pt x="7750" y="16000"/>
                </a:lnTo>
                <a:lnTo>
                  <a:pt x="8250" y="16000"/>
                </a:lnTo>
                <a:lnTo>
                  <a:pt x="8250" y="9000"/>
                </a:lnTo>
                <a:close/>
                <a:moveTo>
                  <a:pt x="15750" y="9000"/>
                </a:moveTo>
                <a:lnTo>
                  <a:pt x="15750" y="16000"/>
                </a:lnTo>
                <a:lnTo>
                  <a:pt x="16250" y="16000"/>
                </a:lnTo>
                <a:lnTo>
                  <a:pt x="16250" y="9000"/>
                </a:lnTo>
                <a:close/>
                <a:moveTo>
                  <a:pt x="7868" y="9151"/>
                </a:moveTo>
                <a:lnTo>
                  <a:pt x="15868" y="16151"/>
                </a:lnTo>
                <a:lnTo>
                  <a:pt x="16132" y="15849"/>
                </a:lnTo>
                <a:lnTo>
                  <a:pt x="8132" y="8849"/>
                </a:lnTo>
                <a:close/>
                <a:moveTo>
                  <a:pt x="15868" y="8849"/>
                </a:moveTo>
                <a:lnTo>
                  <a:pt x="7868" y="15849"/>
                </a:lnTo>
                <a:lnTo>
                  <a:pt x="8132" y="16151"/>
                </a:lnTo>
                <a:lnTo>
                  <a:pt x="16132" y="915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工作组</a:t>
            </a:r>
          </a:p>
        </p:txBody>
      </p:sp>
      <p:sp>
        <p:nvSpPr>
          <p:cNvPr id="19" name="ORG-030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6000"/>
                </a:moveTo>
                <a:cubicBezTo>
                  <a:pt x="20000" y="7325"/>
                  <a:pt x="16418" y="8400"/>
                  <a:pt x="12000" y="8400"/>
                </a:cubicBezTo>
                <a:cubicBezTo>
                  <a:pt x="7582" y="8400"/>
                  <a:pt x="4000" y="7325"/>
                  <a:pt x="4000" y="6000"/>
                </a:cubicBezTo>
                <a:cubicBezTo>
                  <a:pt x="4000" y="4675"/>
                  <a:pt x="7582" y="3600"/>
                  <a:pt x="12000" y="3600"/>
                </a:cubicBezTo>
                <a:cubicBezTo>
                  <a:pt x="16418" y="3600"/>
                  <a:pt x="20000" y="4675"/>
                  <a:pt x="20000" y="6000"/>
                </a:cubicBezTo>
                <a:close/>
                <a:moveTo>
                  <a:pt x="4500" y="12000"/>
                </a:moveTo>
                <a:lnTo>
                  <a:pt x="19500" y="12000"/>
                </a:lnTo>
                <a:cubicBezTo>
                  <a:pt x="19776" y="12000"/>
                  <a:pt x="20000" y="12224"/>
                  <a:pt x="20000" y="12500"/>
                </a:cubicBezTo>
                <a:lnTo>
                  <a:pt x="20000" y="19500"/>
                </a:lnTo>
                <a:cubicBezTo>
                  <a:pt x="20000" y="19776"/>
                  <a:pt x="19776" y="20000"/>
                  <a:pt x="19500" y="20000"/>
                </a:cubicBezTo>
                <a:lnTo>
                  <a:pt x="4500" y="20000"/>
                </a:lnTo>
                <a:cubicBezTo>
                  <a:pt x="4224" y="20000"/>
                  <a:pt x="4000" y="19776"/>
                  <a:pt x="4000" y="19500"/>
                </a:cubicBezTo>
                <a:lnTo>
                  <a:pt x="4000" y="12500"/>
                </a:lnTo>
                <a:cubicBezTo>
                  <a:pt x="4000" y="12224"/>
                  <a:pt x="4224" y="12000"/>
                  <a:pt x="4500" y="12000"/>
                </a:cubicBezTo>
                <a:close/>
                <a:moveTo>
                  <a:pt x="11700" y="8000"/>
                </a:moveTo>
                <a:lnTo>
                  <a:pt x="11700" y="10600"/>
                </a:lnTo>
                <a:lnTo>
                  <a:pt x="11000" y="10600"/>
                </a:lnTo>
                <a:lnTo>
                  <a:pt x="12000" y="12000"/>
                </a:lnTo>
                <a:lnTo>
                  <a:pt x="13000" y="10600"/>
                </a:lnTo>
                <a:lnTo>
                  <a:pt x="12300" y="10600"/>
                </a:lnTo>
                <a:lnTo>
                  <a:pt x="12300" y="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ORG-030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决策vs执行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04_数据可视化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4E79"/>
                </a:solidFill>
              </a:rPr>
              <a:t>CHART · 40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每个图标对应一个公开商业方法论框架。Shape Fill 一键改色。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04_数据可视化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CHART · 第 1/2 页 · 共 40 个</a:t>
            </a:r>
          </a:p>
        </p:txBody>
      </p:sp>
      <p:sp>
        <p:nvSpPr>
          <p:cNvPr id="4" name="CHART-001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15000"/>
                </a:moveTo>
                <a:lnTo>
                  <a:pt x="4733" y="15000"/>
                </a:lnTo>
                <a:cubicBezTo>
                  <a:pt x="4844" y="15000"/>
                  <a:pt x="4933" y="15090"/>
                  <a:pt x="4933" y="15200"/>
                </a:cubicBezTo>
                <a:lnTo>
                  <a:pt x="4933" y="20800"/>
                </a:lnTo>
                <a:cubicBezTo>
                  <a:pt x="4933" y="20910"/>
                  <a:pt x="4844" y="21000"/>
                  <a:pt x="4733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15200"/>
                </a:lnTo>
                <a:cubicBezTo>
                  <a:pt x="2000" y="15090"/>
                  <a:pt x="2090" y="15000"/>
                  <a:pt x="2200" y="15000"/>
                </a:cubicBezTo>
                <a:close/>
                <a:moveTo>
                  <a:pt x="5533" y="13000"/>
                </a:moveTo>
                <a:lnTo>
                  <a:pt x="8067" y="13000"/>
                </a:lnTo>
                <a:cubicBezTo>
                  <a:pt x="8177" y="13000"/>
                  <a:pt x="8267" y="13090"/>
                  <a:pt x="8267" y="13200"/>
                </a:cubicBezTo>
                <a:lnTo>
                  <a:pt x="8267" y="14800"/>
                </a:lnTo>
                <a:cubicBezTo>
                  <a:pt x="8267" y="14910"/>
                  <a:pt x="8177" y="15000"/>
                  <a:pt x="8067" y="15000"/>
                </a:cubicBezTo>
                <a:lnTo>
                  <a:pt x="5533" y="15000"/>
                </a:lnTo>
                <a:cubicBezTo>
                  <a:pt x="5423" y="15000"/>
                  <a:pt x="5333" y="14910"/>
                  <a:pt x="5333" y="14800"/>
                </a:cubicBezTo>
                <a:lnTo>
                  <a:pt x="5333" y="13200"/>
                </a:lnTo>
                <a:cubicBezTo>
                  <a:pt x="5333" y="13090"/>
                  <a:pt x="5423" y="13000"/>
                  <a:pt x="5533" y="13000"/>
                </a:cubicBezTo>
                <a:close/>
                <a:moveTo>
                  <a:pt x="8867" y="13000"/>
                </a:moveTo>
                <a:lnTo>
                  <a:pt x="11400" y="13000"/>
                </a:lnTo>
                <a:cubicBezTo>
                  <a:pt x="11510" y="13000"/>
                  <a:pt x="11600" y="13090"/>
                  <a:pt x="11600" y="13200"/>
                </a:cubicBezTo>
                <a:lnTo>
                  <a:pt x="11600" y="14800"/>
                </a:lnTo>
                <a:cubicBezTo>
                  <a:pt x="11600" y="14910"/>
                  <a:pt x="11510" y="15000"/>
                  <a:pt x="11400" y="15000"/>
                </a:cubicBezTo>
                <a:lnTo>
                  <a:pt x="8867" y="15000"/>
                </a:lnTo>
                <a:cubicBezTo>
                  <a:pt x="8756" y="15000"/>
                  <a:pt x="8667" y="14910"/>
                  <a:pt x="8667" y="14800"/>
                </a:cubicBezTo>
                <a:lnTo>
                  <a:pt x="8667" y="13200"/>
                </a:lnTo>
                <a:cubicBezTo>
                  <a:pt x="8667" y="13090"/>
                  <a:pt x="8756" y="13000"/>
                  <a:pt x="8867" y="13000"/>
                </a:cubicBezTo>
                <a:close/>
                <a:moveTo>
                  <a:pt x="12200" y="11000"/>
                </a:moveTo>
                <a:lnTo>
                  <a:pt x="14733" y="11000"/>
                </a:lnTo>
                <a:cubicBezTo>
                  <a:pt x="14844" y="11000"/>
                  <a:pt x="14933" y="11090"/>
                  <a:pt x="14933" y="11200"/>
                </a:cubicBezTo>
                <a:lnTo>
                  <a:pt x="14933" y="14800"/>
                </a:lnTo>
                <a:cubicBezTo>
                  <a:pt x="14933" y="14910"/>
                  <a:pt x="14844" y="15000"/>
                  <a:pt x="14733" y="15000"/>
                </a:cubicBezTo>
                <a:lnTo>
                  <a:pt x="12200" y="15000"/>
                </a:lnTo>
                <a:cubicBezTo>
                  <a:pt x="12090" y="15000"/>
                  <a:pt x="12000" y="14910"/>
                  <a:pt x="12000" y="14800"/>
                </a:cubicBezTo>
                <a:lnTo>
                  <a:pt x="12000" y="11200"/>
                </a:lnTo>
                <a:cubicBezTo>
                  <a:pt x="12000" y="11090"/>
                  <a:pt x="12090" y="11000"/>
                  <a:pt x="12200" y="11000"/>
                </a:cubicBezTo>
                <a:close/>
                <a:moveTo>
                  <a:pt x="15533" y="11000"/>
                </a:moveTo>
                <a:lnTo>
                  <a:pt x="18067" y="11000"/>
                </a:lnTo>
                <a:cubicBezTo>
                  <a:pt x="18177" y="11000"/>
                  <a:pt x="18267" y="11090"/>
                  <a:pt x="18267" y="11200"/>
                </a:cubicBezTo>
                <a:lnTo>
                  <a:pt x="18267" y="12800"/>
                </a:lnTo>
                <a:cubicBezTo>
                  <a:pt x="18267" y="12910"/>
                  <a:pt x="18177" y="13000"/>
                  <a:pt x="18067" y="13000"/>
                </a:cubicBezTo>
                <a:lnTo>
                  <a:pt x="15533" y="13000"/>
                </a:lnTo>
                <a:cubicBezTo>
                  <a:pt x="15423" y="13000"/>
                  <a:pt x="15333" y="12910"/>
                  <a:pt x="15333" y="12800"/>
                </a:cubicBezTo>
                <a:lnTo>
                  <a:pt x="15333" y="11200"/>
                </a:lnTo>
                <a:cubicBezTo>
                  <a:pt x="15333" y="11090"/>
                  <a:pt x="15423" y="11000"/>
                  <a:pt x="15533" y="11000"/>
                </a:cubicBezTo>
                <a:close/>
                <a:moveTo>
                  <a:pt x="18867" y="5000"/>
                </a:moveTo>
                <a:lnTo>
                  <a:pt x="21400" y="5000"/>
                </a:lnTo>
                <a:cubicBezTo>
                  <a:pt x="21510" y="5000"/>
                  <a:pt x="21600" y="5090"/>
                  <a:pt x="21600" y="5200"/>
                </a:cubicBezTo>
                <a:lnTo>
                  <a:pt x="21600" y="12800"/>
                </a:lnTo>
                <a:cubicBezTo>
                  <a:pt x="21600" y="12910"/>
                  <a:pt x="21510" y="13000"/>
                  <a:pt x="21400" y="13000"/>
                </a:cubicBezTo>
                <a:lnTo>
                  <a:pt x="18867" y="13000"/>
                </a:lnTo>
                <a:cubicBezTo>
                  <a:pt x="18756" y="13000"/>
                  <a:pt x="18667" y="12910"/>
                  <a:pt x="18667" y="12800"/>
                </a:cubicBezTo>
                <a:lnTo>
                  <a:pt x="18667" y="5200"/>
                </a:lnTo>
                <a:cubicBezTo>
                  <a:pt x="18667" y="5090"/>
                  <a:pt x="18756" y="5000"/>
                  <a:pt x="18867" y="5000"/>
                </a:cubicBezTo>
                <a:close/>
                <a:moveTo>
                  <a:pt x="2100" y="21000"/>
                </a:moveTo>
                <a:lnTo>
                  <a:pt x="21900" y="21000"/>
                </a:lnTo>
                <a:cubicBezTo>
                  <a:pt x="21955" y="21000"/>
                  <a:pt x="22000" y="21045"/>
                  <a:pt x="22000" y="21100"/>
                </a:cubicBezTo>
                <a:lnTo>
                  <a:pt x="22000" y="21400"/>
                </a:lnTo>
                <a:cubicBezTo>
                  <a:pt x="22000" y="21455"/>
                  <a:pt x="21955" y="21500"/>
                  <a:pt x="21900" y="21500"/>
                </a:cubicBezTo>
                <a:lnTo>
                  <a:pt x="2100" y="21500"/>
                </a:lnTo>
                <a:cubicBezTo>
                  <a:pt x="2045" y="21500"/>
                  <a:pt x="2000" y="21455"/>
                  <a:pt x="2000" y="214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瀑布图</a:t>
            </a:r>
          </a:p>
        </p:txBody>
      </p:sp>
      <p:sp>
        <p:nvSpPr>
          <p:cNvPr id="7" name="CHART-002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4000"/>
                </a:moveTo>
                <a:lnTo>
                  <a:pt x="7800" y="4000"/>
                </a:lnTo>
                <a:cubicBezTo>
                  <a:pt x="7910" y="4000"/>
                  <a:pt x="8000" y="4090"/>
                  <a:pt x="8000" y="4200"/>
                </a:cubicBezTo>
                <a:lnTo>
                  <a:pt x="8000" y="9800"/>
                </a:lnTo>
                <a:cubicBezTo>
                  <a:pt x="8000" y="9910"/>
                  <a:pt x="7910" y="10000"/>
                  <a:pt x="7800" y="10000"/>
                </a:cubicBezTo>
                <a:lnTo>
                  <a:pt x="2200" y="10000"/>
                </a:lnTo>
                <a:cubicBezTo>
                  <a:pt x="2090" y="10000"/>
                  <a:pt x="2000" y="9910"/>
                  <a:pt x="2000" y="9800"/>
                </a:cubicBezTo>
                <a:lnTo>
                  <a:pt x="2000" y="4200"/>
                </a:lnTo>
                <a:cubicBezTo>
                  <a:pt x="2000" y="4090"/>
                  <a:pt x="2090" y="4000"/>
                  <a:pt x="2200" y="4000"/>
                </a:cubicBezTo>
                <a:close/>
                <a:moveTo>
                  <a:pt x="2200" y="11000"/>
                </a:moveTo>
                <a:lnTo>
                  <a:pt x="7800" y="11000"/>
                </a:lnTo>
                <a:cubicBezTo>
                  <a:pt x="7910" y="11000"/>
                  <a:pt x="8000" y="11090"/>
                  <a:pt x="8000" y="11200"/>
                </a:cubicBezTo>
                <a:lnTo>
                  <a:pt x="8000" y="21800"/>
                </a:lnTo>
                <a:cubicBezTo>
                  <a:pt x="8000" y="21910"/>
                  <a:pt x="7910" y="22000"/>
                  <a:pt x="7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11200"/>
                </a:lnTo>
                <a:cubicBezTo>
                  <a:pt x="2000" y="11090"/>
                  <a:pt x="2090" y="11000"/>
                  <a:pt x="2200" y="11000"/>
                </a:cubicBezTo>
                <a:close/>
                <a:moveTo>
                  <a:pt x="9200" y="4000"/>
                </a:moveTo>
                <a:lnTo>
                  <a:pt x="12800" y="4000"/>
                </a:lnTo>
                <a:cubicBezTo>
                  <a:pt x="12910" y="4000"/>
                  <a:pt x="13000" y="4090"/>
                  <a:pt x="13000" y="4200"/>
                </a:cubicBezTo>
                <a:lnTo>
                  <a:pt x="13000" y="13800"/>
                </a:lnTo>
                <a:cubicBezTo>
                  <a:pt x="13000" y="13910"/>
                  <a:pt x="12910" y="14000"/>
                  <a:pt x="12800" y="14000"/>
                </a:cubicBezTo>
                <a:lnTo>
                  <a:pt x="9200" y="14000"/>
                </a:lnTo>
                <a:cubicBezTo>
                  <a:pt x="9090" y="14000"/>
                  <a:pt x="9000" y="13910"/>
                  <a:pt x="9000" y="13800"/>
                </a:cubicBezTo>
                <a:lnTo>
                  <a:pt x="9000" y="4200"/>
                </a:lnTo>
                <a:cubicBezTo>
                  <a:pt x="9000" y="4090"/>
                  <a:pt x="9090" y="4000"/>
                  <a:pt x="9200" y="4000"/>
                </a:cubicBezTo>
                <a:close/>
                <a:moveTo>
                  <a:pt x="9200" y="15000"/>
                </a:moveTo>
                <a:lnTo>
                  <a:pt x="12800" y="15000"/>
                </a:lnTo>
                <a:cubicBezTo>
                  <a:pt x="12910" y="15000"/>
                  <a:pt x="13000" y="15090"/>
                  <a:pt x="13000" y="15200"/>
                </a:cubicBezTo>
                <a:lnTo>
                  <a:pt x="13000" y="21800"/>
                </a:lnTo>
                <a:cubicBezTo>
                  <a:pt x="13000" y="21910"/>
                  <a:pt x="12910" y="22000"/>
                  <a:pt x="12800" y="22000"/>
                </a:cubicBezTo>
                <a:lnTo>
                  <a:pt x="9200" y="22000"/>
                </a:lnTo>
                <a:cubicBezTo>
                  <a:pt x="9090" y="22000"/>
                  <a:pt x="9000" y="21910"/>
                  <a:pt x="9000" y="21800"/>
                </a:cubicBezTo>
                <a:lnTo>
                  <a:pt x="9000" y="15200"/>
                </a:lnTo>
                <a:cubicBezTo>
                  <a:pt x="9000" y="15090"/>
                  <a:pt x="9090" y="15000"/>
                  <a:pt x="9200" y="15000"/>
                </a:cubicBezTo>
                <a:close/>
                <a:moveTo>
                  <a:pt x="14200" y="4000"/>
                </a:moveTo>
                <a:lnTo>
                  <a:pt x="21800" y="4000"/>
                </a:lnTo>
                <a:cubicBezTo>
                  <a:pt x="21910" y="4000"/>
                  <a:pt x="22000" y="4090"/>
                  <a:pt x="22000" y="4200"/>
                </a:cubicBezTo>
                <a:lnTo>
                  <a:pt x="22000" y="7800"/>
                </a:lnTo>
                <a:cubicBezTo>
                  <a:pt x="22000" y="7910"/>
                  <a:pt x="21910" y="8000"/>
                  <a:pt x="21800" y="8000"/>
                </a:cubicBezTo>
                <a:lnTo>
                  <a:pt x="14200" y="8000"/>
                </a:lnTo>
                <a:cubicBezTo>
                  <a:pt x="14090" y="8000"/>
                  <a:pt x="14000" y="7910"/>
                  <a:pt x="14000" y="7800"/>
                </a:cubicBezTo>
                <a:lnTo>
                  <a:pt x="14000" y="4200"/>
                </a:lnTo>
                <a:cubicBezTo>
                  <a:pt x="14000" y="4090"/>
                  <a:pt x="14090" y="4000"/>
                  <a:pt x="14200" y="4000"/>
                </a:cubicBezTo>
                <a:close/>
                <a:moveTo>
                  <a:pt x="14200" y="9000"/>
                </a:moveTo>
                <a:lnTo>
                  <a:pt x="21800" y="9000"/>
                </a:lnTo>
                <a:cubicBezTo>
                  <a:pt x="21910" y="9000"/>
                  <a:pt x="22000" y="9090"/>
                  <a:pt x="22000" y="9200"/>
                </a:cubicBezTo>
                <a:lnTo>
                  <a:pt x="22000" y="16800"/>
                </a:lnTo>
                <a:cubicBezTo>
                  <a:pt x="22000" y="16910"/>
                  <a:pt x="21910" y="17000"/>
                  <a:pt x="21800" y="17000"/>
                </a:cubicBezTo>
                <a:lnTo>
                  <a:pt x="14200" y="17000"/>
                </a:lnTo>
                <a:cubicBezTo>
                  <a:pt x="14090" y="17000"/>
                  <a:pt x="14000" y="16910"/>
                  <a:pt x="14000" y="16800"/>
                </a:cubicBezTo>
                <a:lnTo>
                  <a:pt x="14000" y="9200"/>
                </a:lnTo>
                <a:cubicBezTo>
                  <a:pt x="14000" y="9090"/>
                  <a:pt x="14090" y="9000"/>
                  <a:pt x="14200" y="9000"/>
                </a:cubicBezTo>
                <a:close/>
                <a:moveTo>
                  <a:pt x="14200" y="18000"/>
                </a:moveTo>
                <a:lnTo>
                  <a:pt x="21800" y="18000"/>
                </a:lnTo>
                <a:cubicBezTo>
                  <a:pt x="21910" y="18000"/>
                  <a:pt x="22000" y="18090"/>
                  <a:pt x="22000" y="18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14200" y="22000"/>
                </a:lnTo>
                <a:cubicBezTo>
                  <a:pt x="14090" y="22000"/>
                  <a:pt x="14000" y="21910"/>
                  <a:pt x="14000" y="21800"/>
                </a:cubicBezTo>
                <a:lnTo>
                  <a:pt x="14000" y="18200"/>
                </a:lnTo>
                <a:cubicBezTo>
                  <a:pt x="14000" y="18090"/>
                  <a:pt x="14090" y="18000"/>
                  <a:pt x="142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马赛克图</a:t>
            </a:r>
          </a:p>
        </p:txBody>
      </p:sp>
      <p:sp>
        <p:nvSpPr>
          <p:cNvPr id="10" name="CHART-003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4000"/>
                </a:moveTo>
                <a:lnTo>
                  <a:pt x="3300" y="4000"/>
                </a:lnTo>
                <a:cubicBezTo>
                  <a:pt x="3410" y="4000"/>
                  <a:pt x="3500" y="4090"/>
                  <a:pt x="3500" y="4200"/>
                </a:cubicBezTo>
                <a:lnTo>
                  <a:pt x="3500" y="9800"/>
                </a:lnTo>
                <a:cubicBezTo>
                  <a:pt x="3500" y="9910"/>
                  <a:pt x="3410" y="10000"/>
                  <a:pt x="3300" y="10000"/>
                </a:cubicBezTo>
                <a:lnTo>
                  <a:pt x="2200" y="10000"/>
                </a:lnTo>
                <a:cubicBezTo>
                  <a:pt x="2090" y="10000"/>
                  <a:pt x="2000" y="9910"/>
                  <a:pt x="2000" y="9800"/>
                </a:cubicBezTo>
                <a:lnTo>
                  <a:pt x="2000" y="4200"/>
                </a:lnTo>
                <a:cubicBezTo>
                  <a:pt x="2000" y="4090"/>
                  <a:pt x="2090" y="4000"/>
                  <a:pt x="2200" y="4000"/>
                </a:cubicBezTo>
                <a:close/>
                <a:moveTo>
                  <a:pt x="2200" y="12000"/>
                </a:moveTo>
                <a:lnTo>
                  <a:pt x="3300" y="12000"/>
                </a:lnTo>
                <a:cubicBezTo>
                  <a:pt x="3410" y="12000"/>
                  <a:pt x="3500" y="12090"/>
                  <a:pt x="3500" y="12200"/>
                </a:cubicBezTo>
                <a:lnTo>
                  <a:pt x="3500" y="19800"/>
                </a:lnTo>
                <a:cubicBezTo>
                  <a:pt x="3500" y="19910"/>
                  <a:pt x="3410" y="20000"/>
                  <a:pt x="3300" y="20000"/>
                </a:cubicBezTo>
                <a:lnTo>
                  <a:pt x="2200" y="20000"/>
                </a:lnTo>
                <a:cubicBezTo>
                  <a:pt x="2090" y="20000"/>
                  <a:pt x="2000" y="19910"/>
                  <a:pt x="2000" y="19800"/>
                </a:cubicBezTo>
                <a:lnTo>
                  <a:pt x="2000" y="12200"/>
                </a:lnTo>
                <a:cubicBezTo>
                  <a:pt x="2000" y="12090"/>
                  <a:pt x="2090" y="12000"/>
                  <a:pt x="2200" y="12000"/>
                </a:cubicBezTo>
                <a:close/>
                <a:moveTo>
                  <a:pt x="20700" y="4000"/>
                </a:moveTo>
                <a:lnTo>
                  <a:pt x="21800" y="4000"/>
                </a:lnTo>
                <a:cubicBezTo>
                  <a:pt x="21910" y="4000"/>
                  <a:pt x="22000" y="4090"/>
                  <a:pt x="22000" y="4200"/>
                </a:cubicBezTo>
                <a:lnTo>
                  <a:pt x="22000" y="8800"/>
                </a:lnTo>
                <a:cubicBezTo>
                  <a:pt x="22000" y="8910"/>
                  <a:pt x="21910" y="9000"/>
                  <a:pt x="21800" y="9000"/>
                </a:cubicBezTo>
                <a:lnTo>
                  <a:pt x="20700" y="9000"/>
                </a:lnTo>
                <a:cubicBezTo>
                  <a:pt x="20590" y="9000"/>
                  <a:pt x="20500" y="8910"/>
                  <a:pt x="20500" y="8800"/>
                </a:cubicBezTo>
                <a:lnTo>
                  <a:pt x="20500" y="4200"/>
                </a:lnTo>
                <a:cubicBezTo>
                  <a:pt x="20500" y="4090"/>
                  <a:pt x="20590" y="4000"/>
                  <a:pt x="20700" y="4000"/>
                </a:cubicBezTo>
                <a:close/>
                <a:moveTo>
                  <a:pt x="20700" y="11000"/>
                </a:moveTo>
                <a:lnTo>
                  <a:pt x="21800" y="11000"/>
                </a:lnTo>
                <a:cubicBezTo>
                  <a:pt x="21910" y="11000"/>
                  <a:pt x="22000" y="11090"/>
                  <a:pt x="22000" y="11200"/>
                </a:cubicBezTo>
                <a:lnTo>
                  <a:pt x="22000" y="14800"/>
                </a:lnTo>
                <a:cubicBezTo>
                  <a:pt x="22000" y="14910"/>
                  <a:pt x="21910" y="15000"/>
                  <a:pt x="21800" y="15000"/>
                </a:cubicBezTo>
                <a:lnTo>
                  <a:pt x="20700" y="15000"/>
                </a:lnTo>
                <a:cubicBezTo>
                  <a:pt x="20590" y="15000"/>
                  <a:pt x="20500" y="14910"/>
                  <a:pt x="20500" y="14800"/>
                </a:cubicBezTo>
                <a:lnTo>
                  <a:pt x="20500" y="11200"/>
                </a:lnTo>
                <a:cubicBezTo>
                  <a:pt x="20500" y="11090"/>
                  <a:pt x="20590" y="11000"/>
                  <a:pt x="20700" y="11000"/>
                </a:cubicBezTo>
                <a:close/>
                <a:moveTo>
                  <a:pt x="20700" y="17000"/>
                </a:moveTo>
                <a:lnTo>
                  <a:pt x="21800" y="17000"/>
                </a:lnTo>
                <a:cubicBezTo>
                  <a:pt x="21910" y="17000"/>
                  <a:pt x="22000" y="17090"/>
                  <a:pt x="22000" y="17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20700" y="21000"/>
                </a:lnTo>
                <a:cubicBezTo>
                  <a:pt x="20590" y="21000"/>
                  <a:pt x="20500" y="20910"/>
                  <a:pt x="20500" y="20800"/>
                </a:cubicBezTo>
                <a:lnTo>
                  <a:pt x="20500" y="17200"/>
                </a:lnTo>
                <a:cubicBezTo>
                  <a:pt x="20500" y="17090"/>
                  <a:pt x="20590" y="17000"/>
                  <a:pt x="20700" y="17000"/>
                </a:cubicBezTo>
                <a:close/>
                <a:moveTo>
                  <a:pt x="3500" y="4000"/>
                </a:moveTo>
                <a:quadBezTo>
                  <a:pt x="11000" y="4000"/>
                  <a:pt x="11000" y="6000"/>
                </a:quadBezTo>
                <a:quadBezTo>
                  <a:pt x="11000" y="9000"/>
                  <a:pt x="20500" y="9000"/>
                </a:quadBezTo>
                <a:lnTo>
                  <a:pt x="20500" y="4000"/>
                </a:lnTo>
                <a:quadBezTo>
                  <a:pt x="11000" y="4000"/>
                  <a:pt x="11000" y="4000"/>
                </a:quadBezTo>
                <a:lnTo>
                  <a:pt x="3500" y="4000"/>
                </a:lnTo>
                <a:close/>
                <a:moveTo>
                  <a:pt x="3500" y="12000"/>
                </a:moveTo>
                <a:quadBezTo>
                  <a:pt x="11000" y="12000"/>
                  <a:pt x="11000" y="13000"/>
                </a:quadBezTo>
                <a:quadBezTo>
                  <a:pt x="11000" y="15000"/>
                  <a:pt x="20500" y="15000"/>
                </a:quadBezTo>
                <a:lnTo>
                  <a:pt x="20500" y="11000"/>
                </a:lnTo>
                <a:quadBezTo>
                  <a:pt x="11000" y="11000"/>
                  <a:pt x="11000" y="12000"/>
                </a:quadBezTo>
                <a:lnTo>
                  <a:pt x="3500" y="12000"/>
                </a:lnTo>
                <a:close/>
                <a:moveTo>
                  <a:pt x="3500" y="18000"/>
                </a:moveTo>
                <a:quadBezTo>
                  <a:pt x="11000" y="18000"/>
                  <a:pt x="11000" y="19000"/>
                </a:quadBezTo>
                <a:quadBezTo>
                  <a:pt x="11000" y="21000"/>
                  <a:pt x="20500" y="21000"/>
                </a:quadBezTo>
                <a:lnTo>
                  <a:pt x="20500" y="17000"/>
                </a:lnTo>
                <a:quadBezTo>
                  <a:pt x="11000" y="17000"/>
                  <a:pt x="11000" y="18000"/>
                </a:quadBezTo>
                <a:lnTo>
                  <a:pt x="3500" y="1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桑基图</a:t>
            </a:r>
          </a:p>
        </p:txBody>
      </p:sp>
      <p:sp>
        <p:nvSpPr>
          <p:cNvPr id="13" name="CHART-004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000"/>
                </a:moveTo>
                <a:lnTo>
                  <a:pt x="6400" y="2000"/>
                </a:lnTo>
                <a:cubicBezTo>
                  <a:pt x="6566" y="2000"/>
                  <a:pt x="6700" y="2134"/>
                  <a:pt x="6700" y="2300"/>
                </a:cubicBezTo>
                <a:lnTo>
                  <a:pt x="6700" y="6400"/>
                </a:lnTo>
                <a:cubicBezTo>
                  <a:pt x="6700" y="6566"/>
                  <a:pt x="6566" y="6700"/>
                  <a:pt x="6400" y="6700"/>
                </a:cubicBezTo>
                <a:lnTo>
                  <a:pt x="2300" y="6700"/>
                </a:lnTo>
                <a:cubicBezTo>
                  <a:pt x="2134" y="6700"/>
                  <a:pt x="2000" y="6566"/>
                  <a:pt x="2000" y="64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7100" y="2000"/>
                </a:moveTo>
                <a:lnTo>
                  <a:pt x="11800" y="2000"/>
                </a:lnTo>
                <a:lnTo>
                  <a:pt x="11800" y="2400"/>
                </a:lnTo>
                <a:lnTo>
                  <a:pt x="7100" y="2400"/>
                </a:lnTo>
                <a:close/>
                <a:moveTo>
                  <a:pt x="7100" y="6300"/>
                </a:moveTo>
                <a:lnTo>
                  <a:pt x="11800" y="6300"/>
                </a:lnTo>
                <a:lnTo>
                  <a:pt x="11800" y="6700"/>
                </a:lnTo>
                <a:lnTo>
                  <a:pt x="7100" y="6700"/>
                </a:lnTo>
                <a:close/>
                <a:moveTo>
                  <a:pt x="7100" y="2000"/>
                </a:moveTo>
                <a:lnTo>
                  <a:pt x="7500" y="2000"/>
                </a:lnTo>
                <a:lnTo>
                  <a:pt x="7500" y="6700"/>
                </a:lnTo>
                <a:lnTo>
                  <a:pt x="7100" y="6700"/>
                </a:lnTo>
                <a:close/>
                <a:moveTo>
                  <a:pt x="11400" y="2000"/>
                </a:moveTo>
                <a:lnTo>
                  <a:pt x="11800" y="2000"/>
                </a:lnTo>
                <a:lnTo>
                  <a:pt x="11800" y="6700"/>
                </a:lnTo>
                <a:lnTo>
                  <a:pt x="11400" y="6700"/>
                </a:lnTo>
                <a:close/>
                <a:moveTo>
                  <a:pt x="12200" y="2000"/>
                </a:moveTo>
                <a:lnTo>
                  <a:pt x="16900" y="2000"/>
                </a:lnTo>
                <a:lnTo>
                  <a:pt x="16900" y="2400"/>
                </a:lnTo>
                <a:lnTo>
                  <a:pt x="12200" y="2400"/>
                </a:lnTo>
                <a:close/>
                <a:moveTo>
                  <a:pt x="12200" y="6300"/>
                </a:moveTo>
                <a:lnTo>
                  <a:pt x="16900" y="6300"/>
                </a:lnTo>
                <a:lnTo>
                  <a:pt x="16900" y="6700"/>
                </a:lnTo>
                <a:lnTo>
                  <a:pt x="12200" y="6700"/>
                </a:lnTo>
                <a:close/>
                <a:moveTo>
                  <a:pt x="12200" y="2000"/>
                </a:moveTo>
                <a:lnTo>
                  <a:pt x="12600" y="2000"/>
                </a:lnTo>
                <a:lnTo>
                  <a:pt x="12600" y="6700"/>
                </a:lnTo>
                <a:lnTo>
                  <a:pt x="12200" y="6700"/>
                </a:lnTo>
                <a:close/>
                <a:moveTo>
                  <a:pt x="16500" y="2000"/>
                </a:moveTo>
                <a:lnTo>
                  <a:pt x="16900" y="2000"/>
                </a:lnTo>
                <a:lnTo>
                  <a:pt x="16900" y="6700"/>
                </a:lnTo>
                <a:lnTo>
                  <a:pt x="16500" y="6700"/>
                </a:lnTo>
                <a:close/>
                <a:moveTo>
                  <a:pt x="17600" y="2000"/>
                </a:moveTo>
                <a:lnTo>
                  <a:pt x="21700" y="2000"/>
                </a:lnTo>
                <a:cubicBezTo>
                  <a:pt x="21866" y="2000"/>
                  <a:pt x="22000" y="2134"/>
                  <a:pt x="22000" y="2300"/>
                </a:cubicBezTo>
                <a:lnTo>
                  <a:pt x="22000" y="6400"/>
                </a:lnTo>
                <a:cubicBezTo>
                  <a:pt x="22000" y="6566"/>
                  <a:pt x="21866" y="6700"/>
                  <a:pt x="21700" y="6700"/>
                </a:cubicBezTo>
                <a:lnTo>
                  <a:pt x="17600" y="6700"/>
                </a:lnTo>
                <a:cubicBezTo>
                  <a:pt x="17434" y="6700"/>
                  <a:pt x="17300" y="6566"/>
                  <a:pt x="17300" y="6400"/>
                </a:cubicBezTo>
                <a:lnTo>
                  <a:pt x="17300" y="2300"/>
                </a:lnTo>
                <a:cubicBezTo>
                  <a:pt x="17300" y="2134"/>
                  <a:pt x="17434" y="2000"/>
                  <a:pt x="17600" y="2000"/>
                </a:cubicBezTo>
                <a:close/>
                <a:moveTo>
                  <a:pt x="2000" y="7100"/>
                </a:moveTo>
                <a:lnTo>
                  <a:pt x="6700" y="7100"/>
                </a:lnTo>
                <a:lnTo>
                  <a:pt x="6700" y="7500"/>
                </a:lnTo>
                <a:lnTo>
                  <a:pt x="2000" y="7500"/>
                </a:lnTo>
                <a:close/>
                <a:moveTo>
                  <a:pt x="2000" y="11400"/>
                </a:moveTo>
                <a:lnTo>
                  <a:pt x="6700" y="11400"/>
                </a:lnTo>
                <a:lnTo>
                  <a:pt x="6700" y="11800"/>
                </a:lnTo>
                <a:lnTo>
                  <a:pt x="2000" y="11800"/>
                </a:lnTo>
                <a:close/>
                <a:moveTo>
                  <a:pt x="2000" y="7100"/>
                </a:moveTo>
                <a:lnTo>
                  <a:pt x="2400" y="7100"/>
                </a:lnTo>
                <a:lnTo>
                  <a:pt x="2400" y="11800"/>
                </a:lnTo>
                <a:lnTo>
                  <a:pt x="2000" y="11800"/>
                </a:lnTo>
                <a:close/>
                <a:moveTo>
                  <a:pt x="6300" y="7100"/>
                </a:moveTo>
                <a:lnTo>
                  <a:pt x="6700" y="7100"/>
                </a:lnTo>
                <a:lnTo>
                  <a:pt x="6700" y="11800"/>
                </a:lnTo>
                <a:lnTo>
                  <a:pt x="6300" y="11800"/>
                </a:lnTo>
                <a:close/>
                <a:moveTo>
                  <a:pt x="7400" y="7100"/>
                </a:moveTo>
                <a:lnTo>
                  <a:pt x="11500" y="7100"/>
                </a:lnTo>
                <a:cubicBezTo>
                  <a:pt x="11666" y="7100"/>
                  <a:pt x="11800" y="7234"/>
                  <a:pt x="11800" y="7400"/>
                </a:cubicBezTo>
                <a:lnTo>
                  <a:pt x="11800" y="11500"/>
                </a:lnTo>
                <a:cubicBezTo>
                  <a:pt x="11800" y="11666"/>
                  <a:pt x="11666" y="11800"/>
                  <a:pt x="11500" y="11800"/>
                </a:cubicBezTo>
                <a:lnTo>
                  <a:pt x="7400" y="11800"/>
                </a:lnTo>
                <a:cubicBezTo>
                  <a:pt x="7234" y="11800"/>
                  <a:pt x="7100" y="11666"/>
                  <a:pt x="7100" y="11500"/>
                </a:cubicBezTo>
                <a:lnTo>
                  <a:pt x="7100" y="7400"/>
                </a:lnTo>
                <a:cubicBezTo>
                  <a:pt x="7100" y="7234"/>
                  <a:pt x="7234" y="7100"/>
                  <a:pt x="7400" y="7100"/>
                </a:cubicBezTo>
                <a:close/>
                <a:moveTo>
                  <a:pt x="12500" y="7100"/>
                </a:moveTo>
                <a:lnTo>
                  <a:pt x="16600" y="7100"/>
                </a:lnTo>
                <a:cubicBezTo>
                  <a:pt x="16766" y="7100"/>
                  <a:pt x="16900" y="7234"/>
                  <a:pt x="16900" y="7400"/>
                </a:cubicBezTo>
                <a:lnTo>
                  <a:pt x="16900" y="11500"/>
                </a:lnTo>
                <a:cubicBezTo>
                  <a:pt x="16900" y="11666"/>
                  <a:pt x="16766" y="11800"/>
                  <a:pt x="16600" y="11800"/>
                </a:cubicBezTo>
                <a:lnTo>
                  <a:pt x="12500" y="11800"/>
                </a:lnTo>
                <a:cubicBezTo>
                  <a:pt x="12334" y="11800"/>
                  <a:pt x="12200" y="11666"/>
                  <a:pt x="12200" y="11500"/>
                </a:cubicBezTo>
                <a:lnTo>
                  <a:pt x="12200" y="7400"/>
                </a:lnTo>
                <a:cubicBezTo>
                  <a:pt x="12200" y="7234"/>
                  <a:pt x="12334" y="7100"/>
                  <a:pt x="12500" y="7100"/>
                </a:cubicBezTo>
                <a:close/>
                <a:moveTo>
                  <a:pt x="17300" y="7100"/>
                </a:moveTo>
                <a:lnTo>
                  <a:pt x="22000" y="7100"/>
                </a:lnTo>
                <a:lnTo>
                  <a:pt x="22000" y="7500"/>
                </a:lnTo>
                <a:lnTo>
                  <a:pt x="17300" y="7500"/>
                </a:lnTo>
                <a:close/>
                <a:moveTo>
                  <a:pt x="17300" y="11400"/>
                </a:moveTo>
                <a:lnTo>
                  <a:pt x="22000" y="11400"/>
                </a:lnTo>
                <a:lnTo>
                  <a:pt x="22000" y="11800"/>
                </a:lnTo>
                <a:lnTo>
                  <a:pt x="17300" y="11800"/>
                </a:lnTo>
                <a:close/>
                <a:moveTo>
                  <a:pt x="17300" y="7100"/>
                </a:moveTo>
                <a:lnTo>
                  <a:pt x="17700" y="7100"/>
                </a:lnTo>
                <a:lnTo>
                  <a:pt x="17700" y="11800"/>
                </a:lnTo>
                <a:lnTo>
                  <a:pt x="17300" y="11800"/>
                </a:lnTo>
                <a:close/>
                <a:moveTo>
                  <a:pt x="21600" y="7100"/>
                </a:moveTo>
                <a:lnTo>
                  <a:pt x="22000" y="7100"/>
                </a:lnTo>
                <a:lnTo>
                  <a:pt x="22000" y="11800"/>
                </a:lnTo>
                <a:lnTo>
                  <a:pt x="21600" y="11800"/>
                </a:lnTo>
                <a:close/>
                <a:moveTo>
                  <a:pt x="2000" y="12200"/>
                </a:moveTo>
                <a:lnTo>
                  <a:pt x="6700" y="12200"/>
                </a:lnTo>
                <a:lnTo>
                  <a:pt x="6700" y="12600"/>
                </a:lnTo>
                <a:lnTo>
                  <a:pt x="2000" y="12600"/>
                </a:lnTo>
                <a:close/>
                <a:moveTo>
                  <a:pt x="2000" y="16500"/>
                </a:moveTo>
                <a:lnTo>
                  <a:pt x="6700" y="16500"/>
                </a:lnTo>
                <a:lnTo>
                  <a:pt x="6700" y="16900"/>
                </a:lnTo>
                <a:lnTo>
                  <a:pt x="2000" y="16900"/>
                </a:lnTo>
                <a:close/>
                <a:moveTo>
                  <a:pt x="2000" y="12200"/>
                </a:moveTo>
                <a:lnTo>
                  <a:pt x="2400" y="12200"/>
                </a:lnTo>
                <a:lnTo>
                  <a:pt x="2400" y="16900"/>
                </a:lnTo>
                <a:lnTo>
                  <a:pt x="2000" y="16900"/>
                </a:lnTo>
                <a:close/>
                <a:moveTo>
                  <a:pt x="6300" y="12200"/>
                </a:moveTo>
                <a:lnTo>
                  <a:pt x="6700" y="12200"/>
                </a:lnTo>
                <a:lnTo>
                  <a:pt x="6700" y="16900"/>
                </a:lnTo>
                <a:lnTo>
                  <a:pt x="6300" y="16900"/>
                </a:lnTo>
                <a:close/>
                <a:moveTo>
                  <a:pt x="7100" y="12200"/>
                </a:moveTo>
                <a:lnTo>
                  <a:pt x="11800" y="12200"/>
                </a:lnTo>
                <a:lnTo>
                  <a:pt x="11800" y="12600"/>
                </a:lnTo>
                <a:lnTo>
                  <a:pt x="7100" y="12600"/>
                </a:lnTo>
                <a:close/>
                <a:moveTo>
                  <a:pt x="7100" y="16500"/>
                </a:moveTo>
                <a:lnTo>
                  <a:pt x="11800" y="16500"/>
                </a:lnTo>
                <a:lnTo>
                  <a:pt x="11800" y="16900"/>
                </a:lnTo>
                <a:lnTo>
                  <a:pt x="7100" y="16900"/>
                </a:lnTo>
                <a:close/>
                <a:moveTo>
                  <a:pt x="7100" y="12200"/>
                </a:moveTo>
                <a:lnTo>
                  <a:pt x="7500" y="12200"/>
                </a:lnTo>
                <a:lnTo>
                  <a:pt x="7500" y="16900"/>
                </a:lnTo>
                <a:lnTo>
                  <a:pt x="7100" y="16900"/>
                </a:lnTo>
                <a:close/>
                <a:moveTo>
                  <a:pt x="11400" y="12200"/>
                </a:moveTo>
                <a:lnTo>
                  <a:pt x="11800" y="12200"/>
                </a:lnTo>
                <a:lnTo>
                  <a:pt x="11800" y="16900"/>
                </a:lnTo>
                <a:lnTo>
                  <a:pt x="11400" y="16900"/>
                </a:lnTo>
                <a:close/>
                <a:moveTo>
                  <a:pt x="12500" y="12200"/>
                </a:moveTo>
                <a:lnTo>
                  <a:pt x="16600" y="12200"/>
                </a:lnTo>
                <a:cubicBezTo>
                  <a:pt x="16766" y="12200"/>
                  <a:pt x="16900" y="12334"/>
                  <a:pt x="16900" y="12500"/>
                </a:cubicBezTo>
                <a:lnTo>
                  <a:pt x="16900" y="16600"/>
                </a:lnTo>
                <a:cubicBezTo>
                  <a:pt x="16900" y="16766"/>
                  <a:pt x="16766" y="16900"/>
                  <a:pt x="16600" y="16900"/>
                </a:cubicBezTo>
                <a:lnTo>
                  <a:pt x="12500" y="16900"/>
                </a:lnTo>
                <a:cubicBezTo>
                  <a:pt x="12334" y="16900"/>
                  <a:pt x="12200" y="16766"/>
                  <a:pt x="12200" y="16600"/>
                </a:cubicBezTo>
                <a:lnTo>
                  <a:pt x="12200" y="12500"/>
                </a:lnTo>
                <a:cubicBezTo>
                  <a:pt x="12200" y="12334"/>
                  <a:pt x="12334" y="12200"/>
                  <a:pt x="12500" y="12200"/>
                </a:cubicBezTo>
                <a:close/>
                <a:moveTo>
                  <a:pt x="17300" y="12200"/>
                </a:moveTo>
                <a:lnTo>
                  <a:pt x="22000" y="12200"/>
                </a:lnTo>
                <a:lnTo>
                  <a:pt x="22000" y="12600"/>
                </a:lnTo>
                <a:lnTo>
                  <a:pt x="17300" y="12600"/>
                </a:lnTo>
                <a:close/>
                <a:moveTo>
                  <a:pt x="17300" y="16500"/>
                </a:moveTo>
                <a:lnTo>
                  <a:pt x="22000" y="16500"/>
                </a:lnTo>
                <a:lnTo>
                  <a:pt x="22000" y="16900"/>
                </a:lnTo>
                <a:lnTo>
                  <a:pt x="17300" y="16900"/>
                </a:lnTo>
                <a:close/>
                <a:moveTo>
                  <a:pt x="17300" y="12200"/>
                </a:moveTo>
                <a:lnTo>
                  <a:pt x="17700" y="12200"/>
                </a:lnTo>
                <a:lnTo>
                  <a:pt x="17700" y="16900"/>
                </a:lnTo>
                <a:lnTo>
                  <a:pt x="17300" y="16900"/>
                </a:lnTo>
                <a:close/>
                <a:moveTo>
                  <a:pt x="21600" y="12200"/>
                </a:moveTo>
                <a:lnTo>
                  <a:pt x="22000" y="12200"/>
                </a:lnTo>
                <a:lnTo>
                  <a:pt x="22000" y="16900"/>
                </a:lnTo>
                <a:lnTo>
                  <a:pt x="21600" y="16900"/>
                </a:lnTo>
                <a:close/>
                <a:moveTo>
                  <a:pt x="2300" y="17300"/>
                </a:moveTo>
                <a:lnTo>
                  <a:pt x="6400" y="17300"/>
                </a:lnTo>
                <a:cubicBezTo>
                  <a:pt x="6566" y="17300"/>
                  <a:pt x="6700" y="17434"/>
                  <a:pt x="6700" y="17600"/>
                </a:cubicBezTo>
                <a:lnTo>
                  <a:pt x="6700" y="21700"/>
                </a:lnTo>
                <a:cubicBezTo>
                  <a:pt x="6700" y="21866"/>
                  <a:pt x="6566" y="22000"/>
                  <a:pt x="64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17600"/>
                </a:lnTo>
                <a:cubicBezTo>
                  <a:pt x="2000" y="17434"/>
                  <a:pt x="2134" y="17300"/>
                  <a:pt x="2300" y="17300"/>
                </a:cubicBezTo>
                <a:close/>
                <a:moveTo>
                  <a:pt x="7100" y="17300"/>
                </a:moveTo>
                <a:lnTo>
                  <a:pt x="11800" y="17300"/>
                </a:lnTo>
                <a:lnTo>
                  <a:pt x="11800" y="17700"/>
                </a:lnTo>
                <a:lnTo>
                  <a:pt x="7100" y="17700"/>
                </a:lnTo>
                <a:close/>
                <a:moveTo>
                  <a:pt x="7100" y="21600"/>
                </a:moveTo>
                <a:lnTo>
                  <a:pt x="11800" y="21600"/>
                </a:lnTo>
                <a:lnTo>
                  <a:pt x="11800" y="22000"/>
                </a:lnTo>
                <a:lnTo>
                  <a:pt x="7100" y="22000"/>
                </a:lnTo>
                <a:close/>
                <a:moveTo>
                  <a:pt x="7100" y="17300"/>
                </a:moveTo>
                <a:lnTo>
                  <a:pt x="7500" y="17300"/>
                </a:lnTo>
                <a:lnTo>
                  <a:pt x="7500" y="22000"/>
                </a:lnTo>
                <a:lnTo>
                  <a:pt x="7100" y="22000"/>
                </a:lnTo>
                <a:close/>
                <a:moveTo>
                  <a:pt x="11400" y="17300"/>
                </a:moveTo>
                <a:lnTo>
                  <a:pt x="11800" y="17300"/>
                </a:lnTo>
                <a:lnTo>
                  <a:pt x="11800" y="22000"/>
                </a:lnTo>
                <a:lnTo>
                  <a:pt x="11400" y="22000"/>
                </a:lnTo>
                <a:close/>
                <a:moveTo>
                  <a:pt x="12200" y="17300"/>
                </a:moveTo>
                <a:lnTo>
                  <a:pt x="16900" y="17300"/>
                </a:lnTo>
                <a:lnTo>
                  <a:pt x="16900" y="17700"/>
                </a:lnTo>
                <a:lnTo>
                  <a:pt x="12200" y="17700"/>
                </a:lnTo>
                <a:close/>
                <a:moveTo>
                  <a:pt x="12200" y="21600"/>
                </a:moveTo>
                <a:lnTo>
                  <a:pt x="16900" y="21600"/>
                </a:lnTo>
                <a:lnTo>
                  <a:pt x="16900" y="22000"/>
                </a:lnTo>
                <a:lnTo>
                  <a:pt x="12200" y="22000"/>
                </a:lnTo>
                <a:close/>
                <a:moveTo>
                  <a:pt x="12200" y="17300"/>
                </a:moveTo>
                <a:lnTo>
                  <a:pt x="12600" y="17300"/>
                </a:lnTo>
                <a:lnTo>
                  <a:pt x="12600" y="22000"/>
                </a:lnTo>
                <a:lnTo>
                  <a:pt x="12200" y="22000"/>
                </a:lnTo>
                <a:close/>
                <a:moveTo>
                  <a:pt x="16500" y="17300"/>
                </a:moveTo>
                <a:lnTo>
                  <a:pt x="16900" y="17300"/>
                </a:lnTo>
                <a:lnTo>
                  <a:pt x="16900" y="22000"/>
                </a:lnTo>
                <a:lnTo>
                  <a:pt x="16500" y="22000"/>
                </a:lnTo>
                <a:close/>
                <a:moveTo>
                  <a:pt x="17600" y="17300"/>
                </a:moveTo>
                <a:lnTo>
                  <a:pt x="21700" y="17300"/>
                </a:lnTo>
                <a:cubicBezTo>
                  <a:pt x="21866" y="17300"/>
                  <a:pt x="22000" y="17434"/>
                  <a:pt x="22000" y="176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17600" y="22000"/>
                </a:lnTo>
                <a:cubicBezTo>
                  <a:pt x="17434" y="22000"/>
                  <a:pt x="17300" y="21866"/>
                  <a:pt x="17300" y="21700"/>
                </a:cubicBezTo>
                <a:lnTo>
                  <a:pt x="17300" y="17600"/>
                </a:lnTo>
                <a:cubicBezTo>
                  <a:pt x="17300" y="17434"/>
                  <a:pt x="17434" y="17300"/>
                  <a:pt x="17600" y="173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热力图</a:t>
            </a:r>
          </a:p>
        </p:txBody>
      </p:sp>
      <p:sp>
        <p:nvSpPr>
          <p:cNvPr id="16" name="CHART-005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20000" y="8000"/>
                </a:lnTo>
                <a:lnTo>
                  <a:pt x="18000" y="18000"/>
                </a:lnTo>
                <a:lnTo>
                  <a:pt x="6000" y="18000"/>
                </a:lnTo>
                <a:lnTo>
                  <a:pt x="4000" y="8000"/>
                </a:lnTo>
                <a:close/>
                <a:moveTo>
                  <a:pt x="12000" y="6000"/>
                </a:moveTo>
                <a:lnTo>
                  <a:pt x="17000" y="9500"/>
                </a:lnTo>
                <a:lnTo>
                  <a:pt x="15500" y="16000"/>
                </a:lnTo>
                <a:lnTo>
                  <a:pt x="8500" y="16000"/>
                </a:lnTo>
                <a:lnTo>
                  <a:pt x="7000" y="9500"/>
                </a:lnTo>
                <a:close/>
                <a:moveTo>
                  <a:pt x="11850" y="3000"/>
                </a:moveTo>
                <a:lnTo>
                  <a:pt x="11850" y="21000"/>
                </a:lnTo>
                <a:lnTo>
                  <a:pt x="12150" y="21000"/>
                </a:lnTo>
                <a:lnTo>
                  <a:pt x="12150" y="3000"/>
                </a:lnTo>
                <a:close/>
                <a:moveTo>
                  <a:pt x="4000" y="8150"/>
                </a:moveTo>
                <a:lnTo>
                  <a:pt x="20000" y="8150"/>
                </a:lnTo>
                <a:lnTo>
                  <a:pt x="20000" y="7850"/>
                </a:lnTo>
                <a:lnTo>
                  <a:pt x="4000" y="7850"/>
                </a:lnTo>
                <a:close/>
                <a:moveTo>
                  <a:pt x="6000" y="18150"/>
                </a:moveTo>
                <a:lnTo>
                  <a:pt x="18000" y="18150"/>
                </a:lnTo>
                <a:lnTo>
                  <a:pt x="18000" y="17850"/>
                </a:lnTo>
                <a:lnTo>
                  <a:pt x="6000" y="17850"/>
                </a:lnTo>
                <a:close/>
                <a:moveTo>
                  <a:pt x="3913" y="8122"/>
                </a:moveTo>
                <a:lnTo>
                  <a:pt x="17913" y="18122"/>
                </a:lnTo>
                <a:lnTo>
                  <a:pt x="18087" y="17878"/>
                </a:lnTo>
                <a:lnTo>
                  <a:pt x="4087" y="7878"/>
                </a:lnTo>
                <a:close/>
                <a:moveTo>
                  <a:pt x="19913" y="7878"/>
                </a:moveTo>
                <a:lnTo>
                  <a:pt x="5913" y="17878"/>
                </a:lnTo>
                <a:lnTo>
                  <a:pt x="6087" y="18122"/>
                </a:lnTo>
                <a:lnTo>
                  <a:pt x="20087" y="812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雷达图</a:t>
            </a:r>
          </a:p>
        </p:txBody>
      </p:sp>
      <p:sp>
        <p:nvSpPr>
          <p:cNvPr id="19" name="CHART-006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4000"/>
                </a:moveTo>
                <a:lnTo>
                  <a:pt x="12800" y="4000"/>
                </a:lnTo>
                <a:cubicBezTo>
                  <a:pt x="12910" y="4000"/>
                  <a:pt x="13000" y="4090"/>
                  <a:pt x="13000" y="4200"/>
                </a:cubicBezTo>
                <a:lnTo>
                  <a:pt x="13000" y="12800"/>
                </a:lnTo>
                <a:cubicBezTo>
                  <a:pt x="13000" y="12910"/>
                  <a:pt x="12910" y="13000"/>
                  <a:pt x="12800" y="13000"/>
                </a:cubicBezTo>
                <a:lnTo>
                  <a:pt x="2200" y="13000"/>
                </a:lnTo>
                <a:cubicBezTo>
                  <a:pt x="2090" y="13000"/>
                  <a:pt x="2000" y="12910"/>
                  <a:pt x="2000" y="12800"/>
                </a:cubicBezTo>
                <a:lnTo>
                  <a:pt x="2000" y="4200"/>
                </a:lnTo>
                <a:cubicBezTo>
                  <a:pt x="2000" y="4090"/>
                  <a:pt x="2090" y="4000"/>
                  <a:pt x="2200" y="4000"/>
                </a:cubicBezTo>
                <a:close/>
                <a:moveTo>
                  <a:pt x="13200" y="4000"/>
                </a:moveTo>
                <a:lnTo>
                  <a:pt x="21800" y="4000"/>
                </a:lnTo>
                <a:cubicBezTo>
                  <a:pt x="21910" y="4000"/>
                  <a:pt x="22000" y="4090"/>
                  <a:pt x="22000" y="4200"/>
                </a:cubicBezTo>
                <a:lnTo>
                  <a:pt x="22000" y="8800"/>
                </a:lnTo>
                <a:cubicBezTo>
                  <a:pt x="22000" y="8910"/>
                  <a:pt x="21910" y="9000"/>
                  <a:pt x="21800" y="9000"/>
                </a:cubicBezTo>
                <a:lnTo>
                  <a:pt x="13200" y="9000"/>
                </a:lnTo>
                <a:cubicBezTo>
                  <a:pt x="13090" y="9000"/>
                  <a:pt x="13000" y="8910"/>
                  <a:pt x="13000" y="8800"/>
                </a:cubicBezTo>
                <a:lnTo>
                  <a:pt x="13000" y="4200"/>
                </a:lnTo>
                <a:cubicBezTo>
                  <a:pt x="13000" y="4090"/>
                  <a:pt x="13090" y="4000"/>
                  <a:pt x="13200" y="4000"/>
                </a:cubicBezTo>
                <a:close/>
                <a:moveTo>
                  <a:pt x="13200" y="9000"/>
                </a:moveTo>
                <a:lnTo>
                  <a:pt x="16800" y="9000"/>
                </a:lnTo>
                <a:cubicBezTo>
                  <a:pt x="16910" y="9000"/>
                  <a:pt x="17000" y="9090"/>
                  <a:pt x="17000" y="9200"/>
                </a:cubicBezTo>
                <a:lnTo>
                  <a:pt x="17000" y="12800"/>
                </a:lnTo>
                <a:cubicBezTo>
                  <a:pt x="17000" y="12910"/>
                  <a:pt x="16910" y="13000"/>
                  <a:pt x="16800" y="13000"/>
                </a:cubicBezTo>
                <a:lnTo>
                  <a:pt x="13200" y="13000"/>
                </a:lnTo>
                <a:cubicBezTo>
                  <a:pt x="13090" y="13000"/>
                  <a:pt x="13000" y="12910"/>
                  <a:pt x="13000" y="12800"/>
                </a:cubicBezTo>
                <a:lnTo>
                  <a:pt x="13000" y="9200"/>
                </a:lnTo>
                <a:cubicBezTo>
                  <a:pt x="13000" y="9090"/>
                  <a:pt x="13090" y="9000"/>
                  <a:pt x="13200" y="9000"/>
                </a:cubicBezTo>
                <a:close/>
                <a:moveTo>
                  <a:pt x="17200" y="9000"/>
                </a:moveTo>
                <a:lnTo>
                  <a:pt x="21800" y="9000"/>
                </a:lnTo>
                <a:cubicBezTo>
                  <a:pt x="21910" y="9000"/>
                  <a:pt x="22000" y="9090"/>
                  <a:pt x="22000" y="9200"/>
                </a:cubicBezTo>
                <a:lnTo>
                  <a:pt x="22000" y="12800"/>
                </a:lnTo>
                <a:cubicBezTo>
                  <a:pt x="22000" y="12910"/>
                  <a:pt x="21910" y="13000"/>
                  <a:pt x="21800" y="13000"/>
                </a:cubicBezTo>
                <a:lnTo>
                  <a:pt x="17200" y="13000"/>
                </a:lnTo>
                <a:cubicBezTo>
                  <a:pt x="17090" y="13000"/>
                  <a:pt x="17000" y="12910"/>
                  <a:pt x="17000" y="12800"/>
                </a:cubicBezTo>
                <a:lnTo>
                  <a:pt x="17000" y="9200"/>
                </a:lnTo>
                <a:cubicBezTo>
                  <a:pt x="17000" y="9090"/>
                  <a:pt x="17090" y="9000"/>
                  <a:pt x="17200" y="9000"/>
                </a:cubicBezTo>
                <a:close/>
                <a:moveTo>
                  <a:pt x="2200" y="13000"/>
                </a:moveTo>
                <a:lnTo>
                  <a:pt x="8800" y="13000"/>
                </a:lnTo>
                <a:cubicBezTo>
                  <a:pt x="8910" y="13000"/>
                  <a:pt x="9000" y="13090"/>
                  <a:pt x="9000" y="13200"/>
                </a:cubicBezTo>
                <a:lnTo>
                  <a:pt x="9000" y="21800"/>
                </a:lnTo>
                <a:cubicBezTo>
                  <a:pt x="9000" y="21910"/>
                  <a:pt x="8910" y="22000"/>
                  <a:pt x="8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13200"/>
                </a:lnTo>
                <a:cubicBezTo>
                  <a:pt x="2000" y="13090"/>
                  <a:pt x="2090" y="13000"/>
                  <a:pt x="2200" y="13000"/>
                </a:cubicBezTo>
                <a:close/>
                <a:moveTo>
                  <a:pt x="9200" y="13000"/>
                </a:moveTo>
                <a:lnTo>
                  <a:pt x="14800" y="13000"/>
                </a:lnTo>
                <a:cubicBezTo>
                  <a:pt x="14910" y="13000"/>
                  <a:pt x="15000" y="13090"/>
                  <a:pt x="15000" y="13200"/>
                </a:cubicBezTo>
                <a:lnTo>
                  <a:pt x="15000" y="17800"/>
                </a:lnTo>
                <a:cubicBezTo>
                  <a:pt x="15000" y="17910"/>
                  <a:pt x="14910" y="18000"/>
                  <a:pt x="14800" y="18000"/>
                </a:cubicBezTo>
                <a:lnTo>
                  <a:pt x="9200" y="18000"/>
                </a:lnTo>
                <a:cubicBezTo>
                  <a:pt x="9090" y="18000"/>
                  <a:pt x="9000" y="17910"/>
                  <a:pt x="9000" y="17800"/>
                </a:cubicBezTo>
                <a:lnTo>
                  <a:pt x="9000" y="13200"/>
                </a:lnTo>
                <a:cubicBezTo>
                  <a:pt x="9000" y="13090"/>
                  <a:pt x="9090" y="13000"/>
                  <a:pt x="9200" y="13000"/>
                </a:cubicBezTo>
                <a:close/>
                <a:moveTo>
                  <a:pt x="15200" y="13000"/>
                </a:moveTo>
                <a:lnTo>
                  <a:pt x="21800" y="13000"/>
                </a:lnTo>
                <a:cubicBezTo>
                  <a:pt x="21910" y="13000"/>
                  <a:pt x="22000" y="13090"/>
                  <a:pt x="22000" y="13200"/>
                </a:cubicBezTo>
                <a:lnTo>
                  <a:pt x="22000" y="17800"/>
                </a:lnTo>
                <a:cubicBezTo>
                  <a:pt x="22000" y="17910"/>
                  <a:pt x="21910" y="18000"/>
                  <a:pt x="21800" y="18000"/>
                </a:cubicBezTo>
                <a:lnTo>
                  <a:pt x="15200" y="18000"/>
                </a:lnTo>
                <a:cubicBezTo>
                  <a:pt x="15090" y="18000"/>
                  <a:pt x="15000" y="17910"/>
                  <a:pt x="15000" y="17800"/>
                </a:cubicBezTo>
                <a:lnTo>
                  <a:pt x="15000" y="13200"/>
                </a:lnTo>
                <a:cubicBezTo>
                  <a:pt x="15000" y="13090"/>
                  <a:pt x="15090" y="13000"/>
                  <a:pt x="15200" y="13000"/>
                </a:cubicBezTo>
                <a:close/>
                <a:moveTo>
                  <a:pt x="9200" y="18000"/>
                </a:moveTo>
                <a:lnTo>
                  <a:pt x="21800" y="18000"/>
                </a:lnTo>
                <a:cubicBezTo>
                  <a:pt x="21910" y="18000"/>
                  <a:pt x="22000" y="18090"/>
                  <a:pt x="22000" y="18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9200" y="22000"/>
                </a:lnTo>
                <a:cubicBezTo>
                  <a:pt x="9090" y="22000"/>
                  <a:pt x="9000" y="21910"/>
                  <a:pt x="9000" y="21800"/>
                </a:cubicBezTo>
                <a:lnTo>
                  <a:pt x="9000" y="18200"/>
                </a:lnTo>
                <a:cubicBezTo>
                  <a:pt x="9000" y="18090"/>
                  <a:pt x="9090" y="18000"/>
                  <a:pt x="92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树状图</a:t>
            </a:r>
          </a:p>
        </p:txBody>
      </p:sp>
      <p:sp>
        <p:nvSpPr>
          <p:cNvPr id="22" name="CHART-007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9000" y="17000"/>
                </a:moveTo>
                <a:cubicBezTo>
                  <a:pt x="9000" y="18105"/>
                  <a:pt x="8105" y="19000"/>
                  <a:pt x="7000" y="19000"/>
                </a:cubicBezTo>
                <a:cubicBezTo>
                  <a:pt x="5895" y="19000"/>
                  <a:pt x="5000" y="18105"/>
                  <a:pt x="5000" y="17000"/>
                </a:cubicBezTo>
                <a:cubicBezTo>
                  <a:pt x="5000" y="15895"/>
                  <a:pt x="5895" y="15000"/>
                  <a:pt x="7000" y="15000"/>
                </a:cubicBezTo>
                <a:cubicBezTo>
                  <a:pt x="8105" y="15000"/>
                  <a:pt x="9000" y="15895"/>
                  <a:pt x="9000" y="17000"/>
                </a:cubicBezTo>
                <a:close/>
                <a:moveTo>
                  <a:pt x="14400" y="12000"/>
                </a:moveTo>
                <a:cubicBezTo>
                  <a:pt x="14400" y="13878"/>
                  <a:pt x="12878" y="15400"/>
                  <a:pt x="11000" y="15400"/>
                </a:cubicBezTo>
                <a:cubicBezTo>
                  <a:pt x="9122" y="15400"/>
                  <a:pt x="7600" y="13878"/>
                  <a:pt x="7600" y="12000"/>
                </a:cubicBezTo>
                <a:cubicBezTo>
                  <a:pt x="7600" y="10122"/>
                  <a:pt x="9122" y="8600"/>
                  <a:pt x="11000" y="8600"/>
                </a:cubicBezTo>
                <a:cubicBezTo>
                  <a:pt x="12878" y="8600"/>
                  <a:pt x="14400" y="10122"/>
                  <a:pt x="14400" y="12000"/>
                </a:cubicBezTo>
                <a:close/>
                <a:moveTo>
                  <a:pt x="16500" y="16000"/>
                </a:moveTo>
                <a:cubicBezTo>
                  <a:pt x="16500" y="16828"/>
                  <a:pt x="15828" y="17500"/>
                  <a:pt x="15000" y="17500"/>
                </a:cubicBezTo>
                <a:cubicBezTo>
                  <a:pt x="14172" y="17500"/>
                  <a:pt x="13500" y="16828"/>
                  <a:pt x="13500" y="16000"/>
                </a:cubicBezTo>
                <a:cubicBezTo>
                  <a:pt x="13500" y="15172"/>
                  <a:pt x="14172" y="14500"/>
                  <a:pt x="15000" y="14500"/>
                </a:cubicBezTo>
                <a:cubicBezTo>
                  <a:pt x="15828" y="14500"/>
                  <a:pt x="16500" y="15172"/>
                  <a:pt x="16500" y="16000"/>
                </a:cubicBezTo>
                <a:close/>
                <a:moveTo>
                  <a:pt x="20600" y="8000"/>
                </a:moveTo>
                <a:cubicBezTo>
                  <a:pt x="20600" y="9436"/>
                  <a:pt x="19436" y="10600"/>
                  <a:pt x="18000" y="10600"/>
                </a:cubicBezTo>
                <a:cubicBezTo>
                  <a:pt x="16564" y="10600"/>
                  <a:pt x="15400" y="9436"/>
                  <a:pt x="15400" y="8000"/>
                </a:cubicBezTo>
                <a:cubicBezTo>
                  <a:pt x="15400" y="6564"/>
                  <a:pt x="16564" y="5400"/>
                  <a:pt x="18000" y="5400"/>
                </a:cubicBezTo>
                <a:cubicBezTo>
                  <a:pt x="19436" y="5400"/>
                  <a:pt x="20600" y="6564"/>
                  <a:pt x="20600" y="8000"/>
                </a:cubicBezTo>
                <a:close/>
                <a:moveTo>
                  <a:pt x="8000" y="7000"/>
                </a:moveTo>
                <a:cubicBezTo>
                  <a:pt x="8000" y="7552"/>
                  <a:pt x="7552" y="8000"/>
                  <a:pt x="7000" y="8000"/>
                </a:cubicBezTo>
                <a:cubicBezTo>
                  <a:pt x="6448" y="8000"/>
                  <a:pt x="6000" y="7552"/>
                  <a:pt x="6000" y="7000"/>
                </a:cubicBezTo>
                <a:cubicBezTo>
                  <a:pt x="6000" y="6448"/>
                  <a:pt x="6448" y="6000"/>
                  <a:pt x="7000" y="6000"/>
                </a:cubicBezTo>
                <a:cubicBezTo>
                  <a:pt x="7552" y="6000"/>
                  <a:pt x="8000" y="6448"/>
                  <a:pt x="80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气泡图</a:t>
            </a:r>
          </a:p>
        </p:txBody>
      </p:sp>
      <p:sp>
        <p:nvSpPr>
          <p:cNvPr id="25" name="CHART-008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14000"/>
                </a:moveTo>
                <a:lnTo>
                  <a:pt x="6800" y="14000"/>
                </a:lnTo>
                <a:cubicBezTo>
                  <a:pt x="6910" y="14000"/>
                  <a:pt x="7000" y="14090"/>
                  <a:pt x="7000" y="14200"/>
                </a:cubicBezTo>
                <a:lnTo>
                  <a:pt x="7000" y="20800"/>
                </a:lnTo>
                <a:cubicBezTo>
                  <a:pt x="7000" y="20910"/>
                  <a:pt x="6910" y="21000"/>
                  <a:pt x="68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14200"/>
                </a:lnTo>
                <a:cubicBezTo>
                  <a:pt x="3000" y="14090"/>
                  <a:pt x="3090" y="14000"/>
                  <a:pt x="3200" y="14000"/>
                </a:cubicBezTo>
                <a:close/>
                <a:moveTo>
                  <a:pt x="3200" y="9000"/>
                </a:moveTo>
                <a:lnTo>
                  <a:pt x="6800" y="9000"/>
                </a:lnTo>
                <a:cubicBezTo>
                  <a:pt x="6910" y="9000"/>
                  <a:pt x="7000" y="9090"/>
                  <a:pt x="7000" y="9200"/>
                </a:cubicBezTo>
                <a:lnTo>
                  <a:pt x="7000" y="12800"/>
                </a:lnTo>
                <a:cubicBezTo>
                  <a:pt x="7000" y="12910"/>
                  <a:pt x="6910" y="13000"/>
                  <a:pt x="6800" y="13000"/>
                </a:cubicBezTo>
                <a:lnTo>
                  <a:pt x="3200" y="13000"/>
                </a:lnTo>
                <a:cubicBezTo>
                  <a:pt x="3090" y="13000"/>
                  <a:pt x="3000" y="12910"/>
                  <a:pt x="3000" y="12800"/>
                </a:cubicBezTo>
                <a:lnTo>
                  <a:pt x="3000" y="9200"/>
                </a:lnTo>
                <a:cubicBezTo>
                  <a:pt x="3000" y="9090"/>
                  <a:pt x="3090" y="9000"/>
                  <a:pt x="3200" y="9000"/>
                </a:cubicBezTo>
                <a:close/>
                <a:moveTo>
                  <a:pt x="3200" y="5000"/>
                </a:moveTo>
                <a:lnTo>
                  <a:pt x="6800" y="5000"/>
                </a:lnTo>
                <a:cubicBezTo>
                  <a:pt x="6910" y="5000"/>
                  <a:pt x="7000" y="5090"/>
                  <a:pt x="7000" y="5200"/>
                </a:cubicBezTo>
                <a:lnTo>
                  <a:pt x="7000" y="7800"/>
                </a:lnTo>
                <a:cubicBezTo>
                  <a:pt x="7000" y="7910"/>
                  <a:pt x="6910" y="8000"/>
                  <a:pt x="6800" y="8000"/>
                </a:cubicBezTo>
                <a:lnTo>
                  <a:pt x="3200" y="8000"/>
                </a:lnTo>
                <a:cubicBezTo>
                  <a:pt x="3090" y="8000"/>
                  <a:pt x="3000" y="7910"/>
                  <a:pt x="3000" y="7800"/>
                </a:cubicBezTo>
                <a:lnTo>
                  <a:pt x="3000" y="5200"/>
                </a:lnTo>
                <a:cubicBezTo>
                  <a:pt x="3000" y="5090"/>
                  <a:pt x="3090" y="5000"/>
                  <a:pt x="3200" y="5000"/>
                </a:cubicBezTo>
                <a:close/>
                <a:moveTo>
                  <a:pt x="10200" y="11000"/>
                </a:moveTo>
                <a:lnTo>
                  <a:pt x="13800" y="11000"/>
                </a:lnTo>
                <a:cubicBezTo>
                  <a:pt x="13910" y="11000"/>
                  <a:pt x="14000" y="11090"/>
                  <a:pt x="14000" y="11200"/>
                </a:cubicBezTo>
                <a:lnTo>
                  <a:pt x="14000" y="20800"/>
                </a:lnTo>
                <a:cubicBezTo>
                  <a:pt x="14000" y="20910"/>
                  <a:pt x="13910" y="21000"/>
                  <a:pt x="13800" y="21000"/>
                </a:cubicBezTo>
                <a:lnTo>
                  <a:pt x="10200" y="21000"/>
                </a:lnTo>
                <a:cubicBezTo>
                  <a:pt x="10090" y="21000"/>
                  <a:pt x="10000" y="20910"/>
                  <a:pt x="10000" y="20800"/>
                </a:cubicBezTo>
                <a:lnTo>
                  <a:pt x="10000" y="11200"/>
                </a:lnTo>
                <a:cubicBezTo>
                  <a:pt x="10000" y="11090"/>
                  <a:pt x="10090" y="11000"/>
                  <a:pt x="10200" y="11000"/>
                </a:cubicBezTo>
                <a:close/>
                <a:moveTo>
                  <a:pt x="10200" y="6000"/>
                </a:moveTo>
                <a:lnTo>
                  <a:pt x="13800" y="6000"/>
                </a:lnTo>
                <a:cubicBezTo>
                  <a:pt x="13910" y="6000"/>
                  <a:pt x="14000" y="6090"/>
                  <a:pt x="14000" y="6200"/>
                </a:cubicBezTo>
                <a:lnTo>
                  <a:pt x="14000" y="9800"/>
                </a:lnTo>
                <a:cubicBezTo>
                  <a:pt x="14000" y="9910"/>
                  <a:pt x="13910" y="10000"/>
                  <a:pt x="13800" y="10000"/>
                </a:cubicBezTo>
                <a:lnTo>
                  <a:pt x="10200" y="10000"/>
                </a:lnTo>
                <a:cubicBezTo>
                  <a:pt x="10090" y="10000"/>
                  <a:pt x="10000" y="9910"/>
                  <a:pt x="10000" y="9800"/>
                </a:cubicBezTo>
                <a:lnTo>
                  <a:pt x="10000" y="6200"/>
                </a:lnTo>
                <a:cubicBezTo>
                  <a:pt x="10000" y="6090"/>
                  <a:pt x="10090" y="6000"/>
                  <a:pt x="10200" y="6000"/>
                </a:cubicBezTo>
                <a:close/>
                <a:moveTo>
                  <a:pt x="10200" y="4000"/>
                </a:moveTo>
                <a:lnTo>
                  <a:pt x="13800" y="4000"/>
                </a:lnTo>
                <a:cubicBezTo>
                  <a:pt x="13910" y="4000"/>
                  <a:pt x="14000" y="4090"/>
                  <a:pt x="14000" y="4200"/>
                </a:cubicBezTo>
                <a:lnTo>
                  <a:pt x="14000" y="4800"/>
                </a:lnTo>
                <a:cubicBezTo>
                  <a:pt x="14000" y="4910"/>
                  <a:pt x="13910" y="5000"/>
                  <a:pt x="13800" y="5000"/>
                </a:cubicBezTo>
                <a:lnTo>
                  <a:pt x="10200" y="5000"/>
                </a:lnTo>
                <a:cubicBezTo>
                  <a:pt x="10090" y="5000"/>
                  <a:pt x="10000" y="4910"/>
                  <a:pt x="10000" y="4800"/>
                </a:cubicBezTo>
                <a:lnTo>
                  <a:pt x="10000" y="4200"/>
                </a:lnTo>
                <a:cubicBezTo>
                  <a:pt x="10000" y="4090"/>
                  <a:pt x="10090" y="4000"/>
                  <a:pt x="10200" y="4000"/>
                </a:cubicBezTo>
                <a:close/>
                <a:moveTo>
                  <a:pt x="17200" y="13000"/>
                </a:moveTo>
                <a:lnTo>
                  <a:pt x="20800" y="13000"/>
                </a:lnTo>
                <a:cubicBezTo>
                  <a:pt x="20910" y="13000"/>
                  <a:pt x="21000" y="13090"/>
                  <a:pt x="21000" y="13200"/>
                </a:cubicBezTo>
                <a:lnTo>
                  <a:pt x="21000" y="20800"/>
                </a:lnTo>
                <a:cubicBezTo>
                  <a:pt x="21000" y="20910"/>
                  <a:pt x="20910" y="21000"/>
                  <a:pt x="20800" y="21000"/>
                </a:cubicBezTo>
                <a:lnTo>
                  <a:pt x="17200" y="21000"/>
                </a:lnTo>
                <a:cubicBezTo>
                  <a:pt x="17090" y="21000"/>
                  <a:pt x="17000" y="20910"/>
                  <a:pt x="17000" y="20800"/>
                </a:cubicBezTo>
                <a:lnTo>
                  <a:pt x="17000" y="13200"/>
                </a:lnTo>
                <a:cubicBezTo>
                  <a:pt x="17000" y="13090"/>
                  <a:pt x="17090" y="13000"/>
                  <a:pt x="17200" y="13000"/>
                </a:cubicBezTo>
                <a:close/>
                <a:moveTo>
                  <a:pt x="17200" y="7000"/>
                </a:moveTo>
                <a:lnTo>
                  <a:pt x="20800" y="7000"/>
                </a:lnTo>
                <a:cubicBezTo>
                  <a:pt x="20910" y="7000"/>
                  <a:pt x="21000" y="7090"/>
                  <a:pt x="21000" y="7200"/>
                </a:cubicBezTo>
                <a:lnTo>
                  <a:pt x="21000" y="11800"/>
                </a:lnTo>
                <a:cubicBezTo>
                  <a:pt x="21000" y="11910"/>
                  <a:pt x="20910" y="12000"/>
                  <a:pt x="20800" y="12000"/>
                </a:cubicBezTo>
                <a:lnTo>
                  <a:pt x="17200" y="12000"/>
                </a:lnTo>
                <a:cubicBezTo>
                  <a:pt x="17090" y="12000"/>
                  <a:pt x="17000" y="11910"/>
                  <a:pt x="17000" y="11800"/>
                </a:cubicBezTo>
                <a:lnTo>
                  <a:pt x="17000" y="7200"/>
                </a:lnTo>
                <a:cubicBezTo>
                  <a:pt x="17000" y="7090"/>
                  <a:pt x="17090" y="7000"/>
                  <a:pt x="17200" y="7000"/>
                </a:cubicBezTo>
                <a:close/>
                <a:moveTo>
                  <a:pt x="17200" y="3000"/>
                </a:moveTo>
                <a:lnTo>
                  <a:pt x="20800" y="3000"/>
                </a:lnTo>
                <a:cubicBezTo>
                  <a:pt x="20910" y="3000"/>
                  <a:pt x="21000" y="3090"/>
                  <a:pt x="21000" y="3200"/>
                </a:cubicBezTo>
                <a:lnTo>
                  <a:pt x="21000" y="5800"/>
                </a:lnTo>
                <a:cubicBezTo>
                  <a:pt x="21000" y="5910"/>
                  <a:pt x="20910" y="6000"/>
                  <a:pt x="20800" y="6000"/>
                </a:cubicBezTo>
                <a:lnTo>
                  <a:pt x="17200" y="6000"/>
                </a:lnTo>
                <a:cubicBezTo>
                  <a:pt x="17090" y="6000"/>
                  <a:pt x="17000" y="5910"/>
                  <a:pt x="17000" y="5800"/>
                </a:cubicBezTo>
                <a:lnTo>
                  <a:pt x="17000" y="3200"/>
                </a:lnTo>
                <a:cubicBezTo>
                  <a:pt x="17000" y="3090"/>
                  <a:pt x="17090" y="3000"/>
                  <a:pt x="17200" y="3000"/>
                </a:cubicBezTo>
                <a:close/>
                <a:moveTo>
                  <a:pt x="2100" y="21000"/>
                </a:moveTo>
                <a:lnTo>
                  <a:pt x="21900" y="21000"/>
                </a:lnTo>
                <a:cubicBezTo>
                  <a:pt x="21955" y="21000"/>
                  <a:pt x="22000" y="21045"/>
                  <a:pt x="22000" y="21100"/>
                </a:cubicBezTo>
                <a:lnTo>
                  <a:pt x="22000" y="21500"/>
                </a:lnTo>
                <a:cubicBezTo>
                  <a:pt x="22000" y="21555"/>
                  <a:pt x="21955" y="21600"/>
                  <a:pt x="21900" y="21600"/>
                </a:cubicBezTo>
                <a:lnTo>
                  <a:pt x="2100" y="21600"/>
                </a:lnTo>
                <a:cubicBezTo>
                  <a:pt x="2045" y="21600"/>
                  <a:pt x="2000" y="21555"/>
                  <a:pt x="2000" y="215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堆叠柱状</a:t>
            </a:r>
          </a:p>
        </p:txBody>
      </p:sp>
      <p:sp>
        <p:nvSpPr>
          <p:cNvPr id="28" name="CHART-009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4000"/>
                </a:moveTo>
                <a:lnTo>
                  <a:pt x="6800" y="4000"/>
                </a:lnTo>
                <a:cubicBezTo>
                  <a:pt x="6910" y="4000"/>
                  <a:pt x="7000" y="4090"/>
                  <a:pt x="7000" y="4200"/>
                </a:cubicBezTo>
                <a:lnTo>
                  <a:pt x="7000" y="11800"/>
                </a:lnTo>
                <a:cubicBezTo>
                  <a:pt x="7000" y="11910"/>
                  <a:pt x="6910" y="12000"/>
                  <a:pt x="6800" y="12000"/>
                </a:cubicBezTo>
                <a:lnTo>
                  <a:pt x="3200" y="12000"/>
                </a:lnTo>
                <a:cubicBezTo>
                  <a:pt x="3090" y="12000"/>
                  <a:pt x="3000" y="11910"/>
                  <a:pt x="3000" y="11800"/>
                </a:cubicBezTo>
                <a:lnTo>
                  <a:pt x="3000" y="4200"/>
                </a:lnTo>
                <a:cubicBezTo>
                  <a:pt x="3000" y="4090"/>
                  <a:pt x="3090" y="4000"/>
                  <a:pt x="3200" y="4000"/>
                </a:cubicBezTo>
                <a:close/>
                <a:moveTo>
                  <a:pt x="3200" y="13000"/>
                </a:moveTo>
                <a:lnTo>
                  <a:pt x="6800" y="13000"/>
                </a:lnTo>
                <a:cubicBezTo>
                  <a:pt x="6910" y="13000"/>
                  <a:pt x="7000" y="13090"/>
                  <a:pt x="7000" y="13200"/>
                </a:cubicBezTo>
                <a:lnTo>
                  <a:pt x="7000" y="16800"/>
                </a:lnTo>
                <a:cubicBezTo>
                  <a:pt x="7000" y="16910"/>
                  <a:pt x="6910" y="17000"/>
                  <a:pt x="6800" y="17000"/>
                </a:cubicBezTo>
                <a:lnTo>
                  <a:pt x="3200" y="17000"/>
                </a:lnTo>
                <a:cubicBezTo>
                  <a:pt x="3090" y="17000"/>
                  <a:pt x="3000" y="16910"/>
                  <a:pt x="3000" y="16800"/>
                </a:cubicBezTo>
                <a:lnTo>
                  <a:pt x="3000" y="13200"/>
                </a:lnTo>
                <a:cubicBezTo>
                  <a:pt x="3000" y="13090"/>
                  <a:pt x="3090" y="13000"/>
                  <a:pt x="3200" y="13000"/>
                </a:cubicBezTo>
                <a:close/>
                <a:moveTo>
                  <a:pt x="3200" y="18000"/>
                </a:moveTo>
                <a:lnTo>
                  <a:pt x="6800" y="18000"/>
                </a:lnTo>
                <a:cubicBezTo>
                  <a:pt x="6910" y="18000"/>
                  <a:pt x="7000" y="18090"/>
                  <a:pt x="7000" y="18200"/>
                </a:cubicBezTo>
                <a:lnTo>
                  <a:pt x="7000" y="20800"/>
                </a:lnTo>
                <a:cubicBezTo>
                  <a:pt x="7000" y="20910"/>
                  <a:pt x="6910" y="21000"/>
                  <a:pt x="68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18200"/>
                </a:lnTo>
                <a:cubicBezTo>
                  <a:pt x="3000" y="18090"/>
                  <a:pt x="3090" y="18000"/>
                  <a:pt x="3200" y="18000"/>
                </a:cubicBezTo>
                <a:close/>
                <a:moveTo>
                  <a:pt x="10200" y="4000"/>
                </a:moveTo>
                <a:lnTo>
                  <a:pt x="13800" y="4000"/>
                </a:lnTo>
                <a:cubicBezTo>
                  <a:pt x="13910" y="4000"/>
                  <a:pt x="14000" y="4090"/>
                  <a:pt x="14000" y="4200"/>
                </a:cubicBezTo>
                <a:lnTo>
                  <a:pt x="14000" y="8800"/>
                </a:lnTo>
                <a:cubicBezTo>
                  <a:pt x="14000" y="8910"/>
                  <a:pt x="13910" y="9000"/>
                  <a:pt x="13800" y="9000"/>
                </a:cubicBezTo>
                <a:lnTo>
                  <a:pt x="10200" y="9000"/>
                </a:lnTo>
                <a:cubicBezTo>
                  <a:pt x="10090" y="9000"/>
                  <a:pt x="10000" y="8910"/>
                  <a:pt x="10000" y="8800"/>
                </a:cubicBezTo>
                <a:lnTo>
                  <a:pt x="10000" y="4200"/>
                </a:lnTo>
                <a:cubicBezTo>
                  <a:pt x="10000" y="4090"/>
                  <a:pt x="10090" y="4000"/>
                  <a:pt x="10200" y="4000"/>
                </a:cubicBezTo>
                <a:close/>
                <a:moveTo>
                  <a:pt x="10200" y="10000"/>
                </a:moveTo>
                <a:lnTo>
                  <a:pt x="13800" y="10000"/>
                </a:lnTo>
                <a:cubicBezTo>
                  <a:pt x="13910" y="10000"/>
                  <a:pt x="14000" y="10090"/>
                  <a:pt x="14000" y="10200"/>
                </a:cubicBezTo>
                <a:lnTo>
                  <a:pt x="14000" y="16800"/>
                </a:lnTo>
                <a:cubicBezTo>
                  <a:pt x="14000" y="16910"/>
                  <a:pt x="13910" y="17000"/>
                  <a:pt x="13800" y="17000"/>
                </a:cubicBezTo>
                <a:lnTo>
                  <a:pt x="10200" y="17000"/>
                </a:lnTo>
                <a:cubicBezTo>
                  <a:pt x="10090" y="17000"/>
                  <a:pt x="10000" y="16910"/>
                  <a:pt x="10000" y="16800"/>
                </a:cubicBezTo>
                <a:lnTo>
                  <a:pt x="10000" y="10200"/>
                </a:lnTo>
                <a:cubicBezTo>
                  <a:pt x="10000" y="10090"/>
                  <a:pt x="10090" y="10000"/>
                  <a:pt x="10200" y="10000"/>
                </a:cubicBezTo>
                <a:close/>
                <a:moveTo>
                  <a:pt x="10200" y="18000"/>
                </a:moveTo>
                <a:lnTo>
                  <a:pt x="13800" y="18000"/>
                </a:lnTo>
                <a:cubicBezTo>
                  <a:pt x="13910" y="18000"/>
                  <a:pt x="14000" y="18090"/>
                  <a:pt x="14000" y="18200"/>
                </a:cubicBezTo>
                <a:lnTo>
                  <a:pt x="14000" y="20800"/>
                </a:lnTo>
                <a:cubicBezTo>
                  <a:pt x="14000" y="20910"/>
                  <a:pt x="13910" y="21000"/>
                  <a:pt x="13800" y="21000"/>
                </a:cubicBezTo>
                <a:lnTo>
                  <a:pt x="10200" y="21000"/>
                </a:lnTo>
                <a:cubicBezTo>
                  <a:pt x="10090" y="21000"/>
                  <a:pt x="10000" y="20910"/>
                  <a:pt x="10000" y="20800"/>
                </a:cubicBezTo>
                <a:lnTo>
                  <a:pt x="10000" y="18200"/>
                </a:lnTo>
                <a:cubicBezTo>
                  <a:pt x="10000" y="18090"/>
                  <a:pt x="10090" y="18000"/>
                  <a:pt x="10200" y="18000"/>
                </a:cubicBezTo>
                <a:close/>
                <a:moveTo>
                  <a:pt x="17200" y="4000"/>
                </a:moveTo>
                <a:lnTo>
                  <a:pt x="20800" y="4000"/>
                </a:lnTo>
                <a:cubicBezTo>
                  <a:pt x="20910" y="4000"/>
                  <a:pt x="21000" y="4090"/>
                  <a:pt x="21000" y="4200"/>
                </a:cubicBezTo>
                <a:lnTo>
                  <a:pt x="21000" y="9800"/>
                </a:lnTo>
                <a:cubicBezTo>
                  <a:pt x="21000" y="9910"/>
                  <a:pt x="20910" y="10000"/>
                  <a:pt x="20800" y="10000"/>
                </a:cubicBezTo>
                <a:lnTo>
                  <a:pt x="17200" y="10000"/>
                </a:lnTo>
                <a:cubicBezTo>
                  <a:pt x="17090" y="10000"/>
                  <a:pt x="17000" y="9910"/>
                  <a:pt x="17000" y="9800"/>
                </a:cubicBezTo>
                <a:lnTo>
                  <a:pt x="17000" y="4200"/>
                </a:lnTo>
                <a:cubicBezTo>
                  <a:pt x="17000" y="4090"/>
                  <a:pt x="17090" y="4000"/>
                  <a:pt x="17200" y="4000"/>
                </a:cubicBezTo>
                <a:close/>
                <a:moveTo>
                  <a:pt x="17200" y="11000"/>
                </a:moveTo>
                <a:lnTo>
                  <a:pt x="20800" y="11000"/>
                </a:lnTo>
                <a:cubicBezTo>
                  <a:pt x="20910" y="11000"/>
                  <a:pt x="21000" y="11090"/>
                  <a:pt x="21000" y="11200"/>
                </a:cubicBezTo>
                <a:lnTo>
                  <a:pt x="21000" y="15800"/>
                </a:lnTo>
                <a:cubicBezTo>
                  <a:pt x="21000" y="15910"/>
                  <a:pt x="20910" y="16000"/>
                  <a:pt x="20800" y="16000"/>
                </a:cubicBezTo>
                <a:lnTo>
                  <a:pt x="17200" y="16000"/>
                </a:lnTo>
                <a:cubicBezTo>
                  <a:pt x="17090" y="16000"/>
                  <a:pt x="17000" y="15910"/>
                  <a:pt x="17000" y="15800"/>
                </a:cubicBezTo>
                <a:lnTo>
                  <a:pt x="17000" y="11200"/>
                </a:lnTo>
                <a:cubicBezTo>
                  <a:pt x="17000" y="11090"/>
                  <a:pt x="17090" y="11000"/>
                  <a:pt x="17200" y="11000"/>
                </a:cubicBezTo>
                <a:close/>
                <a:moveTo>
                  <a:pt x="17200" y="17000"/>
                </a:moveTo>
                <a:lnTo>
                  <a:pt x="20800" y="17000"/>
                </a:lnTo>
                <a:cubicBezTo>
                  <a:pt x="20910" y="17000"/>
                  <a:pt x="21000" y="17090"/>
                  <a:pt x="21000" y="17200"/>
                </a:cubicBezTo>
                <a:lnTo>
                  <a:pt x="21000" y="20800"/>
                </a:lnTo>
                <a:cubicBezTo>
                  <a:pt x="21000" y="20910"/>
                  <a:pt x="20910" y="21000"/>
                  <a:pt x="20800" y="21000"/>
                </a:cubicBezTo>
                <a:lnTo>
                  <a:pt x="17200" y="21000"/>
                </a:lnTo>
                <a:cubicBezTo>
                  <a:pt x="17090" y="21000"/>
                  <a:pt x="17000" y="20910"/>
                  <a:pt x="17000" y="20800"/>
                </a:cubicBezTo>
                <a:lnTo>
                  <a:pt x="17000" y="17200"/>
                </a:lnTo>
                <a:cubicBezTo>
                  <a:pt x="17000" y="17090"/>
                  <a:pt x="17090" y="17000"/>
                  <a:pt x="172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百分比堆叠</a:t>
            </a:r>
          </a:p>
        </p:txBody>
      </p:sp>
      <p:sp>
        <p:nvSpPr>
          <p:cNvPr id="31" name="CHART-010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750" y="4000"/>
                </a:moveTo>
                <a:lnTo>
                  <a:pt x="6750" y="6000"/>
                </a:lnTo>
                <a:lnTo>
                  <a:pt x="7250" y="6000"/>
                </a:lnTo>
                <a:lnTo>
                  <a:pt x="7250" y="4000"/>
                </a:lnTo>
                <a:close/>
                <a:moveTo>
                  <a:pt x="4300" y="6000"/>
                </a:moveTo>
                <a:lnTo>
                  <a:pt x="9700" y="6000"/>
                </a:lnTo>
                <a:cubicBezTo>
                  <a:pt x="9866" y="6000"/>
                  <a:pt x="10000" y="6134"/>
                  <a:pt x="10000" y="6300"/>
                </a:cubicBezTo>
                <a:lnTo>
                  <a:pt x="10000" y="10700"/>
                </a:lnTo>
                <a:cubicBezTo>
                  <a:pt x="10000" y="10866"/>
                  <a:pt x="9866" y="11000"/>
                  <a:pt x="9700" y="11000"/>
                </a:cubicBezTo>
                <a:lnTo>
                  <a:pt x="4300" y="11000"/>
                </a:lnTo>
                <a:cubicBezTo>
                  <a:pt x="4134" y="11000"/>
                  <a:pt x="4000" y="10866"/>
                  <a:pt x="4000" y="10700"/>
                </a:cubicBezTo>
                <a:lnTo>
                  <a:pt x="4000" y="6300"/>
                </a:lnTo>
                <a:cubicBezTo>
                  <a:pt x="4000" y="6134"/>
                  <a:pt x="4134" y="6000"/>
                  <a:pt x="4300" y="6000"/>
                </a:cubicBezTo>
                <a:close/>
                <a:moveTo>
                  <a:pt x="7000" y="8500"/>
                </a:moveTo>
                <a:lnTo>
                  <a:pt x="7000" y="8500"/>
                </a:lnTo>
                <a:lnTo>
                  <a:pt x="7000" y="8500"/>
                </a:lnTo>
                <a:lnTo>
                  <a:pt x="7000" y="8500"/>
                </a:lnTo>
                <a:close/>
                <a:moveTo>
                  <a:pt x="4000" y="9000"/>
                </a:moveTo>
                <a:lnTo>
                  <a:pt x="10000" y="9000"/>
                </a:lnTo>
                <a:lnTo>
                  <a:pt x="10000" y="8000"/>
                </a:lnTo>
                <a:lnTo>
                  <a:pt x="4000" y="8000"/>
                </a:lnTo>
                <a:close/>
                <a:moveTo>
                  <a:pt x="6750" y="11000"/>
                </a:moveTo>
                <a:lnTo>
                  <a:pt x="6750" y="14000"/>
                </a:lnTo>
                <a:lnTo>
                  <a:pt x="7250" y="14000"/>
                </a:lnTo>
                <a:lnTo>
                  <a:pt x="7250" y="11000"/>
                </a:lnTo>
                <a:close/>
                <a:moveTo>
                  <a:pt x="5000" y="14250"/>
                </a:moveTo>
                <a:lnTo>
                  <a:pt x="9000" y="14250"/>
                </a:lnTo>
                <a:lnTo>
                  <a:pt x="9000" y="13750"/>
                </a:lnTo>
                <a:lnTo>
                  <a:pt x="5000" y="13750"/>
                </a:lnTo>
                <a:close/>
                <a:moveTo>
                  <a:pt x="14750" y="5000"/>
                </a:moveTo>
                <a:lnTo>
                  <a:pt x="14750" y="8000"/>
                </a:lnTo>
                <a:lnTo>
                  <a:pt x="15250" y="8000"/>
                </a:lnTo>
                <a:lnTo>
                  <a:pt x="15250" y="5000"/>
                </a:lnTo>
                <a:close/>
                <a:moveTo>
                  <a:pt x="12300" y="8000"/>
                </a:moveTo>
                <a:lnTo>
                  <a:pt x="17700" y="8000"/>
                </a:lnTo>
                <a:cubicBezTo>
                  <a:pt x="17866" y="8000"/>
                  <a:pt x="18000" y="8134"/>
                  <a:pt x="18000" y="8300"/>
                </a:cubicBezTo>
                <a:lnTo>
                  <a:pt x="18000" y="14700"/>
                </a:lnTo>
                <a:cubicBezTo>
                  <a:pt x="18000" y="14866"/>
                  <a:pt x="17866" y="15000"/>
                  <a:pt x="17700" y="15000"/>
                </a:cubicBezTo>
                <a:lnTo>
                  <a:pt x="12300" y="15000"/>
                </a:lnTo>
                <a:cubicBezTo>
                  <a:pt x="12134" y="15000"/>
                  <a:pt x="12000" y="14866"/>
                  <a:pt x="12000" y="14700"/>
                </a:cubicBezTo>
                <a:lnTo>
                  <a:pt x="12000" y="8300"/>
                </a:lnTo>
                <a:cubicBezTo>
                  <a:pt x="12000" y="8134"/>
                  <a:pt x="12134" y="8000"/>
                  <a:pt x="12300" y="8000"/>
                </a:cubicBezTo>
                <a:close/>
                <a:moveTo>
                  <a:pt x="12000" y="11500"/>
                </a:moveTo>
                <a:lnTo>
                  <a:pt x="18000" y="11500"/>
                </a:lnTo>
                <a:lnTo>
                  <a:pt x="18000" y="10500"/>
                </a:lnTo>
                <a:lnTo>
                  <a:pt x="12000" y="10500"/>
                </a:lnTo>
                <a:close/>
                <a:moveTo>
                  <a:pt x="14750" y="15000"/>
                </a:moveTo>
                <a:lnTo>
                  <a:pt x="14750" y="19000"/>
                </a:lnTo>
                <a:lnTo>
                  <a:pt x="15250" y="19000"/>
                </a:lnTo>
                <a:lnTo>
                  <a:pt x="15250" y="15000"/>
                </a:lnTo>
                <a:close/>
                <a:moveTo>
                  <a:pt x="13000" y="19250"/>
                </a:moveTo>
                <a:lnTo>
                  <a:pt x="17000" y="19250"/>
                </a:lnTo>
                <a:lnTo>
                  <a:pt x="17000" y="18750"/>
                </a:lnTo>
                <a:lnTo>
                  <a:pt x="13000" y="187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箱线图</a:t>
            </a:r>
          </a:p>
        </p:txBody>
      </p:sp>
      <p:sp>
        <p:nvSpPr>
          <p:cNvPr id="34" name="CHART-011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" y="18000"/>
                </a:moveTo>
                <a:lnTo>
                  <a:pt x="4900" y="18000"/>
                </a:lnTo>
                <a:cubicBezTo>
                  <a:pt x="4955" y="18000"/>
                  <a:pt x="5000" y="18045"/>
                  <a:pt x="5000" y="18100"/>
                </a:cubicBezTo>
                <a:lnTo>
                  <a:pt x="5000" y="20900"/>
                </a:lnTo>
                <a:cubicBezTo>
                  <a:pt x="5000" y="20955"/>
                  <a:pt x="4955" y="21000"/>
                  <a:pt x="4900" y="21000"/>
                </a:cubicBezTo>
                <a:lnTo>
                  <a:pt x="2100" y="21000"/>
                </a:lnTo>
                <a:cubicBezTo>
                  <a:pt x="2045" y="21000"/>
                  <a:pt x="2000" y="20955"/>
                  <a:pt x="2000" y="20900"/>
                </a:cubicBezTo>
                <a:lnTo>
                  <a:pt x="2000" y="18100"/>
                </a:lnTo>
                <a:cubicBezTo>
                  <a:pt x="2000" y="18045"/>
                  <a:pt x="2045" y="18000"/>
                  <a:pt x="2100" y="18000"/>
                </a:cubicBezTo>
                <a:close/>
                <a:moveTo>
                  <a:pt x="5600" y="14000"/>
                </a:moveTo>
                <a:lnTo>
                  <a:pt x="8400" y="14000"/>
                </a:lnTo>
                <a:cubicBezTo>
                  <a:pt x="8455" y="14000"/>
                  <a:pt x="8500" y="14045"/>
                  <a:pt x="8500" y="14100"/>
                </a:cubicBezTo>
                <a:lnTo>
                  <a:pt x="8500" y="20900"/>
                </a:lnTo>
                <a:cubicBezTo>
                  <a:pt x="8500" y="20955"/>
                  <a:pt x="8455" y="21000"/>
                  <a:pt x="8400" y="21000"/>
                </a:cubicBezTo>
                <a:lnTo>
                  <a:pt x="5600" y="21000"/>
                </a:lnTo>
                <a:cubicBezTo>
                  <a:pt x="5545" y="21000"/>
                  <a:pt x="5500" y="20955"/>
                  <a:pt x="5500" y="20900"/>
                </a:cubicBezTo>
                <a:lnTo>
                  <a:pt x="5500" y="14100"/>
                </a:lnTo>
                <a:cubicBezTo>
                  <a:pt x="5500" y="14045"/>
                  <a:pt x="5545" y="14000"/>
                  <a:pt x="5600" y="14000"/>
                </a:cubicBezTo>
                <a:close/>
                <a:moveTo>
                  <a:pt x="9100" y="6000"/>
                </a:moveTo>
                <a:lnTo>
                  <a:pt x="11900" y="6000"/>
                </a:lnTo>
                <a:cubicBezTo>
                  <a:pt x="11955" y="6000"/>
                  <a:pt x="12000" y="6045"/>
                  <a:pt x="12000" y="6100"/>
                </a:cubicBezTo>
                <a:lnTo>
                  <a:pt x="12000" y="20900"/>
                </a:lnTo>
                <a:cubicBezTo>
                  <a:pt x="12000" y="20955"/>
                  <a:pt x="11955" y="21000"/>
                  <a:pt x="11900" y="21000"/>
                </a:cubicBezTo>
                <a:lnTo>
                  <a:pt x="9100" y="21000"/>
                </a:lnTo>
                <a:cubicBezTo>
                  <a:pt x="9045" y="21000"/>
                  <a:pt x="9000" y="20955"/>
                  <a:pt x="9000" y="20900"/>
                </a:cubicBezTo>
                <a:lnTo>
                  <a:pt x="9000" y="6100"/>
                </a:lnTo>
                <a:cubicBezTo>
                  <a:pt x="9000" y="6045"/>
                  <a:pt x="9045" y="6000"/>
                  <a:pt x="9100" y="6000"/>
                </a:cubicBezTo>
                <a:close/>
                <a:moveTo>
                  <a:pt x="12600" y="9000"/>
                </a:moveTo>
                <a:lnTo>
                  <a:pt x="15400" y="9000"/>
                </a:lnTo>
                <a:cubicBezTo>
                  <a:pt x="15455" y="9000"/>
                  <a:pt x="15500" y="9045"/>
                  <a:pt x="15500" y="9100"/>
                </a:cubicBezTo>
                <a:lnTo>
                  <a:pt x="15500" y="20900"/>
                </a:lnTo>
                <a:cubicBezTo>
                  <a:pt x="15500" y="20955"/>
                  <a:pt x="15455" y="21000"/>
                  <a:pt x="15400" y="21000"/>
                </a:cubicBezTo>
                <a:lnTo>
                  <a:pt x="12600" y="21000"/>
                </a:lnTo>
                <a:cubicBezTo>
                  <a:pt x="12545" y="21000"/>
                  <a:pt x="12500" y="20955"/>
                  <a:pt x="12500" y="20900"/>
                </a:cubicBezTo>
                <a:lnTo>
                  <a:pt x="12500" y="9100"/>
                </a:lnTo>
                <a:cubicBezTo>
                  <a:pt x="12500" y="9045"/>
                  <a:pt x="12545" y="9000"/>
                  <a:pt x="12600" y="9000"/>
                </a:cubicBezTo>
                <a:close/>
                <a:moveTo>
                  <a:pt x="16100" y="13000"/>
                </a:moveTo>
                <a:lnTo>
                  <a:pt x="18900" y="13000"/>
                </a:lnTo>
                <a:cubicBezTo>
                  <a:pt x="18955" y="13000"/>
                  <a:pt x="19000" y="13045"/>
                  <a:pt x="19000" y="13100"/>
                </a:cubicBezTo>
                <a:lnTo>
                  <a:pt x="19000" y="20900"/>
                </a:lnTo>
                <a:cubicBezTo>
                  <a:pt x="19000" y="20955"/>
                  <a:pt x="18955" y="21000"/>
                  <a:pt x="18900" y="21000"/>
                </a:cubicBezTo>
                <a:lnTo>
                  <a:pt x="16100" y="21000"/>
                </a:lnTo>
                <a:cubicBezTo>
                  <a:pt x="16045" y="21000"/>
                  <a:pt x="16000" y="20955"/>
                  <a:pt x="16000" y="20900"/>
                </a:cubicBezTo>
                <a:lnTo>
                  <a:pt x="16000" y="13100"/>
                </a:lnTo>
                <a:cubicBezTo>
                  <a:pt x="16000" y="13045"/>
                  <a:pt x="16045" y="13000"/>
                  <a:pt x="16100" y="13000"/>
                </a:cubicBezTo>
                <a:close/>
                <a:moveTo>
                  <a:pt x="19600" y="17000"/>
                </a:moveTo>
                <a:lnTo>
                  <a:pt x="22400" y="17000"/>
                </a:lnTo>
                <a:cubicBezTo>
                  <a:pt x="22455" y="17000"/>
                  <a:pt x="22500" y="17045"/>
                  <a:pt x="22500" y="17100"/>
                </a:cubicBezTo>
                <a:lnTo>
                  <a:pt x="22500" y="20900"/>
                </a:lnTo>
                <a:cubicBezTo>
                  <a:pt x="22500" y="20955"/>
                  <a:pt x="22455" y="21000"/>
                  <a:pt x="22400" y="21000"/>
                </a:cubicBezTo>
                <a:lnTo>
                  <a:pt x="19600" y="21000"/>
                </a:lnTo>
                <a:cubicBezTo>
                  <a:pt x="19545" y="21000"/>
                  <a:pt x="19500" y="20955"/>
                  <a:pt x="19500" y="20900"/>
                </a:cubicBezTo>
                <a:lnTo>
                  <a:pt x="19500" y="17100"/>
                </a:lnTo>
                <a:cubicBezTo>
                  <a:pt x="19500" y="17045"/>
                  <a:pt x="19545" y="17000"/>
                  <a:pt x="19600" y="17000"/>
                </a:cubicBezTo>
                <a:close/>
                <a:moveTo>
                  <a:pt x="2100" y="21000"/>
                </a:moveTo>
                <a:lnTo>
                  <a:pt x="22900" y="21000"/>
                </a:lnTo>
                <a:cubicBezTo>
                  <a:pt x="22955" y="21000"/>
                  <a:pt x="23000" y="21045"/>
                  <a:pt x="23000" y="21100"/>
                </a:cubicBezTo>
                <a:lnTo>
                  <a:pt x="23000" y="21500"/>
                </a:lnTo>
                <a:cubicBezTo>
                  <a:pt x="23000" y="21555"/>
                  <a:pt x="22955" y="21600"/>
                  <a:pt x="22900" y="21600"/>
                </a:cubicBezTo>
                <a:lnTo>
                  <a:pt x="2100" y="21600"/>
                </a:lnTo>
                <a:cubicBezTo>
                  <a:pt x="2045" y="21600"/>
                  <a:pt x="2000" y="21555"/>
                  <a:pt x="2000" y="215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直方图</a:t>
            </a:r>
          </a:p>
        </p:txBody>
      </p:sp>
      <p:sp>
        <p:nvSpPr>
          <p:cNvPr id="37" name="CHART-012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9000"/>
                </a:moveTo>
                <a:quadBezTo>
                  <a:pt x="7000" y="17000"/>
                  <a:pt x="10000" y="13000"/>
                </a:quadBezTo>
                <a:quadBezTo>
                  <a:pt x="14000" y="8000"/>
                  <a:pt x="18000" y="5000"/>
                </a:quadBezTo>
                <a:quadBezTo>
                  <a:pt x="20000" y="4000"/>
                  <a:pt x="21000" y="4000"/>
                </a:quadBezTo>
                <a:moveTo>
                  <a:pt x="3268" y="19537"/>
                </a:moveTo>
                <a:lnTo>
                  <a:pt x="7268" y="17537"/>
                </a:lnTo>
                <a:lnTo>
                  <a:pt x="6732" y="16463"/>
                </a:lnTo>
                <a:lnTo>
                  <a:pt x="2732" y="18463"/>
                </a:lnTo>
                <a:close/>
                <a:moveTo>
                  <a:pt x="7480" y="17360"/>
                </a:moveTo>
                <a:lnTo>
                  <a:pt x="10480" y="13360"/>
                </a:lnTo>
                <a:lnTo>
                  <a:pt x="9520" y="12640"/>
                </a:lnTo>
                <a:lnTo>
                  <a:pt x="6520" y="16640"/>
                </a:lnTo>
                <a:close/>
                <a:moveTo>
                  <a:pt x="10469" y="13375"/>
                </a:moveTo>
                <a:lnTo>
                  <a:pt x="14469" y="8375"/>
                </a:lnTo>
                <a:lnTo>
                  <a:pt x="13531" y="7625"/>
                </a:lnTo>
                <a:lnTo>
                  <a:pt x="9531" y="12625"/>
                </a:lnTo>
                <a:close/>
                <a:moveTo>
                  <a:pt x="14360" y="8480"/>
                </a:moveTo>
                <a:lnTo>
                  <a:pt x="18360" y="5480"/>
                </a:lnTo>
                <a:lnTo>
                  <a:pt x="17640" y="4520"/>
                </a:lnTo>
                <a:lnTo>
                  <a:pt x="13640" y="7520"/>
                </a:lnTo>
                <a:close/>
                <a:moveTo>
                  <a:pt x="18190" y="5569"/>
                </a:moveTo>
                <a:lnTo>
                  <a:pt x="21190" y="4569"/>
                </a:lnTo>
                <a:lnTo>
                  <a:pt x="20810" y="3431"/>
                </a:lnTo>
                <a:lnTo>
                  <a:pt x="17810" y="4431"/>
                </a:lnTo>
                <a:close/>
                <a:moveTo>
                  <a:pt x="3700" y="19000"/>
                </a:moveTo>
                <a:cubicBezTo>
                  <a:pt x="3700" y="19387"/>
                  <a:pt x="3387" y="19700"/>
                  <a:pt x="3000" y="19700"/>
                </a:cubicBezTo>
                <a:cubicBezTo>
                  <a:pt x="2613" y="19700"/>
                  <a:pt x="2300" y="19387"/>
                  <a:pt x="2300" y="19000"/>
                </a:cubicBezTo>
                <a:cubicBezTo>
                  <a:pt x="2300" y="18613"/>
                  <a:pt x="2613" y="18300"/>
                  <a:pt x="3000" y="18300"/>
                </a:cubicBezTo>
                <a:cubicBezTo>
                  <a:pt x="3387" y="18300"/>
                  <a:pt x="3700" y="18613"/>
                  <a:pt x="3700" y="19000"/>
                </a:cubicBezTo>
                <a:close/>
                <a:moveTo>
                  <a:pt x="10700" y="13000"/>
                </a:moveTo>
                <a:cubicBezTo>
                  <a:pt x="10700" y="13387"/>
                  <a:pt x="10387" y="13700"/>
                  <a:pt x="10000" y="13700"/>
                </a:cubicBezTo>
                <a:cubicBezTo>
                  <a:pt x="9613" y="13700"/>
                  <a:pt x="9300" y="13387"/>
                  <a:pt x="9300" y="13000"/>
                </a:cubicBezTo>
                <a:cubicBezTo>
                  <a:pt x="9300" y="12613"/>
                  <a:pt x="9613" y="12300"/>
                  <a:pt x="10000" y="12300"/>
                </a:cubicBezTo>
                <a:cubicBezTo>
                  <a:pt x="10387" y="12300"/>
                  <a:pt x="10700" y="12613"/>
                  <a:pt x="10700" y="13000"/>
                </a:cubicBezTo>
                <a:close/>
                <a:moveTo>
                  <a:pt x="18700" y="5000"/>
                </a:moveTo>
                <a:cubicBezTo>
                  <a:pt x="18700" y="5387"/>
                  <a:pt x="18387" y="5700"/>
                  <a:pt x="18000" y="5700"/>
                </a:cubicBezTo>
                <a:cubicBezTo>
                  <a:pt x="17613" y="5700"/>
                  <a:pt x="17300" y="5387"/>
                  <a:pt x="17300" y="5000"/>
                </a:cubicBezTo>
                <a:cubicBezTo>
                  <a:pt x="17300" y="4613"/>
                  <a:pt x="17613" y="4300"/>
                  <a:pt x="18000" y="4300"/>
                </a:cubicBezTo>
                <a:cubicBezTo>
                  <a:pt x="18387" y="4300"/>
                  <a:pt x="18700" y="4613"/>
                  <a:pt x="187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累积曲线</a:t>
            </a:r>
          </a:p>
        </p:txBody>
      </p:sp>
      <p:sp>
        <p:nvSpPr>
          <p:cNvPr id="40" name="CHART-013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8500"/>
                </a:moveTo>
                <a:lnTo>
                  <a:pt x="7000" y="18500"/>
                </a:lnTo>
                <a:lnTo>
                  <a:pt x="7000" y="17500"/>
                </a:lnTo>
                <a:lnTo>
                  <a:pt x="3000" y="17500"/>
                </a:lnTo>
                <a:close/>
                <a:moveTo>
                  <a:pt x="7500" y="18000"/>
                </a:moveTo>
                <a:lnTo>
                  <a:pt x="7500" y="14000"/>
                </a:lnTo>
                <a:lnTo>
                  <a:pt x="6500" y="14000"/>
                </a:lnTo>
                <a:lnTo>
                  <a:pt x="6500" y="18000"/>
                </a:lnTo>
                <a:close/>
                <a:moveTo>
                  <a:pt x="7000" y="14500"/>
                </a:moveTo>
                <a:lnTo>
                  <a:pt x="12000" y="14500"/>
                </a:lnTo>
                <a:lnTo>
                  <a:pt x="12000" y="13500"/>
                </a:lnTo>
                <a:lnTo>
                  <a:pt x="7000" y="13500"/>
                </a:lnTo>
                <a:close/>
                <a:moveTo>
                  <a:pt x="12500" y="14000"/>
                </a:moveTo>
                <a:lnTo>
                  <a:pt x="12500" y="8000"/>
                </a:lnTo>
                <a:lnTo>
                  <a:pt x="11500" y="8000"/>
                </a:lnTo>
                <a:lnTo>
                  <a:pt x="11500" y="14000"/>
                </a:lnTo>
                <a:close/>
                <a:moveTo>
                  <a:pt x="12000" y="8500"/>
                </a:moveTo>
                <a:lnTo>
                  <a:pt x="17000" y="8500"/>
                </a:lnTo>
                <a:lnTo>
                  <a:pt x="17000" y="7500"/>
                </a:lnTo>
                <a:lnTo>
                  <a:pt x="12000" y="7500"/>
                </a:lnTo>
                <a:close/>
                <a:moveTo>
                  <a:pt x="17500" y="8000"/>
                </a:moveTo>
                <a:lnTo>
                  <a:pt x="17500" y="5000"/>
                </a:lnTo>
                <a:lnTo>
                  <a:pt x="16500" y="5000"/>
                </a:lnTo>
                <a:lnTo>
                  <a:pt x="16500" y="8000"/>
                </a:lnTo>
                <a:close/>
                <a:moveTo>
                  <a:pt x="17000" y="5500"/>
                </a:moveTo>
                <a:lnTo>
                  <a:pt x="21000" y="5500"/>
                </a:lnTo>
                <a:lnTo>
                  <a:pt x="21000" y="4500"/>
                </a:lnTo>
                <a:lnTo>
                  <a:pt x="17000" y="4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阶梯图</a:t>
            </a:r>
          </a:p>
        </p:txBody>
      </p:sp>
      <p:sp>
        <p:nvSpPr>
          <p:cNvPr id="43" name="CHART-014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21000"/>
                </a:moveTo>
                <a:lnTo>
                  <a:pt x="3000" y="17000"/>
                </a:lnTo>
                <a:lnTo>
                  <a:pt x="8000" y="12000"/>
                </a:lnTo>
                <a:lnTo>
                  <a:pt x="12000" y="14000"/>
                </a:lnTo>
                <a:lnTo>
                  <a:pt x="16000" y="8000"/>
                </a:lnTo>
                <a:lnTo>
                  <a:pt x="21000" y="6000"/>
                </a:lnTo>
                <a:lnTo>
                  <a:pt x="21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面积图</a:t>
            </a:r>
          </a:p>
        </p:txBody>
      </p:sp>
      <p:sp>
        <p:nvSpPr>
          <p:cNvPr id="46" name="CHART-015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4000"/>
                </a:moveTo>
                <a:lnTo>
                  <a:pt x="7800" y="4000"/>
                </a:lnTo>
                <a:cubicBezTo>
                  <a:pt x="7910" y="4000"/>
                  <a:pt x="8000" y="4090"/>
                  <a:pt x="8000" y="4200"/>
                </a:cubicBezTo>
                <a:lnTo>
                  <a:pt x="8000" y="6200"/>
                </a:lnTo>
                <a:cubicBezTo>
                  <a:pt x="8000" y="6310"/>
                  <a:pt x="7910" y="6400"/>
                  <a:pt x="7800" y="6400"/>
                </a:cubicBezTo>
                <a:lnTo>
                  <a:pt x="2200" y="6400"/>
                </a:lnTo>
                <a:cubicBezTo>
                  <a:pt x="2090" y="6400"/>
                  <a:pt x="2000" y="6310"/>
                  <a:pt x="2000" y="6200"/>
                </a:cubicBezTo>
                <a:lnTo>
                  <a:pt x="2000" y="4200"/>
                </a:lnTo>
                <a:cubicBezTo>
                  <a:pt x="2000" y="4090"/>
                  <a:pt x="2090" y="4000"/>
                  <a:pt x="2200" y="4000"/>
                </a:cubicBezTo>
                <a:close/>
                <a:moveTo>
                  <a:pt x="5200" y="8000"/>
                </a:moveTo>
                <a:lnTo>
                  <a:pt x="12800" y="8000"/>
                </a:lnTo>
                <a:cubicBezTo>
                  <a:pt x="12910" y="8000"/>
                  <a:pt x="13000" y="8090"/>
                  <a:pt x="13000" y="8200"/>
                </a:cubicBezTo>
                <a:lnTo>
                  <a:pt x="13000" y="10200"/>
                </a:lnTo>
                <a:cubicBezTo>
                  <a:pt x="13000" y="10310"/>
                  <a:pt x="12910" y="10400"/>
                  <a:pt x="12800" y="10400"/>
                </a:cubicBezTo>
                <a:lnTo>
                  <a:pt x="5200" y="10400"/>
                </a:lnTo>
                <a:cubicBezTo>
                  <a:pt x="5090" y="10400"/>
                  <a:pt x="5000" y="10310"/>
                  <a:pt x="5000" y="10200"/>
                </a:cubicBezTo>
                <a:lnTo>
                  <a:pt x="5000" y="8200"/>
                </a:lnTo>
                <a:cubicBezTo>
                  <a:pt x="5000" y="8090"/>
                  <a:pt x="5090" y="8000"/>
                  <a:pt x="5200" y="8000"/>
                </a:cubicBezTo>
                <a:close/>
                <a:moveTo>
                  <a:pt x="7200" y="12000"/>
                </a:moveTo>
                <a:lnTo>
                  <a:pt x="14800" y="12000"/>
                </a:lnTo>
                <a:cubicBezTo>
                  <a:pt x="14910" y="12000"/>
                  <a:pt x="15000" y="12090"/>
                  <a:pt x="15000" y="12200"/>
                </a:cubicBezTo>
                <a:lnTo>
                  <a:pt x="15000" y="14200"/>
                </a:lnTo>
                <a:cubicBezTo>
                  <a:pt x="15000" y="14310"/>
                  <a:pt x="14910" y="14400"/>
                  <a:pt x="14800" y="14400"/>
                </a:cubicBezTo>
                <a:lnTo>
                  <a:pt x="7200" y="14400"/>
                </a:lnTo>
                <a:cubicBezTo>
                  <a:pt x="7090" y="14400"/>
                  <a:pt x="7000" y="14310"/>
                  <a:pt x="7000" y="14200"/>
                </a:cubicBezTo>
                <a:lnTo>
                  <a:pt x="7000" y="12200"/>
                </a:lnTo>
                <a:cubicBezTo>
                  <a:pt x="7000" y="12090"/>
                  <a:pt x="7090" y="12000"/>
                  <a:pt x="7200" y="12000"/>
                </a:cubicBezTo>
                <a:close/>
                <a:moveTo>
                  <a:pt x="11200" y="16000"/>
                </a:moveTo>
                <a:lnTo>
                  <a:pt x="18800" y="16000"/>
                </a:lnTo>
                <a:cubicBezTo>
                  <a:pt x="18910" y="16000"/>
                  <a:pt x="19000" y="16090"/>
                  <a:pt x="19000" y="16200"/>
                </a:cubicBezTo>
                <a:lnTo>
                  <a:pt x="19000" y="18200"/>
                </a:lnTo>
                <a:cubicBezTo>
                  <a:pt x="19000" y="18310"/>
                  <a:pt x="18910" y="18400"/>
                  <a:pt x="18800" y="18400"/>
                </a:cubicBezTo>
                <a:lnTo>
                  <a:pt x="11200" y="18400"/>
                </a:lnTo>
                <a:cubicBezTo>
                  <a:pt x="11090" y="18400"/>
                  <a:pt x="11000" y="18310"/>
                  <a:pt x="11000" y="18200"/>
                </a:cubicBezTo>
                <a:lnTo>
                  <a:pt x="11000" y="16200"/>
                </a:lnTo>
                <a:cubicBezTo>
                  <a:pt x="11000" y="16090"/>
                  <a:pt x="11090" y="16000"/>
                  <a:pt x="11200" y="16000"/>
                </a:cubicBezTo>
                <a:close/>
                <a:moveTo>
                  <a:pt x="2100" y="21000"/>
                </a:moveTo>
                <a:lnTo>
                  <a:pt x="21900" y="21000"/>
                </a:lnTo>
                <a:cubicBezTo>
                  <a:pt x="21955" y="21000"/>
                  <a:pt x="22000" y="21045"/>
                  <a:pt x="22000" y="21100"/>
                </a:cubicBezTo>
                <a:lnTo>
                  <a:pt x="22000" y="21400"/>
                </a:lnTo>
                <a:cubicBezTo>
                  <a:pt x="22000" y="21455"/>
                  <a:pt x="21955" y="21500"/>
                  <a:pt x="21900" y="21500"/>
                </a:cubicBezTo>
                <a:lnTo>
                  <a:pt x="2100" y="21500"/>
                </a:lnTo>
                <a:cubicBezTo>
                  <a:pt x="2045" y="21500"/>
                  <a:pt x="2000" y="21455"/>
                  <a:pt x="2000" y="214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甘特条</a:t>
            </a:r>
          </a:p>
        </p:txBody>
      </p:sp>
      <p:sp>
        <p:nvSpPr>
          <p:cNvPr id="49" name="CHART-016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9000"/>
                </a:moveTo>
                <a:lnTo>
                  <a:pt x="21700" y="9000"/>
                </a:lnTo>
                <a:cubicBezTo>
                  <a:pt x="21866" y="9000"/>
                  <a:pt x="22000" y="9134"/>
                  <a:pt x="22000" y="9300"/>
                </a:cubicBezTo>
                <a:lnTo>
                  <a:pt x="22000" y="14700"/>
                </a:lnTo>
                <a:cubicBezTo>
                  <a:pt x="22000" y="14866"/>
                  <a:pt x="21866" y="15000"/>
                  <a:pt x="21700" y="15000"/>
                </a:cubicBezTo>
                <a:lnTo>
                  <a:pt x="2300" y="15000"/>
                </a:lnTo>
                <a:cubicBezTo>
                  <a:pt x="2134" y="15000"/>
                  <a:pt x="2000" y="14866"/>
                  <a:pt x="2000" y="14700"/>
                </a:cubicBezTo>
                <a:lnTo>
                  <a:pt x="2000" y="9300"/>
                </a:lnTo>
                <a:cubicBezTo>
                  <a:pt x="2000" y="9134"/>
                  <a:pt x="2134" y="9000"/>
                  <a:pt x="2300" y="9000"/>
                </a:cubicBezTo>
                <a:close/>
                <a:moveTo>
                  <a:pt x="3200" y="10000"/>
                </a:moveTo>
                <a:lnTo>
                  <a:pt x="10800" y="10000"/>
                </a:lnTo>
                <a:cubicBezTo>
                  <a:pt x="10910" y="10000"/>
                  <a:pt x="11000" y="10090"/>
                  <a:pt x="11000" y="10200"/>
                </a:cubicBezTo>
                <a:lnTo>
                  <a:pt x="11000" y="13800"/>
                </a:lnTo>
                <a:cubicBezTo>
                  <a:pt x="11000" y="13910"/>
                  <a:pt x="10910" y="14000"/>
                  <a:pt x="10800" y="14000"/>
                </a:cubicBezTo>
                <a:lnTo>
                  <a:pt x="3200" y="14000"/>
                </a:lnTo>
                <a:cubicBezTo>
                  <a:pt x="3090" y="14000"/>
                  <a:pt x="3000" y="13910"/>
                  <a:pt x="3000" y="13800"/>
                </a:cubicBezTo>
                <a:lnTo>
                  <a:pt x="3000" y="10200"/>
                </a:lnTo>
                <a:cubicBezTo>
                  <a:pt x="3000" y="10090"/>
                  <a:pt x="3090" y="10000"/>
                  <a:pt x="3200" y="10000"/>
                </a:cubicBezTo>
                <a:close/>
                <a:moveTo>
                  <a:pt x="11200" y="10000"/>
                </a:moveTo>
                <a:lnTo>
                  <a:pt x="16800" y="10000"/>
                </a:lnTo>
                <a:cubicBezTo>
                  <a:pt x="16910" y="10000"/>
                  <a:pt x="17000" y="10090"/>
                  <a:pt x="17000" y="10200"/>
                </a:cubicBezTo>
                <a:lnTo>
                  <a:pt x="17000" y="13800"/>
                </a:lnTo>
                <a:cubicBezTo>
                  <a:pt x="17000" y="13910"/>
                  <a:pt x="16910" y="14000"/>
                  <a:pt x="16800" y="14000"/>
                </a:cubicBezTo>
                <a:lnTo>
                  <a:pt x="11200" y="14000"/>
                </a:lnTo>
                <a:cubicBezTo>
                  <a:pt x="11090" y="14000"/>
                  <a:pt x="11000" y="13910"/>
                  <a:pt x="11000" y="13800"/>
                </a:cubicBezTo>
                <a:lnTo>
                  <a:pt x="11000" y="10200"/>
                </a:lnTo>
                <a:cubicBezTo>
                  <a:pt x="11000" y="10090"/>
                  <a:pt x="11090" y="10000"/>
                  <a:pt x="11200" y="10000"/>
                </a:cubicBezTo>
                <a:close/>
                <a:moveTo>
                  <a:pt x="17200" y="10000"/>
                </a:moveTo>
                <a:lnTo>
                  <a:pt x="20800" y="10000"/>
                </a:lnTo>
                <a:cubicBezTo>
                  <a:pt x="20910" y="10000"/>
                  <a:pt x="21000" y="10090"/>
                  <a:pt x="21000" y="10200"/>
                </a:cubicBezTo>
                <a:lnTo>
                  <a:pt x="21000" y="13800"/>
                </a:lnTo>
                <a:cubicBezTo>
                  <a:pt x="21000" y="13910"/>
                  <a:pt x="20910" y="14000"/>
                  <a:pt x="20800" y="14000"/>
                </a:cubicBezTo>
                <a:lnTo>
                  <a:pt x="17200" y="14000"/>
                </a:lnTo>
                <a:cubicBezTo>
                  <a:pt x="17090" y="14000"/>
                  <a:pt x="17000" y="13910"/>
                  <a:pt x="17000" y="13800"/>
                </a:cubicBezTo>
                <a:lnTo>
                  <a:pt x="17000" y="10200"/>
                </a:lnTo>
                <a:cubicBezTo>
                  <a:pt x="17000" y="10090"/>
                  <a:pt x="17090" y="10000"/>
                  <a:pt x="17200" y="10000"/>
                </a:cubicBezTo>
                <a:close/>
                <a:moveTo>
                  <a:pt x="15200" y="7500"/>
                </a:moveTo>
                <a:lnTo>
                  <a:pt x="15600" y="7500"/>
                </a:lnTo>
                <a:cubicBezTo>
                  <a:pt x="15710" y="7500"/>
                  <a:pt x="15800" y="7590"/>
                  <a:pt x="15800" y="7700"/>
                </a:cubicBezTo>
                <a:lnTo>
                  <a:pt x="15800" y="16300"/>
                </a:lnTo>
                <a:cubicBezTo>
                  <a:pt x="15800" y="16410"/>
                  <a:pt x="15710" y="16500"/>
                  <a:pt x="15600" y="16500"/>
                </a:cubicBezTo>
                <a:lnTo>
                  <a:pt x="15200" y="16500"/>
                </a:lnTo>
                <a:cubicBezTo>
                  <a:pt x="15090" y="16500"/>
                  <a:pt x="15000" y="16410"/>
                  <a:pt x="15000" y="16300"/>
                </a:cubicBezTo>
                <a:lnTo>
                  <a:pt x="15000" y="7700"/>
                </a:lnTo>
                <a:cubicBezTo>
                  <a:pt x="15000" y="7590"/>
                  <a:pt x="15090" y="7500"/>
                  <a:pt x="15200" y="7500"/>
                </a:cubicBezTo>
                <a:close/>
                <a:moveTo>
                  <a:pt x="2100" y="19000"/>
                </a:moveTo>
                <a:lnTo>
                  <a:pt x="21900" y="19000"/>
                </a:lnTo>
                <a:cubicBezTo>
                  <a:pt x="21955" y="19000"/>
                  <a:pt x="22000" y="19045"/>
                  <a:pt x="22000" y="19100"/>
                </a:cubicBezTo>
                <a:lnTo>
                  <a:pt x="22000" y="19400"/>
                </a:lnTo>
                <a:cubicBezTo>
                  <a:pt x="22000" y="19455"/>
                  <a:pt x="21955" y="19500"/>
                  <a:pt x="21900" y="19500"/>
                </a:cubicBezTo>
                <a:lnTo>
                  <a:pt x="2100" y="19500"/>
                </a:lnTo>
                <a:cubicBezTo>
                  <a:pt x="2045" y="19500"/>
                  <a:pt x="2000" y="19455"/>
                  <a:pt x="2000" y="19400"/>
                </a:cubicBezTo>
                <a:lnTo>
                  <a:pt x="2000" y="19100"/>
                </a:lnTo>
                <a:cubicBezTo>
                  <a:pt x="2000" y="19045"/>
                  <a:pt x="2045" y="19000"/>
                  <a:pt x="21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子弹图</a:t>
            </a:r>
          </a:p>
        </p:txBody>
      </p:sp>
      <p:sp>
        <p:nvSpPr>
          <p:cNvPr id="52" name="CHART-017"/>
          <p:cNvSpPr/>
          <p:nvPr/>
        </p:nvSpPr>
        <p:spPr>
          <a:xfrm>
            <a:off x="722376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8000"/>
                </a:moveTo>
                <a:lnTo>
                  <a:pt x="5800" y="8000"/>
                </a:lnTo>
                <a:cubicBezTo>
                  <a:pt x="5910" y="8000"/>
                  <a:pt x="6000" y="8090"/>
                  <a:pt x="6000" y="8200"/>
                </a:cubicBezTo>
                <a:lnTo>
                  <a:pt x="6000" y="20800"/>
                </a:lnTo>
                <a:cubicBezTo>
                  <a:pt x="6000" y="20910"/>
                  <a:pt x="5910" y="21000"/>
                  <a:pt x="58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8200"/>
                </a:lnTo>
                <a:cubicBezTo>
                  <a:pt x="3000" y="8090"/>
                  <a:pt x="3090" y="8000"/>
                  <a:pt x="3200" y="8000"/>
                </a:cubicBezTo>
                <a:close/>
                <a:moveTo>
                  <a:pt x="7200" y="4000"/>
                </a:moveTo>
                <a:lnTo>
                  <a:pt x="9800" y="4000"/>
                </a:lnTo>
                <a:cubicBezTo>
                  <a:pt x="9910" y="4000"/>
                  <a:pt x="10000" y="4090"/>
                  <a:pt x="10000" y="4200"/>
                </a:cubicBezTo>
                <a:lnTo>
                  <a:pt x="10000" y="20800"/>
                </a:lnTo>
                <a:cubicBezTo>
                  <a:pt x="10000" y="20910"/>
                  <a:pt x="9910" y="21000"/>
                  <a:pt x="9800" y="21000"/>
                </a:cubicBezTo>
                <a:lnTo>
                  <a:pt x="7200" y="21000"/>
                </a:lnTo>
                <a:cubicBezTo>
                  <a:pt x="7090" y="21000"/>
                  <a:pt x="7000" y="20910"/>
                  <a:pt x="7000" y="20800"/>
                </a:cubicBezTo>
                <a:lnTo>
                  <a:pt x="7000" y="4200"/>
                </a:lnTo>
                <a:cubicBezTo>
                  <a:pt x="7000" y="4090"/>
                  <a:pt x="7090" y="4000"/>
                  <a:pt x="7200" y="4000"/>
                </a:cubicBezTo>
                <a:close/>
                <a:moveTo>
                  <a:pt x="13200" y="11000"/>
                </a:moveTo>
                <a:lnTo>
                  <a:pt x="15800" y="11000"/>
                </a:lnTo>
                <a:cubicBezTo>
                  <a:pt x="15910" y="11000"/>
                  <a:pt x="16000" y="11090"/>
                  <a:pt x="16000" y="11200"/>
                </a:cubicBezTo>
                <a:lnTo>
                  <a:pt x="16000" y="20800"/>
                </a:lnTo>
                <a:cubicBezTo>
                  <a:pt x="16000" y="20910"/>
                  <a:pt x="15910" y="21000"/>
                  <a:pt x="15800" y="21000"/>
                </a:cubicBezTo>
                <a:lnTo>
                  <a:pt x="13200" y="21000"/>
                </a:lnTo>
                <a:cubicBezTo>
                  <a:pt x="13090" y="21000"/>
                  <a:pt x="13000" y="20910"/>
                  <a:pt x="13000" y="20800"/>
                </a:cubicBezTo>
                <a:lnTo>
                  <a:pt x="13000" y="11200"/>
                </a:lnTo>
                <a:cubicBezTo>
                  <a:pt x="13000" y="11090"/>
                  <a:pt x="13090" y="11000"/>
                  <a:pt x="13200" y="11000"/>
                </a:cubicBezTo>
                <a:close/>
                <a:moveTo>
                  <a:pt x="17200" y="6000"/>
                </a:moveTo>
                <a:lnTo>
                  <a:pt x="19800" y="6000"/>
                </a:lnTo>
                <a:cubicBezTo>
                  <a:pt x="19910" y="6000"/>
                  <a:pt x="20000" y="6090"/>
                  <a:pt x="20000" y="6200"/>
                </a:cubicBezTo>
                <a:lnTo>
                  <a:pt x="20000" y="20800"/>
                </a:lnTo>
                <a:cubicBezTo>
                  <a:pt x="20000" y="20910"/>
                  <a:pt x="19910" y="21000"/>
                  <a:pt x="19800" y="21000"/>
                </a:cubicBezTo>
                <a:lnTo>
                  <a:pt x="17200" y="21000"/>
                </a:lnTo>
                <a:cubicBezTo>
                  <a:pt x="17090" y="21000"/>
                  <a:pt x="17000" y="20910"/>
                  <a:pt x="17000" y="20800"/>
                </a:cubicBezTo>
                <a:lnTo>
                  <a:pt x="17000" y="6200"/>
                </a:lnTo>
                <a:cubicBezTo>
                  <a:pt x="17000" y="6090"/>
                  <a:pt x="17090" y="6000"/>
                  <a:pt x="17200" y="6000"/>
                </a:cubicBezTo>
                <a:close/>
                <a:moveTo>
                  <a:pt x="2100" y="21000"/>
                </a:moveTo>
                <a:lnTo>
                  <a:pt x="21900" y="21000"/>
                </a:lnTo>
                <a:cubicBezTo>
                  <a:pt x="21955" y="21000"/>
                  <a:pt x="22000" y="21045"/>
                  <a:pt x="22000" y="21100"/>
                </a:cubicBezTo>
                <a:lnTo>
                  <a:pt x="22000" y="21400"/>
                </a:lnTo>
                <a:cubicBezTo>
                  <a:pt x="22000" y="21455"/>
                  <a:pt x="21955" y="21500"/>
                  <a:pt x="21900" y="21500"/>
                </a:cubicBezTo>
                <a:lnTo>
                  <a:pt x="2100" y="21500"/>
                </a:lnTo>
                <a:cubicBezTo>
                  <a:pt x="2045" y="21500"/>
                  <a:pt x="2000" y="21455"/>
                  <a:pt x="2000" y="214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04088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对比柱</a:t>
            </a:r>
          </a:p>
        </p:txBody>
      </p:sp>
      <p:sp>
        <p:nvSpPr>
          <p:cNvPr id="55" name="CHART-018"/>
          <p:cNvSpPr/>
          <p:nvPr/>
        </p:nvSpPr>
        <p:spPr>
          <a:xfrm>
            <a:off x="88696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000" y="12150"/>
                </a:moveTo>
                <a:lnTo>
                  <a:pt x="22000" y="12150"/>
                </a:lnTo>
                <a:lnTo>
                  <a:pt x="22000" y="11850"/>
                </a:lnTo>
                <a:lnTo>
                  <a:pt x="2000" y="11850"/>
                </a:lnTo>
                <a:close/>
                <a:moveTo>
                  <a:pt x="3000" y="12000"/>
                </a:moveTo>
                <a:lnTo>
                  <a:pt x="7000" y="11000"/>
                </a:lnTo>
                <a:lnTo>
                  <a:pt x="11000" y="13000"/>
                </a:lnTo>
                <a:lnTo>
                  <a:pt x="15000" y="8000"/>
                </a:lnTo>
                <a:lnTo>
                  <a:pt x="19000" y="6000"/>
                </a:lnTo>
                <a:moveTo>
                  <a:pt x="3121" y="12485"/>
                </a:moveTo>
                <a:lnTo>
                  <a:pt x="7121" y="11485"/>
                </a:lnTo>
                <a:lnTo>
                  <a:pt x="6879" y="10515"/>
                </a:lnTo>
                <a:lnTo>
                  <a:pt x="2879" y="11515"/>
                </a:lnTo>
                <a:close/>
                <a:moveTo>
                  <a:pt x="6776" y="11447"/>
                </a:moveTo>
                <a:lnTo>
                  <a:pt x="10776" y="13447"/>
                </a:lnTo>
                <a:lnTo>
                  <a:pt x="11224" y="12553"/>
                </a:lnTo>
                <a:lnTo>
                  <a:pt x="7224" y="10553"/>
                </a:lnTo>
                <a:close/>
                <a:moveTo>
                  <a:pt x="11390" y="13312"/>
                </a:moveTo>
                <a:lnTo>
                  <a:pt x="15390" y="8312"/>
                </a:lnTo>
                <a:lnTo>
                  <a:pt x="14610" y="7688"/>
                </a:lnTo>
                <a:lnTo>
                  <a:pt x="10610" y="12688"/>
                </a:lnTo>
                <a:close/>
                <a:moveTo>
                  <a:pt x="15224" y="8447"/>
                </a:moveTo>
                <a:lnTo>
                  <a:pt x="19224" y="6447"/>
                </a:lnTo>
                <a:lnTo>
                  <a:pt x="18776" y="5553"/>
                </a:lnTo>
                <a:lnTo>
                  <a:pt x="14776" y="7553"/>
                </a:lnTo>
                <a:close/>
                <a:moveTo>
                  <a:pt x="4200" y="12000"/>
                </a:moveTo>
                <a:cubicBezTo>
                  <a:pt x="4200" y="12663"/>
                  <a:pt x="3663" y="13200"/>
                  <a:pt x="3000" y="13200"/>
                </a:cubicBezTo>
                <a:cubicBezTo>
                  <a:pt x="2337" y="13200"/>
                  <a:pt x="1800" y="12663"/>
                  <a:pt x="1800" y="12000"/>
                </a:cubicBezTo>
                <a:cubicBezTo>
                  <a:pt x="1800" y="11337"/>
                  <a:pt x="2337" y="10800"/>
                  <a:pt x="3000" y="10800"/>
                </a:cubicBezTo>
                <a:cubicBezTo>
                  <a:pt x="3663" y="10800"/>
                  <a:pt x="4200" y="11337"/>
                  <a:pt x="42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指数图</a:t>
            </a:r>
          </a:p>
        </p:txBody>
      </p:sp>
      <p:sp>
        <p:nvSpPr>
          <p:cNvPr id="58" name="CHART-019"/>
          <p:cNvSpPr/>
          <p:nvPr/>
        </p:nvSpPr>
        <p:spPr>
          <a:xfrm>
            <a:off x="6400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6000"/>
                </a:moveTo>
                <a:lnTo>
                  <a:pt x="5800" y="6000"/>
                </a:lnTo>
                <a:cubicBezTo>
                  <a:pt x="5910" y="6000"/>
                  <a:pt x="6000" y="6090"/>
                  <a:pt x="6000" y="6200"/>
                </a:cubicBezTo>
                <a:lnTo>
                  <a:pt x="6000" y="20800"/>
                </a:lnTo>
                <a:cubicBezTo>
                  <a:pt x="6000" y="20910"/>
                  <a:pt x="5910" y="21000"/>
                  <a:pt x="58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6200"/>
                </a:lnTo>
                <a:cubicBezTo>
                  <a:pt x="3000" y="6090"/>
                  <a:pt x="3090" y="6000"/>
                  <a:pt x="3200" y="6000"/>
                </a:cubicBezTo>
                <a:close/>
                <a:moveTo>
                  <a:pt x="7200" y="8000"/>
                </a:moveTo>
                <a:lnTo>
                  <a:pt x="9800" y="8000"/>
                </a:lnTo>
                <a:cubicBezTo>
                  <a:pt x="9910" y="8000"/>
                  <a:pt x="10000" y="8090"/>
                  <a:pt x="10000" y="8200"/>
                </a:cubicBezTo>
                <a:lnTo>
                  <a:pt x="10000" y="20800"/>
                </a:lnTo>
                <a:cubicBezTo>
                  <a:pt x="10000" y="20910"/>
                  <a:pt x="9910" y="21000"/>
                  <a:pt x="9800" y="21000"/>
                </a:cubicBezTo>
                <a:lnTo>
                  <a:pt x="7200" y="21000"/>
                </a:lnTo>
                <a:cubicBezTo>
                  <a:pt x="7090" y="21000"/>
                  <a:pt x="7000" y="20910"/>
                  <a:pt x="7000" y="20800"/>
                </a:cubicBezTo>
                <a:lnTo>
                  <a:pt x="7000" y="8200"/>
                </a:lnTo>
                <a:cubicBezTo>
                  <a:pt x="7000" y="8090"/>
                  <a:pt x="7090" y="8000"/>
                  <a:pt x="7200" y="8000"/>
                </a:cubicBezTo>
                <a:close/>
                <a:moveTo>
                  <a:pt x="11200" y="13000"/>
                </a:moveTo>
                <a:lnTo>
                  <a:pt x="13800" y="13000"/>
                </a:lnTo>
                <a:cubicBezTo>
                  <a:pt x="13910" y="13000"/>
                  <a:pt x="14000" y="13090"/>
                  <a:pt x="14000" y="13200"/>
                </a:cubicBezTo>
                <a:lnTo>
                  <a:pt x="14000" y="20800"/>
                </a:lnTo>
                <a:cubicBezTo>
                  <a:pt x="14000" y="20910"/>
                  <a:pt x="13910" y="21000"/>
                  <a:pt x="13800" y="21000"/>
                </a:cubicBezTo>
                <a:lnTo>
                  <a:pt x="11200" y="21000"/>
                </a:lnTo>
                <a:cubicBezTo>
                  <a:pt x="11090" y="21000"/>
                  <a:pt x="11000" y="20910"/>
                  <a:pt x="11000" y="20800"/>
                </a:cubicBezTo>
                <a:lnTo>
                  <a:pt x="11000" y="13200"/>
                </a:lnTo>
                <a:cubicBezTo>
                  <a:pt x="11000" y="13090"/>
                  <a:pt x="11090" y="13000"/>
                  <a:pt x="11200" y="13000"/>
                </a:cubicBezTo>
                <a:close/>
                <a:moveTo>
                  <a:pt x="15200" y="16000"/>
                </a:moveTo>
                <a:lnTo>
                  <a:pt x="17800" y="16000"/>
                </a:lnTo>
                <a:cubicBezTo>
                  <a:pt x="17910" y="16000"/>
                  <a:pt x="18000" y="16090"/>
                  <a:pt x="18000" y="16200"/>
                </a:cubicBezTo>
                <a:lnTo>
                  <a:pt x="18000" y="20800"/>
                </a:lnTo>
                <a:cubicBezTo>
                  <a:pt x="18000" y="20910"/>
                  <a:pt x="17910" y="21000"/>
                  <a:pt x="17800" y="21000"/>
                </a:cubicBezTo>
                <a:lnTo>
                  <a:pt x="15200" y="21000"/>
                </a:lnTo>
                <a:cubicBezTo>
                  <a:pt x="15090" y="21000"/>
                  <a:pt x="15000" y="20910"/>
                  <a:pt x="15000" y="20800"/>
                </a:cubicBezTo>
                <a:lnTo>
                  <a:pt x="15000" y="16200"/>
                </a:lnTo>
                <a:cubicBezTo>
                  <a:pt x="15000" y="16090"/>
                  <a:pt x="15090" y="16000"/>
                  <a:pt x="15200" y="16000"/>
                </a:cubicBezTo>
                <a:close/>
                <a:moveTo>
                  <a:pt x="19200" y="18000"/>
                </a:moveTo>
                <a:lnTo>
                  <a:pt x="21800" y="18000"/>
                </a:lnTo>
                <a:cubicBezTo>
                  <a:pt x="21910" y="18000"/>
                  <a:pt x="22000" y="18090"/>
                  <a:pt x="22000" y="18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19200" y="21000"/>
                </a:lnTo>
                <a:cubicBezTo>
                  <a:pt x="19090" y="21000"/>
                  <a:pt x="19000" y="20910"/>
                  <a:pt x="19000" y="20800"/>
                </a:cubicBezTo>
                <a:lnTo>
                  <a:pt x="19000" y="18200"/>
                </a:lnTo>
                <a:cubicBezTo>
                  <a:pt x="19000" y="18090"/>
                  <a:pt x="19090" y="18000"/>
                  <a:pt x="19200" y="18000"/>
                </a:cubicBezTo>
                <a:close/>
                <a:moveTo>
                  <a:pt x="4500" y="6000"/>
                </a:moveTo>
                <a:lnTo>
                  <a:pt x="8500" y="4000"/>
                </a:lnTo>
                <a:lnTo>
                  <a:pt x="12500" y="4000"/>
                </a:lnTo>
                <a:lnTo>
                  <a:pt x="16500" y="4000"/>
                </a:lnTo>
                <a:lnTo>
                  <a:pt x="20500" y="4000"/>
                </a:lnTo>
                <a:moveTo>
                  <a:pt x="4724" y="6447"/>
                </a:moveTo>
                <a:lnTo>
                  <a:pt x="8724" y="4447"/>
                </a:lnTo>
                <a:lnTo>
                  <a:pt x="8276" y="3553"/>
                </a:lnTo>
                <a:lnTo>
                  <a:pt x="4276" y="5553"/>
                </a:lnTo>
                <a:close/>
                <a:moveTo>
                  <a:pt x="8500" y="4500"/>
                </a:moveTo>
                <a:lnTo>
                  <a:pt x="12500" y="4500"/>
                </a:lnTo>
                <a:lnTo>
                  <a:pt x="12500" y="3500"/>
                </a:lnTo>
                <a:lnTo>
                  <a:pt x="8500" y="3500"/>
                </a:lnTo>
                <a:close/>
                <a:moveTo>
                  <a:pt x="12500" y="4500"/>
                </a:moveTo>
                <a:lnTo>
                  <a:pt x="16500" y="4500"/>
                </a:lnTo>
                <a:lnTo>
                  <a:pt x="16500" y="3500"/>
                </a:lnTo>
                <a:lnTo>
                  <a:pt x="12500" y="3500"/>
                </a:lnTo>
                <a:close/>
                <a:moveTo>
                  <a:pt x="16500" y="4500"/>
                </a:moveTo>
                <a:lnTo>
                  <a:pt x="20500" y="4500"/>
                </a:lnTo>
                <a:lnTo>
                  <a:pt x="20500" y="3500"/>
                </a:lnTo>
                <a:lnTo>
                  <a:pt x="16500" y="3500"/>
                </a:lnTo>
                <a:close/>
                <a:moveTo>
                  <a:pt x="5200" y="6000"/>
                </a:moveTo>
                <a:cubicBezTo>
                  <a:pt x="5200" y="6387"/>
                  <a:pt x="4887" y="6700"/>
                  <a:pt x="4500" y="6700"/>
                </a:cubicBezTo>
                <a:cubicBezTo>
                  <a:pt x="4113" y="6700"/>
                  <a:pt x="3800" y="6387"/>
                  <a:pt x="3800" y="6000"/>
                </a:cubicBezTo>
                <a:cubicBezTo>
                  <a:pt x="3800" y="5613"/>
                  <a:pt x="4113" y="5300"/>
                  <a:pt x="4500" y="5300"/>
                </a:cubicBezTo>
                <a:cubicBezTo>
                  <a:pt x="4887" y="5300"/>
                  <a:pt x="5200" y="5613"/>
                  <a:pt x="5200" y="6000"/>
                </a:cubicBezTo>
                <a:close/>
                <a:moveTo>
                  <a:pt x="9200" y="4000"/>
                </a:moveTo>
                <a:cubicBezTo>
                  <a:pt x="9200" y="4387"/>
                  <a:pt x="8887" y="4700"/>
                  <a:pt x="8500" y="4700"/>
                </a:cubicBezTo>
                <a:cubicBezTo>
                  <a:pt x="8113" y="4700"/>
                  <a:pt x="7800" y="4387"/>
                  <a:pt x="7800" y="4000"/>
                </a:cubicBezTo>
                <a:cubicBezTo>
                  <a:pt x="7800" y="3613"/>
                  <a:pt x="8113" y="3300"/>
                  <a:pt x="8500" y="3300"/>
                </a:cubicBezTo>
                <a:cubicBezTo>
                  <a:pt x="8887" y="3300"/>
                  <a:pt x="9200" y="3613"/>
                  <a:pt x="9200" y="4000"/>
                </a:cubicBezTo>
                <a:close/>
                <a:moveTo>
                  <a:pt x="2100" y="21000"/>
                </a:moveTo>
                <a:lnTo>
                  <a:pt x="22900" y="21000"/>
                </a:lnTo>
                <a:cubicBezTo>
                  <a:pt x="22955" y="21000"/>
                  <a:pt x="23000" y="21045"/>
                  <a:pt x="23000" y="21100"/>
                </a:cubicBezTo>
                <a:lnTo>
                  <a:pt x="23000" y="21400"/>
                </a:lnTo>
                <a:cubicBezTo>
                  <a:pt x="23000" y="21455"/>
                  <a:pt x="22955" y="21500"/>
                  <a:pt x="22900" y="21500"/>
                </a:cubicBezTo>
                <a:lnTo>
                  <a:pt x="2100" y="21500"/>
                </a:lnTo>
                <a:cubicBezTo>
                  <a:pt x="2045" y="21500"/>
                  <a:pt x="2000" y="21455"/>
                  <a:pt x="2000" y="214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帕累托图</a:t>
            </a:r>
          </a:p>
        </p:txBody>
      </p:sp>
      <p:sp>
        <p:nvSpPr>
          <p:cNvPr id="61" name="CHART-020"/>
          <p:cNvSpPr/>
          <p:nvPr/>
        </p:nvSpPr>
        <p:spPr>
          <a:xfrm>
            <a:off x="228600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0000"/>
                </a:moveTo>
                <a:cubicBezTo>
                  <a:pt x="2000" y="17200"/>
                  <a:pt x="7000" y="6000"/>
                  <a:pt x="12000" y="6000"/>
                </a:cubicBezTo>
                <a:cubicBezTo>
                  <a:pt x="17000" y="6000"/>
                  <a:pt x="22000" y="17200"/>
                  <a:pt x="22000" y="20000"/>
                </a:cubicBezTo>
                <a:lnTo>
                  <a:pt x="20600" y="20000"/>
                </a:lnTo>
                <a:cubicBezTo>
                  <a:pt x="20600" y="17900"/>
                  <a:pt x="16440" y="8100"/>
                  <a:pt x="12000" y="8100"/>
                </a:cubicBezTo>
                <a:cubicBezTo>
                  <a:pt x="7560" y="8100"/>
                  <a:pt x="3400" y="17900"/>
                  <a:pt x="3400" y="20000"/>
                </a:cubicBezTo>
                <a:close/>
                <a:moveTo>
                  <a:pt x="2200" y="20000"/>
                </a:moveTo>
                <a:lnTo>
                  <a:pt x="21800" y="20000"/>
                </a:lnTo>
                <a:cubicBezTo>
                  <a:pt x="21910" y="20000"/>
                  <a:pt x="22000" y="20090"/>
                  <a:pt x="22000" y="20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20200"/>
                </a:lnTo>
                <a:cubicBezTo>
                  <a:pt x="2000" y="20090"/>
                  <a:pt x="2090" y="20000"/>
                  <a:pt x="22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10312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分布曲线</a:t>
            </a:r>
          </a:p>
        </p:txBody>
      </p:sp>
      <p:sp>
        <p:nvSpPr>
          <p:cNvPr id="64" name="CHART-021"/>
          <p:cNvSpPr/>
          <p:nvPr/>
        </p:nvSpPr>
        <p:spPr>
          <a:xfrm>
            <a:off x="393192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2000"/>
                </a:moveTo>
                <a:lnTo>
                  <a:pt x="7000" y="10000"/>
                </a:lnTo>
                <a:lnTo>
                  <a:pt x="11000" y="13000"/>
                </a:lnTo>
                <a:lnTo>
                  <a:pt x="15000" y="8000"/>
                </a:lnTo>
                <a:lnTo>
                  <a:pt x="19000" y="9000"/>
                </a:lnTo>
                <a:lnTo>
                  <a:pt x="19000" y="11000"/>
                </a:lnTo>
                <a:lnTo>
                  <a:pt x="15000" y="10000"/>
                </a:lnTo>
                <a:lnTo>
                  <a:pt x="11000" y="15000"/>
                </a:lnTo>
                <a:lnTo>
                  <a:pt x="7000" y="12000"/>
                </a:lnTo>
                <a:lnTo>
                  <a:pt x="3000" y="14000"/>
                </a:lnTo>
                <a:close/>
                <a:moveTo>
                  <a:pt x="3224" y="13447"/>
                </a:moveTo>
                <a:lnTo>
                  <a:pt x="7224" y="11447"/>
                </a:lnTo>
                <a:lnTo>
                  <a:pt x="6776" y="10553"/>
                </a:lnTo>
                <a:lnTo>
                  <a:pt x="2776" y="12553"/>
                </a:lnTo>
                <a:close/>
                <a:moveTo>
                  <a:pt x="6700" y="11400"/>
                </a:moveTo>
                <a:lnTo>
                  <a:pt x="10700" y="14400"/>
                </a:lnTo>
                <a:lnTo>
                  <a:pt x="11300" y="13600"/>
                </a:lnTo>
                <a:lnTo>
                  <a:pt x="7300" y="10600"/>
                </a:lnTo>
                <a:close/>
                <a:moveTo>
                  <a:pt x="11390" y="14312"/>
                </a:moveTo>
                <a:lnTo>
                  <a:pt x="15390" y="9312"/>
                </a:lnTo>
                <a:lnTo>
                  <a:pt x="14610" y="8688"/>
                </a:lnTo>
                <a:lnTo>
                  <a:pt x="10610" y="13688"/>
                </a:lnTo>
                <a:close/>
                <a:moveTo>
                  <a:pt x="14879" y="9485"/>
                </a:moveTo>
                <a:lnTo>
                  <a:pt x="18879" y="10485"/>
                </a:lnTo>
                <a:lnTo>
                  <a:pt x="19121" y="9515"/>
                </a:lnTo>
                <a:lnTo>
                  <a:pt x="15121" y="851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74904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置信区间</a:t>
            </a:r>
          </a:p>
        </p:txBody>
      </p:sp>
      <p:sp>
        <p:nvSpPr>
          <p:cNvPr id="67" name="CHART-022"/>
          <p:cNvSpPr/>
          <p:nvPr/>
        </p:nvSpPr>
        <p:spPr>
          <a:xfrm>
            <a:off x="557784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7000"/>
                </a:moveTo>
                <a:lnTo>
                  <a:pt x="8000" y="14000"/>
                </a:lnTo>
                <a:lnTo>
                  <a:pt x="12000" y="16000"/>
                </a:lnTo>
                <a:lnTo>
                  <a:pt x="16000" y="8000"/>
                </a:lnTo>
                <a:lnTo>
                  <a:pt x="21000" y="5000"/>
                </a:lnTo>
                <a:moveTo>
                  <a:pt x="3257" y="17429"/>
                </a:moveTo>
                <a:lnTo>
                  <a:pt x="8257" y="14429"/>
                </a:lnTo>
                <a:lnTo>
                  <a:pt x="7743" y="13571"/>
                </a:lnTo>
                <a:lnTo>
                  <a:pt x="2743" y="16571"/>
                </a:lnTo>
                <a:close/>
                <a:moveTo>
                  <a:pt x="7776" y="14447"/>
                </a:moveTo>
                <a:lnTo>
                  <a:pt x="11776" y="16447"/>
                </a:lnTo>
                <a:lnTo>
                  <a:pt x="12224" y="15553"/>
                </a:lnTo>
                <a:lnTo>
                  <a:pt x="8224" y="13553"/>
                </a:lnTo>
                <a:close/>
                <a:moveTo>
                  <a:pt x="12447" y="16224"/>
                </a:moveTo>
                <a:lnTo>
                  <a:pt x="16447" y="8224"/>
                </a:lnTo>
                <a:lnTo>
                  <a:pt x="15553" y="7776"/>
                </a:lnTo>
                <a:lnTo>
                  <a:pt x="11553" y="15776"/>
                </a:lnTo>
                <a:close/>
                <a:moveTo>
                  <a:pt x="16257" y="8429"/>
                </a:moveTo>
                <a:lnTo>
                  <a:pt x="21257" y="5429"/>
                </a:lnTo>
                <a:lnTo>
                  <a:pt x="20743" y="4571"/>
                </a:lnTo>
                <a:lnTo>
                  <a:pt x="15743" y="7571"/>
                </a:lnTo>
                <a:close/>
                <a:moveTo>
                  <a:pt x="16000" y="6600"/>
                </a:moveTo>
                <a:lnTo>
                  <a:pt x="16283" y="7717"/>
                </a:lnTo>
                <a:lnTo>
                  <a:pt x="17400" y="8000"/>
                </a:lnTo>
                <a:lnTo>
                  <a:pt x="16283" y="8283"/>
                </a:lnTo>
                <a:lnTo>
                  <a:pt x="16000" y="9400"/>
                </a:lnTo>
                <a:lnTo>
                  <a:pt x="15717" y="8283"/>
                </a:lnTo>
                <a:lnTo>
                  <a:pt x="14600" y="8000"/>
                </a:lnTo>
                <a:lnTo>
                  <a:pt x="15717" y="7717"/>
                </a:lnTo>
                <a:close/>
                <a:moveTo>
                  <a:pt x="13400" y="3000"/>
                </a:moveTo>
                <a:lnTo>
                  <a:pt x="20600" y="3000"/>
                </a:lnTo>
                <a:cubicBezTo>
                  <a:pt x="20821" y="3000"/>
                  <a:pt x="21000" y="3179"/>
                  <a:pt x="21000" y="3400"/>
                </a:cubicBezTo>
                <a:lnTo>
                  <a:pt x="21000" y="5600"/>
                </a:lnTo>
                <a:cubicBezTo>
                  <a:pt x="21000" y="5821"/>
                  <a:pt x="20821" y="6000"/>
                  <a:pt x="20600" y="6000"/>
                </a:cubicBezTo>
                <a:lnTo>
                  <a:pt x="13400" y="6000"/>
                </a:lnTo>
                <a:cubicBezTo>
                  <a:pt x="13179" y="6000"/>
                  <a:pt x="13000" y="5821"/>
                  <a:pt x="13000" y="5600"/>
                </a:cubicBezTo>
                <a:lnTo>
                  <a:pt x="13000" y="3400"/>
                </a:lnTo>
                <a:cubicBezTo>
                  <a:pt x="13000" y="3179"/>
                  <a:pt x="13179" y="3000"/>
                  <a:pt x="13400" y="3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39496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标注趋势</a:t>
            </a:r>
          </a:p>
        </p:txBody>
      </p:sp>
      <p:sp>
        <p:nvSpPr>
          <p:cNvPr id="70" name="CHART-023"/>
          <p:cNvSpPr/>
          <p:nvPr/>
        </p:nvSpPr>
        <p:spPr>
          <a:xfrm>
            <a:off x="722376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4000"/>
                </a:moveTo>
                <a:lnTo>
                  <a:pt x="12000" y="13000"/>
                </a:lnTo>
                <a:lnTo>
                  <a:pt x="21000" y="6000"/>
                </a:lnTo>
                <a:lnTo>
                  <a:pt x="21000" y="13000"/>
                </a:lnTo>
                <a:lnTo>
                  <a:pt x="12000" y="18000"/>
                </a:lnTo>
                <a:lnTo>
                  <a:pt x="3000" y="17000"/>
                </a:lnTo>
                <a:close/>
                <a:moveTo>
                  <a:pt x="3000" y="16000"/>
                </a:moveTo>
                <a:lnTo>
                  <a:pt x="12000" y="16000"/>
                </a:lnTo>
                <a:lnTo>
                  <a:pt x="12000" y="15000"/>
                </a:lnTo>
                <a:lnTo>
                  <a:pt x="3000" y="15000"/>
                </a:lnTo>
                <a:close/>
                <a:moveTo>
                  <a:pt x="12277" y="15916"/>
                </a:moveTo>
                <a:lnTo>
                  <a:pt x="21277" y="9916"/>
                </a:lnTo>
                <a:lnTo>
                  <a:pt x="20723" y="9084"/>
                </a:lnTo>
                <a:lnTo>
                  <a:pt x="11723" y="1508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04088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预测扇形</a:t>
            </a:r>
          </a:p>
        </p:txBody>
      </p:sp>
      <p:sp>
        <p:nvSpPr>
          <p:cNvPr id="73" name="CHART-024"/>
          <p:cNvSpPr/>
          <p:nvPr/>
        </p:nvSpPr>
        <p:spPr>
          <a:xfrm>
            <a:off x="88696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11000"/>
                </a:moveTo>
                <a:lnTo>
                  <a:pt x="21800" y="11000"/>
                </a:lnTo>
                <a:cubicBezTo>
                  <a:pt x="21910" y="11000"/>
                  <a:pt x="22000" y="11090"/>
                  <a:pt x="22000" y="11200"/>
                </a:cubicBezTo>
                <a:lnTo>
                  <a:pt x="22000" y="11800"/>
                </a:lnTo>
                <a:cubicBezTo>
                  <a:pt x="22000" y="11910"/>
                  <a:pt x="21910" y="12000"/>
                  <a:pt x="21800" y="12000"/>
                </a:cubicBezTo>
                <a:lnTo>
                  <a:pt x="2200" y="12000"/>
                </a:lnTo>
                <a:cubicBezTo>
                  <a:pt x="2090" y="12000"/>
                  <a:pt x="2000" y="11910"/>
                  <a:pt x="2000" y="11800"/>
                </a:cubicBezTo>
                <a:lnTo>
                  <a:pt x="2000" y="11200"/>
                </a:lnTo>
                <a:cubicBezTo>
                  <a:pt x="2000" y="11090"/>
                  <a:pt x="2090" y="11000"/>
                  <a:pt x="2200" y="11000"/>
                </a:cubicBezTo>
                <a:close/>
                <a:moveTo>
                  <a:pt x="6400" y="11500"/>
                </a:moveTo>
                <a:cubicBezTo>
                  <a:pt x="6400" y="12273"/>
                  <a:pt x="5773" y="12900"/>
                  <a:pt x="5000" y="12900"/>
                </a:cubicBezTo>
                <a:cubicBezTo>
                  <a:pt x="4227" y="12900"/>
                  <a:pt x="3600" y="12273"/>
                  <a:pt x="3600" y="11500"/>
                </a:cubicBezTo>
                <a:cubicBezTo>
                  <a:pt x="3600" y="10727"/>
                  <a:pt x="4227" y="10100"/>
                  <a:pt x="5000" y="10100"/>
                </a:cubicBezTo>
                <a:cubicBezTo>
                  <a:pt x="5773" y="10100"/>
                  <a:pt x="6400" y="10727"/>
                  <a:pt x="6400" y="11500"/>
                </a:cubicBezTo>
                <a:close/>
                <a:moveTo>
                  <a:pt x="12400" y="11500"/>
                </a:moveTo>
                <a:cubicBezTo>
                  <a:pt x="12400" y="12273"/>
                  <a:pt x="11773" y="12900"/>
                  <a:pt x="11000" y="12900"/>
                </a:cubicBezTo>
                <a:cubicBezTo>
                  <a:pt x="10227" y="12900"/>
                  <a:pt x="9600" y="12273"/>
                  <a:pt x="9600" y="11500"/>
                </a:cubicBezTo>
                <a:cubicBezTo>
                  <a:pt x="9600" y="10727"/>
                  <a:pt x="10227" y="10100"/>
                  <a:pt x="11000" y="10100"/>
                </a:cubicBezTo>
                <a:cubicBezTo>
                  <a:pt x="11773" y="10100"/>
                  <a:pt x="12400" y="10727"/>
                  <a:pt x="12400" y="11500"/>
                </a:cubicBezTo>
                <a:close/>
                <a:moveTo>
                  <a:pt x="18400" y="11500"/>
                </a:moveTo>
                <a:cubicBezTo>
                  <a:pt x="18400" y="12273"/>
                  <a:pt x="17773" y="12900"/>
                  <a:pt x="17000" y="12900"/>
                </a:cubicBezTo>
                <a:cubicBezTo>
                  <a:pt x="16227" y="12900"/>
                  <a:pt x="15600" y="12273"/>
                  <a:pt x="15600" y="11500"/>
                </a:cubicBezTo>
                <a:cubicBezTo>
                  <a:pt x="15600" y="10727"/>
                  <a:pt x="16227" y="10100"/>
                  <a:pt x="17000" y="10100"/>
                </a:cubicBezTo>
                <a:cubicBezTo>
                  <a:pt x="17773" y="10100"/>
                  <a:pt x="18400" y="10727"/>
                  <a:pt x="18400" y="11500"/>
                </a:cubicBezTo>
                <a:close/>
                <a:moveTo>
                  <a:pt x="5200" y="11500"/>
                </a:moveTo>
                <a:lnTo>
                  <a:pt x="5200" y="6000"/>
                </a:lnTo>
                <a:lnTo>
                  <a:pt x="4800" y="6000"/>
                </a:lnTo>
                <a:lnTo>
                  <a:pt x="4800" y="11500"/>
                </a:lnTo>
                <a:close/>
                <a:moveTo>
                  <a:pt x="10800" y="11500"/>
                </a:moveTo>
                <a:lnTo>
                  <a:pt x="10800" y="18000"/>
                </a:lnTo>
                <a:lnTo>
                  <a:pt x="11200" y="18000"/>
                </a:lnTo>
                <a:lnTo>
                  <a:pt x="11200" y="11500"/>
                </a:lnTo>
                <a:close/>
                <a:moveTo>
                  <a:pt x="17200" y="11500"/>
                </a:moveTo>
                <a:lnTo>
                  <a:pt x="17200" y="5000"/>
                </a:lnTo>
                <a:lnTo>
                  <a:pt x="16800" y="5000"/>
                </a:lnTo>
                <a:lnTo>
                  <a:pt x="16800" y="11500"/>
                </a:lnTo>
                <a:close/>
                <a:moveTo>
                  <a:pt x="3300" y="3000"/>
                </a:moveTo>
                <a:lnTo>
                  <a:pt x="6700" y="3000"/>
                </a:lnTo>
                <a:cubicBezTo>
                  <a:pt x="6866" y="3000"/>
                  <a:pt x="7000" y="3134"/>
                  <a:pt x="7000" y="3300"/>
                </a:cubicBezTo>
                <a:lnTo>
                  <a:pt x="7000" y="5700"/>
                </a:lnTo>
                <a:cubicBezTo>
                  <a:pt x="7000" y="5866"/>
                  <a:pt x="6866" y="6000"/>
                  <a:pt x="6700" y="6000"/>
                </a:cubicBezTo>
                <a:lnTo>
                  <a:pt x="3300" y="6000"/>
                </a:lnTo>
                <a:cubicBezTo>
                  <a:pt x="3134" y="6000"/>
                  <a:pt x="3000" y="5866"/>
                  <a:pt x="3000" y="5700"/>
                </a:cubicBezTo>
                <a:lnTo>
                  <a:pt x="3000" y="3300"/>
                </a:lnTo>
                <a:cubicBezTo>
                  <a:pt x="3000" y="3134"/>
                  <a:pt x="3134" y="3000"/>
                  <a:pt x="3300" y="3000"/>
                </a:cubicBezTo>
                <a:close/>
                <a:moveTo>
                  <a:pt x="9300" y="18000"/>
                </a:moveTo>
                <a:lnTo>
                  <a:pt x="12700" y="18000"/>
                </a:lnTo>
                <a:cubicBezTo>
                  <a:pt x="12866" y="18000"/>
                  <a:pt x="13000" y="18134"/>
                  <a:pt x="13000" y="18300"/>
                </a:cubicBezTo>
                <a:lnTo>
                  <a:pt x="13000" y="20700"/>
                </a:lnTo>
                <a:cubicBezTo>
                  <a:pt x="13000" y="20866"/>
                  <a:pt x="12866" y="21000"/>
                  <a:pt x="12700" y="21000"/>
                </a:cubicBezTo>
                <a:lnTo>
                  <a:pt x="9300" y="21000"/>
                </a:lnTo>
                <a:cubicBezTo>
                  <a:pt x="9134" y="21000"/>
                  <a:pt x="9000" y="20866"/>
                  <a:pt x="9000" y="20700"/>
                </a:cubicBezTo>
                <a:lnTo>
                  <a:pt x="9000" y="18300"/>
                </a:lnTo>
                <a:cubicBezTo>
                  <a:pt x="9000" y="18134"/>
                  <a:pt x="9134" y="18000"/>
                  <a:pt x="9300" y="18000"/>
                </a:cubicBezTo>
                <a:close/>
                <a:moveTo>
                  <a:pt x="15300" y="2000"/>
                </a:moveTo>
                <a:lnTo>
                  <a:pt x="18700" y="2000"/>
                </a:lnTo>
                <a:cubicBezTo>
                  <a:pt x="18866" y="2000"/>
                  <a:pt x="19000" y="2134"/>
                  <a:pt x="19000" y="2300"/>
                </a:cubicBezTo>
                <a:lnTo>
                  <a:pt x="19000" y="4700"/>
                </a:lnTo>
                <a:cubicBezTo>
                  <a:pt x="19000" y="4866"/>
                  <a:pt x="18866" y="5000"/>
                  <a:pt x="18700" y="5000"/>
                </a:cubicBezTo>
                <a:lnTo>
                  <a:pt x="15300" y="5000"/>
                </a:lnTo>
                <a:cubicBezTo>
                  <a:pt x="15134" y="5000"/>
                  <a:pt x="15000" y="4866"/>
                  <a:pt x="15000" y="4700"/>
                </a:cubicBezTo>
                <a:lnTo>
                  <a:pt x="15000" y="2300"/>
                </a:lnTo>
                <a:cubicBezTo>
                  <a:pt x="15000" y="2134"/>
                  <a:pt x="15134" y="2000"/>
                  <a:pt x="15300" y="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868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事件时间线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04_数据可视化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CHART · 第 2/2 页 · 共 40 个</a:t>
            </a:r>
          </a:p>
        </p:txBody>
      </p:sp>
      <p:sp>
        <p:nvSpPr>
          <p:cNvPr id="4" name="CHART-025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4900" y="18000"/>
                </a:moveTo>
                <a:cubicBezTo>
                  <a:pt x="4900" y="18497"/>
                  <a:pt x="4497" y="18900"/>
                  <a:pt x="4000" y="18900"/>
                </a:cubicBezTo>
                <a:cubicBezTo>
                  <a:pt x="3503" y="18900"/>
                  <a:pt x="3100" y="18497"/>
                  <a:pt x="3100" y="18000"/>
                </a:cubicBezTo>
                <a:cubicBezTo>
                  <a:pt x="3100" y="17503"/>
                  <a:pt x="3503" y="17100"/>
                  <a:pt x="4000" y="17100"/>
                </a:cubicBezTo>
                <a:cubicBezTo>
                  <a:pt x="4497" y="17100"/>
                  <a:pt x="4900" y="17503"/>
                  <a:pt x="4900" y="18000"/>
                </a:cubicBezTo>
                <a:close/>
                <a:moveTo>
                  <a:pt x="7900" y="14000"/>
                </a:moveTo>
                <a:cubicBezTo>
                  <a:pt x="7900" y="14497"/>
                  <a:pt x="7497" y="14900"/>
                  <a:pt x="7000" y="14900"/>
                </a:cubicBezTo>
                <a:cubicBezTo>
                  <a:pt x="6503" y="14900"/>
                  <a:pt x="6100" y="14497"/>
                  <a:pt x="6100" y="14000"/>
                </a:cubicBezTo>
                <a:cubicBezTo>
                  <a:pt x="6100" y="13503"/>
                  <a:pt x="6503" y="13100"/>
                  <a:pt x="7000" y="13100"/>
                </a:cubicBezTo>
                <a:cubicBezTo>
                  <a:pt x="7497" y="13100"/>
                  <a:pt x="7900" y="13503"/>
                  <a:pt x="7900" y="14000"/>
                </a:cubicBezTo>
                <a:close/>
                <a:moveTo>
                  <a:pt x="10900" y="16000"/>
                </a:moveTo>
                <a:cubicBezTo>
                  <a:pt x="10900" y="16497"/>
                  <a:pt x="10497" y="16900"/>
                  <a:pt x="10000" y="16900"/>
                </a:cubicBezTo>
                <a:cubicBezTo>
                  <a:pt x="9503" y="16900"/>
                  <a:pt x="9100" y="16497"/>
                  <a:pt x="9100" y="16000"/>
                </a:cubicBezTo>
                <a:cubicBezTo>
                  <a:pt x="9100" y="15503"/>
                  <a:pt x="9503" y="15100"/>
                  <a:pt x="10000" y="15100"/>
                </a:cubicBezTo>
                <a:cubicBezTo>
                  <a:pt x="10497" y="15100"/>
                  <a:pt x="10900" y="15503"/>
                  <a:pt x="10900" y="16000"/>
                </a:cubicBezTo>
                <a:close/>
                <a:moveTo>
                  <a:pt x="13900" y="9000"/>
                </a:moveTo>
                <a:cubicBezTo>
                  <a:pt x="13900" y="9497"/>
                  <a:pt x="13497" y="9900"/>
                  <a:pt x="13000" y="9900"/>
                </a:cubicBezTo>
                <a:cubicBezTo>
                  <a:pt x="12503" y="9900"/>
                  <a:pt x="12100" y="9497"/>
                  <a:pt x="12100" y="9000"/>
                </a:cubicBezTo>
                <a:cubicBezTo>
                  <a:pt x="12100" y="8503"/>
                  <a:pt x="12503" y="8100"/>
                  <a:pt x="13000" y="8100"/>
                </a:cubicBezTo>
                <a:cubicBezTo>
                  <a:pt x="13497" y="8100"/>
                  <a:pt x="13900" y="8503"/>
                  <a:pt x="13900" y="9000"/>
                </a:cubicBezTo>
                <a:close/>
                <a:moveTo>
                  <a:pt x="16900" y="12000"/>
                </a:moveTo>
                <a:cubicBezTo>
                  <a:pt x="16900" y="12497"/>
                  <a:pt x="16497" y="12900"/>
                  <a:pt x="16000" y="12900"/>
                </a:cubicBezTo>
                <a:cubicBezTo>
                  <a:pt x="15503" y="12900"/>
                  <a:pt x="15100" y="12497"/>
                  <a:pt x="15100" y="12000"/>
                </a:cubicBezTo>
                <a:cubicBezTo>
                  <a:pt x="15100" y="11503"/>
                  <a:pt x="15503" y="11100"/>
                  <a:pt x="16000" y="11100"/>
                </a:cubicBezTo>
                <a:cubicBezTo>
                  <a:pt x="16497" y="11100"/>
                  <a:pt x="16900" y="11503"/>
                  <a:pt x="16900" y="12000"/>
                </a:cubicBezTo>
                <a:close/>
                <a:moveTo>
                  <a:pt x="19900" y="7000"/>
                </a:moveTo>
                <a:cubicBezTo>
                  <a:pt x="19900" y="7497"/>
                  <a:pt x="19497" y="7900"/>
                  <a:pt x="19000" y="7900"/>
                </a:cubicBezTo>
                <a:cubicBezTo>
                  <a:pt x="18503" y="7900"/>
                  <a:pt x="18100" y="7497"/>
                  <a:pt x="18100" y="7000"/>
                </a:cubicBezTo>
                <a:cubicBezTo>
                  <a:pt x="18100" y="6503"/>
                  <a:pt x="18503" y="6100"/>
                  <a:pt x="19000" y="6100"/>
                </a:cubicBezTo>
                <a:cubicBezTo>
                  <a:pt x="19497" y="6100"/>
                  <a:pt x="19900" y="6503"/>
                  <a:pt x="19900" y="7000"/>
                </a:cubicBezTo>
                <a:close/>
                <a:moveTo>
                  <a:pt x="2000" y="18100"/>
                </a:moveTo>
                <a:lnTo>
                  <a:pt x="21000" y="18100"/>
                </a:lnTo>
                <a:lnTo>
                  <a:pt x="21000" y="17900"/>
                </a:lnTo>
                <a:lnTo>
                  <a:pt x="2000" y="17900"/>
                </a:lnTo>
                <a:close/>
                <a:moveTo>
                  <a:pt x="2000" y="14100"/>
                </a:moveTo>
                <a:lnTo>
                  <a:pt x="21000" y="14100"/>
                </a:lnTo>
                <a:lnTo>
                  <a:pt x="21000" y="13900"/>
                </a:lnTo>
                <a:lnTo>
                  <a:pt x="2000" y="13900"/>
                </a:lnTo>
                <a:close/>
                <a:moveTo>
                  <a:pt x="2000" y="9100"/>
                </a:moveTo>
                <a:lnTo>
                  <a:pt x="21000" y="9100"/>
                </a:lnTo>
                <a:lnTo>
                  <a:pt x="21000" y="8900"/>
                </a:lnTo>
                <a:lnTo>
                  <a:pt x="2000" y="89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点状图</a:t>
            </a:r>
          </a:p>
        </p:txBody>
      </p:sp>
      <p:sp>
        <p:nvSpPr>
          <p:cNvPr id="7" name="CHART-026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800" y="5000"/>
                </a:moveTo>
                <a:lnTo>
                  <a:pt x="4800" y="21000"/>
                </a:lnTo>
                <a:lnTo>
                  <a:pt x="5200" y="21000"/>
                </a:lnTo>
                <a:lnTo>
                  <a:pt x="5200" y="5000"/>
                </a:lnTo>
                <a:close/>
                <a:moveTo>
                  <a:pt x="18800" y="5000"/>
                </a:moveTo>
                <a:lnTo>
                  <a:pt x="18800" y="21000"/>
                </a:lnTo>
                <a:lnTo>
                  <a:pt x="19200" y="21000"/>
                </a:lnTo>
                <a:lnTo>
                  <a:pt x="19200" y="5000"/>
                </a:lnTo>
                <a:close/>
                <a:moveTo>
                  <a:pt x="6000" y="8000"/>
                </a:moveTo>
                <a:cubicBezTo>
                  <a:pt x="6000" y="8552"/>
                  <a:pt x="5552" y="9000"/>
                  <a:pt x="5000" y="9000"/>
                </a:cubicBezTo>
                <a:cubicBezTo>
                  <a:pt x="4448" y="9000"/>
                  <a:pt x="4000" y="8552"/>
                  <a:pt x="4000" y="8000"/>
                </a:cubicBezTo>
                <a:cubicBezTo>
                  <a:pt x="4000" y="7448"/>
                  <a:pt x="4448" y="7000"/>
                  <a:pt x="5000" y="7000"/>
                </a:cubicBezTo>
                <a:cubicBezTo>
                  <a:pt x="5552" y="7000"/>
                  <a:pt x="6000" y="7448"/>
                  <a:pt x="6000" y="8000"/>
                </a:cubicBezTo>
                <a:close/>
                <a:moveTo>
                  <a:pt x="20000" y="14000"/>
                </a:moveTo>
                <a:cubicBezTo>
                  <a:pt x="20000" y="14552"/>
                  <a:pt x="19552" y="15000"/>
                  <a:pt x="19000" y="15000"/>
                </a:cubicBezTo>
                <a:cubicBezTo>
                  <a:pt x="18448" y="15000"/>
                  <a:pt x="18000" y="14552"/>
                  <a:pt x="18000" y="14000"/>
                </a:cubicBezTo>
                <a:cubicBezTo>
                  <a:pt x="18000" y="13448"/>
                  <a:pt x="18448" y="13000"/>
                  <a:pt x="19000" y="13000"/>
                </a:cubicBezTo>
                <a:cubicBezTo>
                  <a:pt x="19552" y="13000"/>
                  <a:pt x="20000" y="13448"/>
                  <a:pt x="20000" y="14000"/>
                </a:cubicBezTo>
                <a:close/>
                <a:moveTo>
                  <a:pt x="4803" y="8460"/>
                </a:moveTo>
                <a:lnTo>
                  <a:pt x="18803" y="14460"/>
                </a:lnTo>
                <a:lnTo>
                  <a:pt x="19197" y="13540"/>
                </a:lnTo>
                <a:lnTo>
                  <a:pt x="5197" y="7540"/>
                </a:lnTo>
                <a:close/>
                <a:moveTo>
                  <a:pt x="6000" y="12000"/>
                </a:moveTo>
                <a:cubicBezTo>
                  <a:pt x="6000" y="12552"/>
                  <a:pt x="5552" y="13000"/>
                  <a:pt x="5000" y="13000"/>
                </a:cubicBezTo>
                <a:cubicBezTo>
                  <a:pt x="4448" y="13000"/>
                  <a:pt x="4000" y="12552"/>
                  <a:pt x="4000" y="12000"/>
                </a:cubicBezTo>
                <a:cubicBezTo>
                  <a:pt x="4000" y="11448"/>
                  <a:pt x="4448" y="11000"/>
                  <a:pt x="5000" y="11000"/>
                </a:cubicBezTo>
                <a:cubicBezTo>
                  <a:pt x="5552" y="11000"/>
                  <a:pt x="6000" y="11448"/>
                  <a:pt x="6000" y="12000"/>
                </a:cubicBezTo>
                <a:close/>
                <a:moveTo>
                  <a:pt x="20000" y="9000"/>
                </a:moveTo>
                <a:cubicBezTo>
                  <a:pt x="20000" y="9552"/>
                  <a:pt x="19552" y="10000"/>
                  <a:pt x="19000" y="10000"/>
                </a:cubicBezTo>
                <a:cubicBezTo>
                  <a:pt x="18448" y="10000"/>
                  <a:pt x="18000" y="9552"/>
                  <a:pt x="18000" y="9000"/>
                </a:cubicBezTo>
                <a:cubicBezTo>
                  <a:pt x="18000" y="8448"/>
                  <a:pt x="18448" y="8000"/>
                  <a:pt x="19000" y="8000"/>
                </a:cubicBezTo>
                <a:cubicBezTo>
                  <a:pt x="19552" y="8000"/>
                  <a:pt x="20000" y="8448"/>
                  <a:pt x="20000" y="9000"/>
                </a:cubicBezTo>
                <a:close/>
                <a:moveTo>
                  <a:pt x="5105" y="12489"/>
                </a:moveTo>
                <a:lnTo>
                  <a:pt x="19105" y="9489"/>
                </a:lnTo>
                <a:lnTo>
                  <a:pt x="18895" y="8511"/>
                </a:lnTo>
                <a:lnTo>
                  <a:pt x="4895" y="11511"/>
                </a:lnTo>
                <a:close/>
                <a:moveTo>
                  <a:pt x="6000" y="17000"/>
                </a:moveTo>
                <a:cubicBezTo>
                  <a:pt x="6000" y="17552"/>
                  <a:pt x="5552" y="18000"/>
                  <a:pt x="5000" y="18000"/>
                </a:cubicBezTo>
                <a:cubicBezTo>
                  <a:pt x="4448" y="18000"/>
                  <a:pt x="4000" y="17552"/>
                  <a:pt x="4000" y="17000"/>
                </a:cubicBezTo>
                <a:cubicBezTo>
                  <a:pt x="4000" y="16448"/>
                  <a:pt x="4448" y="16000"/>
                  <a:pt x="5000" y="16000"/>
                </a:cubicBezTo>
                <a:cubicBezTo>
                  <a:pt x="5552" y="16000"/>
                  <a:pt x="6000" y="16448"/>
                  <a:pt x="6000" y="17000"/>
                </a:cubicBezTo>
                <a:close/>
                <a:moveTo>
                  <a:pt x="20000" y="18000"/>
                </a:moveTo>
                <a:cubicBezTo>
                  <a:pt x="20000" y="18552"/>
                  <a:pt x="19552" y="19000"/>
                  <a:pt x="19000" y="19000"/>
                </a:cubicBezTo>
                <a:cubicBezTo>
                  <a:pt x="18448" y="19000"/>
                  <a:pt x="18000" y="18552"/>
                  <a:pt x="18000" y="18000"/>
                </a:cubicBezTo>
                <a:cubicBezTo>
                  <a:pt x="18000" y="17448"/>
                  <a:pt x="18448" y="17000"/>
                  <a:pt x="19000" y="17000"/>
                </a:cubicBezTo>
                <a:cubicBezTo>
                  <a:pt x="19552" y="17000"/>
                  <a:pt x="20000" y="17448"/>
                  <a:pt x="20000" y="18000"/>
                </a:cubicBezTo>
                <a:close/>
                <a:moveTo>
                  <a:pt x="4964" y="17499"/>
                </a:moveTo>
                <a:lnTo>
                  <a:pt x="18964" y="18499"/>
                </a:lnTo>
                <a:lnTo>
                  <a:pt x="19036" y="17501"/>
                </a:lnTo>
                <a:lnTo>
                  <a:pt x="5036" y="1650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斜率图</a:t>
            </a:r>
          </a:p>
        </p:txBody>
      </p:sp>
      <p:sp>
        <p:nvSpPr>
          <p:cNvPr id="10" name="CHART-027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6000"/>
                </a:moveTo>
                <a:lnTo>
                  <a:pt x="5000" y="14000"/>
                </a:lnTo>
                <a:lnTo>
                  <a:pt x="8000" y="17000"/>
                </a:lnTo>
                <a:lnTo>
                  <a:pt x="11000" y="13000"/>
                </a:lnTo>
                <a:lnTo>
                  <a:pt x="14000" y="15000"/>
                </a:lnTo>
                <a:lnTo>
                  <a:pt x="17000" y="10000"/>
                </a:lnTo>
                <a:lnTo>
                  <a:pt x="20000" y="12000"/>
                </a:lnTo>
                <a:lnTo>
                  <a:pt x="22000" y="8000"/>
                </a:lnTo>
                <a:moveTo>
                  <a:pt x="2166" y="16250"/>
                </a:moveTo>
                <a:lnTo>
                  <a:pt x="5166" y="14250"/>
                </a:lnTo>
                <a:lnTo>
                  <a:pt x="4834" y="13750"/>
                </a:lnTo>
                <a:lnTo>
                  <a:pt x="1834" y="15750"/>
                </a:lnTo>
                <a:close/>
                <a:moveTo>
                  <a:pt x="4788" y="14212"/>
                </a:moveTo>
                <a:lnTo>
                  <a:pt x="7788" y="17212"/>
                </a:lnTo>
                <a:lnTo>
                  <a:pt x="8212" y="16788"/>
                </a:lnTo>
                <a:lnTo>
                  <a:pt x="5212" y="13788"/>
                </a:lnTo>
                <a:close/>
                <a:moveTo>
                  <a:pt x="8240" y="17180"/>
                </a:moveTo>
                <a:lnTo>
                  <a:pt x="11240" y="13180"/>
                </a:lnTo>
                <a:lnTo>
                  <a:pt x="10760" y="12820"/>
                </a:lnTo>
                <a:lnTo>
                  <a:pt x="7760" y="16820"/>
                </a:lnTo>
                <a:close/>
                <a:moveTo>
                  <a:pt x="10834" y="13250"/>
                </a:moveTo>
                <a:lnTo>
                  <a:pt x="13834" y="15250"/>
                </a:lnTo>
                <a:lnTo>
                  <a:pt x="14166" y="14750"/>
                </a:lnTo>
                <a:lnTo>
                  <a:pt x="11166" y="12750"/>
                </a:lnTo>
                <a:close/>
                <a:moveTo>
                  <a:pt x="14257" y="15154"/>
                </a:moveTo>
                <a:lnTo>
                  <a:pt x="17257" y="10154"/>
                </a:lnTo>
                <a:lnTo>
                  <a:pt x="16743" y="9846"/>
                </a:lnTo>
                <a:lnTo>
                  <a:pt x="13743" y="14846"/>
                </a:lnTo>
                <a:close/>
                <a:moveTo>
                  <a:pt x="16834" y="10250"/>
                </a:moveTo>
                <a:lnTo>
                  <a:pt x="19834" y="12250"/>
                </a:lnTo>
                <a:lnTo>
                  <a:pt x="20166" y="11750"/>
                </a:lnTo>
                <a:lnTo>
                  <a:pt x="17166" y="9750"/>
                </a:lnTo>
                <a:close/>
                <a:moveTo>
                  <a:pt x="20268" y="12134"/>
                </a:moveTo>
                <a:lnTo>
                  <a:pt x="22268" y="8134"/>
                </a:lnTo>
                <a:lnTo>
                  <a:pt x="21732" y="7866"/>
                </a:lnTo>
                <a:lnTo>
                  <a:pt x="19732" y="11866"/>
                </a:lnTo>
                <a:close/>
                <a:moveTo>
                  <a:pt x="2300" y="4000"/>
                </a:moveTo>
                <a:lnTo>
                  <a:pt x="21700" y="4000"/>
                </a:lnTo>
                <a:cubicBezTo>
                  <a:pt x="21866" y="4000"/>
                  <a:pt x="22000" y="4134"/>
                  <a:pt x="22000" y="4300"/>
                </a:cubicBezTo>
                <a:lnTo>
                  <a:pt x="22000" y="5700"/>
                </a:lnTo>
                <a:cubicBezTo>
                  <a:pt x="22000" y="5866"/>
                  <a:pt x="21866" y="6000"/>
                  <a:pt x="21700" y="6000"/>
                </a:cubicBezTo>
                <a:lnTo>
                  <a:pt x="2300" y="6000"/>
                </a:lnTo>
                <a:cubicBezTo>
                  <a:pt x="2134" y="6000"/>
                  <a:pt x="2000" y="5866"/>
                  <a:pt x="2000" y="5700"/>
                </a:cubicBezTo>
                <a:lnTo>
                  <a:pt x="2000" y="4300"/>
                </a:lnTo>
                <a:cubicBezTo>
                  <a:pt x="2000" y="4134"/>
                  <a:pt x="2134" y="4000"/>
                  <a:pt x="2300" y="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迷你折线</a:t>
            </a:r>
          </a:p>
        </p:txBody>
      </p:sp>
      <p:sp>
        <p:nvSpPr>
          <p:cNvPr id="13" name="CHART-028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4250" y="21000"/>
                </a:moveTo>
                <a:lnTo>
                  <a:pt x="4250" y="9000"/>
                </a:lnTo>
                <a:lnTo>
                  <a:pt x="3750" y="9000"/>
                </a:lnTo>
                <a:lnTo>
                  <a:pt x="3750" y="21000"/>
                </a:lnTo>
                <a:close/>
                <a:moveTo>
                  <a:pt x="5400" y="9000"/>
                </a:moveTo>
                <a:cubicBezTo>
                  <a:pt x="5400" y="9773"/>
                  <a:pt x="4773" y="10400"/>
                  <a:pt x="4000" y="10400"/>
                </a:cubicBezTo>
                <a:cubicBezTo>
                  <a:pt x="3227" y="10400"/>
                  <a:pt x="2600" y="9773"/>
                  <a:pt x="2600" y="9000"/>
                </a:cubicBezTo>
                <a:cubicBezTo>
                  <a:pt x="2600" y="8227"/>
                  <a:pt x="3227" y="7600"/>
                  <a:pt x="4000" y="7600"/>
                </a:cubicBezTo>
                <a:cubicBezTo>
                  <a:pt x="4773" y="7600"/>
                  <a:pt x="5400" y="8227"/>
                  <a:pt x="5400" y="9000"/>
                </a:cubicBezTo>
                <a:close/>
                <a:moveTo>
                  <a:pt x="8250" y="21000"/>
                </a:moveTo>
                <a:lnTo>
                  <a:pt x="8250" y="14000"/>
                </a:lnTo>
                <a:lnTo>
                  <a:pt x="7750" y="14000"/>
                </a:lnTo>
                <a:lnTo>
                  <a:pt x="7750" y="21000"/>
                </a:lnTo>
                <a:close/>
                <a:moveTo>
                  <a:pt x="9400" y="14000"/>
                </a:moveTo>
                <a:cubicBezTo>
                  <a:pt x="9400" y="14773"/>
                  <a:pt x="8773" y="15400"/>
                  <a:pt x="8000" y="15400"/>
                </a:cubicBezTo>
                <a:cubicBezTo>
                  <a:pt x="7227" y="15400"/>
                  <a:pt x="6600" y="14773"/>
                  <a:pt x="6600" y="14000"/>
                </a:cubicBezTo>
                <a:cubicBezTo>
                  <a:pt x="6600" y="13227"/>
                  <a:pt x="7227" y="12600"/>
                  <a:pt x="8000" y="12600"/>
                </a:cubicBezTo>
                <a:cubicBezTo>
                  <a:pt x="8773" y="12600"/>
                  <a:pt x="9400" y="13227"/>
                  <a:pt x="9400" y="14000"/>
                </a:cubicBezTo>
                <a:close/>
                <a:moveTo>
                  <a:pt x="12250" y="21000"/>
                </a:moveTo>
                <a:lnTo>
                  <a:pt x="12250" y="6000"/>
                </a:lnTo>
                <a:lnTo>
                  <a:pt x="11750" y="6000"/>
                </a:lnTo>
                <a:lnTo>
                  <a:pt x="11750" y="21000"/>
                </a:lnTo>
                <a:close/>
                <a:moveTo>
                  <a:pt x="13400" y="6000"/>
                </a:moveTo>
                <a:cubicBezTo>
                  <a:pt x="13400" y="6773"/>
                  <a:pt x="12773" y="7400"/>
                  <a:pt x="12000" y="7400"/>
                </a:cubicBezTo>
                <a:cubicBezTo>
                  <a:pt x="11227" y="7400"/>
                  <a:pt x="10600" y="6773"/>
                  <a:pt x="10600" y="6000"/>
                </a:cubicBezTo>
                <a:cubicBezTo>
                  <a:pt x="10600" y="5227"/>
                  <a:pt x="11227" y="4600"/>
                  <a:pt x="12000" y="4600"/>
                </a:cubicBezTo>
                <a:cubicBezTo>
                  <a:pt x="12773" y="4600"/>
                  <a:pt x="13400" y="5227"/>
                  <a:pt x="13400" y="6000"/>
                </a:cubicBezTo>
                <a:close/>
                <a:moveTo>
                  <a:pt x="16250" y="21000"/>
                </a:moveTo>
                <a:lnTo>
                  <a:pt x="16250" y="11000"/>
                </a:lnTo>
                <a:lnTo>
                  <a:pt x="15750" y="11000"/>
                </a:lnTo>
                <a:lnTo>
                  <a:pt x="15750" y="21000"/>
                </a:lnTo>
                <a:close/>
                <a:moveTo>
                  <a:pt x="17400" y="11000"/>
                </a:moveTo>
                <a:cubicBezTo>
                  <a:pt x="17400" y="11773"/>
                  <a:pt x="16773" y="12400"/>
                  <a:pt x="16000" y="12400"/>
                </a:cubicBezTo>
                <a:cubicBezTo>
                  <a:pt x="15227" y="12400"/>
                  <a:pt x="14600" y="11773"/>
                  <a:pt x="14600" y="11000"/>
                </a:cubicBezTo>
                <a:cubicBezTo>
                  <a:pt x="14600" y="10227"/>
                  <a:pt x="15227" y="9600"/>
                  <a:pt x="16000" y="9600"/>
                </a:cubicBezTo>
                <a:cubicBezTo>
                  <a:pt x="16773" y="9600"/>
                  <a:pt x="17400" y="10227"/>
                  <a:pt x="17400" y="11000"/>
                </a:cubicBezTo>
                <a:close/>
                <a:moveTo>
                  <a:pt x="20250" y="21000"/>
                </a:moveTo>
                <a:lnTo>
                  <a:pt x="20250" y="16000"/>
                </a:lnTo>
                <a:lnTo>
                  <a:pt x="19750" y="16000"/>
                </a:lnTo>
                <a:lnTo>
                  <a:pt x="19750" y="21000"/>
                </a:lnTo>
                <a:close/>
                <a:moveTo>
                  <a:pt x="21400" y="16000"/>
                </a:moveTo>
                <a:cubicBezTo>
                  <a:pt x="21400" y="16773"/>
                  <a:pt x="20773" y="17400"/>
                  <a:pt x="20000" y="17400"/>
                </a:cubicBezTo>
                <a:cubicBezTo>
                  <a:pt x="19227" y="17400"/>
                  <a:pt x="18600" y="16773"/>
                  <a:pt x="18600" y="16000"/>
                </a:cubicBezTo>
                <a:cubicBezTo>
                  <a:pt x="18600" y="15227"/>
                  <a:pt x="19227" y="14600"/>
                  <a:pt x="20000" y="14600"/>
                </a:cubicBezTo>
                <a:cubicBezTo>
                  <a:pt x="20773" y="14600"/>
                  <a:pt x="21400" y="15227"/>
                  <a:pt x="214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棒棒糖图</a:t>
            </a:r>
          </a:p>
        </p:txBody>
      </p:sp>
      <p:sp>
        <p:nvSpPr>
          <p:cNvPr id="16" name="CHART-029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800" y="3000"/>
                </a:moveTo>
                <a:lnTo>
                  <a:pt x="11800" y="21000"/>
                </a:lnTo>
                <a:lnTo>
                  <a:pt x="12200" y="21000"/>
                </a:lnTo>
                <a:lnTo>
                  <a:pt x="12200" y="3000"/>
                </a:lnTo>
                <a:close/>
                <a:moveTo>
                  <a:pt x="3200" y="4000"/>
                </a:moveTo>
                <a:lnTo>
                  <a:pt x="11800" y="4000"/>
                </a:lnTo>
                <a:cubicBezTo>
                  <a:pt x="11910" y="4000"/>
                  <a:pt x="12000" y="4090"/>
                  <a:pt x="12000" y="4200"/>
                </a:cubicBezTo>
                <a:lnTo>
                  <a:pt x="12000" y="5800"/>
                </a:lnTo>
                <a:cubicBezTo>
                  <a:pt x="12000" y="5910"/>
                  <a:pt x="11910" y="6000"/>
                  <a:pt x="11800" y="6000"/>
                </a:cubicBezTo>
                <a:lnTo>
                  <a:pt x="3200" y="6000"/>
                </a:lnTo>
                <a:cubicBezTo>
                  <a:pt x="3090" y="6000"/>
                  <a:pt x="3000" y="5910"/>
                  <a:pt x="3000" y="5800"/>
                </a:cubicBezTo>
                <a:lnTo>
                  <a:pt x="3000" y="4200"/>
                </a:lnTo>
                <a:cubicBezTo>
                  <a:pt x="3000" y="4090"/>
                  <a:pt x="3090" y="4000"/>
                  <a:pt x="3200" y="4000"/>
                </a:cubicBezTo>
                <a:close/>
                <a:moveTo>
                  <a:pt x="13200" y="4000"/>
                </a:moveTo>
                <a:lnTo>
                  <a:pt x="19800" y="4000"/>
                </a:lnTo>
                <a:cubicBezTo>
                  <a:pt x="19910" y="4000"/>
                  <a:pt x="20000" y="4090"/>
                  <a:pt x="20000" y="4200"/>
                </a:cubicBezTo>
                <a:lnTo>
                  <a:pt x="20000" y="5800"/>
                </a:lnTo>
                <a:cubicBezTo>
                  <a:pt x="20000" y="5910"/>
                  <a:pt x="19910" y="6000"/>
                  <a:pt x="19800" y="6000"/>
                </a:cubicBezTo>
                <a:lnTo>
                  <a:pt x="13200" y="6000"/>
                </a:lnTo>
                <a:cubicBezTo>
                  <a:pt x="13090" y="6000"/>
                  <a:pt x="13000" y="5910"/>
                  <a:pt x="13000" y="5800"/>
                </a:cubicBezTo>
                <a:lnTo>
                  <a:pt x="13000" y="4200"/>
                </a:lnTo>
                <a:cubicBezTo>
                  <a:pt x="13000" y="4090"/>
                  <a:pt x="13090" y="4000"/>
                  <a:pt x="13200" y="4000"/>
                </a:cubicBezTo>
                <a:close/>
                <a:moveTo>
                  <a:pt x="5200" y="8000"/>
                </a:moveTo>
                <a:lnTo>
                  <a:pt x="11800" y="8000"/>
                </a:lnTo>
                <a:cubicBezTo>
                  <a:pt x="11910" y="8000"/>
                  <a:pt x="12000" y="8090"/>
                  <a:pt x="12000" y="8200"/>
                </a:cubicBezTo>
                <a:lnTo>
                  <a:pt x="12000" y="9800"/>
                </a:lnTo>
                <a:cubicBezTo>
                  <a:pt x="12000" y="9910"/>
                  <a:pt x="11910" y="10000"/>
                  <a:pt x="11800" y="10000"/>
                </a:cubicBezTo>
                <a:lnTo>
                  <a:pt x="5200" y="10000"/>
                </a:lnTo>
                <a:cubicBezTo>
                  <a:pt x="5090" y="10000"/>
                  <a:pt x="5000" y="9910"/>
                  <a:pt x="5000" y="9800"/>
                </a:cubicBezTo>
                <a:lnTo>
                  <a:pt x="5000" y="8200"/>
                </a:lnTo>
                <a:cubicBezTo>
                  <a:pt x="5000" y="8090"/>
                  <a:pt x="5090" y="8000"/>
                  <a:pt x="5200" y="8000"/>
                </a:cubicBezTo>
                <a:close/>
                <a:moveTo>
                  <a:pt x="13200" y="8000"/>
                </a:moveTo>
                <a:lnTo>
                  <a:pt x="20800" y="8000"/>
                </a:lnTo>
                <a:cubicBezTo>
                  <a:pt x="20910" y="8000"/>
                  <a:pt x="21000" y="8090"/>
                  <a:pt x="21000" y="8200"/>
                </a:cubicBezTo>
                <a:lnTo>
                  <a:pt x="21000" y="9800"/>
                </a:lnTo>
                <a:cubicBezTo>
                  <a:pt x="21000" y="9910"/>
                  <a:pt x="20910" y="10000"/>
                  <a:pt x="20800" y="10000"/>
                </a:cubicBezTo>
                <a:lnTo>
                  <a:pt x="13200" y="10000"/>
                </a:lnTo>
                <a:cubicBezTo>
                  <a:pt x="13090" y="10000"/>
                  <a:pt x="13000" y="9910"/>
                  <a:pt x="13000" y="9800"/>
                </a:cubicBezTo>
                <a:lnTo>
                  <a:pt x="13000" y="8200"/>
                </a:lnTo>
                <a:cubicBezTo>
                  <a:pt x="13000" y="8090"/>
                  <a:pt x="13090" y="8000"/>
                  <a:pt x="13200" y="8000"/>
                </a:cubicBezTo>
                <a:close/>
                <a:moveTo>
                  <a:pt x="7200" y="12000"/>
                </a:moveTo>
                <a:lnTo>
                  <a:pt x="11800" y="12000"/>
                </a:lnTo>
                <a:cubicBezTo>
                  <a:pt x="11910" y="12000"/>
                  <a:pt x="12000" y="12090"/>
                  <a:pt x="12000" y="12200"/>
                </a:cubicBezTo>
                <a:lnTo>
                  <a:pt x="12000" y="13800"/>
                </a:lnTo>
                <a:cubicBezTo>
                  <a:pt x="12000" y="13910"/>
                  <a:pt x="11910" y="14000"/>
                  <a:pt x="11800" y="14000"/>
                </a:cubicBezTo>
                <a:lnTo>
                  <a:pt x="7200" y="14000"/>
                </a:lnTo>
                <a:cubicBezTo>
                  <a:pt x="7090" y="14000"/>
                  <a:pt x="7000" y="13910"/>
                  <a:pt x="7000" y="13800"/>
                </a:cubicBezTo>
                <a:lnTo>
                  <a:pt x="7000" y="12200"/>
                </a:lnTo>
                <a:cubicBezTo>
                  <a:pt x="7000" y="12090"/>
                  <a:pt x="7090" y="12000"/>
                  <a:pt x="7200" y="12000"/>
                </a:cubicBezTo>
                <a:close/>
                <a:moveTo>
                  <a:pt x="13200" y="12000"/>
                </a:moveTo>
                <a:lnTo>
                  <a:pt x="18800" y="12000"/>
                </a:lnTo>
                <a:cubicBezTo>
                  <a:pt x="18910" y="12000"/>
                  <a:pt x="19000" y="12090"/>
                  <a:pt x="19000" y="12200"/>
                </a:cubicBezTo>
                <a:lnTo>
                  <a:pt x="19000" y="13800"/>
                </a:lnTo>
                <a:cubicBezTo>
                  <a:pt x="19000" y="13910"/>
                  <a:pt x="18910" y="14000"/>
                  <a:pt x="18800" y="14000"/>
                </a:cubicBezTo>
                <a:lnTo>
                  <a:pt x="13200" y="14000"/>
                </a:lnTo>
                <a:cubicBezTo>
                  <a:pt x="13090" y="14000"/>
                  <a:pt x="13000" y="13910"/>
                  <a:pt x="13000" y="13800"/>
                </a:cubicBezTo>
                <a:lnTo>
                  <a:pt x="13000" y="12200"/>
                </a:lnTo>
                <a:cubicBezTo>
                  <a:pt x="13000" y="12090"/>
                  <a:pt x="13090" y="12000"/>
                  <a:pt x="13200" y="12000"/>
                </a:cubicBezTo>
                <a:close/>
                <a:moveTo>
                  <a:pt x="8200" y="16000"/>
                </a:moveTo>
                <a:lnTo>
                  <a:pt x="11800" y="16000"/>
                </a:lnTo>
                <a:cubicBezTo>
                  <a:pt x="11910" y="16000"/>
                  <a:pt x="12000" y="16090"/>
                  <a:pt x="12000" y="16200"/>
                </a:cubicBezTo>
                <a:lnTo>
                  <a:pt x="12000" y="17800"/>
                </a:lnTo>
                <a:cubicBezTo>
                  <a:pt x="12000" y="17910"/>
                  <a:pt x="11910" y="18000"/>
                  <a:pt x="11800" y="18000"/>
                </a:cubicBezTo>
                <a:lnTo>
                  <a:pt x="8200" y="18000"/>
                </a:lnTo>
                <a:cubicBezTo>
                  <a:pt x="8090" y="18000"/>
                  <a:pt x="8000" y="17910"/>
                  <a:pt x="8000" y="17800"/>
                </a:cubicBezTo>
                <a:lnTo>
                  <a:pt x="8000" y="16200"/>
                </a:lnTo>
                <a:cubicBezTo>
                  <a:pt x="8000" y="16090"/>
                  <a:pt x="8090" y="16000"/>
                  <a:pt x="8200" y="16000"/>
                </a:cubicBezTo>
                <a:close/>
                <a:moveTo>
                  <a:pt x="13200" y="16000"/>
                </a:moveTo>
                <a:lnTo>
                  <a:pt x="17800" y="16000"/>
                </a:lnTo>
                <a:cubicBezTo>
                  <a:pt x="17910" y="16000"/>
                  <a:pt x="18000" y="16090"/>
                  <a:pt x="18000" y="16200"/>
                </a:cubicBezTo>
                <a:lnTo>
                  <a:pt x="18000" y="17800"/>
                </a:lnTo>
                <a:cubicBezTo>
                  <a:pt x="18000" y="17910"/>
                  <a:pt x="17910" y="18000"/>
                  <a:pt x="17800" y="18000"/>
                </a:cubicBezTo>
                <a:lnTo>
                  <a:pt x="13200" y="18000"/>
                </a:lnTo>
                <a:cubicBezTo>
                  <a:pt x="13090" y="18000"/>
                  <a:pt x="13000" y="17910"/>
                  <a:pt x="13000" y="17800"/>
                </a:cubicBezTo>
                <a:lnTo>
                  <a:pt x="13000" y="16200"/>
                </a:lnTo>
                <a:cubicBezTo>
                  <a:pt x="13000" y="16090"/>
                  <a:pt x="13090" y="16000"/>
                  <a:pt x="13200" y="16000"/>
                </a:cubicBezTo>
                <a:close/>
                <a:moveTo>
                  <a:pt x="9200" y="20000"/>
                </a:moveTo>
                <a:lnTo>
                  <a:pt x="11800" y="20000"/>
                </a:lnTo>
                <a:cubicBezTo>
                  <a:pt x="11910" y="20000"/>
                  <a:pt x="12000" y="20090"/>
                  <a:pt x="12000" y="20200"/>
                </a:cubicBezTo>
                <a:lnTo>
                  <a:pt x="12000" y="21800"/>
                </a:lnTo>
                <a:cubicBezTo>
                  <a:pt x="12000" y="21910"/>
                  <a:pt x="11910" y="22000"/>
                  <a:pt x="11800" y="22000"/>
                </a:cubicBezTo>
                <a:lnTo>
                  <a:pt x="9200" y="22000"/>
                </a:lnTo>
                <a:cubicBezTo>
                  <a:pt x="9090" y="22000"/>
                  <a:pt x="9000" y="21910"/>
                  <a:pt x="9000" y="21800"/>
                </a:cubicBezTo>
                <a:lnTo>
                  <a:pt x="9000" y="20200"/>
                </a:lnTo>
                <a:cubicBezTo>
                  <a:pt x="9000" y="20090"/>
                  <a:pt x="9090" y="20000"/>
                  <a:pt x="92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龙卷风图</a:t>
            </a:r>
          </a:p>
        </p:txBody>
      </p:sp>
      <p:sp>
        <p:nvSpPr>
          <p:cNvPr id="19" name="CHART-030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13000"/>
                </a:moveTo>
                <a:lnTo>
                  <a:pt x="4733" y="13000"/>
                </a:lnTo>
                <a:cubicBezTo>
                  <a:pt x="4844" y="13000"/>
                  <a:pt x="4933" y="13090"/>
                  <a:pt x="4933" y="13200"/>
                </a:cubicBezTo>
                <a:lnTo>
                  <a:pt x="4933" y="20800"/>
                </a:lnTo>
                <a:cubicBezTo>
                  <a:pt x="4933" y="20910"/>
                  <a:pt x="4844" y="21000"/>
                  <a:pt x="4733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13200"/>
                </a:lnTo>
                <a:cubicBezTo>
                  <a:pt x="2000" y="13090"/>
                  <a:pt x="2090" y="13000"/>
                  <a:pt x="2200" y="13000"/>
                </a:cubicBezTo>
                <a:close/>
                <a:moveTo>
                  <a:pt x="5533" y="11000"/>
                </a:moveTo>
                <a:lnTo>
                  <a:pt x="8067" y="11000"/>
                </a:lnTo>
                <a:cubicBezTo>
                  <a:pt x="8177" y="11000"/>
                  <a:pt x="8267" y="11090"/>
                  <a:pt x="8267" y="11200"/>
                </a:cubicBezTo>
                <a:lnTo>
                  <a:pt x="8267" y="12800"/>
                </a:lnTo>
                <a:cubicBezTo>
                  <a:pt x="8267" y="12910"/>
                  <a:pt x="8177" y="13000"/>
                  <a:pt x="8067" y="13000"/>
                </a:cubicBezTo>
                <a:lnTo>
                  <a:pt x="5533" y="13000"/>
                </a:lnTo>
                <a:cubicBezTo>
                  <a:pt x="5423" y="13000"/>
                  <a:pt x="5333" y="12910"/>
                  <a:pt x="5333" y="12800"/>
                </a:cubicBezTo>
                <a:lnTo>
                  <a:pt x="5333" y="11200"/>
                </a:lnTo>
                <a:cubicBezTo>
                  <a:pt x="5333" y="11090"/>
                  <a:pt x="5423" y="11000"/>
                  <a:pt x="5533" y="11000"/>
                </a:cubicBezTo>
                <a:close/>
                <a:moveTo>
                  <a:pt x="8867" y="11000"/>
                </a:moveTo>
                <a:lnTo>
                  <a:pt x="11400" y="11000"/>
                </a:lnTo>
                <a:cubicBezTo>
                  <a:pt x="11510" y="11000"/>
                  <a:pt x="11600" y="11090"/>
                  <a:pt x="11600" y="11200"/>
                </a:cubicBezTo>
                <a:lnTo>
                  <a:pt x="11600" y="14800"/>
                </a:lnTo>
                <a:cubicBezTo>
                  <a:pt x="11600" y="14910"/>
                  <a:pt x="11510" y="15000"/>
                  <a:pt x="11400" y="15000"/>
                </a:cubicBezTo>
                <a:lnTo>
                  <a:pt x="8867" y="15000"/>
                </a:lnTo>
                <a:cubicBezTo>
                  <a:pt x="8756" y="15000"/>
                  <a:pt x="8667" y="14910"/>
                  <a:pt x="8667" y="14800"/>
                </a:cubicBezTo>
                <a:lnTo>
                  <a:pt x="8667" y="11200"/>
                </a:lnTo>
                <a:cubicBezTo>
                  <a:pt x="8667" y="11090"/>
                  <a:pt x="8756" y="11000"/>
                  <a:pt x="8867" y="11000"/>
                </a:cubicBezTo>
                <a:close/>
                <a:moveTo>
                  <a:pt x="12200" y="9000"/>
                </a:moveTo>
                <a:lnTo>
                  <a:pt x="14733" y="9000"/>
                </a:lnTo>
                <a:cubicBezTo>
                  <a:pt x="14844" y="9000"/>
                  <a:pt x="14933" y="9090"/>
                  <a:pt x="14933" y="9200"/>
                </a:cubicBezTo>
                <a:lnTo>
                  <a:pt x="14933" y="14800"/>
                </a:lnTo>
                <a:cubicBezTo>
                  <a:pt x="14933" y="14910"/>
                  <a:pt x="14844" y="15000"/>
                  <a:pt x="14733" y="15000"/>
                </a:cubicBezTo>
                <a:lnTo>
                  <a:pt x="12200" y="15000"/>
                </a:lnTo>
                <a:cubicBezTo>
                  <a:pt x="12090" y="15000"/>
                  <a:pt x="12000" y="14910"/>
                  <a:pt x="12000" y="14800"/>
                </a:cubicBezTo>
                <a:lnTo>
                  <a:pt x="12000" y="9200"/>
                </a:lnTo>
                <a:cubicBezTo>
                  <a:pt x="12000" y="9090"/>
                  <a:pt x="12090" y="9000"/>
                  <a:pt x="12200" y="9000"/>
                </a:cubicBezTo>
                <a:close/>
                <a:moveTo>
                  <a:pt x="15533" y="9000"/>
                </a:moveTo>
                <a:lnTo>
                  <a:pt x="18067" y="9000"/>
                </a:lnTo>
                <a:cubicBezTo>
                  <a:pt x="18177" y="9000"/>
                  <a:pt x="18267" y="9090"/>
                  <a:pt x="18267" y="9200"/>
                </a:cubicBezTo>
                <a:lnTo>
                  <a:pt x="18267" y="10800"/>
                </a:lnTo>
                <a:cubicBezTo>
                  <a:pt x="18267" y="10910"/>
                  <a:pt x="18177" y="11000"/>
                  <a:pt x="18067" y="11000"/>
                </a:cubicBezTo>
                <a:lnTo>
                  <a:pt x="15533" y="11000"/>
                </a:lnTo>
                <a:cubicBezTo>
                  <a:pt x="15423" y="11000"/>
                  <a:pt x="15333" y="10910"/>
                  <a:pt x="15333" y="10800"/>
                </a:cubicBezTo>
                <a:lnTo>
                  <a:pt x="15333" y="9200"/>
                </a:lnTo>
                <a:cubicBezTo>
                  <a:pt x="15333" y="9090"/>
                  <a:pt x="15423" y="9000"/>
                  <a:pt x="15533" y="9000"/>
                </a:cubicBezTo>
                <a:close/>
                <a:moveTo>
                  <a:pt x="18867" y="1000"/>
                </a:moveTo>
                <a:lnTo>
                  <a:pt x="21400" y="1000"/>
                </a:lnTo>
                <a:cubicBezTo>
                  <a:pt x="21510" y="1000"/>
                  <a:pt x="21600" y="1090"/>
                  <a:pt x="21600" y="1200"/>
                </a:cubicBezTo>
                <a:lnTo>
                  <a:pt x="21600" y="10800"/>
                </a:lnTo>
                <a:cubicBezTo>
                  <a:pt x="21600" y="10910"/>
                  <a:pt x="21510" y="11000"/>
                  <a:pt x="21400" y="11000"/>
                </a:cubicBezTo>
                <a:lnTo>
                  <a:pt x="18867" y="11000"/>
                </a:lnTo>
                <a:cubicBezTo>
                  <a:pt x="18756" y="11000"/>
                  <a:pt x="18667" y="10910"/>
                  <a:pt x="18667" y="10800"/>
                </a:cubicBezTo>
                <a:lnTo>
                  <a:pt x="18667" y="1200"/>
                </a:lnTo>
                <a:cubicBezTo>
                  <a:pt x="18667" y="1090"/>
                  <a:pt x="18756" y="1000"/>
                  <a:pt x="18867" y="1000"/>
                </a:cubicBezTo>
                <a:close/>
                <a:moveTo>
                  <a:pt x="2100" y="21000"/>
                </a:moveTo>
                <a:lnTo>
                  <a:pt x="21900" y="21000"/>
                </a:lnTo>
                <a:cubicBezTo>
                  <a:pt x="21955" y="21000"/>
                  <a:pt x="22000" y="21045"/>
                  <a:pt x="22000" y="21100"/>
                </a:cubicBezTo>
                <a:lnTo>
                  <a:pt x="22000" y="21400"/>
                </a:lnTo>
                <a:cubicBezTo>
                  <a:pt x="22000" y="21455"/>
                  <a:pt x="21955" y="21500"/>
                  <a:pt x="21900" y="21500"/>
                </a:cubicBezTo>
                <a:lnTo>
                  <a:pt x="2100" y="21500"/>
                </a:lnTo>
                <a:cubicBezTo>
                  <a:pt x="2045" y="21500"/>
                  <a:pt x="2000" y="21455"/>
                  <a:pt x="2000" y="21400"/>
                </a:cubicBezTo>
                <a:lnTo>
                  <a:pt x="2000" y="21100"/>
                </a:lnTo>
                <a:cubicBezTo>
                  <a:pt x="2000" y="21045"/>
                  <a:pt x="2045" y="21000"/>
                  <a:pt x="21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差异桥</a:t>
            </a:r>
          </a:p>
        </p:txBody>
      </p:sp>
      <p:sp>
        <p:nvSpPr>
          <p:cNvPr id="22" name="CHART-031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6000"/>
                </a:moveTo>
                <a:lnTo>
                  <a:pt x="8000" y="4000"/>
                </a:lnTo>
                <a:lnTo>
                  <a:pt x="15000" y="5000"/>
                </a:lnTo>
                <a:lnTo>
                  <a:pt x="20000" y="7000"/>
                </a:lnTo>
                <a:lnTo>
                  <a:pt x="21000" y="14000"/>
                </a:lnTo>
                <a:lnTo>
                  <a:pt x="17000" y="19000"/>
                </a:lnTo>
                <a:lnTo>
                  <a:pt x="10000" y="21000"/>
                </a:lnTo>
                <a:lnTo>
                  <a:pt x="5000" y="18000"/>
                </a:lnTo>
                <a:lnTo>
                  <a:pt x="3000" y="12000"/>
                </a:lnTo>
                <a:close/>
                <a:moveTo>
                  <a:pt x="9600" y="10000"/>
                </a:moveTo>
                <a:cubicBezTo>
                  <a:pt x="9600" y="10884"/>
                  <a:pt x="8884" y="11600"/>
                  <a:pt x="8000" y="11600"/>
                </a:cubicBezTo>
                <a:cubicBezTo>
                  <a:pt x="7116" y="11600"/>
                  <a:pt x="6400" y="10884"/>
                  <a:pt x="6400" y="10000"/>
                </a:cubicBezTo>
                <a:cubicBezTo>
                  <a:pt x="6400" y="9116"/>
                  <a:pt x="7116" y="8400"/>
                  <a:pt x="8000" y="8400"/>
                </a:cubicBezTo>
                <a:cubicBezTo>
                  <a:pt x="8884" y="8400"/>
                  <a:pt x="9600" y="9116"/>
                  <a:pt x="9600" y="10000"/>
                </a:cubicBezTo>
                <a:close/>
                <a:moveTo>
                  <a:pt x="16000" y="9000"/>
                </a:moveTo>
                <a:cubicBezTo>
                  <a:pt x="16000" y="10105"/>
                  <a:pt x="15105" y="11000"/>
                  <a:pt x="14000" y="11000"/>
                </a:cubicBezTo>
                <a:cubicBezTo>
                  <a:pt x="12895" y="11000"/>
                  <a:pt x="12000" y="10105"/>
                  <a:pt x="12000" y="9000"/>
                </a:cubicBezTo>
                <a:cubicBezTo>
                  <a:pt x="12000" y="7895"/>
                  <a:pt x="12895" y="7000"/>
                  <a:pt x="14000" y="7000"/>
                </a:cubicBezTo>
                <a:cubicBezTo>
                  <a:pt x="15105" y="7000"/>
                  <a:pt x="16000" y="7895"/>
                  <a:pt x="16000" y="9000"/>
                </a:cubicBezTo>
                <a:close/>
                <a:moveTo>
                  <a:pt x="12400" y="14000"/>
                </a:moveTo>
                <a:cubicBezTo>
                  <a:pt x="12400" y="14773"/>
                  <a:pt x="11773" y="15400"/>
                  <a:pt x="11000" y="15400"/>
                </a:cubicBezTo>
                <a:cubicBezTo>
                  <a:pt x="10227" y="15400"/>
                  <a:pt x="9600" y="14773"/>
                  <a:pt x="9600" y="14000"/>
                </a:cubicBezTo>
                <a:cubicBezTo>
                  <a:pt x="9600" y="13227"/>
                  <a:pt x="10227" y="12600"/>
                  <a:pt x="11000" y="12600"/>
                </a:cubicBezTo>
                <a:cubicBezTo>
                  <a:pt x="11773" y="12600"/>
                  <a:pt x="12400" y="13227"/>
                  <a:pt x="12400" y="14000"/>
                </a:cubicBezTo>
                <a:close/>
                <a:moveTo>
                  <a:pt x="17000" y="14000"/>
                </a:moveTo>
                <a:cubicBezTo>
                  <a:pt x="17000" y="14552"/>
                  <a:pt x="16552" y="15000"/>
                  <a:pt x="16000" y="15000"/>
                </a:cubicBezTo>
                <a:cubicBezTo>
                  <a:pt x="15448" y="15000"/>
                  <a:pt x="15000" y="14552"/>
                  <a:pt x="15000" y="14000"/>
                </a:cubicBezTo>
                <a:cubicBezTo>
                  <a:pt x="15000" y="13448"/>
                  <a:pt x="15448" y="13000"/>
                  <a:pt x="16000" y="13000"/>
                </a:cubicBezTo>
                <a:cubicBezTo>
                  <a:pt x="16552" y="13000"/>
                  <a:pt x="17000" y="13448"/>
                  <a:pt x="17000" y="14000"/>
                </a:cubicBezTo>
                <a:close/>
                <a:moveTo>
                  <a:pt x="8800" y="16000"/>
                </a:moveTo>
                <a:cubicBezTo>
                  <a:pt x="8800" y="16442"/>
                  <a:pt x="8442" y="16800"/>
                  <a:pt x="8000" y="16800"/>
                </a:cubicBezTo>
                <a:cubicBezTo>
                  <a:pt x="7558" y="16800"/>
                  <a:pt x="7200" y="16442"/>
                  <a:pt x="7200" y="16000"/>
                </a:cubicBezTo>
                <a:cubicBezTo>
                  <a:pt x="7200" y="15558"/>
                  <a:pt x="7558" y="15200"/>
                  <a:pt x="8000" y="15200"/>
                </a:cubicBezTo>
                <a:cubicBezTo>
                  <a:pt x="8442" y="15200"/>
                  <a:pt x="8800" y="15558"/>
                  <a:pt x="88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地理热力</a:t>
            </a:r>
          </a:p>
        </p:txBody>
      </p:sp>
      <p:sp>
        <p:nvSpPr>
          <p:cNvPr id="25" name="CHART-032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5000"/>
                </a:moveTo>
                <a:lnTo>
                  <a:pt x="10000" y="4000"/>
                </a:lnTo>
                <a:lnTo>
                  <a:pt x="13000" y="9000"/>
                </a:lnTo>
                <a:lnTo>
                  <a:pt x="8000" y="12000"/>
                </a:lnTo>
                <a:close/>
                <a:moveTo>
                  <a:pt x="13000" y="9000"/>
                </a:moveTo>
                <a:lnTo>
                  <a:pt x="10000" y="4000"/>
                </a:lnTo>
                <a:lnTo>
                  <a:pt x="16000" y="5000"/>
                </a:lnTo>
                <a:lnTo>
                  <a:pt x="20000" y="8000"/>
                </a:lnTo>
                <a:close/>
                <a:moveTo>
                  <a:pt x="8000" y="12000"/>
                </a:moveTo>
                <a:lnTo>
                  <a:pt x="13000" y="9000"/>
                </a:lnTo>
                <a:lnTo>
                  <a:pt x="15000" y="14000"/>
                </a:lnTo>
                <a:lnTo>
                  <a:pt x="10000" y="17000"/>
                </a:lnTo>
                <a:close/>
                <a:moveTo>
                  <a:pt x="13000" y="9000"/>
                </a:moveTo>
                <a:lnTo>
                  <a:pt x="20000" y="8000"/>
                </a:lnTo>
                <a:lnTo>
                  <a:pt x="21000" y="14000"/>
                </a:lnTo>
                <a:lnTo>
                  <a:pt x="15000" y="14000"/>
                </a:lnTo>
                <a:close/>
                <a:moveTo>
                  <a:pt x="10000" y="17000"/>
                </a:moveTo>
                <a:lnTo>
                  <a:pt x="15000" y="14000"/>
                </a:lnTo>
                <a:lnTo>
                  <a:pt x="18000" y="18000"/>
                </a:lnTo>
                <a:lnTo>
                  <a:pt x="13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分级地图</a:t>
            </a:r>
          </a:p>
        </p:txBody>
      </p:sp>
      <p:sp>
        <p:nvSpPr>
          <p:cNvPr id="28" name="CHART-033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000"/>
                </a:moveTo>
                <a:lnTo>
                  <a:pt x="5380" y="2000"/>
                </a:lnTo>
                <a:cubicBezTo>
                  <a:pt x="5546" y="2000"/>
                  <a:pt x="5680" y="2134"/>
                  <a:pt x="5680" y="2300"/>
                </a:cubicBezTo>
                <a:lnTo>
                  <a:pt x="5680" y="5380"/>
                </a:lnTo>
                <a:cubicBezTo>
                  <a:pt x="5680" y="5546"/>
                  <a:pt x="5546" y="5680"/>
                  <a:pt x="5380" y="5680"/>
                </a:cubicBezTo>
                <a:lnTo>
                  <a:pt x="2300" y="5680"/>
                </a:lnTo>
                <a:cubicBezTo>
                  <a:pt x="2134" y="5680"/>
                  <a:pt x="2000" y="5546"/>
                  <a:pt x="2000" y="538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6380" y="2000"/>
                </a:moveTo>
                <a:lnTo>
                  <a:pt x="9460" y="2000"/>
                </a:lnTo>
                <a:cubicBezTo>
                  <a:pt x="9626" y="2000"/>
                  <a:pt x="9760" y="2134"/>
                  <a:pt x="9760" y="2300"/>
                </a:cubicBezTo>
                <a:lnTo>
                  <a:pt x="9760" y="5380"/>
                </a:lnTo>
                <a:cubicBezTo>
                  <a:pt x="9760" y="5546"/>
                  <a:pt x="9626" y="5680"/>
                  <a:pt x="9460" y="5680"/>
                </a:cubicBezTo>
                <a:lnTo>
                  <a:pt x="6380" y="5680"/>
                </a:lnTo>
                <a:cubicBezTo>
                  <a:pt x="6214" y="5680"/>
                  <a:pt x="6080" y="5546"/>
                  <a:pt x="6080" y="5380"/>
                </a:cubicBezTo>
                <a:lnTo>
                  <a:pt x="6080" y="2300"/>
                </a:lnTo>
                <a:cubicBezTo>
                  <a:pt x="6080" y="2134"/>
                  <a:pt x="6214" y="2000"/>
                  <a:pt x="6380" y="2000"/>
                </a:cubicBezTo>
                <a:close/>
                <a:moveTo>
                  <a:pt x="10160" y="2000"/>
                </a:moveTo>
                <a:lnTo>
                  <a:pt x="13840" y="2000"/>
                </a:lnTo>
                <a:lnTo>
                  <a:pt x="13840" y="2400"/>
                </a:lnTo>
                <a:lnTo>
                  <a:pt x="10160" y="2400"/>
                </a:lnTo>
                <a:close/>
                <a:moveTo>
                  <a:pt x="10160" y="5280"/>
                </a:moveTo>
                <a:lnTo>
                  <a:pt x="13840" y="5280"/>
                </a:lnTo>
                <a:lnTo>
                  <a:pt x="13840" y="5680"/>
                </a:lnTo>
                <a:lnTo>
                  <a:pt x="10160" y="5680"/>
                </a:lnTo>
                <a:close/>
                <a:moveTo>
                  <a:pt x="10160" y="2000"/>
                </a:moveTo>
                <a:lnTo>
                  <a:pt x="10560" y="2000"/>
                </a:lnTo>
                <a:lnTo>
                  <a:pt x="10560" y="5680"/>
                </a:lnTo>
                <a:lnTo>
                  <a:pt x="10160" y="5680"/>
                </a:lnTo>
                <a:close/>
                <a:moveTo>
                  <a:pt x="13440" y="2000"/>
                </a:moveTo>
                <a:lnTo>
                  <a:pt x="13840" y="2000"/>
                </a:lnTo>
                <a:lnTo>
                  <a:pt x="13840" y="5680"/>
                </a:lnTo>
                <a:lnTo>
                  <a:pt x="13440" y="5680"/>
                </a:lnTo>
                <a:close/>
                <a:moveTo>
                  <a:pt x="14240" y="2000"/>
                </a:moveTo>
                <a:lnTo>
                  <a:pt x="17920" y="2000"/>
                </a:lnTo>
                <a:lnTo>
                  <a:pt x="17920" y="2400"/>
                </a:lnTo>
                <a:lnTo>
                  <a:pt x="14240" y="2400"/>
                </a:lnTo>
                <a:close/>
                <a:moveTo>
                  <a:pt x="14240" y="5280"/>
                </a:moveTo>
                <a:lnTo>
                  <a:pt x="17920" y="5280"/>
                </a:lnTo>
                <a:lnTo>
                  <a:pt x="17920" y="5680"/>
                </a:lnTo>
                <a:lnTo>
                  <a:pt x="14240" y="5680"/>
                </a:lnTo>
                <a:close/>
                <a:moveTo>
                  <a:pt x="14240" y="2000"/>
                </a:moveTo>
                <a:lnTo>
                  <a:pt x="14640" y="2000"/>
                </a:lnTo>
                <a:lnTo>
                  <a:pt x="14640" y="5680"/>
                </a:lnTo>
                <a:lnTo>
                  <a:pt x="14240" y="5680"/>
                </a:lnTo>
                <a:close/>
                <a:moveTo>
                  <a:pt x="17520" y="2000"/>
                </a:moveTo>
                <a:lnTo>
                  <a:pt x="17920" y="2000"/>
                </a:lnTo>
                <a:lnTo>
                  <a:pt x="17920" y="5680"/>
                </a:lnTo>
                <a:lnTo>
                  <a:pt x="17520" y="5680"/>
                </a:lnTo>
                <a:close/>
                <a:moveTo>
                  <a:pt x="18320" y="2000"/>
                </a:moveTo>
                <a:lnTo>
                  <a:pt x="22000" y="2000"/>
                </a:lnTo>
                <a:lnTo>
                  <a:pt x="22000" y="2400"/>
                </a:lnTo>
                <a:lnTo>
                  <a:pt x="18320" y="2400"/>
                </a:lnTo>
                <a:close/>
                <a:moveTo>
                  <a:pt x="18320" y="5280"/>
                </a:moveTo>
                <a:lnTo>
                  <a:pt x="22000" y="5280"/>
                </a:lnTo>
                <a:lnTo>
                  <a:pt x="22000" y="5680"/>
                </a:lnTo>
                <a:lnTo>
                  <a:pt x="18320" y="5680"/>
                </a:lnTo>
                <a:close/>
                <a:moveTo>
                  <a:pt x="18320" y="2000"/>
                </a:moveTo>
                <a:lnTo>
                  <a:pt x="18720" y="2000"/>
                </a:lnTo>
                <a:lnTo>
                  <a:pt x="18720" y="5680"/>
                </a:lnTo>
                <a:lnTo>
                  <a:pt x="18320" y="5680"/>
                </a:lnTo>
                <a:close/>
                <a:moveTo>
                  <a:pt x="21600" y="2000"/>
                </a:moveTo>
                <a:lnTo>
                  <a:pt x="22000" y="2000"/>
                </a:lnTo>
                <a:lnTo>
                  <a:pt x="22000" y="5680"/>
                </a:lnTo>
                <a:lnTo>
                  <a:pt x="21600" y="5680"/>
                </a:lnTo>
                <a:close/>
                <a:moveTo>
                  <a:pt x="2300" y="6080"/>
                </a:moveTo>
                <a:lnTo>
                  <a:pt x="5380" y="6080"/>
                </a:lnTo>
                <a:cubicBezTo>
                  <a:pt x="5546" y="6080"/>
                  <a:pt x="5680" y="6214"/>
                  <a:pt x="5680" y="6380"/>
                </a:cubicBezTo>
                <a:lnTo>
                  <a:pt x="5680" y="9460"/>
                </a:lnTo>
                <a:cubicBezTo>
                  <a:pt x="5680" y="9626"/>
                  <a:pt x="5546" y="9760"/>
                  <a:pt x="5380" y="9760"/>
                </a:cubicBezTo>
                <a:lnTo>
                  <a:pt x="2300" y="9760"/>
                </a:lnTo>
                <a:cubicBezTo>
                  <a:pt x="2134" y="9760"/>
                  <a:pt x="2000" y="9626"/>
                  <a:pt x="2000" y="9460"/>
                </a:cubicBezTo>
                <a:lnTo>
                  <a:pt x="2000" y="6380"/>
                </a:lnTo>
                <a:cubicBezTo>
                  <a:pt x="2000" y="6214"/>
                  <a:pt x="2134" y="6080"/>
                  <a:pt x="2300" y="6080"/>
                </a:cubicBezTo>
                <a:close/>
                <a:moveTo>
                  <a:pt x="6380" y="6080"/>
                </a:moveTo>
                <a:lnTo>
                  <a:pt x="9460" y="6080"/>
                </a:lnTo>
                <a:cubicBezTo>
                  <a:pt x="9626" y="6080"/>
                  <a:pt x="9760" y="6214"/>
                  <a:pt x="9760" y="6380"/>
                </a:cubicBezTo>
                <a:lnTo>
                  <a:pt x="9760" y="9460"/>
                </a:lnTo>
                <a:cubicBezTo>
                  <a:pt x="9760" y="9626"/>
                  <a:pt x="9626" y="9760"/>
                  <a:pt x="9460" y="9760"/>
                </a:cubicBezTo>
                <a:lnTo>
                  <a:pt x="6380" y="9760"/>
                </a:lnTo>
                <a:cubicBezTo>
                  <a:pt x="6214" y="9760"/>
                  <a:pt x="6080" y="9626"/>
                  <a:pt x="6080" y="9460"/>
                </a:cubicBezTo>
                <a:lnTo>
                  <a:pt x="6080" y="6380"/>
                </a:lnTo>
                <a:cubicBezTo>
                  <a:pt x="6080" y="6214"/>
                  <a:pt x="6214" y="6080"/>
                  <a:pt x="6380" y="6080"/>
                </a:cubicBezTo>
                <a:close/>
                <a:moveTo>
                  <a:pt x="10160" y="6080"/>
                </a:moveTo>
                <a:lnTo>
                  <a:pt x="13840" y="6080"/>
                </a:lnTo>
                <a:lnTo>
                  <a:pt x="13840" y="6480"/>
                </a:lnTo>
                <a:lnTo>
                  <a:pt x="10160" y="6480"/>
                </a:lnTo>
                <a:close/>
                <a:moveTo>
                  <a:pt x="10160" y="9360"/>
                </a:moveTo>
                <a:lnTo>
                  <a:pt x="13840" y="9360"/>
                </a:lnTo>
                <a:lnTo>
                  <a:pt x="13840" y="9760"/>
                </a:lnTo>
                <a:lnTo>
                  <a:pt x="10160" y="9760"/>
                </a:lnTo>
                <a:close/>
                <a:moveTo>
                  <a:pt x="10160" y="6080"/>
                </a:moveTo>
                <a:lnTo>
                  <a:pt x="10560" y="6080"/>
                </a:lnTo>
                <a:lnTo>
                  <a:pt x="10560" y="9760"/>
                </a:lnTo>
                <a:lnTo>
                  <a:pt x="10160" y="9760"/>
                </a:lnTo>
                <a:close/>
                <a:moveTo>
                  <a:pt x="13440" y="6080"/>
                </a:moveTo>
                <a:lnTo>
                  <a:pt x="13840" y="6080"/>
                </a:lnTo>
                <a:lnTo>
                  <a:pt x="13840" y="9760"/>
                </a:lnTo>
                <a:lnTo>
                  <a:pt x="13440" y="9760"/>
                </a:lnTo>
                <a:close/>
                <a:moveTo>
                  <a:pt x="14240" y="6080"/>
                </a:moveTo>
                <a:lnTo>
                  <a:pt x="17920" y="6080"/>
                </a:lnTo>
                <a:lnTo>
                  <a:pt x="17920" y="6480"/>
                </a:lnTo>
                <a:lnTo>
                  <a:pt x="14240" y="6480"/>
                </a:lnTo>
                <a:close/>
                <a:moveTo>
                  <a:pt x="14240" y="9360"/>
                </a:moveTo>
                <a:lnTo>
                  <a:pt x="17920" y="9360"/>
                </a:lnTo>
                <a:lnTo>
                  <a:pt x="17920" y="9760"/>
                </a:lnTo>
                <a:lnTo>
                  <a:pt x="14240" y="9760"/>
                </a:lnTo>
                <a:close/>
                <a:moveTo>
                  <a:pt x="14240" y="6080"/>
                </a:moveTo>
                <a:lnTo>
                  <a:pt x="14640" y="6080"/>
                </a:lnTo>
                <a:lnTo>
                  <a:pt x="14640" y="9760"/>
                </a:lnTo>
                <a:lnTo>
                  <a:pt x="14240" y="9760"/>
                </a:lnTo>
                <a:close/>
                <a:moveTo>
                  <a:pt x="17520" y="6080"/>
                </a:moveTo>
                <a:lnTo>
                  <a:pt x="17920" y="6080"/>
                </a:lnTo>
                <a:lnTo>
                  <a:pt x="17920" y="9760"/>
                </a:lnTo>
                <a:lnTo>
                  <a:pt x="17520" y="9760"/>
                </a:lnTo>
                <a:close/>
                <a:moveTo>
                  <a:pt x="18320" y="6080"/>
                </a:moveTo>
                <a:lnTo>
                  <a:pt x="22000" y="6080"/>
                </a:lnTo>
                <a:lnTo>
                  <a:pt x="22000" y="6480"/>
                </a:lnTo>
                <a:lnTo>
                  <a:pt x="18320" y="6480"/>
                </a:lnTo>
                <a:close/>
                <a:moveTo>
                  <a:pt x="18320" y="9360"/>
                </a:moveTo>
                <a:lnTo>
                  <a:pt x="22000" y="9360"/>
                </a:lnTo>
                <a:lnTo>
                  <a:pt x="22000" y="9760"/>
                </a:lnTo>
                <a:lnTo>
                  <a:pt x="18320" y="9760"/>
                </a:lnTo>
                <a:close/>
                <a:moveTo>
                  <a:pt x="18320" y="6080"/>
                </a:moveTo>
                <a:lnTo>
                  <a:pt x="18720" y="6080"/>
                </a:lnTo>
                <a:lnTo>
                  <a:pt x="18720" y="9760"/>
                </a:lnTo>
                <a:lnTo>
                  <a:pt x="18320" y="9760"/>
                </a:lnTo>
                <a:close/>
                <a:moveTo>
                  <a:pt x="21600" y="6080"/>
                </a:moveTo>
                <a:lnTo>
                  <a:pt x="22000" y="6080"/>
                </a:lnTo>
                <a:lnTo>
                  <a:pt x="22000" y="9760"/>
                </a:lnTo>
                <a:lnTo>
                  <a:pt x="21600" y="9760"/>
                </a:lnTo>
                <a:close/>
                <a:moveTo>
                  <a:pt x="2300" y="10160"/>
                </a:moveTo>
                <a:lnTo>
                  <a:pt x="5380" y="10160"/>
                </a:lnTo>
                <a:cubicBezTo>
                  <a:pt x="5546" y="10160"/>
                  <a:pt x="5680" y="10294"/>
                  <a:pt x="5680" y="10460"/>
                </a:cubicBezTo>
                <a:lnTo>
                  <a:pt x="5680" y="13540"/>
                </a:lnTo>
                <a:cubicBezTo>
                  <a:pt x="5680" y="13706"/>
                  <a:pt x="5546" y="13840"/>
                  <a:pt x="5380" y="13840"/>
                </a:cubicBezTo>
                <a:lnTo>
                  <a:pt x="2300" y="13840"/>
                </a:lnTo>
                <a:cubicBezTo>
                  <a:pt x="2134" y="13840"/>
                  <a:pt x="2000" y="13706"/>
                  <a:pt x="2000" y="13540"/>
                </a:cubicBezTo>
                <a:lnTo>
                  <a:pt x="2000" y="10460"/>
                </a:lnTo>
                <a:cubicBezTo>
                  <a:pt x="2000" y="10294"/>
                  <a:pt x="2134" y="10160"/>
                  <a:pt x="2300" y="10160"/>
                </a:cubicBezTo>
                <a:close/>
                <a:moveTo>
                  <a:pt x="6080" y="10160"/>
                </a:moveTo>
                <a:lnTo>
                  <a:pt x="9760" y="10160"/>
                </a:lnTo>
                <a:lnTo>
                  <a:pt x="9760" y="10560"/>
                </a:lnTo>
                <a:lnTo>
                  <a:pt x="6080" y="10560"/>
                </a:lnTo>
                <a:close/>
                <a:moveTo>
                  <a:pt x="6080" y="13440"/>
                </a:moveTo>
                <a:lnTo>
                  <a:pt x="9760" y="13440"/>
                </a:lnTo>
                <a:lnTo>
                  <a:pt x="9760" y="13840"/>
                </a:lnTo>
                <a:lnTo>
                  <a:pt x="6080" y="13840"/>
                </a:lnTo>
                <a:close/>
                <a:moveTo>
                  <a:pt x="6080" y="10160"/>
                </a:moveTo>
                <a:lnTo>
                  <a:pt x="6480" y="10160"/>
                </a:lnTo>
                <a:lnTo>
                  <a:pt x="6480" y="13840"/>
                </a:lnTo>
                <a:lnTo>
                  <a:pt x="6080" y="13840"/>
                </a:lnTo>
                <a:close/>
                <a:moveTo>
                  <a:pt x="9360" y="10160"/>
                </a:moveTo>
                <a:lnTo>
                  <a:pt x="9760" y="10160"/>
                </a:lnTo>
                <a:lnTo>
                  <a:pt x="9760" y="13840"/>
                </a:lnTo>
                <a:lnTo>
                  <a:pt x="9360" y="13840"/>
                </a:lnTo>
                <a:close/>
                <a:moveTo>
                  <a:pt x="10160" y="10160"/>
                </a:moveTo>
                <a:lnTo>
                  <a:pt x="13840" y="10160"/>
                </a:lnTo>
                <a:lnTo>
                  <a:pt x="13840" y="10560"/>
                </a:lnTo>
                <a:lnTo>
                  <a:pt x="10160" y="10560"/>
                </a:lnTo>
                <a:close/>
                <a:moveTo>
                  <a:pt x="10160" y="13440"/>
                </a:moveTo>
                <a:lnTo>
                  <a:pt x="13840" y="13440"/>
                </a:lnTo>
                <a:lnTo>
                  <a:pt x="13840" y="13840"/>
                </a:lnTo>
                <a:lnTo>
                  <a:pt x="10160" y="13840"/>
                </a:lnTo>
                <a:close/>
                <a:moveTo>
                  <a:pt x="10160" y="10160"/>
                </a:moveTo>
                <a:lnTo>
                  <a:pt x="10560" y="10160"/>
                </a:lnTo>
                <a:lnTo>
                  <a:pt x="10560" y="13840"/>
                </a:lnTo>
                <a:lnTo>
                  <a:pt x="10160" y="13840"/>
                </a:lnTo>
                <a:close/>
                <a:moveTo>
                  <a:pt x="13440" y="10160"/>
                </a:moveTo>
                <a:lnTo>
                  <a:pt x="13840" y="10160"/>
                </a:lnTo>
                <a:lnTo>
                  <a:pt x="13840" y="13840"/>
                </a:lnTo>
                <a:lnTo>
                  <a:pt x="13440" y="13840"/>
                </a:lnTo>
                <a:close/>
                <a:moveTo>
                  <a:pt x="14240" y="10160"/>
                </a:moveTo>
                <a:lnTo>
                  <a:pt x="17920" y="10160"/>
                </a:lnTo>
                <a:lnTo>
                  <a:pt x="17920" y="10560"/>
                </a:lnTo>
                <a:lnTo>
                  <a:pt x="14240" y="10560"/>
                </a:lnTo>
                <a:close/>
                <a:moveTo>
                  <a:pt x="14240" y="13440"/>
                </a:moveTo>
                <a:lnTo>
                  <a:pt x="17920" y="13440"/>
                </a:lnTo>
                <a:lnTo>
                  <a:pt x="17920" y="13840"/>
                </a:lnTo>
                <a:lnTo>
                  <a:pt x="14240" y="13840"/>
                </a:lnTo>
                <a:close/>
                <a:moveTo>
                  <a:pt x="14240" y="10160"/>
                </a:moveTo>
                <a:lnTo>
                  <a:pt x="14640" y="10160"/>
                </a:lnTo>
                <a:lnTo>
                  <a:pt x="14640" y="13840"/>
                </a:lnTo>
                <a:lnTo>
                  <a:pt x="14240" y="13840"/>
                </a:lnTo>
                <a:close/>
                <a:moveTo>
                  <a:pt x="17520" y="10160"/>
                </a:moveTo>
                <a:lnTo>
                  <a:pt x="17920" y="10160"/>
                </a:lnTo>
                <a:lnTo>
                  <a:pt x="17920" y="13840"/>
                </a:lnTo>
                <a:lnTo>
                  <a:pt x="17520" y="13840"/>
                </a:lnTo>
                <a:close/>
                <a:moveTo>
                  <a:pt x="18320" y="10160"/>
                </a:moveTo>
                <a:lnTo>
                  <a:pt x="22000" y="10160"/>
                </a:lnTo>
                <a:lnTo>
                  <a:pt x="22000" y="10560"/>
                </a:lnTo>
                <a:lnTo>
                  <a:pt x="18320" y="10560"/>
                </a:lnTo>
                <a:close/>
                <a:moveTo>
                  <a:pt x="18320" y="13440"/>
                </a:moveTo>
                <a:lnTo>
                  <a:pt x="22000" y="13440"/>
                </a:lnTo>
                <a:lnTo>
                  <a:pt x="22000" y="13840"/>
                </a:lnTo>
                <a:lnTo>
                  <a:pt x="18320" y="13840"/>
                </a:lnTo>
                <a:close/>
                <a:moveTo>
                  <a:pt x="18320" y="10160"/>
                </a:moveTo>
                <a:lnTo>
                  <a:pt x="18720" y="10160"/>
                </a:lnTo>
                <a:lnTo>
                  <a:pt x="18720" y="13840"/>
                </a:lnTo>
                <a:lnTo>
                  <a:pt x="18320" y="13840"/>
                </a:lnTo>
                <a:close/>
                <a:moveTo>
                  <a:pt x="21600" y="10160"/>
                </a:moveTo>
                <a:lnTo>
                  <a:pt x="22000" y="10160"/>
                </a:lnTo>
                <a:lnTo>
                  <a:pt x="22000" y="13840"/>
                </a:lnTo>
                <a:lnTo>
                  <a:pt x="21600" y="13840"/>
                </a:lnTo>
                <a:close/>
                <a:moveTo>
                  <a:pt x="2000" y="14240"/>
                </a:moveTo>
                <a:lnTo>
                  <a:pt x="5680" y="14240"/>
                </a:lnTo>
                <a:lnTo>
                  <a:pt x="5680" y="14640"/>
                </a:lnTo>
                <a:lnTo>
                  <a:pt x="2000" y="14640"/>
                </a:lnTo>
                <a:close/>
                <a:moveTo>
                  <a:pt x="2000" y="17520"/>
                </a:moveTo>
                <a:lnTo>
                  <a:pt x="5680" y="17520"/>
                </a:lnTo>
                <a:lnTo>
                  <a:pt x="5680" y="17920"/>
                </a:lnTo>
                <a:lnTo>
                  <a:pt x="2000" y="17920"/>
                </a:lnTo>
                <a:close/>
                <a:moveTo>
                  <a:pt x="2000" y="14240"/>
                </a:moveTo>
                <a:lnTo>
                  <a:pt x="2400" y="14240"/>
                </a:lnTo>
                <a:lnTo>
                  <a:pt x="2400" y="17920"/>
                </a:lnTo>
                <a:lnTo>
                  <a:pt x="2000" y="17920"/>
                </a:lnTo>
                <a:close/>
                <a:moveTo>
                  <a:pt x="5280" y="14240"/>
                </a:moveTo>
                <a:lnTo>
                  <a:pt x="5680" y="14240"/>
                </a:lnTo>
                <a:lnTo>
                  <a:pt x="5680" y="17920"/>
                </a:lnTo>
                <a:lnTo>
                  <a:pt x="5280" y="17920"/>
                </a:lnTo>
                <a:close/>
                <a:moveTo>
                  <a:pt x="6080" y="14240"/>
                </a:moveTo>
                <a:lnTo>
                  <a:pt x="9760" y="14240"/>
                </a:lnTo>
                <a:lnTo>
                  <a:pt x="9760" y="14640"/>
                </a:lnTo>
                <a:lnTo>
                  <a:pt x="6080" y="14640"/>
                </a:lnTo>
                <a:close/>
                <a:moveTo>
                  <a:pt x="6080" y="17520"/>
                </a:moveTo>
                <a:lnTo>
                  <a:pt x="9760" y="17520"/>
                </a:lnTo>
                <a:lnTo>
                  <a:pt x="9760" y="17920"/>
                </a:lnTo>
                <a:lnTo>
                  <a:pt x="6080" y="17920"/>
                </a:lnTo>
                <a:close/>
                <a:moveTo>
                  <a:pt x="6080" y="14240"/>
                </a:moveTo>
                <a:lnTo>
                  <a:pt x="6480" y="14240"/>
                </a:lnTo>
                <a:lnTo>
                  <a:pt x="6480" y="17920"/>
                </a:lnTo>
                <a:lnTo>
                  <a:pt x="6080" y="17920"/>
                </a:lnTo>
                <a:close/>
                <a:moveTo>
                  <a:pt x="9360" y="14240"/>
                </a:moveTo>
                <a:lnTo>
                  <a:pt x="9760" y="14240"/>
                </a:lnTo>
                <a:lnTo>
                  <a:pt x="9760" y="17920"/>
                </a:lnTo>
                <a:lnTo>
                  <a:pt x="9360" y="17920"/>
                </a:lnTo>
                <a:close/>
                <a:moveTo>
                  <a:pt x="10160" y="14240"/>
                </a:moveTo>
                <a:lnTo>
                  <a:pt x="13840" y="14240"/>
                </a:lnTo>
                <a:lnTo>
                  <a:pt x="13840" y="14640"/>
                </a:lnTo>
                <a:lnTo>
                  <a:pt x="10160" y="14640"/>
                </a:lnTo>
                <a:close/>
                <a:moveTo>
                  <a:pt x="10160" y="17520"/>
                </a:moveTo>
                <a:lnTo>
                  <a:pt x="13840" y="17520"/>
                </a:lnTo>
                <a:lnTo>
                  <a:pt x="13840" y="17920"/>
                </a:lnTo>
                <a:lnTo>
                  <a:pt x="10160" y="17920"/>
                </a:lnTo>
                <a:close/>
                <a:moveTo>
                  <a:pt x="10160" y="14240"/>
                </a:moveTo>
                <a:lnTo>
                  <a:pt x="10560" y="14240"/>
                </a:lnTo>
                <a:lnTo>
                  <a:pt x="10560" y="17920"/>
                </a:lnTo>
                <a:lnTo>
                  <a:pt x="10160" y="17920"/>
                </a:lnTo>
                <a:close/>
                <a:moveTo>
                  <a:pt x="13440" y="14240"/>
                </a:moveTo>
                <a:lnTo>
                  <a:pt x="13840" y="14240"/>
                </a:lnTo>
                <a:lnTo>
                  <a:pt x="13840" y="17920"/>
                </a:lnTo>
                <a:lnTo>
                  <a:pt x="13440" y="17920"/>
                </a:lnTo>
                <a:close/>
                <a:moveTo>
                  <a:pt x="14240" y="14240"/>
                </a:moveTo>
                <a:lnTo>
                  <a:pt x="17920" y="14240"/>
                </a:lnTo>
                <a:lnTo>
                  <a:pt x="17920" y="14640"/>
                </a:lnTo>
                <a:lnTo>
                  <a:pt x="14240" y="14640"/>
                </a:lnTo>
                <a:close/>
                <a:moveTo>
                  <a:pt x="14240" y="17520"/>
                </a:moveTo>
                <a:lnTo>
                  <a:pt x="17920" y="17520"/>
                </a:lnTo>
                <a:lnTo>
                  <a:pt x="17920" y="17920"/>
                </a:lnTo>
                <a:lnTo>
                  <a:pt x="14240" y="17920"/>
                </a:lnTo>
                <a:close/>
                <a:moveTo>
                  <a:pt x="14240" y="14240"/>
                </a:moveTo>
                <a:lnTo>
                  <a:pt x="14640" y="14240"/>
                </a:lnTo>
                <a:lnTo>
                  <a:pt x="14640" y="17920"/>
                </a:lnTo>
                <a:lnTo>
                  <a:pt x="14240" y="17920"/>
                </a:lnTo>
                <a:close/>
                <a:moveTo>
                  <a:pt x="17520" y="14240"/>
                </a:moveTo>
                <a:lnTo>
                  <a:pt x="17920" y="14240"/>
                </a:lnTo>
                <a:lnTo>
                  <a:pt x="17920" y="17920"/>
                </a:lnTo>
                <a:lnTo>
                  <a:pt x="17520" y="17920"/>
                </a:lnTo>
                <a:close/>
                <a:moveTo>
                  <a:pt x="18320" y="14240"/>
                </a:moveTo>
                <a:lnTo>
                  <a:pt x="22000" y="14240"/>
                </a:lnTo>
                <a:lnTo>
                  <a:pt x="22000" y="14640"/>
                </a:lnTo>
                <a:lnTo>
                  <a:pt x="18320" y="14640"/>
                </a:lnTo>
                <a:close/>
                <a:moveTo>
                  <a:pt x="18320" y="17520"/>
                </a:moveTo>
                <a:lnTo>
                  <a:pt x="22000" y="17520"/>
                </a:lnTo>
                <a:lnTo>
                  <a:pt x="22000" y="17920"/>
                </a:lnTo>
                <a:lnTo>
                  <a:pt x="18320" y="17920"/>
                </a:lnTo>
                <a:close/>
                <a:moveTo>
                  <a:pt x="18320" y="14240"/>
                </a:moveTo>
                <a:lnTo>
                  <a:pt x="18720" y="14240"/>
                </a:lnTo>
                <a:lnTo>
                  <a:pt x="18720" y="17920"/>
                </a:lnTo>
                <a:lnTo>
                  <a:pt x="18320" y="17920"/>
                </a:lnTo>
                <a:close/>
                <a:moveTo>
                  <a:pt x="21600" y="14240"/>
                </a:moveTo>
                <a:lnTo>
                  <a:pt x="22000" y="14240"/>
                </a:lnTo>
                <a:lnTo>
                  <a:pt x="22000" y="17920"/>
                </a:lnTo>
                <a:lnTo>
                  <a:pt x="21600" y="17920"/>
                </a:lnTo>
                <a:close/>
                <a:moveTo>
                  <a:pt x="2000" y="18320"/>
                </a:moveTo>
                <a:lnTo>
                  <a:pt x="5680" y="18320"/>
                </a:lnTo>
                <a:lnTo>
                  <a:pt x="5680" y="18720"/>
                </a:lnTo>
                <a:lnTo>
                  <a:pt x="2000" y="18720"/>
                </a:lnTo>
                <a:close/>
                <a:moveTo>
                  <a:pt x="2000" y="21600"/>
                </a:moveTo>
                <a:lnTo>
                  <a:pt x="5680" y="21600"/>
                </a:lnTo>
                <a:lnTo>
                  <a:pt x="5680" y="22000"/>
                </a:lnTo>
                <a:lnTo>
                  <a:pt x="2000" y="22000"/>
                </a:lnTo>
                <a:close/>
                <a:moveTo>
                  <a:pt x="2000" y="18320"/>
                </a:moveTo>
                <a:lnTo>
                  <a:pt x="2400" y="18320"/>
                </a:lnTo>
                <a:lnTo>
                  <a:pt x="2400" y="22000"/>
                </a:lnTo>
                <a:lnTo>
                  <a:pt x="2000" y="22000"/>
                </a:lnTo>
                <a:close/>
                <a:moveTo>
                  <a:pt x="5280" y="18320"/>
                </a:moveTo>
                <a:lnTo>
                  <a:pt x="5680" y="18320"/>
                </a:lnTo>
                <a:lnTo>
                  <a:pt x="5680" y="22000"/>
                </a:lnTo>
                <a:lnTo>
                  <a:pt x="5280" y="22000"/>
                </a:lnTo>
                <a:close/>
                <a:moveTo>
                  <a:pt x="6080" y="18320"/>
                </a:moveTo>
                <a:lnTo>
                  <a:pt x="9760" y="18320"/>
                </a:lnTo>
                <a:lnTo>
                  <a:pt x="9760" y="18720"/>
                </a:lnTo>
                <a:lnTo>
                  <a:pt x="6080" y="18720"/>
                </a:lnTo>
                <a:close/>
                <a:moveTo>
                  <a:pt x="6080" y="21600"/>
                </a:moveTo>
                <a:lnTo>
                  <a:pt x="9760" y="21600"/>
                </a:lnTo>
                <a:lnTo>
                  <a:pt x="9760" y="22000"/>
                </a:lnTo>
                <a:lnTo>
                  <a:pt x="6080" y="22000"/>
                </a:lnTo>
                <a:close/>
                <a:moveTo>
                  <a:pt x="6080" y="18320"/>
                </a:moveTo>
                <a:lnTo>
                  <a:pt x="6480" y="18320"/>
                </a:lnTo>
                <a:lnTo>
                  <a:pt x="6480" y="22000"/>
                </a:lnTo>
                <a:lnTo>
                  <a:pt x="6080" y="22000"/>
                </a:lnTo>
                <a:close/>
                <a:moveTo>
                  <a:pt x="9360" y="18320"/>
                </a:moveTo>
                <a:lnTo>
                  <a:pt x="9760" y="18320"/>
                </a:lnTo>
                <a:lnTo>
                  <a:pt x="9760" y="22000"/>
                </a:lnTo>
                <a:lnTo>
                  <a:pt x="9360" y="22000"/>
                </a:lnTo>
                <a:close/>
                <a:moveTo>
                  <a:pt x="10160" y="18320"/>
                </a:moveTo>
                <a:lnTo>
                  <a:pt x="13840" y="18320"/>
                </a:lnTo>
                <a:lnTo>
                  <a:pt x="13840" y="18720"/>
                </a:lnTo>
                <a:lnTo>
                  <a:pt x="10160" y="18720"/>
                </a:lnTo>
                <a:close/>
                <a:moveTo>
                  <a:pt x="10160" y="21600"/>
                </a:moveTo>
                <a:lnTo>
                  <a:pt x="13840" y="21600"/>
                </a:lnTo>
                <a:lnTo>
                  <a:pt x="13840" y="22000"/>
                </a:lnTo>
                <a:lnTo>
                  <a:pt x="10160" y="22000"/>
                </a:lnTo>
                <a:close/>
                <a:moveTo>
                  <a:pt x="10160" y="18320"/>
                </a:moveTo>
                <a:lnTo>
                  <a:pt x="10560" y="18320"/>
                </a:lnTo>
                <a:lnTo>
                  <a:pt x="10560" y="22000"/>
                </a:lnTo>
                <a:lnTo>
                  <a:pt x="10160" y="22000"/>
                </a:lnTo>
                <a:close/>
                <a:moveTo>
                  <a:pt x="13440" y="18320"/>
                </a:moveTo>
                <a:lnTo>
                  <a:pt x="13840" y="18320"/>
                </a:lnTo>
                <a:lnTo>
                  <a:pt x="13840" y="22000"/>
                </a:lnTo>
                <a:lnTo>
                  <a:pt x="13440" y="22000"/>
                </a:lnTo>
                <a:close/>
                <a:moveTo>
                  <a:pt x="14240" y="18320"/>
                </a:moveTo>
                <a:lnTo>
                  <a:pt x="17920" y="18320"/>
                </a:lnTo>
                <a:lnTo>
                  <a:pt x="17920" y="18720"/>
                </a:lnTo>
                <a:lnTo>
                  <a:pt x="14240" y="18720"/>
                </a:lnTo>
                <a:close/>
                <a:moveTo>
                  <a:pt x="14240" y="21600"/>
                </a:moveTo>
                <a:lnTo>
                  <a:pt x="17920" y="21600"/>
                </a:lnTo>
                <a:lnTo>
                  <a:pt x="17920" y="22000"/>
                </a:lnTo>
                <a:lnTo>
                  <a:pt x="14240" y="22000"/>
                </a:lnTo>
                <a:close/>
                <a:moveTo>
                  <a:pt x="14240" y="18320"/>
                </a:moveTo>
                <a:lnTo>
                  <a:pt x="14640" y="18320"/>
                </a:lnTo>
                <a:lnTo>
                  <a:pt x="14640" y="22000"/>
                </a:lnTo>
                <a:lnTo>
                  <a:pt x="14240" y="22000"/>
                </a:lnTo>
                <a:close/>
                <a:moveTo>
                  <a:pt x="17520" y="18320"/>
                </a:moveTo>
                <a:lnTo>
                  <a:pt x="17920" y="18320"/>
                </a:lnTo>
                <a:lnTo>
                  <a:pt x="17920" y="22000"/>
                </a:lnTo>
                <a:lnTo>
                  <a:pt x="17520" y="22000"/>
                </a:lnTo>
                <a:close/>
                <a:moveTo>
                  <a:pt x="18320" y="18320"/>
                </a:moveTo>
                <a:lnTo>
                  <a:pt x="22000" y="18320"/>
                </a:lnTo>
                <a:lnTo>
                  <a:pt x="22000" y="18720"/>
                </a:lnTo>
                <a:lnTo>
                  <a:pt x="18320" y="18720"/>
                </a:lnTo>
                <a:close/>
                <a:moveTo>
                  <a:pt x="18320" y="21600"/>
                </a:moveTo>
                <a:lnTo>
                  <a:pt x="22000" y="21600"/>
                </a:lnTo>
                <a:lnTo>
                  <a:pt x="22000" y="22000"/>
                </a:lnTo>
                <a:lnTo>
                  <a:pt x="18320" y="22000"/>
                </a:lnTo>
                <a:close/>
                <a:moveTo>
                  <a:pt x="18320" y="18320"/>
                </a:moveTo>
                <a:lnTo>
                  <a:pt x="18720" y="18320"/>
                </a:lnTo>
                <a:lnTo>
                  <a:pt x="18720" y="22000"/>
                </a:lnTo>
                <a:lnTo>
                  <a:pt x="18320" y="22000"/>
                </a:lnTo>
                <a:close/>
                <a:moveTo>
                  <a:pt x="21600" y="18320"/>
                </a:moveTo>
                <a:lnTo>
                  <a:pt x="22000" y="18320"/>
                </a:lnTo>
                <a:lnTo>
                  <a:pt x="22000" y="22000"/>
                </a:lnTo>
                <a:lnTo>
                  <a:pt x="216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队列分析</a:t>
            </a:r>
          </a:p>
        </p:txBody>
      </p:sp>
      <p:sp>
        <p:nvSpPr>
          <p:cNvPr id="31" name="CHART-034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18000"/>
                </a:moveTo>
                <a:lnTo>
                  <a:pt x="21700" y="18000"/>
                </a:lnTo>
                <a:cubicBezTo>
                  <a:pt x="21866" y="18000"/>
                  <a:pt x="22000" y="18134"/>
                  <a:pt x="22000" y="18300"/>
                </a:cubicBezTo>
                <a:lnTo>
                  <a:pt x="22000" y="20700"/>
                </a:lnTo>
                <a:cubicBezTo>
                  <a:pt x="22000" y="20866"/>
                  <a:pt x="21866" y="21000"/>
                  <a:pt x="21700" y="21000"/>
                </a:cubicBezTo>
                <a:lnTo>
                  <a:pt x="2300" y="21000"/>
                </a:lnTo>
                <a:cubicBezTo>
                  <a:pt x="2134" y="21000"/>
                  <a:pt x="2000" y="20866"/>
                  <a:pt x="2000" y="20700"/>
                </a:cubicBezTo>
                <a:lnTo>
                  <a:pt x="2000" y="18300"/>
                </a:lnTo>
                <a:cubicBezTo>
                  <a:pt x="2000" y="18134"/>
                  <a:pt x="2134" y="18000"/>
                  <a:pt x="2300" y="18000"/>
                </a:cubicBezTo>
                <a:close/>
                <a:moveTo>
                  <a:pt x="2300" y="14000"/>
                </a:moveTo>
                <a:lnTo>
                  <a:pt x="21700" y="14000"/>
                </a:lnTo>
                <a:cubicBezTo>
                  <a:pt x="21866" y="14000"/>
                  <a:pt x="22000" y="14134"/>
                  <a:pt x="22000" y="14300"/>
                </a:cubicBezTo>
                <a:lnTo>
                  <a:pt x="22000" y="16700"/>
                </a:lnTo>
                <a:cubicBezTo>
                  <a:pt x="22000" y="16866"/>
                  <a:pt x="21866" y="17000"/>
                  <a:pt x="21700" y="17000"/>
                </a:cubicBezTo>
                <a:lnTo>
                  <a:pt x="2300" y="17000"/>
                </a:lnTo>
                <a:cubicBezTo>
                  <a:pt x="2134" y="17000"/>
                  <a:pt x="2000" y="16866"/>
                  <a:pt x="2000" y="16700"/>
                </a:cubicBezTo>
                <a:lnTo>
                  <a:pt x="2000" y="14300"/>
                </a:lnTo>
                <a:cubicBezTo>
                  <a:pt x="2000" y="14134"/>
                  <a:pt x="2134" y="14000"/>
                  <a:pt x="2300" y="14000"/>
                </a:cubicBezTo>
                <a:close/>
                <a:moveTo>
                  <a:pt x="2300" y="10000"/>
                </a:moveTo>
                <a:lnTo>
                  <a:pt x="21700" y="10000"/>
                </a:lnTo>
                <a:cubicBezTo>
                  <a:pt x="21866" y="10000"/>
                  <a:pt x="22000" y="10134"/>
                  <a:pt x="22000" y="10300"/>
                </a:cubicBezTo>
                <a:lnTo>
                  <a:pt x="22000" y="12700"/>
                </a:lnTo>
                <a:cubicBezTo>
                  <a:pt x="22000" y="12866"/>
                  <a:pt x="21866" y="13000"/>
                  <a:pt x="21700" y="13000"/>
                </a:cubicBezTo>
                <a:lnTo>
                  <a:pt x="2300" y="13000"/>
                </a:lnTo>
                <a:cubicBezTo>
                  <a:pt x="2134" y="13000"/>
                  <a:pt x="2000" y="12866"/>
                  <a:pt x="2000" y="12700"/>
                </a:cubicBezTo>
                <a:lnTo>
                  <a:pt x="2000" y="10300"/>
                </a:lnTo>
                <a:cubicBezTo>
                  <a:pt x="2000" y="10134"/>
                  <a:pt x="2134" y="10000"/>
                  <a:pt x="2300" y="10000"/>
                </a:cubicBezTo>
                <a:close/>
                <a:moveTo>
                  <a:pt x="2300" y="6000"/>
                </a:moveTo>
                <a:lnTo>
                  <a:pt x="21700" y="6000"/>
                </a:lnTo>
                <a:cubicBezTo>
                  <a:pt x="21866" y="6000"/>
                  <a:pt x="22000" y="6134"/>
                  <a:pt x="22000" y="6300"/>
                </a:cubicBezTo>
                <a:lnTo>
                  <a:pt x="22000" y="8700"/>
                </a:lnTo>
                <a:cubicBezTo>
                  <a:pt x="22000" y="8866"/>
                  <a:pt x="21866" y="9000"/>
                  <a:pt x="21700" y="9000"/>
                </a:cubicBezTo>
                <a:lnTo>
                  <a:pt x="2300" y="9000"/>
                </a:lnTo>
                <a:cubicBezTo>
                  <a:pt x="2134" y="9000"/>
                  <a:pt x="2000" y="8866"/>
                  <a:pt x="2000" y="8700"/>
                </a:cubicBezTo>
                <a:lnTo>
                  <a:pt x="2000" y="6300"/>
                </a:lnTo>
                <a:cubicBezTo>
                  <a:pt x="2000" y="6134"/>
                  <a:pt x="2134" y="6000"/>
                  <a:pt x="2300" y="6000"/>
                </a:cubicBezTo>
                <a:close/>
                <a:moveTo>
                  <a:pt x="2300" y="2000"/>
                </a:moveTo>
                <a:lnTo>
                  <a:pt x="21700" y="2000"/>
                </a:lnTo>
                <a:cubicBezTo>
                  <a:pt x="21866" y="2000"/>
                  <a:pt x="22000" y="2134"/>
                  <a:pt x="22000" y="2300"/>
                </a:cubicBezTo>
                <a:lnTo>
                  <a:pt x="22000" y="4700"/>
                </a:lnTo>
                <a:cubicBezTo>
                  <a:pt x="22000" y="4866"/>
                  <a:pt x="21866" y="5000"/>
                  <a:pt x="21700" y="5000"/>
                </a:cubicBezTo>
                <a:lnTo>
                  <a:pt x="2300" y="5000"/>
                </a:lnTo>
                <a:cubicBezTo>
                  <a:pt x="2134" y="5000"/>
                  <a:pt x="2000" y="4866"/>
                  <a:pt x="2000" y="47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分位带</a:t>
            </a:r>
          </a:p>
        </p:txBody>
      </p:sp>
      <p:sp>
        <p:nvSpPr>
          <p:cNvPr id="34" name="CHART-035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5700" y="17000"/>
                </a:moveTo>
                <a:cubicBezTo>
                  <a:pt x="5700" y="17387"/>
                  <a:pt x="5387" y="17700"/>
                  <a:pt x="5000" y="17700"/>
                </a:cubicBezTo>
                <a:cubicBezTo>
                  <a:pt x="4613" y="17700"/>
                  <a:pt x="4300" y="17387"/>
                  <a:pt x="4300" y="17000"/>
                </a:cubicBezTo>
                <a:cubicBezTo>
                  <a:pt x="4300" y="16613"/>
                  <a:pt x="4613" y="16300"/>
                  <a:pt x="5000" y="16300"/>
                </a:cubicBezTo>
                <a:cubicBezTo>
                  <a:pt x="5387" y="16300"/>
                  <a:pt x="5700" y="16613"/>
                  <a:pt x="5700" y="17000"/>
                </a:cubicBezTo>
                <a:close/>
                <a:moveTo>
                  <a:pt x="8700" y="14000"/>
                </a:moveTo>
                <a:cubicBezTo>
                  <a:pt x="8700" y="14387"/>
                  <a:pt x="8387" y="14700"/>
                  <a:pt x="8000" y="14700"/>
                </a:cubicBezTo>
                <a:cubicBezTo>
                  <a:pt x="7613" y="14700"/>
                  <a:pt x="7300" y="14387"/>
                  <a:pt x="7300" y="14000"/>
                </a:cubicBezTo>
                <a:cubicBezTo>
                  <a:pt x="7300" y="13613"/>
                  <a:pt x="7613" y="13300"/>
                  <a:pt x="8000" y="13300"/>
                </a:cubicBezTo>
                <a:cubicBezTo>
                  <a:pt x="8387" y="13300"/>
                  <a:pt x="8700" y="13613"/>
                  <a:pt x="8700" y="14000"/>
                </a:cubicBezTo>
                <a:close/>
                <a:moveTo>
                  <a:pt x="10700" y="16000"/>
                </a:moveTo>
                <a:cubicBezTo>
                  <a:pt x="10700" y="16387"/>
                  <a:pt x="10387" y="16700"/>
                  <a:pt x="10000" y="16700"/>
                </a:cubicBezTo>
                <a:cubicBezTo>
                  <a:pt x="9613" y="16700"/>
                  <a:pt x="9300" y="16387"/>
                  <a:pt x="9300" y="16000"/>
                </a:cubicBezTo>
                <a:cubicBezTo>
                  <a:pt x="9300" y="15613"/>
                  <a:pt x="9613" y="15300"/>
                  <a:pt x="10000" y="15300"/>
                </a:cubicBezTo>
                <a:cubicBezTo>
                  <a:pt x="10387" y="15300"/>
                  <a:pt x="10700" y="15613"/>
                  <a:pt x="10700" y="16000"/>
                </a:cubicBezTo>
                <a:close/>
                <a:moveTo>
                  <a:pt x="12700" y="11000"/>
                </a:moveTo>
                <a:cubicBezTo>
                  <a:pt x="12700" y="11387"/>
                  <a:pt x="12387" y="11700"/>
                  <a:pt x="12000" y="11700"/>
                </a:cubicBezTo>
                <a:cubicBezTo>
                  <a:pt x="11613" y="11700"/>
                  <a:pt x="11300" y="11387"/>
                  <a:pt x="11300" y="11000"/>
                </a:cubicBezTo>
                <a:cubicBezTo>
                  <a:pt x="11300" y="10613"/>
                  <a:pt x="11613" y="10300"/>
                  <a:pt x="12000" y="10300"/>
                </a:cubicBezTo>
                <a:cubicBezTo>
                  <a:pt x="12387" y="10300"/>
                  <a:pt x="12700" y="10613"/>
                  <a:pt x="12700" y="11000"/>
                </a:cubicBezTo>
                <a:close/>
                <a:moveTo>
                  <a:pt x="14700" y="12000"/>
                </a:moveTo>
                <a:cubicBezTo>
                  <a:pt x="14700" y="12387"/>
                  <a:pt x="14387" y="12700"/>
                  <a:pt x="14000" y="12700"/>
                </a:cubicBezTo>
                <a:cubicBezTo>
                  <a:pt x="13613" y="12700"/>
                  <a:pt x="13300" y="12387"/>
                  <a:pt x="13300" y="12000"/>
                </a:cubicBezTo>
                <a:cubicBezTo>
                  <a:pt x="13300" y="11613"/>
                  <a:pt x="13613" y="11300"/>
                  <a:pt x="14000" y="11300"/>
                </a:cubicBezTo>
                <a:cubicBezTo>
                  <a:pt x="14387" y="11300"/>
                  <a:pt x="14700" y="11613"/>
                  <a:pt x="14700" y="12000"/>
                </a:cubicBezTo>
                <a:close/>
                <a:moveTo>
                  <a:pt x="16700" y="8000"/>
                </a:moveTo>
                <a:cubicBezTo>
                  <a:pt x="16700" y="8387"/>
                  <a:pt x="16387" y="8700"/>
                  <a:pt x="16000" y="8700"/>
                </a:cubicBezTo>
                <a:cubicBezTo>
                  <a:pt x="15613" y="8700"/>
                  <a:pt x="15300" y="8387"/>
                  <a:pt x="15300" y="8000"/>
                </a:cubicBezTo>
                <a:cubicBezTo>
                  <a:pt x="15300" y="7613"/>
                  <a:pt x="15613" y="7300"/>
                  <a:pt x="16000" y="7300"/>
                </a:cubicBezTo>
                <a:cubicBezTo>
                  <a:pt x="16387" y="7300"/>
                  <a:pt x="16700" y="7613"/>
                  <a:pt x="16700" y="8000"/>
                </a:cubicBezTo>
                <a:close/>
                <a:moveTo>
                  <a:pt x="18700" y="9000"/>
                </a:moveTo>
                <a:cubicBezTo>
                  <a:pt x="18700" y="9387"/>
                  <a:pt x="18387" y="9700"/>
                  <a:pt x="18000" y="9700"/>
                </a:cubicBezTo>
                <a:cubicBezTo>
                  <a:pt x="17613" y="9700"/>
                  <a:pt x="17300" y="9387"/>
                  <a:pt x="17300" y="9000"/>
                </a:cubicBezTo>
                <a:cubicBezTo>
                  <a:pt x="17300" y="8613"/>
                  <a:pt x="17613" y="8300"/>
                  <a:pt x="18000" y="8300"/>
                </a:cubicBezTo>
                <a:cubicBezTo>
                  <a:pt x="18387" y="8300"/>
                  <a:pt x="18700" y="8613"/>
                  <a:pt x="18700" y="9000"/>
                </a:cubicBezTo>
                <a:close/>
                <a:moveTo>
                  <a:pt x="20700" y="6000"/>
                </a:moveTo>
                <a:cubicBezTo>
                  <a:pt x="20700" y="6387"/>
                  <a:pt x="20387" y="6700"/>
                  <a:pt x="20000" y="6700"/>
                </a:cubicBezTo>
                <a:cubicBezTo>
                  <a:pt x="19613" y="6700"/>
                  <a:pt x="19300" y="6387"/>
                  <a:pt x="19300" y="6000"/>
                </a:cubicBezTo>
                <a:cubicBezTo>
                  <a:pt x="19300" y="5613"/>
                  <a:pt x="19613" y="5300"/>
                  <a:pt x="20000" y="5300"/>
                </a:cubicBezTo>
                <a:cubicBezTo>
                  <a:pt x="20387" y="5300"/>
                  <a:pt x="20700" y="5613"/>
                  <a:pt x="20700" y="6000"/>
                </a:cubicBezTo>
                <a:close/>
                <a:moveTo>
                  <a:pt x="3277" y="18416"/>
                </a:moveTo>
                <a:lnTo>
                  <a:pt x="21277" y="6416"/>
                </a:lnTo>
                <a:lnTo>
                  <a:pt x="20723" y="5584"/>
                </a:lnTo>
                <a:lnTo>
                  <a:pt x="2723" y="1758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散点回归</a:t>
            </a:r>
          </a:p>
        </p:txBody>
      </p:sp>
      <p:sp>
        <p:nvSpPr>
          <p:cNvPr id="37" name="CHART-036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  <a:moveTo>
                  <a:pt x="12300" y="12000"/>
                </a:moveTo>
                <a:lnTo>
                  <a:pt x="12300" y="4000"/>
                </a:lnTo>
                <a:lnTo>
                  <a:pt x="11700" y="4000"/>
                </a:lnTo>
                <a:lnTo>
                  <a:pt x="11700" y="12000"/>
                </a:lnTo>
                <a:close/>
                <a:moveTo>
                  <a:pt x="12149" y="12260"/>
                </a:moveTo>
                <a:lnTo>
                  <a:pt x="19149" y="8260"/>
                </a:lnTo>
                <a:lnTo>
                  <a:pt x="18851" y="7740"/>
                </a:lnTo>
                <a:lnTo>
                  <a:pt x="11851" y="11740"/>
                </a:lnTo>
                <a:close/>
                <a:moveTo>
                  <a:pt x="11756" y="12174"/>
                </a:moveTo>
                <a:lnTo>
                  <a:pt x="16756" y="19174"/>
                </a:lnTo>
                <a:lnTo>
                  <a:pt x="17244" y="18826"/>
                </a:lnTo>
                <a:lnTo>
                  <a:pt x="12244" y="11826"/>
                </a:lnTo>
                <a:close/>
                <a:moveTo>
                  <a:pt x="11808" y="11770"/>
                </a:moveTo>
                <a:lnTo>
                  <a:pt x="5808" y="16770"/>
                </a:lnTo>
                <a:lnTo>
                  <a:pt x="6192" y="17230"/>
                </a:lnTo>
                <a:lnTo>
                  <a:pt x="12192" y="1223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百分比饼</a:t>
            </a:r>
          </a:p>
        </p:txBody>
      </p:sp>
      <p:sp>
        <p:nvSpPr>
          <p:cNvPr id="40" name="CHART-037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  <a:moveTo>
                  <a:pt x="18000" y="12000"/>
                </a:moveTo>
                <a:cubicBezTo>
                  <a:pt x="18000" y="8686"/>
                  <a:pt x="15314" y="6000"/>
                  <a:pt x="12000" y="6000"/>
                </a:cubicBezTo>
                <a:cubicBezTo>
                  <a:pt x="8686" y="6000"/>
                  <a:pt x="6000" y="8686"/>
                  <a:pt x="6000" y="12000"/>
                </a:cubicBezTo>
                <a:cubicBezTo>
                  <a:pt x="6000" y="15314"/>
                  <a:pt x="8686" y="18000"/>
                  <a:pt x="12000" y="18000"/>
                </a:cubicBezTo>
                <a:cubicBezTo>
                  <a:pt x="15314" y="18000"/>
                  <a:pt x="18000" y="15314"/>
                  <a:pt x="18000" y="12000"/>
                </a:cubicBezTo>
                <a:close/>
                <a:moveTo>
                  <a:pt x="12000" y="4000"/>
                </a:moveTo>
                <a:cubicBezTo>
                  <a:pt x="16400" y="4000"/>
                  <a:pt x="20000" y="7600"/>
                  <a:pt x="20000" y="12000"/>
                </a:cubicBezTo>
                <a:cubicBezTo>
                  <a:pt x="20000" y="14000"/>
                  <a:pt x="19400" y="16000"/>
                  <a:pt x="18500" y="17500"/>
                </a:cubicBezTo>
                <a:lnTo>
                  <a:pt x="17000" y="16500"/>
                </a:lnTo>
                <a:cubicBezTo>
                  <a:pt x="17700" y="15000"/>
                  <a:pt x="18000" y="13500"/>
                  <a:pt x="18000" y="12000"/>
                </a:cubicBezTo>
                <a:cubicBezTo>
                  <a:pt x="18000" y="8700"/>
                  <a:pt x="15300" y="6000"/>
                  <a:pt x="12000" y="6000"/>
                </a:cubicBezTo>
                <a:close/>
                <a:moveTo>
                  <a:pt x="11000" y="12700"/>
                </a:moveTo>
                <a:lnTo>
                  <a:pt x="13000" y="12700"/>
                </a:lnTo>
                <a:lnTo>
                  <a:pt x="13000" y="11300"/>
                </a:lnTo>
                <a:lnTo>
                  <a:pt x="11000" y="11300"/>
                </a:lnTo>
                <a:close/>
                <a:moveTo>
                  <a:pt x="11300" y="11000"/>
                </a:moveTo>
                <a:lnTo>
                  <a:pt x="11300" y="13000"/>
                </a:lnTo>
                <a:lnTo>
                  <a:pt x="12700" y="13000"/>
                </a:lnTo>
                <a:lnTo>
                  <a:pt x="12700" y="1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环形KPI</a:t>
            </a:r>
          </a:p>
        </p:txBody>
      </p:sp>
      <p:sp>
        <p:nvSpPr>
          <p:cNvPr id="43" name="CHART-038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4000"/>
                </a:moveTo>
                <a:lnTo>
                  <a:pt x="22000" y="4000"/>
                </a:lnTo>
                <a:lnTo>
                  <a:pt x="20000" y="8000"/>
                </a:lnTo>
                <a:lnTo>
                  <a:pt x="4000" y="8000"/>
                </a:lnTo>
                <a:close/>
                <a:moveTo>
                  <a:pt x="4000" y="9000"/>
                </a:moveTo>
                <a:lnTo>
                  <a:pt x="20000" y="9000"/>
                </a:lnTo>
                <a:lnTo>
                  <a:pt x="17000" y="13000"/>
                </a:lnTo>
                <a:lnTo>
                  <a:pt x="7000" y="13000"/>
                </a:lnTo>
                <a:close/>
                <a:moveTo>
                  <a:pt x="7000" y="14000"/>
                </a:moveTo>
                <a:lnTo>
                  <a:pt x="17000" y="14000"/>
                </a:lnTo>
                <a:lnTo>
                  <a:pt x="15000" y="18000"/>
                </a:lnTo>
                <a:lnTo>
                  <a:pt x="9000" y="18000"/>
                </a:lnTo>
                <a:close/>
                <a:moveTo>
                  <a:pt x="9000" y="19000"/>
                </a:moveTo>
                <a:lnTo>
                  <a:pt x="15000" y="19000"/>
                </a:lnTo>
                <a:lnTo>
                  <a:pt x="13000" y="22000"/>
                </a:lnTo>
                <a:lnTo>
                  <a:pt x="110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数据漏斗</a:t>
            </a:r>
          </a:p>
        </p:txBody>
      </p:sp>
      <p:sp>
        <p:nvSpPr>
          <p:cNvPr id="46" name="CHART-039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00" y="4000"/>
                </a:moveTo>
                <a:lnTo>
                  <a:pt x="21400" y="4000"/>
                </a:lnTo>
                <a:cubicBezTo>
                  <a:pt x="21731" y="4000"/>
                  <a:pt x="22000" y="4269"/>
                  <a:pt x="22000" y="4600"/>
                </a:cubicBezTo>
                <a:lnTo>
                  <a:pt x="22000" y="19400"/>
                </a:lnTo>
                <a:cubicBezTo>
                  <a:pt x="22000" y="19731"/>
                  <a:pt x="21731" y="20000"/>
                  <a:pt x="21400" y="20000"/>
                </a:cubicBezTo>
                <a:lnTo>
                  <a:pt x="2600" y="20000"/>
                </a:lnTo>
                <a:cubicBezTo>
                  <a:pt x="2269" y="20000"/>
                  <a:pt x="2000" y="19731"/>
                  <a:pt x="2000" y="19400"/>
                </a:cubicBezTo>
                <a:lnTo>
                  <a:pt x="2000" y="4600"/>
                </a:lnTo>
                <a:cubicBezTo>
                  <a:pt x="2000" y="4269"/>
                  <a:pt x="2269" y="4000"/>
                  <a:pt x="2600" y="4000"/>
                </a:cubicBezTo>
                <a:close/>
                <a:moveTo>
                  <a:pt x="4300" y="7000"/>
                </a:moveTo>
                <a:lnTo>
                  <a:pt x="10700" y="7000"/>
                </a:lnTo>
                <a:cubicBezTo>
                  <a:pt x="10866" y="7000"/>
                  <a:pt x="11000" y="7134"/>
                  <a:pt x="11000" y="7300"/>
                </a:cubicBezTo>
                <a:lnTo>
                  <a:pt x="11000" y="8100"/>
                </a:lnTo>
                <a:cubicBezTo>
                  <a:pt x="11000" y="8266"/>
                  <a:pt x="10866" y="8400"/>
                  <a:pt x="10700" y="8400"/>
                </a:cubicBezTo>
                <a:lnTo>
                  <a:pt x="4300" y="8400"/>
                </a:lnTo>
                <a:cubicBezTo>
                  <a:pt x="4134" y="8400"/>
                  <a:pt x="4000" y="8266"/>
                  <a:pt x="4000" y="8100"/>
                </a:cubicBezTo>
                <a:lnTo>
                  <a:pt x="4000" y="7300"/>
                </a:lnTo>
                <a:cubicBezTo>
                  <a:pt x="4000" y="7134"/>
                  <a:pt x="4134" y="7000"/>
                  <a:pt x="4300" y="7000"/>
                </a:cubicBezTo>
                <a:close/>
                <a:moveTo>
                  <a:pt x="4300" y="10000"/>
                </a:moveTo>
                <a:lnTo>
                  <a:pt x="13700" y="10000"/>
                </a:lnTo>
                <a:cubicBezTo>
                  <a:pt x="13866" y="10000"/>
                  <a:pt x="14000" y="10134"/>
                  <a:pt x="14000" y="10300"/>
                </a:cubicBezTo>
                <a:lnTo>
                  <a:pt x="14000" y="12100"/>
                </a:lnTo>
                <a:cubicBezTo>
                  <a:pt x="14000" y="12266"/>
                  <a:pt x="13866" y="12400"/>
                  <a:pt x="13700" y="12400"/>
                </a:cubicBezTo>
                <a:lnTo>
                  <a:pt x="4300" y="12400"/>
                </a:lnTo>
                <a:cubicBezTo>
                  <a:pt x="4134" y="12400"/>
                  <a:pt x="4000" y="12266"/>
                  <a:pt x="4000" y="12100"/>
                </a:cubicBezTo>
                <a:lnTo>
                  <a:pt x="4000" y="10300"/>
                </a:lnTo>
                <a:cubicBezTo>
                  <a:pt x="4000" y="10134"/>
                  <a:pt x="4134" y="10000"/>
                  <a:pt x="4300" y="10000"/>
                </a:cubicBezTo>
                <a:close/>
                <a:moveTo>
                  <a:pt x="15247" y="14247"/>
                </a:moveTo>
                <a:lnTo>
                  <a:pt x="18258" y="11237"/>
                </a:lnTo>
                <a:lnTo>
                  <a:pt x="18717" y="11697"/>
                </a:lnTo>
                <a:lnTo>
                  <a:pt x="19000" y="10000"/>
                </a:lnTo>
                <a:lnTo>
                  <a:pt x="17303" y="10283"/>
                </a:lnTo>
                <a:lnTo>
                  <a:pt x="17763" y="10742"/>
                </a:lnTo>
                <a:lnTo>
                  <a:pt x="14753" y="13753"/>
                </a:lnTo>
                <a:close/>
                <a:moveTo>
                  <a:pt x="4000" y="17000"/>
                </a:moveTo>
                <a:lnTo>
                  <a:pt x="7000" y="15000"/>
                </a:lnTo>
                <a:lnTo>
                  <a:pt x="10000" y="16000"/>
                </a:lnTo>
                <a:lnTo>
                  <a:pt x="13000" y="13000"/>
                </a:lnTo>
                <a:lnTo>
                  <a:pt x="16000" y="14000"/>
                </a:lnTo>
                <a:lnTo>
                  <a:pt x="20000" y="11000"/>
                </a:lnTo>
                <a:moveTo>
                  <a:pt x="4194" y="17291"/>
                </a:moveTo>
                <a:lnTo>
                  <a:pt x="7194" y="15291"/>
                </a:lnTo>
                <a:lnTo>
                  <a:pt x="6806" y="14709"/>
                </a:lnTo>
                <a:lnTo>
                  <a:pt x="3806" y="16709"/>
                </a:lnTo>
                <a:close/>
                <a:moveTo>
                  <a:pt x="6889" y="15332"/>
                </a:moveTo>
                <a:lnTo>
                  <a:pt x="9889" y="16332"/>
                </a:lnTo>
                <a:lnTo>
                  <a:pt x="10111" y="15668"/>
                </a:lnTo>
                <a:lnTo>
                  <a:pt x="7111" y="14668"/>
                </a:lnTo>
                <a:close/>
                <a:moveTo>
                  <a:pt x="10247" y="16247"/>
                </a:moveTo>
                <a:lnTo>
                  <a:pt x="13247" y="13247"/>
                </a:lnTo>
                <a:lnTo>
                  <a:pt x="12753" y="12753"/>
                </a:lnTo>
                <a:lnTo>
                  <a:pt x="9753" y="15753"/>
                </a:lnTo>
                <a:close/>
                <a:moveTo>
                  <a:pt x="12889" y="13332"/>
                </a:moveTo>
                <a:lnTo>
                  <a:pt x="15889" y="14332"/>
                </a:lnTo>
                <a:lnTo>
                  <a:pt x="16111" y="13668"/>
                </a:lnTo>
                <a:lnTo>
                  <a:pt x="13111" y="12668"/>
                </a:lnTo>
                <a:close/>
                <a:moveTo>
                  <a:pt x="16210" y="14280"/>
                </a:moveTo>
                <a:lnTo>
                  <a:pt x="20210" y="11280"/>
                </a:lnTo>
                <a:lnTo>
                  <a:pt x="19790" y="10720"/>
                </a:lnTo>
                <a:lnTo>
                  <a:pt x="15790" y="1372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KPI仪表卡</a:t>
            </a:r>
          </a:p>
        </p:txBody>
      </p:sp>
      <p:sp>
        <p:nvSpPr>
          <p:cNvPr id="49" name="CHART-040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4200" y="8000"/>
                </a:moveTo>
                <a:lnTo>
                  <a:pt x="5800" y="8000"/>
                </a:lnTo>
                <a:cubicBezTo>
                  <a:pt x="5910" y="8000"/>
                  <a:pt x="6000" y="8090"/>
                  <a:pt x="6000" y="8200"/>
                </a:cubicBezTo>
                <a:lnTo>
                  <a:pt x="6000" y="18800"/>
                </a:lnTo>
                <a:cubicBezTo>
                  <a:pt x="6000" y="18910"/>
                  <a:pt x="5910" y="19000"/>
                  <a:pt x="5800" y="19000"/>
                </a:cubicBezTo>
                <a:lnTo>
                  <a:pt x="4200" y="19000"/>
                </a:lnTo>
                <a:cubicBezTo>
                  <a:pt x="4090" y="19000"/>
                  <a:pt x="4000" y="18910"/>
                  <a:pt x="4000" y="18800"/>
                </a:cubicBezTo>
                <a:lnTo>
                  <a:pt x="4000" y="8200"/>
                </a:lnTo>
                <a:cubicBezTo>
                  <a:pt x="4000" y="8090"/>
                  <a:pt x="4090" y="8000"/>
                  <a:pt x="4200" y="8000"/>
                </a:cubicBezTo>
                <a:close/>
                <a:moveTo>
                  <a:pt x="4850" y="6000"/>
                </a:moveTo>
                <a:lnTo>
                  <a:pt x="4850" y="21000"/>
                </a:lnTo>
                <a:lnTo>
                  <a:pt x="5150" y="21000"/>
                </a:lnTo>
                <a:lnTo>
                  <a:pt x="5150" y="6000"/>
                </a:lnTo>
                <a:close/>
                <a:moveTo>
                  <a:pt x="8200" y="12000"/>
                </a:moveTo>
                <a:lnTo>
                  <a:pt x="9800" y="12000"/>
                </a:lnTo>
                <a:cubicBezTo>
                  <a:pt x="9910" y="12000"/>
                  <a:pt x="10000" y="12090"/>
                  <a:pt x="10000" y="12200"/>
                </a:cubicBezTo>
                <a:lnTo>
                  <a:pt x="10000" y="18800"/>
                </a:lnTo>
                <a:cubicBezTo>
                  <a:pt x="10000" y="18910"/>
                  <a:pt x="9910" y="19000"/>
                  <a:pt x="9800" y="19000"/>
                </a:cubicBezTo>
                <a:lnTo>
                  <a:pt x="8200" y="19000"/>
                </a:lnTo>
                <a:cubicBezTo>
                  <a:pt x="8090" y="19000"/>
                  <a:pt x="8000" y="18910"/>
                  <a:pt x="8000" y="18800"/>
                </a:cubicBezTo>
                <a:lnTo>
                  <a:pt x="8000" y="12200"/>
                </a:lnTo>
                <a:cubicBezTo>
                  <a:pt x="8000" y="12090"/>
                  <a:pt x="8090" y="12000"/>
                  <a:pt x="8200" y="12000"/>
                </a:cubicBezTo>
                <a:close/>
                <a:moveTo>
                  <a:pt x="8850" y="10000"/>
                </a:moveTo>
                <a:lnTo>
                  <a:pt x="8850" y="21000"/>
                </a:lnTo>
                <a:lnTo>
                  <a:pt x="9150" y="21000"/>
                </a:lnTo>
                <a:lnTo>
                  <a:pt x="9150" y="10000"/>
                </a:lnTo>
                <a:close/>
                <a:moveTo>
                  <a:pt x="12200" y="5000"/>
                </a:moveTo>
                <a:lnTo>
                  <a:pt x="13800" y="5000"/>
                </a:lnTo>
                <a:cubicBezTo>
                  <a:pt x="13910" y="5000"/>
                  <a:pt x="14000" y="5090"/>
                  <a:pt x="14000" y="5200"/>
                </a:cubicBezTo>
                <a:lnTo>
                  <a:pt x="14000" y="18800"/>
                </a:lnTo>
                <a:cubicBezTo>
                  <a:pt x="14000" y="18910"/>
                  <a:pt x="13910" y="19000"/>
                  <a:pt x="13800" y="19000"/>
                </a:cubicBezTo>
                <a:lnTo>
                  <a:pt x="12200" y="19000"/>
                </a:lnTo>
                <a:cubicBezTo>
                  <a:pt x="12090" y="19000"/>
                  <a:pt x="12000" y="18910"/>
                  <a:pt x="12000" y="18800"/>
                </a:cubicBezTo>
                <a:lnTo>
                  <a:pt x="12000" y="5200"/>
                </a:lnTo>
                <a:cubicBezTo>
                  <a:pt x="12000" y="5090"/>
                  <a:pt x="12090" y="5000"/>
                  <a:pt x="12200" y="5000"/>
                </a:cubicBezTo>
                <a:close/>
                <a:moveTo>
                  <a:pt x="12850" y="3000"/>
                </a:moveTo>
                <a:lnTo>
                  <a:pt x="12850" y="21000"/>
                </a:lnTo>
                <a:lnTo>
                  <a:pt x="13150" y="21000"/>
                </a:lnTo>
                <a:lnTo>
                  <a:pt x="13150" y="3000"/>
                </a:lnTo>
                <a:close/>
                <a:moveTo>
                  <a:pt x="16200" y="9000"/>
                </a:moveTo>
                <a:lnTo>
                  <a:pt x="17800" y="9000"/>
                </a:lnTo>
                <a:cubicBezTo>
                  <a:pt x="17910" y="9000"/>
                  <a:pt x="18000" y="9090"/>
                  <a:pt x="18000" y="9200"/>
                </a:cubicBezTo>
                <a:lnTo>
                  <a:pt x="18000" y="16800"/>
                </a:lnTo>
                <a:cubicBezTo>
                  <a:pt x="18000" y="16910"/>
                  <a:pt x="17910" y="17000"/>
                  <a:pt x="17800" y="17000"/>
                </a:cubicBezTo>
                <a:lnTo>
                  <a:pt x="16200" y="17000"/>
                </a:lnTo>
                <a:cubicBezTo>
                  <a:pt x="16090" y="17000"/>
                  <a:pt x="16000" y="16910"/>
                  <a:pt x="16000" y="16800"/>
                </a:cubicBezTo>
                <a:lnTo>
                  <a:pt x="16000" y="9200"/>
                </a:lnTo>
                <a:cubicBezTo>
                  <a:pt x="16000" y="9090"/>
                  <a:pt x="16090" y="9000"/>
                  <a:pt x="16200" y="9000"/>
                </a:cubicBezTo>
                <a:close/>
                <a:moveTo>
                  <a:pt x="16850" y="7000"/>
                </a:moveTo>
                <a:lnTo>
                  <a:pt x="16850" y="21000"/>
                </a:lnTo>
                <a:lnTo>
                  <a:pt x="17150" y="21000"/>
                </a:lnTo>
                <a:lnTo>
                  <a:pt x="17150" y="7000"/>
                </a:lnTo>
                <a:close/>
                <a:moveTo>
                  <a:pt x="20200" y="11000"/>
                </a:moveTo>
                <a:lnTo>
                  <a:pt x="21800" y="11000"/>
                </a:lnTo>
                <a:cubicBezTo>
                  <a:pt x="21910" y="11000"/>
                  <a:pt x="22000" y="11090"/>
                  <a:pt x="22000" y="11200"/>
                </a:cubicBezTo>
                <a:lnTo>
                  <a:pt x="22000" y="16800"/>
                </a:lnTo>
                <a:cubicBezTo>
                  <a:pt x="22000" y="16910"/>
                  <a:pt x="21910" y="17000"/>
                  <a:pt x="21800" y="17000"/>
                </a:cubicBezTo>
                <a:lnTo>
                  <a:pt x="20200" y="17000"/>
                </a:lnTo>
                <a:cubicBezTo>
                  <a:pt x="20090" y="17000"/>
                  <a:pt x="20000" y="16910"/>
                  <a:pt x="20000" y="16800"/>
                </a:cubicBezTo>
                <a:lnTo>
                  <a:pt x="20000" y="11200"/>
                </a:lnTo>
                <a:cubicBezTo>
                  <a:pt x="20000" y="11090"/>
                  <a:pt x="20090" y="11000"/>
                  <a:pt x="20200" y="11000"/>
                </a:cubicBezTo>
                <a:close/>
                <a:moveTo>
                  <a:pt x="20850" y="9000"/>
                </a:moveTo>
                <a:lnTo>
                  <a:pt x="20850" y="21000"/>
                </a:lnTo>
                <a:lnTo>
                  <a:pt x="21150" y="21000"/>
                </a:lnTo>
                <a:lnTo>
                  <a:pt x="21150" y="9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CHART-040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区间柱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05_诊断工具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4E79"/>
                </a:solidFill>
              </a:rPr>
              <a:t>DIAG · 20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每个图标对应一个公开商业方法论框架。Shape Fill 一键改色。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05_诊断工具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DIAG · 第 1/1 页 · 共 20 个</a:t>
            </a:r>
          </a:p>
        </p:txBody>
      </p:sp>
      <p:sp>
        <p:nvSpPr>
          <p:cNvPr id="4" name="DIAG-001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SWOT分析</a:t>
            </a:r>
          </a:p>
        </p:txBody>
      </p:sp>
      <p:sp>
        <p:nvSpPr>
          <p:cNvPr id="7" name="DIAG-002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000"/>
                </a:moveTo>
                <a:lnTo>
                  <a:pt x="8400" y="2000"/>
                </a:lnTo>
                <a:lnTo>
                  <a:pt x="8400" y="2400"/>
                </a:lnTo>
                <a:lnTo>
                  <a:pt x="2000" y="2400"/>
                </a:lnTo>
                <a:close/>
                <a:moveTo>
                  <a:pt x="2000" y="11400"/>
                </a:moveTo>
                <a:lnTo>
                  <a:pt x="8400" y="11400"/>
                </a:lnTo>
                <a:lnTo>
                  <a:pt x="8400" y="11800"/>
                </a:lnTo>
                <a:lnTo>
                  <a:pt x="2000" y="11800"/>
                </a:lnTo>
                <a:close/>
                <a:moveTo>
                  <a:pt x="2000" y="2000"/>
                </a:moveTo>
                <a:lnTo>
                  <a:pt x="2400" y="2000"/>
                </a:lnTo>
                <a:lnTo>
                  <a:pt x="2400" y="11800"/>
                </a:lnTo>
                <a:lnTo>
                  <a:pt x="2000" y="11800"/>
                </a:lnTo>
                <a:close/>
                <a:moveTo>
                  <a:pt x="8000" y="2000"/>
                </a:moveTo>
                <a:lnTo>
                  <a:pt x="8400" y="2000"/>
                </a:lnTo>
                <a:lnTo>
                  <a:pt x="8400" y="11800"/>
                </a:lnTo>
                <a:lnTo>
                  <a:pt x="8000" y="11800"/>
                </a:lnTo>
                <a:close/>
                <a:moveTo>
                  <a:pt x="8800" y="2000"/>
                </a:moveTo>
                <a:lnTo>
                  <a:pt x="15200" y="2000"/>
                </a:lnTo>
                <a:lnTo>
                  <a:pt x="15200" y="2400"/>
                </a:lnTo>
                <a:lnTo>
                  <a:pt x="8800" y="2400"/>
                </a:lnTo>
                <a:close/>
                <a:moveTo>
                  <a:pt x="8800" y="11400"/>
                </a:moveTo>
                <a:lnTo>
                  <a:pt x="15200" y="11400"/>
                </a:lnTo>
                <a:lnTo>
                  <a:pt x="15200" y="11800"/>
                </a:lnTo>
                <a:lnTo>
                  <a:pt x="8800" y="11800"/>
                </a:lnTo>
                <a:close/>
                <a:moveTo>
                  <a:pt x="8800" y="2000"/>
                </a:moveTo>
                <a:lnTo>
                  <a:pt x="9200" y="2000"/>
                </a:lnTo>
                <a:lnTo>
                  <a:pt x="9200" y="11800"/>
                </a:lnTo>
                <a:lnTo>
                  <a:pt x="8800" y="11800"/>
                </a:lnTo>
                <a:close/>
                <a:moveTo>
                  <a:pt x="14800" y="2000"/>
                </a:moveTo>
                <a:lnTo>
                  <a:pt x="15200" y="2000"/>
                </a:lnTo>
                <a:lnTo>
                  <a:pt x="15200" y="11800"/>
                </a:lnTo>
                <a:lnTo>
                  <a:pt x="14800" y="11800"/>
                </a:lnTo>
                <a:close/>
                <a:moveTo>
                  <a:pt x="15600" y="2000"/>
                </a:moveTo>
                <a:lnTo>
                  <a:pt x="22000" y="2000"/>
                </a:lnTo>
                <a:lnTo>
                  <a:pt x="22000" y="2400"/>
                </a:lnTo>
                <a:lnTo>
                  <a:pt x="15600" y="2400"/>
                </a:lnTo>
                <a:close/>
                <a:moveTo>
                  <a:pt x="15600" y="11400"/>
                </a:moveTo>
                <a:lnTo>
                  <a:pt x="22000" y="11400"/>
                </a:lnTo>
                <a:lnTo>
                  <a:pt x="22000" y="11800"/>
                </a:lnTo>
                <a:lnTo>
                  <a:pt x="15600" y="11800"/>
                </a:lnTo>
                <a:close/>
                <a:moveTo>
                  <a:pt x="15600" y="2000"/>
                </a:moveTo>
                <a:lnTo>
                  <a:pt x="16000" y="2000"/>
                </a:lnTo>
                <a:lnTo>
                  <a:pt x="16000" y="11800"/>
                </a:lnTo>
                <a:lnTo>
                  <a:pt x="15600" y="11800"/>
                </a:lnTo>
                <a:close/>
                <a:moveTo>
                  <a:pt x="21600" y="2000"/>
                </a:moveTo>
                <a:lnTo>
                  <a:pt x="22000" y="2000"/>
                </a:lnTo>
                <a:lnTo>
                  <a:pt x="22000" y="11800"/>
                </a:lnTo>
                <a:lnTo>
                  <a:pt x="21600" y="11800"/>
                </a:lnTo>
                <a:close/>
                <a:moveTo>
                  <a:pt x="2000" y="12200"/>
                </a:moveTo>
                <a:lnTo>
                  <a:pt x="8400" y="12200"/>
                </a:lnTo>
                <a:lnTo>
                  <a:pt x="8400" y="12600"/>
                </a:lnTo>
                <a:lnTo>
                  <a:pt x="2000" y="12600"/>
                </a:lnTo>
                <a:close/>
                <a:moveTo>
                  <a:pt x="2000" y="21600"/>
                </a:moveTo>
                <a:lnTo>
                  <a:pt x="8400" y="21600"/>
                </a:lnTo>
                <a:lnTo>
                  <a:pt x="8400" y="22000"/>
                </a:lnTo>
                <a:lnTo>
                  <a:pt x="2000" y="22000"/>
                </a:lnTo>
                <a:close/>
                <a:moveTo>
                  <a:pt x="2000" y="12200"/>
                </a:moveTo>
                <a:lnTo>
                  <a:pt x="2400" y="12200"/>
                </a:lnTo>
                <a:lnTo>
                  <a:pt x="2400" y="22000"/>
                </a:lnTo>
                <a:lnTo>
                  <a:pt x="2000" y="22000"/>
                </a:lnTo>
                <a:close/>
                <a:moveTo>
                  <a:pt x="8000" y="12200"/>
                </a:moveTo>
                <a:lnTo>
                  <a:pt x="8400" y="12200"/>
                </a:lnTo>
                <a:lnTo>
                  <a:pt x="8400" y="22000"/>
                </a:lnTo>
                <a:lnTo>
                  <a:pt x="8000" y="22000"/>
                </a:lnTo>
                <a:close/>
                <a:moveTo>
                  <a:pt x="8800" y="12200"/>
                </a:moveTo>
                <a:lnTo>
                  <a:pt x="15200" y="12200"/>
                </a:lnTo>
                <a:lnTo>
                  <a:pt x="15200" y="12600"/>
                </a:lnTo>
                <a:lnTo>
                  <a:pt x="8800" y="12600"/>
                </a:lnTo>
                <a:close/>
                <a:moveTo>
                  <a:pt x="8800" y="21600"/>
                </a:moveTo>
                <a:lnTo>
                  <a:pt x="15200" y="21600"/>
                </a:lnTo>
                <a:lnTo>
                  <a:pt x="15200" y="22000"/>
                </a:lnTo>
                <a:lnTo>
                  <a:pt x="8800" y="22000"/>
                </a:lnTo>
                <a:close/>
                <a:moveTo>
                  <a:pt x="8800" y="12200"/>
                </a:moveTo>
                <a:lnTo>
                  <a:pt x="9200" y="12200"/>
                </a:lnTo>
                <a:lnTo>
                  <a:pt x="9200" y="22000"/>
                </a:lnTo>
                <a:lnTo>
                  <a:pt x="8800" y="22000"/>
                </a:lnTo>
                <a:close/>
                <a:moveTo>
                  <a:pt x="14800" y="12200"/>
                </a:moveTo>
                <a:lnTo>
                  <a:pt x="15200" y="12200"/>
                </a:lnTo>
                <a:lnTo>
                  <a:pt x="15200" y="22000"/>
                </a:lnTo>
                <a:lnTo>
                  <a:pt x="14800" y="22000"/>
                </a:lnTo>
                <a:close/>
                <a:moveTo>
                  <a:pt x="15600" y="12200"/>
                </a:moveTo>
                <a:lnTo>
                  <a:pt x="22000" y="12200"/>
                </a:lnTo>
                <a:lnTo>
                  <a:pt x="22000" y="12600"/>
                </a:lnTo>
                <a:lnTo>
                  <a:pt x="15600" y="12600"/>
                </a:lnTo>
                <a:close/>
                <a:moveTo>
                  <a:pt x="15600" y="21600"/>
                </a:moveTo>
                <a:lnTo>
                  <a:pt x="22000" y="21600"/>
                </a:lnTo>
                <a:lnTo>
                  <a:pt x="22000" y="22000"/>
                </a:lnTo>
                <a:lnTo>
                  <a:pt x="15600" y="22000"/>
                </a:lnTo>
                <a:close/>
                <a:moveTo>
                  <a:pt x="15600" y="12200"/>
                </a:moveTo>
                <a:lnTo>
                  <a:pt x="16000" y="12200"/>
                </a:lnTo>
                <a:lnTo>
                  <a:pt x="16000" y="22000"/>
                </a:lnTo>
                <a:lnTo>
                  <a:pt x="15600" y="22000"/>
                </a:lnTo>
                <a:close/>
                <a:moveTo>
                  <a:pt x="21600" y="12200"/>
                </a:moveTo>
                <a:lnTo>
                  <a:pt x="22000" y="12200"/>
                </a:lnTo>
                <a:lnTo>
                  <a:pt x="22000" y="22000"/>
                </a:lnTo>
                <a:lnTo>
                  <a:pt x="216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PEST(LE)分析</a:t>
            </a:r>
          </a:p>
        </p:txBody>
      </p:sp>
      <p:sp>
        <p:nvSpPr>
          <p:cNvPr id="10" name="DIAG-003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2300"/>
                </a:moveTo>
                <a:lnTo>
                  <a:pt x="19000" y="12300"/>
                </a:lnTo>
                <a:lnTo>
                  <a:pt x="19000" y="11700"/>
                </a:lnTo>
                <a:lnTo>
                  <a:pt x="3000" y="11700"/>
                </a:lnTo>
                <a:close/>
                <a:moveTo>
                  <a:pt x="19000" y="11000"/>
                </a:moveTo>
                <a:lnTo>
                  <a:pt x="22000" y="12000"/>
                </a:lnTo>
                <a:lnTo>
                  <a:pt x="19000" y="13000"/>
                </a:lnTo>
                <a:close/>
                <a:moveTo>
                  <a:pt x="6821" y="8089"/>
                </a:moveTo>
                <a:lnTo>
                  <a:pt x="8821" y="12089"/>
                </a:lnTo>
                <a:lnTo>
                  <a:pt x="9179" y="11911"/>
                </a:lnTo>
                <a:lnTo>
                  <a:pt x="7179" y="7911"/>
                </a:lnTo>
                <a:close/>
                <a:moveTo>
                  <a:pt x="10821" y="8089"/>
                </a:moveTo>
                <a:lnTo>
                  <a:pt x="12821" y="12089"/>
                </a:lnTo>
                <a:lnTo>
                  <a:pt x="13179" y="11911"/>
                </a:lnTo>
                <a:lnTo>
                  <a:pt x="11179" y="7911"/>
                </a:lnTo>
                <a:close/>
                <a:moveTo>
                  <a:pt x="14821" y="8089"/>
                </a:moveTo>
                <a:lnTo>
                  <a:pt x="16821" y="12089"/>
                </a:lnTo>
                <a:lnTo>
                  <a:pt x="17179" y="11911"/>
                </a:lnTo>
                <a:lnTo>
                  <a:pt x="15179" y="7911"/>
                </a:lnTo>
                <a:close/>
                <a:moveTo>
                  <a:pt x="7179" y="16089"/>
                </a:moveTo>
                <a:lnTo>
                  <a:pt x="9179" y="12089"/>
                </a:lnTo>
                <a:lnTo>
                  <a:pt x="8821" y="11911"/>
                </a:lnTo>
                <a:lnTo>
                  <a:pt x="6821" y="15911"/>
                </a:lnTo>
                <a:close/>
                <a:moveTo>
                  <a:pt x="11179" y="16089"/>
                </a:moveTo>
                <a:lnTo>
                  <a:pt x="13179" y="12089"/>
                </a:lnTo>
                <a:lnTo>
                  <a:pt x="12821" y="11911"/>
                </a:lnTo>
                <a:lnTo>
                  <a:pt x="10821" y="15911"/>
                </a:lnTo>
                <a:close/>
                <a:moveTo>
                  <a:pt x="15179" y="16089"/>
                </a:moveTo>
                <a:lnTo>
                  <a:pt x="17179" y="12089"/>
                </a:lnTo>
                <a:lnTo>
                  <a:pt x="16821" y="11911"/>
                </a:lnTo>
                <a:lnTo>
                  <a:pt x="14821" y="15911"/>
                </a:lnTo>
                <a:close/>
                <a:moveTo>
                  <a:pt x="4911" y="7179"/>
                </a:moveTo>
                <a:lnTo>
                  <a:pt x="6911" y="8179"/>
                </a:lnTo>
                <a:lnTo>
                  <a:pt x="7089" y="7821"/>
                </a:lnTo>
                <a:lnTo>
                  <a:pt x="5089" y="6821"/>
                </a:lnTo>
                <a:close/>
                <a:moveTo>
                  <a:pt x="5089" y="17179"/>
                </a:moveTo>
                <a:lnTo>
                  <a:pt x="7089" y="16179"/>
                </a:lnTo>
                <a:lnTo>
                  <a:pt x="6911" y="15821"/>
                </a:lnTo>
                <a:lnTo>
                  <a:pt x="4911" y="1682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鱼骨图</a:t>
            </a:r>
          </a:p>
        </p:txBody>
      </p:sp>
      <p:sp>
        <p:nvSpPr>
          <p:cNvPr id="13" name="DIAG-004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800" y="4000"/>
                </a:moveTo>
                <a:cubicBezTo>
                  <a:pt x="13800" y="4994"/>
                  <a:pt x="12994" y="5800"/>
                  <a:pt x="12000" y="5800"/>
                </a:cubicBezTo>
                <a:cubicBezTo>
                  <a:pt x="11006" y="5800"/>
                  <a:pt x="10200" y="4994"/>
                  <a:pt x="10200" y="4000"/>
                </a:cubicBezTo>
                <a:cubicBezTo>
                  <a:pt x="10200" y="3006"/>
                  <a:pt x="11006" y="2200"/>
                  <a:pt x="12000" y="2200"/>
                </a:cubicBezTo>
                <a:cubicBezTo>
                  <a:pt x="12994" y="2200"/>
                  <a:pt x="13800" y="3006"/>
                  <a:pt x="13800" y="4000"/>
                </a:cubicBezTo>
                <a:close/>
                <a:moveTo>
                  <a:pt x="11800" y="6000"/>
                </a:moveTo>
                <a:lnTo>
                  <a:pt x="11800" y="9000"/>
                </a:lnTo>
                <a:lnTo>
                  <a:pt x="12200" y="9000"/>
                </a:lnTo>
                <a:lnTo>
                  <a:pt x="12200" y="6000"/>
                </a:lnTo>
                <a:close/>
                <a:moveTo>
                  <a:pt x="13600" y="11000"/>
                </a:moveTo>
                <a:cubicBezTo>
                  <a:pt x="13600" y="11884"/>
                  <a:pt x="12884" y="12600"/>
                  <a:pt x="12000" y="12600"/>
                </a:cubicBezTo>
                <a:cubicBezTo>
                  <a:pt x="11116" y="12600"/>
                  <a:pt x="10400" y="11884"/>
                  <a:pt x="10400" y="11000"/>
                </a:cubicBezTo>
                <a:cubicBezTo>
                  <a:pt x="10400" y="10116"/>
                  <a:pt x="11116" y="9400"/>
                  <a:pt x="12000" y="9400"/>
                </a:cubicBezTo>
                <a:cubicBezTo>
                  <a:pt x="12884" y="9400"/>
                  <a:pt x="13600" y="10116"/>
                  <a:pt x="13600" y="11000"/>
                </a:cubicBezTo>
                <a:close/>
                <a:moveTo>
                  <a:pt x="11800" y="12500"/>
                </a:moveTo>
                <a:lnTo>
                  <a:pt x="11800" y="14000"/>
                </a:lnTo>
                <a:lnTo>
                  <a:pt x="12200" y="14000"/>
                </a:lnTo>
                <a:lnTo>
                  <a:pt x="12200" y="12500"/>
                </a:lnTo>
                <a:close/>
                <a:moveTo>
                  <a:pt x="13400" y="15000"/>
                </a:moveTo>
                <a:cubicBezTo>
                  <a:pt x="13400" y="15773"/>
                  <a:pt x="12773" y="16400"/>
                  <a:pt x="12000" y="16400"/>
                </a:cubicBezTo>
                <a:cubicBezTo>
                  <a:pt x="11227" y="16400"/>
                  <a:pt x="10600" y="15773"/>
                  <a:pt x="10600" y="15000"/>
                </a:cubicBezTo>
                <a:cubicBezTo>
                  <a:pt x="10600" y="14227"/>
                  <a:pt x="11227" y="13600"/>
                  <a:pt x="12000" y="13600"/>
                </a:cubicBezTo>
                <a:cubicBezTo>
                  <a:pt x="12773" y="13600"/>
                  <a:pt x="13400" y="14227"/>
                  <a:pt x="13400" y="15000"/>
                </a:cubicBezTo>
                <a:close/>
                <a:moveTo>
                  <a:pt x="11800" y="16000"/>
                </a:moveTo>
                <a:lnTo>
                  <a:pt x="11800" y="17000"/>
                </a:lnTo>
                <a:lnTo>
                  <a:pt x="12200" y="17000"/>
                </a:lnTo>
                <a:lnTo>
                  <a:pt x="12200" y="16000"/>
                </a:lnTo>
                <a:close/>
                <a:moveTo>
                  <a:pt x="13200" y="18000"/>
                </a:moveTo>
                <a:cubicBezTo>
                  <a:pt x="13200" y="18663"/>
                  <a:pt x="12663" y="19200"/>
                  <a:pt x="12000" y="19200"/>
                </a:cubicBezTo>
                <a:cubicBezTo>
                  <a:pt x="11337" y="19200"/>
                  <a:pt x="10800" y="18663"/>
                  <a:pt x="10800" y="18000"/>
                </a:cubicBezTo>
                <a:cubicBezTo>
                  <a:pt x="10800" y="17337"/>
                  <a:pt x="11337" y="16800"/>
                  <a:pt x="12000" y="16800"/>
                </a:cubicBezTo>
                <a:cubicBezTo>
                  <a:pt x="12663" y="16800"/>
                  <a:pt x="13200" y="17337"/>
                  <a:pt x="13200" y="18000"/>
                </a:cubicBezTo>
                <a:close/>
                <a:moveTo>
                  <a:pt x="11800" y="19000"/>
                </a:moveTo>
                <a:lnTo>
                  <a:pt x="11800" y="20000"/>
                </a:lnTo>
                <a:lnTo>
                  <a:pt x="12200" y="20000"/>
                </a:lnTo>
                <a:lnTo>
                  <a:pt x="12200" y="19000"/>
                </a:lnTo>
                <a:close/>
                <a:moveTo>
                  <a:pt x="13000" y="21000"/>
                </a:moveTo>
                <a:cubicBezTo>
                  <a:pt x="13000" y="21552"/>
                  <a:pt x="12552" y="22000"/>
                  <a:pt x="12000" y="22000"/>
                </a:cubicBezTo>
                <a:cubicBezTo>
                  <a:pt x="11448" y="22000"/>
                  <a:pt x="11000" y="21552"/>
                  <a:pt x="11000" y="21000"/>
                </a:cubicBezTo>
                <a:cubicBezTo>
                  <a:pt x="11000" y="20448"/>
                  <a:pt x="11448" y="20000"/>
                  <a:pt x="12000" y="20000"/>
                </a:cubicBezTo>
                <a:cubicBezTo>
                  <a:pt x="12552" y="20000"/>
                  <a:pt x="13000" y="20448"/>
                  <a:pt x="130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5Why分析</a:t>
            </a:r>
          </a:p>
        </p:txBody>
      </p:sp>
      <p:sp>
        <p:nvSpPr>
          <p:cNvPr id="16" name="DIAG-005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200" y="5000"/>
                </a:moveTo>
                <a:lnTo>
                  <a:pt x="5800" y="5000"/>
                </a:lnTo>
                <a:cubicBezTo>
                  <a:pt x="5910" y="5000"/>
                  <a:pt x="6000" y="5090"/>
                  <a:pt x="6000" y="5200"/>
                </a:cubicBezTo>
                <a:lnTo>
                  <a:pt x="6000" y="20800"/>
                </a:lnTo>
                <a:cubicBezTo>
                  <a:pt x="6000" y="20910"/>
                  <a:pt x="5910" y="21000"/>
                  <a:pt x="58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5200"/>
                </a:lnTo>
                <a:cubicBezTo>
                  <a:pt x="3000" y="5090"/>
                  <a:pt x="3090" y="5000"/>
                  <a:pt x="3200" y="5000"/>
                </a:cubicBezTo>
                <a:close/>
                <a:moveTo>
                  <a:pt x="7200" y="9000"/>
                </a:moveTo>
                <a:lnTo>
                  <a:pt x="9800" y="9000"/>
                </a:lnTo>
                <a:cubicBezTo>
                  <a:pt x="9910" y="9000"/>
                  <a:pt x="10000" y="9090"/>
                  <a:pt x="10000" y="9200"/>
                </a:cubicBezTo>
                <a:lnTo>
                  <a:pt x="10000" y="20800"/>
                </a:lnTo>
                <a:cubicBezTo>
                  <a:pt x="10000" y="20910"/>
                  <a:pt x="9910" y="21000"/>
                  <a:pt x="9800" y="21000"/>
                </a:cubicBezTo>
                <a:lnTo>
                  <a:pt x="7200" y="21000"/>
                </a:lnTo>
                <a:cubicBezTo>
                  <a:pt x="7090" y="21000"/>
                  <a:pt x="7000" y="20910"/>
                  <a:pt x="7000" y="20800"/>
                </a:cubicBezTo>
                <a:lnTo>
                  <a:pt x="7000" y="9200"/>
                </a:lnTo>
                <a:cubicBezTo>
                  <a:pt x="7000" y="9090"/>
                  <a:pt x="7090" y="9000"/>
                  <a:pt x="7200" y="9000"/>
                </a:cubicBezTo>
                <a:close/>
                <a:moveTo>
                  <a:pt x="11200" y="14000"/>
                </a:moveTo>
                <a:lnTo>
                  <a:pt x="13800" y="14000"/>
                </a:lnTo>
                <a:cubicBezTo>
                  <a:pt x="13910" y="14000"/>
                  <a:pt x="14000" y="14090"/>
                  <a:pt x="14000" y="14200"/>
                </a:cubicBezTo>
                <a:lnTo>
                  <a:pt x="14000" y="20800"/>
                </a:lnTo>
                <a:cubicBezTo>
                  <a:pt x="14000" y="20910"/>
                  <a:pt x="13910" y="21000"/>
                  <a:pt x="13800" y="21000"/>
                </a:cubicBezTo>
                <a:lnTo>
                  <a:pt x="11200" y="21000"/>
                </a:lnTo>
                <a:cubicBezTo>
                  <a:pt x="11090" y="21000"/>
                  <a:pt x="11000" y="20910"/>
                  <a:pt x="11000" y="20800"/>
                </a:cubicBezTo>
                <a:lnTo>
                  <a:pt x="11000" y="14200"/>
                </a:lnTo>
                <a:cubicBezTo>
                  <a:pt x="11000" y="14090"/>
                  <a:pt x="11090" y="14000"/>
                  <a:pt x="11200" y="14000"/>
                </a:cubicBezTo>
                <a:close/>
                <a:moveTo>
                  <a:pt x="15200" y="17000"/>
                </a:moveTo>
                <a:lnTo>
                  <a:pt x="17800" y="17000"/>
                </a:lnTo>
                <a:cubicBezTo>
                  <a:pt x="17910" y="17000"/>
                  <a:pt x="18000" y="17090"/>
                  <a:pt x="18000" y="17200"/>
                </a:cubicBezTo>
                <a:lnTo>
                  <a:pt x="18000" y="20800"/>
                </a:lnTo>
                <a:cubicBezTo>
                  <a:pt x="18000" y="20910"/>
                  <a:pt x="17910" y="21000"/>
                  <a:pt x="17800" y="21000"/>
                </a:cubicBezTo>
                <a:lnTo>
                  <a:pt x="15200" y="21000"/>
                </a:lnTo>
                <a:cubicBezTo>
                  <a:pt x="15090" y="21000"/>
                  <a:pt x="15000" y="20910"/>
                  <a:pt x="15000" y="20800"/>
                </a:cubicBezTo>
                <a:lnTo>
                  <a:pt x="15000" y="17200"/>
                </a:lnTo>
                <a:cubicBezTo>
                  <a:pt x="15000" y="17090"/>
                  <a:pt x="15090" y="17000"/>
                  <a:pt x="15200" y="17000"/>
                </a:cubicBezTo>
                <a:close/>
                <a:moveTo>
                  <a:pt x="19200" y="19000"/>
                </a:moveTo>
                <a:lnTo>
                  <a:pt x="21800" y="19000"/>
                </a:lnTo>
                <a:cubicBezTo>
                  <a:pt x="21910" y="19000"/>
                  <a:pt x="22000" y="19090"/>
                  <a:pt x="22000" y="19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19200" y="21000"/>
                </a:lnTo>
                <a:cubicBezTo>
                  <a:pt x="19090" y="21000"/>
                  <a:pt x="19000" y="20910"/>
                  <a:pt x="19000" y="20800"/>
                </a:cubicBezTo>
                <a:lnTo>
                  <a:pt x="19000" y="19200"/>
                </a:lnTo>
                <a:cubicBezTo>
                  <a:pt x="19000" y="19090"/>
                  <a:pt x="19090" y="19000"/>
                  <a:pt x="19200" y="19000"/>
                </a:cubicBezTo>
                <a:close/>
                <a:moveTo>
                  <a:pt x="4530" y="5499"/>
                </a:moveTo>
                <a:lnTo>
                  <a:pt x="21030" y="4499"/>
                </a:lnTo>
                <a:lnTo>
                  <a:pt x="20970" y="3501"/>
                </a:lnTo>
                <a:lnTo>
                  <a:pt x="4470" y="450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二八定律</a:t>
            </a:r>
          </a:p>
        </p:txBody>
      </p:sp>
      <p:sp>
        <p:nvSpPr>
          <p:cNvPr id="19" name="DIAG-006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4000"/>
                </a:moveTo>
                <a:lnTo>
                  <a:pt x="18928" y="8000"/>
                </a:lnTo>
                <a:lnTo>
                  <a:pt x="18928" y="16000"/>
                </a:lnTo>
                <a:lnTo>
                  <a:pt x="12000" y="20000"/>
                </a:lnTo>
                <a:lnTo>
                  <a:pt x="5072" y="16000"/>
                </a:lnTo>
                <a:lnTo>
                  <a:pt x="5072" y="8000"/>
                </a:lnTo>
                <a:close/>
                <a:moveTo>
                  <a:pt x="12000" y="7000"/>
                </a:moveTo>
                <a:lnTo>
                  <a:pt x="16330" y="9500"/>
                </a:lnTo>
                <a:lnTo>
                  <a:pt x="16330" y="14500"/>
                </a:lnTo>
                <a:lnTo>
                  <a:pt x="12000" y="17000"/>
                </a:lnTo>
                <a:lnTo>
                  <a:pt x="7670" y="14500"/>
                </a:lnTo>
                <a:lnTo>
                  <a:pt x="7670" y="9500"/>
                </a:lnTo>
                <a:close/>
                <a:moveTo>
                  <a:pt x="12000" y="9600"/>
                </a:moveTo>
                <a:lnTo>
                  <a:pt x="12566" y="11434"/>
                </a:lnTo>
                <a:lnTo>
                  <a:pt x="14400" y="12000"/>
                </a:lnTo>
                <a:lnTo>
                  <a:pt x="12566" y="12566"/>
                </a:lnTo>
                <a:lnTo>
                  <a:pt x="12000" y="14400"/>
                </a:lnTo>
                <a:lnTo>
                  <a:pt x="11434" y="12566"/>
                </a:lnTo>
                <a:lnTo>
                  <a:pt x="9600" y="12000"/>
                </a:lnTo>
                <a:lnTo>
                  <a:pt x="11434" y="114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根因六边形</a:t>
            </a:r>
          </a:p>
        </p:txBody>
      </p:sp>
      <p:sp>
        <p:nvSpPr>
          <p:cNvPr id="22" name="DIAG-007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300" y="3000"/>
                </a:moveTo>
                <a:lnTo>
                  <a:pt x="15700" y="3000"/>
                </a:lnTo>
                <a:cubicBezTo>
                  <a:pt x="15866" y="3000"/>
                  <a:pt x="16000" y="3134"/>
                  <a:pt x="16000" y="3300"/>
                </a:cubicBezTo>
                <a:lnTo>
                  <a:pt x="16000" y="5700"/>
                </a:lnTo>
                <a:cubicBezTo>
                  <a:pt x="16000" y="5866"/>
                  <a:pt x="15866" y="6000"/>
                  <a:pt x="15700" y="6000"/>
                </a:cubicBezTo>
                <a:lnTo>
                  <a:pt x="8300" y="6000"/>
                </a:lnTo>
                <a:cubicBezTo>
                  <a:pt x="8134" y="6000"/>
                  <a:pt x="8000" y="5866"/>
                  <a:pt x="8000" y="5700"/>
                </a:cubicBezTo>
                <a:lnTo>
                  <a:pt x="8000" y="3300"/>
                </a:lnTo>
                <a:cubicBezTo>
                  <a:pt x="8000" y="3134"/>
                  <a:pt x="8134" y="3000"/>
                  <a:pt x="8300" y="3000"/>
                </a:cubicBezTo>
                <a:close/>
                <a:moveTo>
                  <a:pt x="11911" y="5821"/>
                </a:moveTo>
                <a:lnTo>
                  <a:pt x="5911" y="8821"/>
                </a:lnTo>
                <a:lnTo>
                  <a:pt x="6089" y="9179"/>
                </a:lnTo>
                <a:lnTo>
                  <a:pt x="12089" y="6179"/>
                </a:lnTo>
                <a:close/>
                <a:moveTo>
                  <a:pt x="11800" y="6000"/>
                </a:moveTo>
                <a:lnTo>
                  <a:pt x="11800" y="9000"/>
                </a:lnTo>
                <a:lnTo>
                  <a:pt x="12200" y="9000"/>
                </a:lnTo>
                <a:lnTo>
                  <a:pt x="12200" y="6000"/>
                </a:lnTo>
                <a:close/>
                <a:moveTo>
                  <a:pt x="11911" y="6179"/>
                </a:moveTo>
                <a:lnTo>
                  <a:pt x="17911" y="9179"/>
                </a:lnTo>
                <a:lnTo>
                  <a:pt x="18089" y="8821"/>
                </a:lnTo>
                <a:lnTo>
                  <a:pt x="12089" y="5821"/>
                </a:lnTo>
                <a:close/>
                <a:moveTo>
                  <a:pt x="3300" y="9000"/>
                </a:moveTo>
                <a:lnTo>
                  <a:pt x="8700" y="9000"/>
                </a:lnTo>
                <a:cubicBezTo>
                  <a:pt x="8866" y="9000"/>
                  <a:pt x="9000" y="9134"/>
                  <a:pt x="9000" y="9300"/>
                </a:cubicBezTo>
                <a:lnTo>
                  <a:pt x="9000" y="11700"/>
                </a:lnTo>
                <a:cubicBezTo>
                  <a:pt x="9000" y="11866"/>
                  <a:pt x="8866" y="12000"/>
                  <a:pt x="8700" y="12000"/>
                </a:cubicBezTo>
                <a:lnTo>
                  <a:pt x="3300" y="12000"/>
                </a:lnTo>
                <a:cubicBezTo>
                  <a:pt x="3134" y="12000"/>
                  <a:pt x="3000" y="11866"/>
                  <a:pt x="3000" y="11700"/>
                </a:cubicBezTo>
                <a:lnTo>
                  <a:pt x="3000" y="9300"/>
                </a:lnTo>
                <a:cubicBezTo>
                  <a:pt x="3000" y="9134"/>
                  <a:pt x="3134" y="9000"/>
                  <a:pt x="3300" y="9000"/>
                </a:cubicBezTo>
                <a:close/>
                <a:moveTo>
                  <a:pt x="9300" y="9000"/>
                </a:moveTo>
                <a:lnTo>
                  <a:pt x="14700" y="9000"/>
                </a:lnTo>
                <a:cubicBezTo>
                  <a:pt x="14866" y="9000"/>
                  <a:pt x="15000" y="9134"/>
                  <a:pt x="15000" y="9300"/>
                </a:cubicBezTo>
                <a:lnTo>
                  <a:pt x="15000" y="11700"/>
                </a:lnTo>
                <a:cubicBezTo>
                  <a:pt x="15000" y="11866"/>
                  <a:pt x="14866" y="12000"/>
                  <a:pt x="14700" y="12000"/>
                </a:cubicBezTo>
                <a:lnTo>
                  <a:pt x="9300" y="12000"/>
                </a:lnTo>
                <a:cubicBezTo>
                  <a:pt x="9134" y="12000"/>
                  <a:pt x="9000" y="11866"/>
                  <a:pt x="9000" y="11700"/>
                </a:cubicBezTo>
                <a:lnTo>
                  <a:pt x="9000" y="9300"/>
                </a:lnTo>
                <a:cubicBezTo>
                  <a:pt x="9000" y="9134"/>
                  <a:pt x="9134" y="9000"/>
                  <a:pt x="9300" y="9000"/>
                </a:cubicBezTo>
                <a:close/>
                <a:moveTo>
                  <a:pt x="15300" y="9000"/>
                </a:moveTo>
                <a:lnTo>
                  <a:pt x="20700" y="9000"/>
                </a:lnTo>
                <a:cubicBezTo>
                  <a:pt x="20866" y="9000"/>
                  <a:pt x="21000" y="9134"/>
                  <a:pt x="21000" y="9300"/>
                </a:cubicBezTo>
                <a:lnTo>
                  <a:pt x="21000" y="11700"/>
                </a:lnTo>
                <a:cubicBezTo>
                  <a:pt x="21000" y="11866"/>
                  <a:pt x="20866" y="12000"/>
                  <a:pt x="20700" y="12000"/>
                </a:cubicBezTo>
                <a:lnTo>
                  <a:pt x="15300" y="12000"/>
                </a:lnTo>
                <a:cubicBezTo>
                  <a:pt x="15134" y="12000"/>
                  <a:pt x="15000" y="11866"/>
                  <a:pt x="15000" y="11700"/>
                </a:cubicBezTo>
                <a:lnTo>
                  <a:pt x="15000" y="9300"/>
                </a:lnTo>
                <a:cubicBezTo>
                  <a:pt x="15000" y="9134"/>
                  <a:pt x="15134" y="9000"/>
                  <a:pt x="15300" y="9000"/>
                </a:cubicBezTo>
                <a:close/>
                <a:moveTo>
                  <a:pt x="2200" y="14000"/>
                </a:moveTo>
                <a:lnTo>
                  <a:pt x="5800" y="14000"/>
                </a:lnTo>
                <a:cubicBezTo>
                  <a:pt x="5910" y="14000"/>
                  <a:pt x="6000" y="14090"/>
                  <a:pt x="6000" y="14200"/>
                </a:cubicBezTo>
                <a:lnTo>
                  <a:pt x="6000" y="16200"/>
                </a:lnTo>
                <a:cubicBezTo>
                  <a:pt x="6000" y="16310"/>
                  <a:pt x="5910" y="16400"/>
                  <a:pt x="5800" y="16400"/>
                </a:cubicBezTo>
                <a:lnTo>
                  <a:pt x="2200" y="16400"/>
                </a:lnTo>
                <a:cubicBezTo>
                  <a:pt x="2090" y="16400"/>
                  <a:pt x="2000" y="16310"/>
                  <a:pt x="2000" y="16200"/>
                </a:cubicBezTo>
                <a:lnTo>
                  <a:pt x="2000" y="14200"/>
                </a:lnTo>
                <a:cubicBezTo>
                  <a:pt x="2000" y="14090"/>
                  <a:pt x="2090" y="14000"/>
                  <a:pt x="2200" y="14000"/>
                </a:cubicBezTo>
                <a:close/>
                <a:moveTo>
                  <a:pt x="7200" y="14000"/>
                </a:moveTo>
                <a:lnTo>
                  <a:pt x="10800" y="14000"/>
                </a:lnTo>
                <a:cubicBezTo>
                  <a:pt x="10910" y="14000"/>
                  <a:pt x="11000" y="14090"/>
                  <a:pt x="11000" y="14200"/>
                </a:cubicBezTo>
                <a:lnTo>
                  <a:pt x="11000" y="16200"/>
                </a:lnTo>
                <a:cubicBezTo>
                  <a:pt x="11000" y="16310"/>
                  <a:pt x="10910" y="16400"/>
                  <a:pt x="10800" y="16400"/>
                </a:cubicBezTo>
                <a:lnTo>
                  <a:pt x="7200" y="16400"/>
                </a:lnTo>
                <a:cubicBezTo>
                  <a:pt x="7090" y="16400"/>
                  <a:pt x="7000" y="16310"/>
                  <a:pt x="7000" y="16200"/>
                </a:cubicBezTo>
                <a:lnTo>
                  <a:pt x="7000" y="14200"/>
                </a:lnTo>
                <a:cubicBezTo>
                  <a:pt x="7000" y="14090"/>
                  <a:pt x="7090" y="14000"/>
                  <a:pt x="7200" y="14000"/>
                </a:cubicBezTo>
                <a:close/>
                <a:moveTo>
                  <a:pt x="13200" y="14000"/>
                </a:moveTo>
                <a:lnTo>
                  <a:pt x="16800" y="14000"/>
                </a:lnTo>
                <a:cubicBezTo>
                  <a:pt x="16910" y="14000"/>
                  <a:pt x="17000" y="14090"/>
                  <a:pt x="17000" y="14200"/>
                </a:cubicBezTo>
                <a:lnTo>
                  <a:pt x="17000" y="16200"/>
                </a:lnTo>
                <a:cubicBezTo>
                  <a:pt x="17000" y="16310"/>
                  <a:pt x="16910" y="16400"/>
                  <a:pt x="16800" y="16400"/>
                </a:cubicBezTo>
                <a:lnTo>
                  <a:pt x="13200" y="16400"/>
                </a:lnTo>
                <a:cubicBezTo>
                  <a:pt x="13090" y="16400"/>
                  <a:pt x="13000" y="16310"/>
                  <a:pt x="13000" y="16200"/>
                </a:cubicBezTo>
                <a:lnTo>
                  <a:pt x="13000" y="14200"/>
                </a:lnTo>
                <a:cubicBezTo>
                  <a:pt x="13000" y="14090"/>
                  <a:pt x="13090" y="14000"/>
                  <a:pt x="13200" y="14000"/>
                </a:cubicBezTo>
                <a:close/>
                <a:moveTo>
                  <a:pt x="18200" y="14000"/>
                </a:moveTo>
                <a:lnTo>
                  <a:pt x="21800" y="14000"/>
                </a:lnTo>
                <a:cubicBezTo>
                  <a:pt x="21910" y="14000"/>
                  <a:pt x="22000" y="14090"/>
                  <a:pt x="22000" y="14200"/>
                </a:cubicBezTo>
                <a:lnTo>
                  <a:pt x="22000" y="16200"/>
                </a:lnTo>
                <a:cubicBezTo>
                  <a:pt x="22000" y="16310"/>
                  <a:pt x="21910" y="16400"/>
                  <a:pt x="21800" y="16400"/>
                </a:cubicBezTo>
                <a:lnTo>
                  <a:pt x="18200" y="16400"/>
                </a:lnTo>
                <a:cubicBezTo>
                  <a:pt x="18090" y="16400"/>
                  <a:pt x="18000" y="16310"/>
                  <a:pt x="18000" y="16200"/>
                </a:cubicBezTo>
                <a:lnTo>
                  <a:pt x="18000" y="14200"/>
                </a:lnTo>
                <a:cubicBezTo>
                  <a:pt x="18000" y="14090"/>
                  <a:pt x="18090" y="14000"/>
                  <a:pt x="18200" y="14000"/>
                </a:cubicBezTo>
                <a:close/>
                <a:moveTo>
                  <a:pt x="2200" y="18000"/>
                </a:moveTo>
                <a:lnTo>
                  <a:pt x="5800" y="18000"/>
                </a:lnTo>
                <a:cubicBezTo>
                  <a:pt x="5910" y="18000"/>
                  <a:pt x="6000" y="18090"/>
                  <a:pt x="6000" y="18200"/>
                </a:cubicBezTo>
                <a:lnTo>
                  <a:pt x="6000" y="20200"/>
                </a:lnTo>
                <a:cubicBezTo>
                  <a:pt x="6000" y="20310"/>
                  <a:pt x="5910" y="20400"/>
                  <a:pt x="5800" y="20400"/>
                </a:cubicBezTo>
                <a:lnTo>
                  <a:pt x="2200" y="20400"/>
                </a:lnTo>
                <a:cubicBezTo>
                  <a:pt x="2090" y="20400"/>
                  <a:pt x="2000" y="20310"/>
                  <a:pt x="2000" y="20200"/>
                </a:cubicBezTo>
                <a:lnTo>
                  <a:pt x="2000" y="18200"/>
                </a:lnTo>
                <a:cubicBezTo>
                  <a:pt x="2000" y="18090"/>
                  <a:pt x="2090" y="18000"/>
                  <a:pt x="2200" y="18000"/>
                </a:cubicBezTo>
                <a:close/>
                <a:moveTo>
                  <a:pt x="7200" y="18000"/>
                </a:moveTo>
                <a:lnTo>
                  <a:pt x="10800" y="18000"/>
                </a:lnTo>
                <a:cubicBezTo>
                  <a:pt x="10910" y="18000"/>
                  <a:pt x="11000" y="18090"/>
                  <a:pt x="11000" y="18200"/>
                </a:cubicBezTo>
                <a:lnTo>
                  <a:pt x="11000" y="20200"/>
                </a:lnTo>
                <a:cubicBezTo>
                  <a:pt x="11000" y="20310"/>
                  <a:pt x="10910" y="20400"/>
                  <a:pt x="10800" y="20400"/>
                </a:cubicBezTo>
                <a:lnTo>
                  <a:pt x="7200" y="20400"/>
                </a:lnTo>
                <a:cubicBezTo>
                  <a:pt x="7090" y="20400"/>
                  <a:pt x="7000" y="20310"/>
                  <a:pt x="7000" y="20200"/>
                </a:cubicBezTo>
                <a:lnTo>
                  <a:pt x="7000" y="18200"/>
                </a:lnTo>
                <a:cubicBezTo>
                  <a:pt x="7000" y="18090"/>
                  <a:pt x="7090" y="18000"/>
                  <a:pt x="72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议题树</a:t>
            </a:r>
          </a:p>
        </p:txBody>
      </p:sp>
      <p:sp>
        <p:nvSpPr>
          <p:cNvPr id="25" name="DIAG-008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5600" y="5000"/>
                </a:moveTo>
                <a:cubicBezTo>
                  <a:pt x="5600" y="5884"/>
                  <a:pt x="4884" y="6600"/>
                  <a:pt x="4000" y="6600"/>
                </a:cubicBezTo>
                <a:cubicBezTo>
                  <a:pt x="3116" y="6600"/>
                  <a:pt x="2400" y="5884"/>
                  <a:pt x="2400" y="5000"/>
                </a:cubicBezTo>
                <a:cubicBezTo>
                  <a:pt x="2400" y="4116"/>
                  <a:pt x="3116" y="3400"/>
                  <a:pt x="4000" y="3400"/>
                </a:cubicBezTo>
                <a:cubicBezTo>
                  <a:pt x="4884" y="3400"/>
                  <a:pt x="5600" y="4116"/>
                  <a:pt x="5600" y="5000"/>
                </a:cubicBezTo>
                <a:close/>
                <a:moveTo>
                  <a:pt x="21600" y="5000"/>
                </a:moveTo>
                <a:cubicBezTo>
                  <a:pt x="21600" y="5884"/>
                  <a:pt x="20884" y="6600"/>
                  <a:pt x="20000" y="6600"/>
                </a:cubicBezTo>
                <a:cubicBezTo>
                  <a:pt x="19116" y="6600"/>
                  <a:pt x="18400" y="5884"/>
                  <a:pt x="18400" y="5000"/>
                </a:cubicBezTo>
                <a:cubicBezTo>
                  <a:pt x="18400" y="4116"/>
                  <a:pt x="19116" y="3400"/>
                  <a:pt x="20000" y="3400"/>
                </a:cubicBezTo>
                <a:cubicBezTo>
                  <a:pt x="20884" y="3400"/>
                  <a:pt x="21600" y="4116"/>
                  <a:pt x="21600" y="5000"/>
                </a:cubicBezTo>
                <a:close/>
                <a:moveTo>
                  <a:pt x="5600" y="19000"/>
                </a:moveTo>
                <a:cubicBezTo>
                  <a:pt x="5600" y="19884"/>
                  <a:pt x="4884" y="20600"/>
                  <a:pt x="4000" y="20600"/>
                </a:cubicBezTo>
                <a:cubicBezTo>
                  <a:pt x="3116" y="20600"/>
                  <a:pt x="2400" y="19884"/>
                  <a:pt x="2400" y="19000"/>
                </a:cubicBezTo>
                <a:cubicBezTo>
                  <a:pt x="2400" y="18116"/>
                  <a:pt x="3116" y="17400"/>
                  <a:pt x="4000" y="17400"/>
                </a:cubicBezTo>
                <a:cubicBezTo>
                  <a:pt x="4884" y="17400"/>
                  <a:pt x="5600" y="18116"/>
                  <a:pt x="5600" y="19000"/>
                </a:cubicBezTo>
                <a:close/>
                <a:moveTo>
                  <a:pt x="21600" y="19000"/>
                </a:moveTo>
                <a:cubicBezTo>
                  <a:pt x="21600" y="19884"/>
                  <a:pt x="20884" y="20600"/>
                  <a:pt x="20000" y="20600"/>
                </a:cubicBezTo>
                <a:cubicBezTo>
                  <a:pt x="19116" y="20600"/>
                  <a:pt x="18400" y="19884"/>
                  <a:pt x="18400" y="19000"/>
                </a:cubicBezTo>
                <a:cubicBezTo>
                  <a:pt x="18400" y="18116"/>
                  <a:pt x="19116" y="17400"/>
                  <a:pt x="20000" y="17400"/>
                </a:cubicBezTo>
                <a:cubicBezTo>
                  <a:pt x="20884" y="17400"/>
                  <a:pt x="21600" y="18116"/>
                  <a:pt x="21600" y="19000"/>
                </a:cubicBezTo>
                <a:close/>
                <a:moveTo>
                  <a:pt x="13600" y="3000"/>
                </a:moveTo>
                <a:cubicBezTo>
                  <a:pt x="13600" y="3884"/>
                  <a:pt x="12884" y="4600"/>
                  <a:pt x="12000" y="4600"/>
                </a:cubicBezTo>
                <a:cubicBezTo>
                  <a:pt x="11116" y="4600"/>
                  <a:pt x="10400" y="3884"/>
                  <a:pt x="10400" y="3000"/>
                </a:cubicBezTo>
                <a:cubicBezTo>
                  <a:pt x="10400" y="2116"/>
                  <a:pt x="11116" y="1400"/>
                  <a:pt x="12000" y="1400"/>
                </a:cubicBezTo>
                <a:cubicBezTo>
                  <a:pt x="12884" y="1400"/>
                  <a:pt x="13600" y="2116"/>
                  <a:pt x="13600" y="3000"/>
                </a:cubicBezTo>
                <a:close/>
                <a:moveTo>
                  <a:pt x="12200" y="9000"/>
                </a:moveTo>
                <a:lnTo>
                  <a:pt x="12200" y="4600"/>
                </a:lnTo>
                <a:lnTo>
                  <a:pt x="11800" y="4600"/>
                </a:lnTo>
                <a:lnTo>
                  <a:pt x="11800" y="9000"/>
                </a:lnTo>
                <a:close/>
                <a:moveTo>
                  <a:pt x="9633" y="9851"/>
                </a:moveTo>
                <a:lnTo>
                  <a:pt x="5133" y="5851"/>
                </a:lnTo>
                <a:lnTo>
                  <a:pt x="4867" y="6149"/>
                </a:lnTo>
                <a:lnTo>
                  <a:pt x="9367" y="10149"/>
                </a:lnTo>
                <a:close/>
                <a:moveTo>
                  <a:pt x="14633" y="10149"/>
                </a:moveTo>
                <a:lnTo>
                  <a:pt x="19133" y="6149"/>
                </a:lnTo>
                <a:lnTo>
                  <a:pt x="18867" y="5851"/>
                </a:lnTo>
                <a:lnTo>
                  <a:pt x="14367" y="9851"/>
                </a:lnTo>
                <a:close/>
                <a:moveTo>
                  <a:pt x="9367" y="13851"/>
                </a:moveTo>
                <a:lnTo>
                  <a:pt x="4867" y="17851"/>
                </a:lnTo>
                <a:lnTo>
                  <a:pt x="5133" y="18149"/>
                </a:lnTo>
                <a:lnTo>
                  <a:pt x="9633" y="14149"/>
                </a:lnTo>
                <a:close/>
                <a:moveTo>
                  <a:pt x="14367" y="14149"/>
                </a:moveTo>
                <a:lnTo>
                  <a:pt x="18867" y="18149"/>
                </a:lnTo>
                <a:lnTo>
                  <a:pt x="19133" y="17851"/>
                </a:lnTo>
                <a:lnTo>
                  <a:pt x="14633" y="1385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思维导图</a:t>
            </a:r>
          </a:p>
        </p:txBody>
      </p:sp>
      <p:sp>
        <p:nvSpPr>
          <p:cNvPr id="28" name="DIAG-009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00" y="4000"/>
                </a:moveTo>
                <a:lnTo>
                  <a:pt x="7600" y="4000"/>
                </a:lnTo>
                <a:cubicBezTo>
                  <a:pt x="7821" y="4000"/>
                  <a:pt x="8000" y="4179"/>
                  <a:pt x="8000" y="4400"/>
                </a:cubicBezTo>
                <a:lnTo>
                  <a:pt x="8000" y="9600"/>
                </a:lnTo>
                <a:cubicBezTo>
                  <a:pt x="8000" y="9821"/>
                  <a:pt x="7821" y="10000"/>
                  <a:pt x="7600" y="10000"/>
                </a:cubicBezTo>
                <a:lnTo>
                  <a:pt x="2400" y="10000"/>
                </a:lnTo>
                <a:cubicBezTo>
                  <a:pt x="2179" y="10000"/>
                  <a:pt x="2000" y="9821"/>
                  <a:pt x="2000" y="9600"/>
                </a:cubicBezTo>
                <a:lnTo>
                  <a:pt x="2000" y="4400"/>
                </a:lnTo>
                <a:cubicBezTo>
                  <a:pt x="2000" y="4179"/>
                  <a:pt x="2179" y="4000"/>
                  <a:pt x="2400" y="4000"/>
                </a:cubicBezTo>
                <a:close/>
                <a:moveTo>
                  <a:pt x="9400" y="4000"/>
                </a:moveTo>
                <a:lnTo>
                  <a:pt x="14600" y="4000"/>
                </a:lnTo>
                <a:cubicBezTo>
                  <a:pt x="14821" y="4000"/>
                  <a:pt x="15000" y="4179"/>
                  <a:pt x="15000" y="4400"/>
                </a:cubicBezTo>
                <a:lnTo>
                  <a:pt x="15000" y="10600"/>
                </a:lnTo>
                <a:cubicBezTo>
                  <a:pt x="15000" y="10821"/>
                  <a:pt x="14821" y="11000"/>
                  <a:pt x="14600" y="11000"/>
                </a:cubicBezTo>
                <a:lnTo>
                  <a:pt x="9400" y="11000"/>
                </a:lnTo>
                <a:cubicBezTo>
                  <a:pt x="9179" y="11000"/>
                  <a:pt x="9000" y="10821"/>
                  <a:pt x="9000" y="10600"/>
                </a:cubicBezTo>
                <a:lnTo>
                  <a:pt x="9000" y="4400"/>
                </a:lnTo>
                <a:cubicBezTo>
                  <a:pt x="9000" y="4179"/>
                  <a:pt x="9179" y="4000"/>
                  <a:pt x="9400" y="4000"/>
                </a:cubicBezTo>
                <a:close/>
                <a:moveTo>
                  <a:pt x="16400" y="4000"/>
                </a:moveTo>
                <a:lnTo>
                  <a:pt x="21600" y="4000"/>
                </a:lnTo>
                <a:cubicBezTo>
                  <a:pt x="21821" y="4000"/>
                  <a:pt x="22000" y="4179"/>
                  <a:pt x="22000" y="4400"/>
                </a:cubicBezTo>
                <a:lnTo>
                  <a:pt x="22000" y="8600"/>
                </a:lnTo>
                <a:cubicBezTo>
                  <a:pt x="22000" y="8821"/>
                  <a:pt x="21821" y="9000"/>
                  <a:pt x="21600" y="9000"/>
                </a:cubicBezTo>
                <a:lnTo>
                  <a:pt x="16400" y="9000"/>
                </a:lnTo>
                <a:cubicBezTo>
                  <a:pt x="16179" y="9000"/>
                  <a:pt x="16000" y="8821"/>
                  <a:pt x="16000" y="8600"/>
                </a:cubicBezTo>
                <a:lnTo>
                  <a:pt x="16000" y="4400"/>
                </a:lnTo>
                <a:cubicBezTo>
                  <a:pt x="16000" y="4179"/>
                  <a:pt x="16179" y="4000"/>
                  <a:pt x="16400" y="4000"/>
                </a:cubicBezTo>
                <a:close/>
                <a:moveTo>
                  <a:pt x="2400" y="13000"/>
                </a:moveTo>
                <a:lnTo>
                  <a:pt x="8600" y="13000"/>
                </a:lnTo>
                <a:cubicBezTo>
                  <a:pt x="8821" y="13000"/>
                  <a:pt x="9000" y="13179"/>
                  <a:pt x="9000" y="13400"/>
                </a:cubicBezTo>
                <a:lnTo>
                  <a:pt x="9000" y="19600"/>
                </a:lnTo>
                <a:cubicBezTo>
                  <a:pt x="9000" y="19821"/>
                  <a:pt x="8821" y="20000"/>
                  <a:pt x="8600" y="20000"/>
                </a:cubicBezTo>
                <a:lnTo>
                  <a:pt x="2400" y="20000"/>
                </a:lnTo>
                <a:cubicBezTo>
                  <a:pt x="2179" y="20000"/>
                  <a:pt x="2000" y="19821"/>
                  <a:pt x="2000" y="19600"/>
                </a:cubicBezTo>
                <a:lnTo>
                  <a:pt x="2000" y="13400"/>
                </a:lnTo>
                <a:cubicBezTo>
                  <a:pt x="2000" y="13179"/>
                  <a:pt x="2179" y="13000"/>
                  <a:pt x="2400" y="13000"/>
                </a:cubicBezTo>
                <a:close/>
                <a:moveTo>
                  <a:pt x="10400" y="13000"/>
                </a:moveTo>
                <a:lnTo>
                  <a:pt x="14600" y="13000"/>
                </a:lnTo>
                <a:cubicBezTo>
                  <a:pt x="14821" y="13000"/>
                  <a:pt x="15000" y="13179"/>
                  <a:pt x="15000" y="13400"/>
                </a:cubicBezTo>
                <a:lnTo>
                  <a:pt x="15000" y="20600"/>
                </a:lnTo>
                <a:cubicBezTo>
                  <a:pt x="15000" y="20821"/>
                  <a:pt x="14821" y="21000"/>
                  <a:pt x="14600" y="21000"/>
                </a:cubicBezTo>
                <a:lnTo>
                  <a:pt x="10400" y="21000"/>
                </a:lnTo>
                <a:cubicBezTo>
                  <a:pt x="10179" y="21000"/>
                  <a:pt x="10000" y="20821"/>
                  <a:pt x="10000" y="20600"/>
                </a:cubicBezTo>
                <a:lnTo>
                  <a:pt x="10000" y="13400"/>
                </a:lnTo>
                <a:cubicBezTo>
                  <a:pt x="10000" y="13179"/>
                  <a:pt x="10179" y="13000"/>
                  <a:pt x="10400" y="13000"/>
                </a:cubicBezTo>
                <a:close/>
                <a:moveTo>
                  <a:pt x="16400" y="11000"/>
                </a:moveTo>
                <a:lnTo>
                  <a:pt x="21600" y="11000"/>
                </a:lnTo>
                <a:cubicBezTo>
                  <a:pt x="21821" y="11000"/>
                  <a:pt x="22000" y="11179"/>
                  <a:pt x="22000" y="11400"/>
                </a:cubicBezTo>
                <a:lnTo>
                  <a:pt x="22000" y="19600"/>
                </a:lnTo>
                <a:cubicBezTo>
                  <a:pt x="22000" y="19821"/>
                  <a:pt x="21821" y="20000"/>
                  <a:pt x="21600" y="20000"/>
                </a:cubicBezTo>
                <a:lnTo>
                  <a:pt x="16400" y="20000"/>
                </a:lnTo>
                <a:cubicBezTo>
                  <a:pt x="16179" y="20000"/>
                  <a:pt x="16000" y="19821"/>
                  <a:pt x="16000" y="19600"/>
                </a:cubicBezTo>
                <a:lnTo>
                  <a:pt x="16000" y="11400"/>
                </a:lnTo>
                <a:cubicBezTo>
                  <a:pt x="16000" y="11179"/>
                  <a:pt x="16179" y="11000"/>
                  <a:pt x="164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亲和图</a:t>
            </a:r>
          </a:p>
        </p:txBody>
      </p:sp>
      <p:sp>
        <p:nvSpPr>
          <p:cNvPr id="31" name="DIAG-010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700" y="3000"/>
                </a:moveTo>
                <a:lnTo>
                  <a:pt x="11700" y="21000"/>
                </a:lnTo>
                <a:lnTo>
                  <a:pt x="12300" y="21000"/>
                </a:lnTo>
                <a:lnTo>
                  <a:pt x="12300" y="3000"/>
                </a:lnTo>
                <a:close/>
                <a:moveTo>
                  <a:pt x="2000" y="7350"/>
                </a:moveTo>
                <a:lnTo>
                  <a:pt x="8600" y="7350"/>
                </a:lnTo>
                <a:lnTo>
                  <a:pt x="8600" y="8000"/>
                </a:lnTo>
                <a:lnTo>
                  <a:pt x="10000" y="7000"/>
                </a:lnTo>
                <a:lnTo>
                  <a:pt x="8600" y="6000"/>
                </a:lnTo>
                <a:lnTo>
                  <a:pt x="8600" y="6650"/>
                </a:lnTo>
                <a:lnTo>
                  <a:pt x="2000" y="6650"/>
                </a:lnTo>
                <a:close/>
                <a:moveTo>
                  <a:pt x="2000" y="12350"/>
                </a:moveTo>
                <a:lnTo>
                  <a:pt x="8600" y="12350"/>
                </a:lnTo>
                <a:lnTo>
                  <a:pt x="8600" y="13000"/>
                </a:lnTo>
                <a:lnTo>
                  <a:pt x="10000" y="12000"/>
                </a:lnTo>
                <a:lnTo>
                  <a:pt x="8600" y="11000"/>
                </a:lnTo>
                <a:lnTo>
                  <a:pt x="8600" y="11650"/>
                </a:lnTo>
                <a:lnTo>
                  <a:pt x="2000" y="11650"/>
                </a:lnTo>
                <a:close/>
                <a:moveTo>
                  <a:pt x="2000" y="17350"/>
                </a:moveTo>
                <a:lnTo>
                  <a:pt x="8600" y="17350"/>
                </a:lnTo>
                <a:lnTo>
                  <a:pt x="8600" y="18000"/>
                </a:lnTo>
                <a:lnTo>
                  <a:pt x="10000" y="17000"/>
                </a:lnTo>
                <a:lnTo>
                  <a:pt x="8600" y="16000"/>
                </a:lnTo>
                <a:lnTo>
                  <a:pt x="8600" y="16650"/>
                </a:lnTo>
                <a:lnTo>
                  <a:pt x="2000" y="16650"/>
                </a:lnTo>
                <a:close/>
                <a:moveTo>
                  <a:pt x="22000" y="6650"/>
                </a:moveTo>
                <a:lnTo>
                  <a:pt x="15400" y="6650"/>
                </a:lnTo>
                <a:lnTo>
                  <a:pt x="15400" y="6000"/>
                </a:lnTo>
                <a:lnTo>
                  <a:pt x="14000" y="7000"/>
                </a:lnTo>
                <a:lnTo>
                  <a:pt x="15400" y="8000"/>
                </a:lnTo>
                <a:lnTo>
                  <a:pt x="15400" y="7350"/>
                </a:lnTo>
                <a:lnTo>
                  <a:pt x="22000" y="7350"/>
                </a:lnTo>
                <a:close/>
                <a:moveTo>
                  <a:pt x="22000" y="11650"/>
                </a:moveTo>
                <a:lnTo>
                  <a:pt x="15400" y="11650"/>
                </a:lnTo>
                <a:lnTo>
                  <a:pt x="15400" y="11000"/>
                </a:lnTo>
                <a:lnTo>
                  <a:pt x="14000" y="12000"/>
                </a:lnTo>
                <a:lnTo>
                  <a:pt x="15400" y="13000"/>
                </a:lnTo>
                <a:lnTo>
                  <a:pt x="15400" y="12350"/>
                </a:lnTo>
                <a:lnTo>
                  <a:pt x="22000" y="123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力场分析</a:t>
            </a:r>
          </a:p>
        </p:txBody>
      </p:sp>
      <p:sp>
        <p:nvSpPr>
          <p:cNvPr id="34" name="DIAG-011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3100" y="3000"/>
                </a:moveTo>
                <a:lnTo>
                  <a:pt x="20400" y="3000"/>
                </a:lnTo>
                <a:cubicBezTo>
                  <a:pt x="20731" y="3000"/>
                  <a:pt x="21000" y="3269"/>
                  <a:pt x="21000" y="3600"/>
                </a:cubicBezTo>
                <a:lnTo>
                  <a:pt x="21000" y="10900"/>
                </a:lnTo>
                <a:cubicBezTo>
                  <a:pt x="21000" y="11231"/>
                  <a:pt x="20731" y="11500"/>
                  <a:pt x="20400" y="11500"/>
                </a:cubicBezTo>
                <a:lnTo>
                  <a:pt x="13100" y="11500"/>
                </a:lnTo>
                <a:cubicBezTo>
                  <a:pt x="12769" y="11500"/>
                  <a:pt x="12500" y="11231"/>
                  <a:pt x="12500" y="10900"/>
                </a:cubicBezTo>
                <a:lnTo>
                  <a:pt x="12500" y="3600"/>
                </a:lnTo>
                <a:cubicBezTo>
                  <a:pt x="12500" y="3269"/>
                  <a:pt x="12769" y="3000"/>
                  <a:pt x="13100" y="3000"/>
                </a:cubicBez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艾森豪威尔矩阵</a:t>
            </a:r>
          </a:p>
        </p:txBody>
      </p:sp>
      <p:sp>
        <p:nvSpPr>
          <p:cNvPr id="37" name="DIAG-012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600" y="3000"/>
                </a:moveTo>
                <a:lnTo>
                  <a:pt x="10900" y="3000"/>
                </a:lnTo>
                <a:cubicBezTo>
                  <a:pt x="11231" y="3000"/>
                  <a:pt x="11500" y="3269"/>
                  <a:pt x="11500" y="3600"/>
                </a:cubicBezTo>
                <a:lnTo>
                  <a:pt x="11500" y="10900"/>
                </a:lnTo>
                <a:cubicBezTo>
                  <a:pt x="11500" y="11231"/>
                  <a:pt x="11231" y="11500"/>
                  <a:pt x="10900" y="11500"/>
                </a:cubicBezTo>
                <a:lnTo>
                  <a:pt x="3600" y="11500"/>
                </a:lnTo>
                <a:cubicBezTo>
                  <a:pt x="3269" y="11500"/>
                  <a:pt x="3000" y="11231"/>
                  <a:pt x="3000" y="10900"/>
                </a:cubicBezTo>
                <a:lnTo>
                  <a:pt x="3000" y="3600"/>
                </a:lnTo>
                <a:cubicBezTo>
                  <a:pt x="3000" y="3269"/>
                  <a:pt x="3269" y="3000"/>
                  <a:pt x="3600" y="3000"/>
                </a:cubicBez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影响-投入矩阵</a:t>
            </a:r>
          </a:p>
        </p:txBody>
      </p:sp>
      <p:sp>
        <p:nvSpPr>
          <p:cNvPr id="40" name="DIAG-013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400" y="4000"/>
                </a:moveTo>
                <a:lnTo>
                  <a:pt x="12600" y="4000"/>
                </a:lnTo>
                <a:cubicBezTo>
                  <a:pt x="12821" y="4000"/>
                  <a:pt x="13000" y="4179"/>
                  <a:pt x="13000" y="4400"/>
                </a:cubicBezTo>
                <a:lnTo>
                  <a:pt x="13000" y="20600"/>
                </a:lnTo>
                <a:cubicBezTo>
                  <a:pt x="13000" y="20821"/>
                  <a:pt x="12821" y="21000"/>
                  <a:pt x="12600" y="21000"/>
                </a:cubicBezTo>
                <a:lnTo>
                  <a:pt x="11400" y="21000"/>
                </a:lnTo>
                <a:cubicBezTo>
                  <a:pt x="11179" y="21000"/>
                  <a:pt x="11000" y="20821"/>
                  <a:pt x="11000" y="20600"/>
                </a:cubicBezTo>
                <a:lnTo>
                  <a:pt x="11000" y="4400"/>
                </a:lnTo>
                <a:cubicBezTo>
                  <a:pt x="11000" y="4179"/>
                  <a:pt x="11179" y="4000"/>
                  <a:pt x="11400" y="4000"/>
                </a:cubicBezTo>
                <a:close/>
                <a:moveTo>
                  <a:pt x="4300" y="9000"/>
                </a:moveTo>
                <a:lnTo>
                  <a:pt x="19700" y="9000"/>
                </a:lnTo>
                <a:cubicBezTo>
                  <a:pt x="19866" y="9000"/>
                  <a:pt x="20000" y="9134"/>
                  <a:pt x="20000" y="9300"/>
                </a:cubicBezTo>
                <a:lnTo>
                  <a:pt x="20000" y="9900"/>
                </a:lnTo>
                <a:cubicBezTo>
                  <a:pt x="20000" y="10066"/>
                  <a:pt x="19866" y="10200"/>
                  <a:pt x="19700" y="10200"/>
                </a:cubicBezTo>
                <a:lnTo>
                  <a:pt x="4300" y="10200"/>
                </a:lnTo>
                <a:cubicBezTo>
                  <a:pt x="4134" y="10200"/>
                  <a:pt x="4000" y="10066"/>
                  <a:pt x="4000" y="9900"/>
                </a:cubicBezTo>
                <a:lnTo>
                  <a:pt x="4000" y="9300"/>
                </a:lnTo>
                <a:cubicBezTo>
                  <a:pt x="4000" y="9134"/>
                  <a:pt x="4134" y="9000"/>
                  <a:pt x="4300" y="9000"/>
                </a:cubicBezTo>
                <a:close/>
                <a:moveTo>
                  <a:pt x="4000" y="10000"/>
                </a:moveTo>
                <a:lnTo>
                  <a:pt x="1000" y="15000"/>
                </a:lnTo>
                <a:lnTo>
                  <a:pt x="7000" y="15000"/>
                </a:lnTo>
                <a:close/>
                <a:moveTo>
                  <a:pt x="20000" y="10000"/>
                </a:moveTo>
                <a:lnTo>
                  <a:pt x="17000" y="15000"/>
                </a:lnTo>
                <a:lnTo>
                  <a:pt x="23000" y="15000"/>
                </a:lnTo>
                <a:close/>
                <a:moveTo>
                  <a:pt x="8300" y="21000"/>
                </a:moveTo>
                <a:lnTo>
                  <a:pt x="15700" y="21000"/>
                </a:lnTo>
                <a:cubicBezTo>
                  <a:pt x="15866" y="21000"/>
                  <a:pt x="16000" y="21134"/>
                  <a:pt x="16000" y="21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21300"/>
                </a:lnTo>
                <a:cubicBezTo>
                  <a:pt x="8000" y="21134"/>
                  <a:pt x="8134" y="21000"/>
                  <a:pt x="8300" y="21000"/>
                </a:cubicBezTo>
                <a:close/>
                <a:moveTo>
                  <a:pt x="5000" y="6000"/>
                </a:moveTo>
                <a:cubicBezTo>
                  <a:pt x="5000" y="6552"/>
                  <a:pt x="4552" y="7000"/>
                  <a:pt x="4000" y="7000"/>
                </a:cubicBezTo>
                <a:cubicBezTo>
                  <a:pt x="3448" y="7000"/>
                  <a:pt x="3000" y="6552"/>
                  <a:pt x="3000" y="6000"/>
                </a:cubicBezTo>
                <a:cubicBezTo>
                  <a:pt x="3000" y="5448"/>
                  <a:pt x="3448" y="5000"/>
                  <a:pt x="4000" y="5000"/>
                </a:cubicBezTo>
                <a:cubicBezTo>
                  <a:pt x="4552" y="5000"/>
                  <a:pt x="5000" y="5448"/>
                  <a:pt x="5000" y="6000"/>
                </a:cubicBezTo>
                <a:close/>
                <a:moveTo>
                  <a:pt x="15300" y="5000"/>
                </a:moveTo>
                <a:lnTo>
                  <a:pt x="20700" y="5000"/>
                </a:lnTo>
                <a:cubicBezTo>
                  <a:pt x="20866" y="5000"/>
                  <a:pt x="21000" y="5134"/>
                  <a:pt x="21000" y="5300"/>
                </a:cubicBezTo>
                <a:lnTo>
                  <a:pt x="21000" y="7700"/>
                </a:lnTo>
                <a:cubicBezTo>
                  <a:pt x="21000" y="7866"/>
                  <a:pt x="20866" y="8000"/>
                  <a:pt x="20700" y="8000"/>
                </a:cubicBezTo>
                <a:lnTo>
                  <a:pt x="15300" y="8000"/>
                </a:lnTo>
                <a:cubicBezTo>
                  <a:pt x="15134" y="8000"/>
                  <a:pt x="15000" y="7866"/>
                  <a:pt x="15000" y="7700"/>
                </a:cubicBezTo>
                <a:lnTo>
                  <a:pt x="15000" y="5300"/>
                </a:lnTo>
                <a:cubicBezTo>
                  <a:pt x="15000" y="5134"/>
                  <a:pt x="15134" y="5000"/>
                  <a:pt x="153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成本-收益天平</a:t>
            </a:r>
          </a:p>
        </p:txBody>
      </p:sp>
      <p:sp>
        <p:nvSpPr>
          <p:cNvPr id="43" name="DIAG-014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0800" y="12000"/>
                </a:moveTo>
                <a:cubicBezTo>
                  <a:pt x="20800" y="7140"/>
                  <a:pt x="16860" y="3200"/>
                  <a:pt x="12000" y="3200"/>
                </a:cubicBezTo>
                <a:cubicBezTo>
                  <a:pt x="7140" y="3200"/>
                  <a:pt x="3200" y="7140"/>
                  <a:pt x="3200" y="12000"/>
                </a:cubicBezTo>
                <a:cubicBezTo>
                  <a:pt x="3200" y="16860"/>
                  <a:pt x="7140" y="20800"/>
                  <a:pt x="12000" y="20800"/>
                </a:cubicBezTo>
                <a:cubicBezTo>
                  <a:pt x="16860" y="20800"/>
                  <a:pt x="20800" y="16860"/>
                  <a:pt x="20800" y="12000"/>
                </a:cubicBezTo>
                <a:close/>
                <a:moveTo>
                  <a:pt x="19750" y="12000"/>
                </a:moveTo>
                <a:cubicBezTo>
                  <a:pt x="19750" y="16280"/>
                  <a:pt x="16280" y="19750"/>
                  <a:pt x="12000" y="19750"/>
                </a:cubicBezTo>
                <a:cubicBezTo>
                  <a:pt x="7720" y="19750"/>
                  <a:pt x="4250" y="16280"/>
                  <a:pt x="4250" y="12000"/>
                </a:cubicBezTo>
                <a:cubicBezTo>
                  <a:pt x="4250" y="7720"/>
                  <a:pt x="7720" y="4250"/>
                  <a:pt x="12000" y="4250"/>
                </a:cubicBezTo>
                <a:cubicBezTo>
                  <a:pt x="16280" y="4250"/>
                  <a:pt x="19750" y="7720"/>
                  <a:pt x="19750" y="12000"/>
                </a:cubicBezTo>
                <a:close/>
                <a:moveTo>
                  <a:pt x="18550" y="12000"/>
                </a:moveTo>
                <a:cubicBezTo>
                  <a:pt x="18550" y="8383"/>
                  <a:pt x="15617" y="5450"/>
                  <a:pt x="12000" y="5450"/>
                </a:cubicBezTo>
                <a:cubicBezTo>
                  <a:pt x="8383" y="5450"/>
                  <a:pt x="5450" y="8383"/>
                  <a:pt x="5450" y="12000"/>
                </a:cubicBezTo>
                <a:cubicBezTo>
                  <a:pt x="5450" y="15617"/>
                  <a:pt x="8383" y="18550"/>
                  <a:pt x="12000" y="18550"/>
                </a:cubicBezTo>
                <a:cubicBezTo>
                  <a:pt x="15617" y="18550"/>
                  <a:pt x="18550" y="15617"/>
                  <a:pt x="18550" y="12000"/>
                </a:cubicBezTo>
                <a:close/>
                <a:moveTo>
                  <a:pt x="17500" y="12000"/>
                </a:moveTo>
                <a:cubicBezTo>
                  <a:pt x="17500" y="15038"/>
                  <a:pt x="15038" y="17500"/>
                  <a:pt x="12000" y="17500"/>
                </a:cubicBezTo>
                <a:cubicBezTo>
                  <a:pt x="8962" y="17500"/>
                  <a:pt x="6500" y="15038"/>
                  <a:pt x="6500" y="12000"/>
                </a:cubicBezTo>
                <a:cubicBezTo>
                  <a:pt x="6500" y="8962"/>
                  <a:pt x="8962" y="6500"/>
                  <a:pt x="12000" y="6500"/>
                </a:cubicBezTo>
                <a:cubicBezTo>
                  <a:pt x="15038" y="6500"/>
                  <a:pt x="17500" y="8962"/>
                  <a:pt x="17500" y="12000"/>
                </a:cubicBezTo>
                <a:close/>
                <a:moveTo>
                  <a:pt x="16300" y="12000"/>
                </a:moveTo>
                <a:cubicBezTo>
                  <a:pt x="16300" y="9625"/>
                  <a:pt x="14375" y="7700"/>
                  <a:pt x="12000" y="7700"/>
                </a:cubicBezTo>
                <a:cubicBezTo>
                  <a:pt x="9625" y="7700"/>
                  <a:pt x="7700" y="9625"/>
                  <a:pt x="7700" y="12000"/>
                </a:cubicBezTo>
                <a:cubicBezTo>
                  <a:pt x="7700" y="14375"/>
                  <a:pt x="9625" y="16300"/>
                  <a:pt x="12000" y="16300"/>
                </a:cubicBezTo>
                <a:cubicBezTo>
                  <a:pt x="14375" y="16300"/>
                  <a:pt x="16300" y="14375"/>
                  <a:pt x="16300" y="12000"/>
                </a:cubicBezTo>
                <a:close/>
                <a:moveTo>
                  <a:pt x="15250" y="12000"/>
                </a:moveTo>
                <a:cubicBezTo>
                  <a:pt x="15250" y="13795"/>
                  <a:pt x="13795" y="15250"/>
                  <a:pt x="12000" y="15250"/>
                </a:cubicBezTo>
                <a:cubicBezTo>
                  <a:pt x="10205" y="15250"/>
                  <a:pt x="8750" y="13795"/>
                  <a:pt x="8750" y="12000"/>
                </a:cubicBezTo>
                <a:cubicBezTo>
                  <a:pt x="8750" y="10205"/>
                  <a:pt x="10205" y="8750"/>
                  <a:pt x="12000" y="8750"/>
                </a:cubicBezTo>
                <a:cubicBezTo>
                  <a:pt x="13795" y="8750"/>
                  <a:pt x="15250" y="10205"/>
                  <a:pt x="15250" y="12000"/>
                </a:cubicBezTo>
                <a:close/>
                <a:moveTo>
                  <a:pt x="14050" y="12000"/>
                </a:moveTo>
                <a:cubicBezTo>
                  <a:pt x="14050" y="10868"/>
                  <a:pt x="13132" y="9950"/>
                  <a:pt x="12000" y="9950"/>
                </a:cubicBezTo>
                <a:cubicBezTo>
                  <a:pt x="10868" y="9950"/>
                  <a:pt x="9950" y="10868"/>
                  <a:pt x="9950" y="12000"/>
                </a:cubicBezTo>
                <a:cubicBezTo>
                  <a:pt x="9950" y="13132"/>
                  <a:pt x="10868" y="14050"/>
                  <a:pt x="12000" y="14050"/>
                </a:cubicBezTo>
                <a:cubicBezTo>
                  <a:pt x="13132" y="14050"/>
                  <a:pt x="14050" y="13132"/>
                  <a:pt x="14050" y="12000"/>
                </a:cubicBezTo>
                <a:close/>
                <a:moveTo>
                  <a:pt x="13200" y="12000"/>
                </a:moveTo>
                <a:cubicBezTo>
                  <a:pt x="13200" y="12663"/>
                  <a:pt x="12663" y="13200"/>
                  <a:pt x="12000" y="13200"/>
                </a:cubicBezTo>
                <a:cubicBezTo>
                  <a:pt x="11337" y="13200"/>
                  <a:pt x="10800" y="12663"/>
                  <a:pt x="10800" y="12000"/>
                </a:cubicBezTo>
                <a:cubicBezTo>
                  <a:pt x="10800" y="11337"/>
                  <a:pt x="11337" y="10800"/>
                  <a:pt x="12000" y="10800"/>
                </a:cubicBezTo>
                <a:cubicBezTo>
                  <a:pt x="12663" y="10800"/>
                  <a:pt x="13200" y="11337"/>
                  <a:pt x="132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相关方洋葱图</a:t>
            </a:r>
          </a:p>
        </p:txBody>
      </p:sp>
      <p:sp>
        <p:nvSpPr>
          <p:cNvPr id="46" name="DIAG-015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3100" y="3000"/>
                </a:moveTo>
                <a:lnTo>
                  <a:pt x="20400" y="3000"/>
                </a:lnTo>
                <a:cubicBezTo>
                  <a:pt x="20731" y="3000"/>
                  <a:pt x="21000" y="3269"/>
                  <a:pt x="21000" y="3600"/>
                </a:cubicBezTo>
                <a:lnTo>
                  <a:pt x="21000" y="10900"/>
                </a:lnTo>
                <a:cubicBezTo>
                  <a:pt x="21000" y="11231"/>
                  <a:pt x="20731" y="11500"/>
                  <a:pt x="20400" y="11500"/>
                </a:cubicBezTo>
                <a:lnTo>
                  <a:pt x="13100" y="11500"/>
                </a:lnTo>
                <a:cubicBezTo>
                  <a:pt x="12769" y="11500"/>
                  <a:pt x="12500" y="11231"/>
                  <a:pt x="12500" y="10900"/>
                </a:cubicBezTo>
                <a:lnTo>
                  <a:pt x="12500" y="3600"/>
                </a:lnTo>
                <a:cubicBezTo>
                  <a:pt x="12500" y="3269"/>
                  <a:pt x="12769" y="3000"/>
                  <a:pt x="13100" y="3000"/>
                </a:cubicBez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价值-成本矩阵</a:t>
            </a:r>
          </a:p>
        </p:txBody>
      </p:sp>
      <p:sp>
        <p:nvSpPr>
          <p:cNvPr id="49" name="DIAG-016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300" y="18000"/>
                </a:moveTo>
                <a:lnTo>
                  <a:pt x="5300" y="18000"/>
                </a:lnTo>
                <a:cubicBezTo>
                  <a:pt x="5466" y="18000"/>
                  <a:pt x="5600" y="18134"/>
                  <a:pt x="5600" y="18300"/>
                </a:cubicBezTo>
                <a:lnTo>
                  <a:pt x="5600" y="21700"/>
                </a:lnTo>
                <a:cubicBezTo>
                  <a:pt x="5600" y="21866"/>
                  <a:pt x="5466" y="22000"/>
                  <a:pt x="53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18300"/>
                </a:lnTo>
                <a:cubicBezTo>
                  <a:pt x="2000" y="18134"/>
                  <a:pt x="2134" y="18000"/>
                  <a:pt x="2300" y="18000"/>
                </a:cubicBezTo>
                <a:close/>
                <a:moveTo>
                  <a:pt x="6300" y="14000"/>
                </a:moveTo>
                <a:lnTo>
                  <a:pt x="9300" y="14000"/>
                </a:lnTo>
                <a:cubicBezTo>
                  <a:pt x="9466" y="14000"/>
                  <a:pt x="9600" y="14134"/>
                  <a:pt x="9600" y="14300"/>
                </a:cubicBezTo>
                <a:lnTo>
                  <a:pt x="9600" y="21700"/>
                </a:lnTo>
                <a:cubicBezTo>
                  <a:pt x="9600" y="21866"/>
                  <a:pt x="9466" y="22000"/>
                  <a:pt x="9300" y="22000"/>
                </a:cubicBezTo>
                <a:lnTo>
                  <a:pt x="6300" y="22000"/>
                </a:lnTo>
                <a:cubicBezTo>
                  <a:pt x="6134" y="22000"/>
                  <a:pt x="6000" y="21866"/>
                  <a:pt x="6000" y="21700"/>
                </a:cubicBezTo>
                <a:lnTo>
                  <a:pt x="6000" y="14300"/>
                </a:lnTo>
                <a:cubicBezTo>
                  <a:pt x="6000" y="14134"/>
                  <a:pt x="6134" y="14000"/>
                  <a:pt x="6300" y="14000"/>
                </a:cubicBezTo>
                <a:close/>
                <a:moveTo>
                  <a:pt x="10300" y="10000"/>
                </a:moveTo>
                <a:lnTo>
                  <a:pt x="13300" y="10000"/>
                </a:lnTo>
                <a:cubicBezTo>
                  <a:pt x="13466" y="10000"/>
                  <a:pt x="13600" y="10134"/>
                  <a:pt x="13600" y="10300"/>
                </a:cubicBezTo>
                <a:lnTo>
                  <a:pt x="13600" y="21700"/>
                </a:lnTo>
                <a:cubicBezTo>
                  <a:pt x="13600" y="21866"/>
                  <a:pt x="13466" y="22000"/>
                  <a:pt x="13300" y="22000"/>
                </a:cubicBezTo>
                <a:lnTo>
                  <a:pt x="10300" y="22000"/>
                </a:lnTo>
                <a:cubicBezTo>
                  <a:pt x="10134" y="22000"/>
                  <a:pt x="10000" y="21866"/>
                  <a:pt x="10000" y="21700"/>
                </a:cubicBezTo>
                <a:lnTo>
                  <a:pt x="10000" y="10300"/>
                </a:lnTo>
                <a:cubicBezTo>
                  <a:pt x="10000" y="10134"/>
                  <a:pt x="10134" y="10000"/>
                  <a:pt x="10300" y="10000"/>
                </a:cubicBezTo>
                <a:close/>
                <a:moveTo>
                  <a:pt x="14300" y="6000"/>
                </a:moveTo>
                <a:lnTo>
                  <a:pt x="17300" y="6000"/>
                </a:lnTo>
                <a:cubicBezTo>
                  <a:pt x="17466" y="6000"/>
                  <a:pt x="17600" y="6134"/>
                  <a:pt x="17600" y="6300"/>
                </a:cubicBezTo>
                <a:lnTo>
                  <a:pt x="17600" y="21700"/>
                </a:lnTo>
                <a:cubicBezTo>
                  <a:pt x="17600" y="21866"/>
                  <a:pt x="17466" y="22000"/>
                  <a:pt x="17300" y="22000"/>
                </a:cubicBezTo>
                <a:lnTo>
                  <a:pt x="14300" y="22000"/>
                </a:lnTo>
                <a:cubicBezTo>
                  <a:pt x="14134" y="22000"/>
                  <a:pt x="14000" y="21866"/>
                  <a:pt x="14000" y="21700"/>
                </a:cubicBezTo>
                <a:lnTo>
                  <a:pt x="14000" y="6300"/>
                </a:lnTo>
                <a:cubicBezTo>
                  <a:pt x="14000" y="6134"/>
                  <a:pt x="14134" y="6000"/>
                  <a:pt x="14300" y="6000"/>
                </a:cubicBezTo>
                <a:close/>
                <a:moveTo>
                  <a:pt x="18300" y="2000"/>
                </a:moveTo>
                <a:lnTo>
                  <a:pt x="21300" y="2000"/>
                </a:lnTo>
                <a:cubicBezTo>
                  <a:pt x="21466" y="2000"/>
                  <a:pt x="21600" y="2134"/>
                  <a:pt x="21600" y="2300"/>
                </a:cubicBezTo>
                <a:lnTo>
                  <a:pt x="21600" y="21700"/>
                </a:lnTo>
                <a:cubicBezTo>
                  <a:pt x="21600" y="21866"/>
                  <a:pt x="21466" y="22000"/>
                  <a:pt x="21300" y="22000"/>
                </a:cubicBezTo>
                <a:lnTo>
                  <a:pt x="18300" y="22000"/>
                </a:lnTo>
                <a:cubicBezTo>
                  <a:pt x="18134" y="22000"/>
                  <a:pt x="18000" y="21866"/>
                  <a:pt x="18000" y="21700"/>
                </a:cubicBezTo>
                <a:lnTo>
                  <a:pt x="18000" y="2300"/>
                </a:lnTo>
                <a:cubicBezTo>
                  <a:pt x="18000" y="2134"/>
                  <a:pt x="18134" y="2000"/>
                  <a:pt x="18300" y="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五级成熟度</a:t>
            </a:r>
          </a:p>
        </p:txBody>
      </p:sp>
      <p:sp>
        <p:nvSpPr>
          <p:cNvPr id="52" name="DIAG-017"/>
          <p:cNvSpPr/>
          <p:nvPr/>
        </p:nvSpPr>
        <p:spPr>
          <a:xfrm>
            <a:off x="722376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000"/>
                </a:moveTo>
                <a:lnTo>
                  <a:pt x="6400" y="2000"/>
                </a:lnTo>
                <a:cubicBezTo>
                  <a:pt x="6566" y="2000"/>
                  <a:pt x="6700" y="2134"/>
                  <a:pt x="6700" y="2300"/>
                </a:cubicBezTo>
                <a:lnTo>
                  <a:pt x="6700" y="6400"/>
                </a:lnTo>
                <a:cubicBezTo>
                  <a:pt x="6700" y="6566"/>
                  <a:pt x="6566" y="6700"/>
                  <a:pt x="6400" y="6700"/>
                </a:cubicBezTo>
                <a:lnTo>
                  <a:pt x="2300" y="6700"/>
                </a:lnTo>
                <a:cubicBezTo>
                  <a:pt x="2134" y="6700"/>
                  <a:pt x="2000" y="6566"/>
                  <a:pt x="2000" y="6400"/>
                </a:cubicBezTo>
                <a:lnTo>
                  <a:pt x="2000" y="2300"/>
                </a:lnTo>
                <a:cubicBezTo>
                  <a:pt x="2000" y="2134"/>
                  <a:pt x="2134" y="2000"/>
                  <a:pt x="2300" y="2000"/>
                </a:cubicBezTo>
                <a:close/>
                <a:moveTo>
                  <a:pt x="7100" y="2000"/>
                </a:moveTo>
                <a:lnTo>
                  <a:pt x="11800" y="2000"/>
                </a:lnTo>
                <a:lnTo>
                  <a:pt x="11800" y="2400"/>
                </a:lnTo>
                <a:lnTo>
                  <a:pt x="7100" y="2400"/>
                </a:lnTo>
                <a:close/>
                <a:moveTo>
                  <a:pt x="7100" y="6300"/>
                </a:moveTo>
                <a:lnTo>
                  <a:pt x="11800" y="6300"/>
                </a:lnTo>
                <a:lnTo>
                  <a:pt x="11800" y="6700"/>
                </a:lnTo>
                <a:lnTo>
                  <a:pt x="7100" y="6700"/>
                </a:lnTo>
                <a:close/>
                <a:moveTo>
                  <a:pt x="7100" y="2000"/>
                </a:moveTo>
                <a:lnTo>
                  <a:pt x="7500" y="2000"/>
                </a:lnTo>
                <a:lnTo>
                  <a:pt x="7500" y="6700"/>
                </a:lnTo>
                <a:lnTo>
                  <a:pt x="7100" y="6700"/>
                </a:lnTo>
                <a:close/>
                <a:moveTo>
                  <a:pt x="11400" y="2000"/>
                </a:moveTo>
                <a:lnTo>
                  <a:pt x="11800" y="2000"/>
                </a:lnTo>
                <a:lnTo>
                  <a:pt x="11800" y="6700"/>
                </a:lnTo>
                <a:lnTo>
                  <a:pt x="11400" y="6700"/>
                </a:lnTo>
                <a:close/>
                <a:moveTo>
                  <a:pt x="12500" y="2000"/>
                </a:moveTo>
                <a:lnTo>
                  <a:pt x="16600" y="2000"/>
                </a:lnTo>
                <a:cubicBezTo>
                  <a:pt x="16766" y="2000"/>
                  <a:pt x="16900" y="2134"/>
                  <a:pt x="16900" y="2300"/>
                </a:cubicBezTo>
                <a:lnTo>
                  <a:pt x="16900" y="6400"/>
                </a:lnTo>
                <a:cubicBezTo>
                  <a:pt x="16900" y="6566"/>
                  <a:pt x="16766" y="6700"/>
                  <a:pt x="16600" y="6700"/>
                </a:cubicBezTo>
                <a:lnTo>
                  <a:pt x="12500" y="6700"/>
                </a:lnTo>
                <a:cubicBezTo>
                  <a:pt x="12334" y="6700"/>
                  <a:pt x="12200" y="6566"/>
                  <a:pt x="12200" y="6400"/>
                </a:cubicBezTo>
                <a:lnTo>
                  <a:pt x="12200" y="2300"/>
                </a:lnTo>
                <a:cubicBezTo>
                  <a:pt x="12200" y="2134"/>
                  <a:pt x="12334" y="2000"/>
                  <a:pt x="12500" y="2000"/>
                </a:cubicBezTo>
                <a:close/>
                <a:moveTo>
                  <a:pt x="17300" y="2000"/>
                </a:moveTo>
                <a:lnTo>
                  <a:pt x="22000" y="2000"/>
                </a:lnTo>
                <a:lnTo>
                  <a:pt x="22000" y="2400"/>
                </a:lnTo>
                <a:lnTo>
                  <a:pt x="17300" y="2400"/>
                </a:lnTo>
                <a:close/>
                <a:moveTo>
                  <a:pt x="17300" y="6300"/>
                </a:moveTo>
                <a:lnTo>
                  <a:pt x="22000" y="6300"/>
                </a:lnTo>
                <a:lnTo>
                  <a:pt x="22000" y="6700"/>
                </a:lnTo>
                <a:lnTo>
                  <a:pt x="17300" y="6700"/>
                </a:lnTo>
                <a:close/>
                <a:moveTo>
                  <a:pt x="17300" y="2000"/>
                </a:moveTo>
                <a:lnTo>
                  <a:pt x="17700" y="2000"/>
                </a:lnTo>
                <a:lnTo>
                  <a:pt x="17700" y="6700"/>
                </a:lnTo>
                <a:lnTo>
                  <a:pt x="17300" y="6700"/>
                </a:lnTo>
                <a:close/>
                <a:moveTo>
                  <a:pt x="21600" y="2000"/>
                </a:moveTo>
                <a:lnTo>
                  <a:pt x="22000" y="2000"/>
                </a:lnTo>
                <a:lnTo>
                  <a:pt x="22000" y="6700"/>
                </a:lnTo>
                <a:lnTo>
                  <a:pt x="21600" y="6700"/>
                </a:lnTo>
                <a:close/>
                <a:moveTo>
                  <a:pt x="2000" y="7100"/>
                </a:moveTo>
                <a:lnTo>
                  <a:pt x="6700" y="7100"/>
                </a:lnTo>
                <a:lnTo>
                  <a:pt x="6700" y="7500"/>
                </a:lnTo>
                <a:lnTo>
                  <a:pt x="2000" y="7500"/>
                </a:lnTo>
                <a:close/>
                <a:moveTo>
                  <a:pt x="2000" y="11400"/>
                </a:moveTo>
                <a:lnTo>
                  <a:pt x="6700" y="11400"/>
                </a:lnTo>
                <a:lnTo>
                  <a:pt x="6700" y="11800"/>
                </a:lnTo>
                <a:lnTo>
                  <a:pt x="2000" y="11800"/>
                </a:lnTo>
                <a:close/>
                <a:moveTo>
                  <a:pt x="2000" y="7100"/>
                </a:moveTo>
                <a:lnTo>
                  <a:pt x="2400" y="7100"/>
                </a:lnTo>
                <a:lnTo>
                  <a:pt x="2400" y="11800"/>
                </a:lnTo>
                <a:lnTo>
                  <a:pt x="2000" y="11800"/>
                </a:lnTo>
                <a:close/>
                <a:moveTo>
                  <a:pt x="6300" y="7100"/>
                </a:moveTo>
                <a:lnTo>
                  <a:pt x="6700" y="7100"/>
                </a:lnTo>
                <a:lnTo>
                  <a:pt x="6700" y="11800"/>
                </a:lnTo>
                <a:lnTo>
                  <a:pt x="6300" y="11800"/>
                </a:lnTo>
                <a:close/>
                <a:moveTo>
                  <a:pt x="7400" y="7100"/>
                </a:moveTo>
                <a:lnTo>
                  <a:pt x="11500" y="7100"/>
                </a:lnTo>
                <a:cubicBezTo>
                  <a:pt x="11666" y="7100"/>
                  <a:pt x="11800" y="7234"/>
                  <a:pt x="11800" y="7400"/>
                </a:cubicBezTo>
                <a:lnTo>
                  <a:pt x="11800" y="11500"/>
                </a:lnTo>
                <a:cubicBezTo>
                  <a:pt x="11800" y="11666"/>
                  <a:pt x="11666" y="11800"/>
                  <a:pt x="11500" y="11800"/>
                </a:cubicBezTo>
                <a:lnTo>
                  <a:pt x="7400" y="11800"/>
                </a:lnTo>
                <a:cubicBezTo>
                  <a:pt x="7234" y="11800"/>
                  <a:pt x="7100" y="11666"/>
                  <a:pt x="7100" y="11500"/>
                </a:cubicBezTo>
                <a:lnTo>
                  <a:pt x="7100" y="7400"/>
                </a:lnTo>
                <a:cubicBezTo>
                  <a:pt x="7100" y="7234"/>
                  <a:pt x="7234" y="7100"/>
                  <a:pt x="7400" y="7100"/>
                </a:cubicBezTo>
                <a:close/>
                <a:moveTo>
                  <a:pt x="12200" y="7100"/>
                </a:moveTo>
                <a:lnTo>
                  <a:pt x="16900" y="7100"/>
                </a:lnTo>
                <a:lnTo>
                  <a:pt x="16900" y="7500"/>
                </a:lnTo>
                <a:lnTo>
                  <a:pt x="12200" y="7500"/>
                </a:lnTo>
                <a:close/>
                <a:moveTo>
                  <a:pt x="12200" y="11400"/>
                </a:moveTo>
                <a:lnTo>
                  <a:pt x="16900" y="11400"/>
                </a:lnTo>
                <a:lnTo>
                  <a:pt x="16900" y="11800"/>
                </a:lnTo>
                <a:lnTo>
                  <a:pt x="12200" y="11800"/>
                </a:lnTo>
                <a:close/>
                <a:moveTo>
                  <a:pt x="12200" y="7100"/>
                </a:moveTo>
                <a:lnTo>
                  <a:pt x="12600" y="7100"/>
                </a:lnTo>
                <a:lnTo>
                  <a:pt x="12600" y="11800"/>
                </a:lnTo>
                <a:lnTo>
                  <a:pt x="12200" y="11800"/>
                </a:lnTo>
                <a:close/>
                <a:moveTo>
                  <a:pt x="16500" y="7100"/>
                </a:moveTo>
                <a:lnTo>
                  <a:pt x="16900" y="7100"/>
                </a:lnTo>
                <a:lnTo>
                  <a:pt x="16900" y="11800"/>
                </a:lnTo>
                <a:lnTo>
                  <a:pt x="16500" y="11800"/>
                </a:lnTo>
                <a:close/>
                <a:moveTo>
                  <a:pt x="17300" y="7100"/>
                </a:moveTo>
                <a:lnTo>
                  <a:pt x="22000" y="7100"/>
                </a:lnTo>
                <a:lnTo>
                  <a:pt x="22000" y="7500"/>
                </a:lnTo>
                <a:lnTo>
                  <a:pt x="17300" y="7500"/>
                </a:lnTo>
                <a:close/>
                <a:moveTo>
                  <a:pt x="17300" y="11400"/>
                </a:moveTo>
                <a:lnTo>
                  <a:pt x="22000" y="11400"/>
                </a:lnTo>
                <a:lnTo>
                  <a:pt x="22000" y="11800"/>
                </a:lnTo>
                <a:lnTo>
                  <a:pt x="17300" y="11800"/>
                </a:lnTo>
                <a:close/>
                <a:moveTo>
                  <a:pt x="17300" y="7100"/>
                </a:moveTo>
                <a:lnTo>
                  <a:pt x="17700" y="7100"/>
                </a:lnTo>
                <a:lnTo>
                  <a:pt x="17700" y="11800"/>
                </a:lnTo>
                <a:lnTo>
                  <a:pt x="17300" y="11800"/>
                </a:lnTo>
                <a:close/>
                <a:moveTo>
                  <a:pt x="21600" y="7100"/>
                </a:moveTo>
                <a:lnTo>
                  <a:pt x="22000" y="7100"/>
                </a:lnTo>
                <a:lnTo>
                  <a:pt x="22000" y="11800"/>
                </a:lnTo>
                <a:lnTo>
                  <a:pt x="21600" y="11800"/>
                </a:lnTo>
                <a:close/>
                <a:moveTo>
                  <a:pt x="2300" y="12200"/>
                </a:moveTo>
                <a:lnTo>
                  <a:pt x="6400" y="12200"/>
                </a:lnTo>
                <a:cubicBezTo>
                  <a:pt x="6566" y="12200"/>
                  <a:pt x="6700" y="12334"/>
                  <a:pt x="6700" y="12500"/>
                </a:cubicBezTo>
                <a:lnTo>
                  <a:pt x="6700" y="16600"/>
                </a:lnTo>
                <a:cubicBezTo>
                  <a:pt x="6700" y="16766"/>
                  <a:pt x="6566" y="16900"/>
                  <a:pt x="6400" y="16900"/>
                </a:cubicBezTo>
                <a:lnTo>
                  <a:pt x="2300" y="16900"/>
                </a:lnTo>
                <a:cubicBezTo>
                  <a:pt x="2134" y="16900"/>
                  <a:pt x="2000" y="16766"/>
                  <a:pt x="2000" y="16600"/>
                </a:cubicBezTo>
                <a:lnTo>
                  <a:pt x="2000" y="12500"/>
                </a:lnTo>
                <a:cubicBezTo>
                  <a:pt x="2000" y="12334"/>
                  <a:pt x="2134" y="12200"/>
                  <a:pt x="2300" y="12200"/>
                </a:cubicBezTo>
                <a:close/>
                <a:moveTo>
                  <a:pt x="7100" y="12200"/>
                </a:moveTo>
                <a:lnTo>
                  <a:pt x="11800" y="12200"/>
                </a:lnTo>
                <a:lnTo>
                  <a:pt x="11800" y="12600"/>
                </a:lnTo>
                <a:lnTo>
                  <a:pt x="7100" y="12600"/>
                </a:lnTo>
                <a:close/>
                <a:moveTo>
                  <a:pt x="7100" y="16500"/>
                </a:moveTo>
                <a:lnTo>
                  <a:pt x="11800" y="16500"/>
                </a:lnTo>
                <a:lnTo>
                  <a:pt x="11800" y="16900"/>
                </a:lnTo>
                <a:lnTo>
                  <a:pt x="7100" y="16900"/>
                </a:lnTo>
                <a:close/>
                <a:moveTo>
                  <a:pt x="7100" y="12200"/>
                </a:moveTo>
                <a:lnTo>
                  <a:pt x="7500" y="12200"/>
                </a:lnTo>
                <a:lnTo>
                  <a:pt x="7500" y="16900"/>
                </a:lnTo>
                <a:lnTo>
                  <a:pt x="7100" y="16900"/>
                </a:lnTo>
                <a:close/>
                <a:moveTo>
                  <a:pt x="11400" y="12200"/>
                </a:moveTo>
                <a:lnTo>
                  <a:pt x="11800" y="12200"/>
                </a:lnTo>
                <a:lnTo>
                  <a:pt x="11800" y="16900"/>
                </a:lnTo>
                <a:lnTo>
                  <a:pt x="11400" y="16900"/>
                </a:lnTo>
                <a:close/>
                <a:moveTo>
                  <a:pt x="12200" y="12200"/>
                </a:moveTo>
                <a:lnTo>
                  <a:pt x="16900" y="12200"/>
                </a:lnTo>
                <a:lnTo>
                  <a:pt x="16900" y="12600"/>
                </a:lnTo>
                <a:lnTo>
                  <a:pt x="12200" y="12600"/>
                </a:lnTo>
                <a:close/>
                <a:moveTo>
                  <a:pt x="12200" y="16500"/>
                </a:moveTo>
                <a:lnTo>
                  <a:pt x="16900" y="16500"/>
                </a:lnTo>
                <a:lnTo>
                  <a:pt x="16900" y="16900"/>
                </a:lnTo>
                <a:lnTo>
                  <a:pt x="12200" y="16900"/>
                </a:lnTo>
                <a:close/>
                <a:moveTo>
                  <a:pt x="12200" y="12200"/>
                </a:moveTo>
                <a:lnTo>
                  <a:pt x="12600" y="12200"/>
                </a:lnTo>
                <a:lnTo>
                  <a:pt x="12600" y="16900"/>
                </a:lnTo>
                <a:lnTo>
                  <a:pt x="12200" y="16900"/>
                </a:lnTo>
                <a:close/>
                <a:moveTo>
                  <a:pt x="16500" y="12200"/>
                </a:moveTo>
                <a:lnTo>
                  <a:pt x="16900" y="12200"/>
                </a:lnTo>
                <a:lnTo>
                  <a:pt x="16900" y="16900"/>
                </a:lnTo>
                <a:lnTo>
                  <a:pt x="16500" y="16900"/>
                </a:lnTo>
                <a:close/>
                <a:moveTo>
                  <a:pt x="17600" y="12200"/>
                </a:moveTo>
                <a:lnTo>
                  <a:pt x="21700" y="12200"/>
                </a:lnTo>
                <a:cubicBezTo>
                  <a:pt x="21866" y="12200"/>
                  <a:pt x="22000" y="12334"/>
                  <a:pt x="22000" y="12500"/>
                </a:cubicBezTo>
                <a:lnTo>
                  <a:pt x="22000" y="16600"/>
                </a:lnTo>
                <a:cubicBezTo>
                  <a:pt x="22000" y="16766"/>
                  <a:pt x="21866" y="16900"/>
                  <a:pt x="21700" y="16900"/>
                </a:cubicBezTo>
                <a:lnTo>
                  <a:pt x="17600" y="16900"/>
                </a:lnTo>
                <a:cubicBezTo>
                  <a:pt x="17434" y="16900"/>
                  <a:pt x="17300" y="16766"/>
                  <a:pt x="17300" y="16600"/>
                </a:cubicBezTo>
                <a:lnTo>
                  <a:pt x="17300" y="12500"/>
                </a:lnTo>
                <a:cubicBezTo>
                  <a:pt x="17300" y="12334"/>
                  <a:pt x="17434" y="12200"/>
                  <a:pt x="17600" y="12200"/>
                </a:cubicBezTo>
                <a:close/>
                <a:moveTo>
                  <a:pt x="2000" y="17300"/>
                </a:moveTo>
                <a:lnTo>
                  <a:pt x="6700" y="17300"/>
                </a:lnTo>
                <a:lnTo>
                  <a:pt x="6700" y="17700"/>
                </a:lnTo>
                <a:lnTo>
                  <a:pt x="2000" y="17700"/>
                </a:lnTo>
                <a:close/>
                <a:moveTo>
                  <a:pt x="2000" y="21600"/>
                </a:moveTo>
                <a:lnTo>
                  <a:pt x="6700" y="21600"/>
                </a:lnTo>
                <a:lnTo>
                  <a:pt x="6700" y="22000"/>
                </a:lnTo>
                <a:lnTo>
                  <a:pt x="2000" y="22000"/>
                </a:lnTo>
                <a:close/>
                <a:moveTo>
                  <a:pt x="2000" y="17300"/>
                </a:moveTo>
                <a:lnTo>
                  <a:pt x="2400" y="17300"/>
                </a:lnTo>
                <a:lnTo>
                  <a:pt x="2400" y="22000"/>
                </a:lnTo>
                <a:lnTo>
                  <a:pt x="2000" y="22000"/>
                </a:lnTo>
                <a:close/>
                <a:moveTo>
                  <a:pt x="6300" y="17300"/>
                </a:moveTo>
                <a:lnTo>
                  <a:pt x="6700" y="17300"/>
                </a:lnTo>
                <a:lnTo>
                  <a:pt x="6700" y="22000"/>
                </a:lnTo>
                <a:lnTo>
                  <a:pt x="6300" y="22000"/>
                </a:lnTo>
                <a:close/>
                <a:moveTo>
                  <a:pt x="7400" y="17300"/>
                </a:moveTo>
                <a:lnTo>
                  <a:pt x="11500" y="17300"/>
                </a:lnTo>
                <a:cubicBezTo>
                  <a:pt x="11666" y="17300"/>
                  <a:pt x="11800" y="17434"/>
                  <a:pt x="11800" y="17600"/>
                </a:cubicBezTo>
                <a:lnTo>
                  <a:pt x="11800" y="21700"/>
                </a:lnTo>
                <a:cubicBezTo>
                  <a:pt x="11800" y="21866"/>
                  <a:pt x="11666" y="22000"/>
                  <a:pt x="11500" y="22000"/>
                </a:cubicBezTo>
                <a:lnTo>
                  <a:pt x="7400" y="22000"/>
                </a:lnTo>
                <a:cubicBezTo>
                  <a:pt x="7234" y="22000"/>
                  <a:pt x="7100" y="21866"/>
                  <a:pt x="7100" y="21700"/>
                </a:cubicBezTo>
                <a:lnTo>
                  <a:pt x="7100" y="17600"/>
                </a:lnTo>
                <a:cubicBezTo>
                  <a:pt x="7100" y="17434"/>
                  <a:pt x="7234" y="17300"/>
                  <a:pt x="7400" y="17300"/>
                </a:cubicBezTo>
                <a:close/>
                <a:moveTo>
                  <a:pt x="12500" y="17300"/>
                </a:moveTo>
                <a:lnTo>
                  <a:pt x="16600" y="17300"/>
                </a:lnTo>
                <a:cubicBezTo>
                  <a:pt x="16766" y="17300"/>
                  <a:pt x="16900" y="17434"/>
                  <a:pt x="16900" y="17600"/>
                </a:cubicBezTo>
                <a:lnTo>
                  <a:pt x="16900" y="21700"/>
                </a:lnTo>
                <a:cubicBezTo>
                  <a:pt x="16900" y="21866"/>
                  <a:pt x="16766" y="22000"/>
                  <a:pt x="16600" y="22000"/>
                </a:cubicBezTo>
                <a:lnTo>
                  <a:pt x="12500" y="22000"/>
                </a:lnTo>
                <a:cubicBezTo>
                  <a:pt x="12334" y="22000"/>
                  <a:pt x="12200" y="21866"/>
                  <a:pt x="12200" y="21700"/>
                </a:cubicBezTo>
                <a:lnTo>
                  <a:pt x="12200" y="17600"/>
                </a:lnTo>
                <a:cubicBezTo>
                  <a:pt x="12200" y="17434"/>
                  <a:pt x="12334" y="17300"/>
                  <a:pt x="12500" y="17300"/>
                </a:cubicBezTo>
                <a:close/>
                <a:moveTo>
                  <a:pt x="17300" y="17300"/>
                </a:moveTo>
                <a:lnTo>
                  <a:pt x="22000" y="17300"/>
                </a:lnTo>
                <a:lnTo>
                  <a:pt x="22000" y="17700"/>
                </a:lnTo>
                <a:lnTo>
                  <a:pt x="17300" y="17700"/>
                </a:lnTo>
                <a:close/>
                <a:moveTo>
                  <a:pt x="17300" y="21600"/>
                </a:moveTo>
                <a:lnTo>
                  <a:pt x="22000" y="21600"/>
                </a:lnTo>
                <a:lnTo>
                  <a:pt x="22000" y="22000"/>
                </a:lnTo>
                <a:lnTo>
                  <a:pt x="17300" y="22000"/>
                </a:lnTo>
                <a:close/>
                <a:moveTo>
                  <a:pt x="17300" y="17300"/>
                </a:moveTo>
                <a:lnTo>
                  <a:pt x="17700" y="17300"/>
                </a:lnTo>
                <a:lnTo>
                  <a:pt x="17700" y="22000"/>
                </a:lnTo>
                <a:lnTo>
                  <a:pt x="17300" y="22000"/>
                </a:lnTo>
                <a:close/>
                <a:moveTo>
                  <a:pt x="21600" y="17300"/>
                </a:moveTo>
                <a:lnTo>
                  <a:pt x="22000" y="17300"/>
                </a:lnTo>
                <a:lnTo>
                  <a:pt x="22000" y="22000"/>
                </a:lnTo>
                <a:lnTo>
                  <a:pt x="21600" y="2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04088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能力热力图</a:t>
            </a:r>
          </a:p>
        </p:txBody>
      </p:sp>
      <p:sp>
        <p:nvSpPr>
          <p:cNvPr id="55" name="DIAG-018"/>
          <p:cNvSpPr/>
          <p:nvPr/>
        </p:nvSpPr>
        <p:spPr>
          <a:xfrm>
            <a:off x="88696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300" y="13000"/>
                </a:moveTo>
                <a:lnTo>
                  <a:pt x="7700" y="13000"/>
                </a:lnTo>
                <a:cubicBezTo>
                  <a:pt x="7866" y="13000"/>
                  <a:pt x="8000" y="13134"/>
                  <a:pt x="8000" y="13300"/>
                </a:cubicBezTo>
                <a:lnTo>
                  <a:pt x="8000" y="20700"/>
                </a:lnTo>
                <a:cubicBezTo>
                  <a:pt x="8000" y="20866"/>
                  <a:pt x="7866" y="21000"/>
                  <a:pt x="7700" y="21000"/>
                </a:cubicBezTo>
                <a:lnTo>
                  <a:pt x="3300" y="21000"/>
                </a:lnTo>
                <a:cubicBezTo>
                  <a:pt x="3134" y="21000"/>
                  <a:pt x="3000" y="20866"/>
                  <a:pt x="3000" y="20700"/>
                </a:cubicBezTo>
                <a:lnTo>
                  <a:pt x="3000" y="13300"/>
                </a:lnTo>
                <a:cubicBezTo>
                  <a:pt x="3000" y="13134"/>
                  <a:pt x="3134" y="13000"/>
                  <a:pt x="3300" y="13000"/>
                </a:cubicBezTo>
                <a:close/>
                <a:moveTo>
                  <a:pt x="15300" y="5000"/>
                </a:moveTo>
                <a:lnTo>
                  <a:pt x="19700" y="5000"/>
                </a:lnTo>
                <a:cubicBezTo>
                  <a:pt x="19866" y="5000"/>
                  <a:pt x="20000" y="5134"/>
                  <a:pt x="20000" y="5300"/>
                </a:cubicBezTo>
                <a:lnTo>
                  <a:pt x="20000" y="20700"/>
                </a:lnTo>
                <a:cubicBezTo>
                  <a:pt x="20000" y="20866"/>
                  <a:pt x="19866" y="21000"/>
                  <a:pt x="19700" y="21000"/>
                </a:cubicBezTo>
                <a:lnTo>
                  <a:pt x="15300" y="21000"/>
                </a:lnTo>
                <a:cubicBezTo>
                  <a:pt x="15134" y="21000"/>
                  <a:pt x="15000" y="20866"/>
                  <a:pt x="15000" y="20700"/>
                </a:cubicBezTo>
                <a:lnTo>
                  <a:pt x="15000" y="5300"/>
                </a:lnTo>
                <a:cubicBezTo>
                  <a:pt x="15000" y="5134"/>
                  <a:pt x="15134" y="5000"/>
                  <a:pt x="15300" y="5000"/>
                </a:cubicBezTo>
                <a:close/>
                <a:moveTo>
                  <a:pt x="8200" y="12000"/>
                </a:moveTo>
                <a:lnTo>
                  <a:pt x="14800" y="12000"/>
                </a:lnTo>
                <a:cubicBezTo>
                  <a:pt x="14910" y="12000"/>
                  <a:pt x="15000" y="12090"/>
                  <a:pt x="15000" y="12200"/>
                </a:cubicBezTo>
                <a:lnTo>
                  <a:pt x="15000" y="12800"/>
                </a:lnTo>
                <a:cubicBezTo>
                  <a:pt x="15000" y="12910"/>
                  <a:pt x="14910" y="13000"/>
                  <a:pt x="14800" y="13000"/>
                </a:cubicBezTo>
                <a:lnTo>
                  <a:pt x="8200" y="13000"/>
                </a:lnTo>
                <a:cubicBezTo>
                  <a:pt x="8090" y="13000"/>
                  <a:pt x="8000" y="12910"/>
                  <a:pt x="8000" y="12800"/>
                </a:cubicBezTo>
                <a:lnTo>
                  <a:pt x="8000" y="12200"/>
                </a:lnTo>
                <a:cubicBezTo>
                  <a:pt x="8000" y="12090"/>
                  <a:pt x="8090" y="12000"/>
                  <a:pt x="8200" y="12000"/>
                </a:cubicBezTo>
                <a:close/>
                <a:moveTo>
                  <a:pt x="11300" y="14000"/>
                </a:moveTo>
                <a:lnTo>
                  <a:pt x="11300" y="9400"/>
                </a:lnTo>
                <a:lnTo>
                  <a:pt x="12000" y="9400"/>
                </a:lnTo>
                <a:lnTo>
                  <a:pt x="11000" y="8000"/>
                </a:lnTo>
                <a:lnTo>
                  <a:pt x="10000" y="9400"/>
                </a:lnTo>
                <a:lnTo>
                  <a:pt x="10700" y="9400"/>
                </a:lnTo>
                <a:lnTo>
                  <a:pt x="10700" y="1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差距分析</a:t>
            </a:r>
          </a:p>
        </p:txBody>
      </p:sp>
      <p:sp>
        <p:nvSpPr>
          <p:cNvPr id="58" name="DIAG-019"/>
          <p:cNvSpPr/>
          <p:nvPr/>
        </p:nvSpPr>
        <p:spPr>
          <a:xfrm>
            <a:off x="6400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00" y="4000"/>
                </a:moveTo>
                <a:lnTo>
                  <a:pt x="14700" y="4000"/>
                </a:lnTo>
                <a:cubicBezTo>
                  <a:pt x="14866" y="4000"/>
                  <a:pt x="15000" y="4134"/>
                  <a:pt x="15000" y="4300"/>
                </a:cubicBezTo>
                <a:lnTo>
                  <a:pt x="15000" y="6700"/>
                </a:lnTo>
                <a:cubicBezTo>
                  <a:pt x="15000" y="6866"/>
                  <a:pt x="14866" y="7000"/>
                  <a:pt x="14700" y="7000"/>
                </a:cubicBezTo>
                <a:lnTo>
                  <a:pt x="9300" y="7000"/>
                </a:lnTo>
                <a:cubicBezTo>
                  <a:pt x="9134" y="7000"/>
                  <a:pt x="9000" y="6866"/>
                  <a:pt x="9000" y="6700"/>
                </a:cubicBezTo>
                <a:lnTo>
                  <a:pt x="9000" y="4300"/>
                </a:lnTo>
                <a:cubicBezTo>
                  <a:pt x="9000" y="4134"/>
                  <a:pt x="9134" y="4000"/>
                  <a:pt x="9300" y="4000"/>
                </a:cubicBezTo>
                <a:close/>
                <a:moveTo>
                  <a:pt x="11875" y="6844"/>
                </a:moveTo>
                <a:lnTo>
                  <a:pt x="6875" y="10844"/>
                </a:lnTo>
                <a:lnTo>
                  <a:pt x="7125" y="11156"/>
                </a:lnTo>
                <a:lnTo>
                  <a:pt x="12125" y="7156"/>
                </a:lnTo>
                <a:close/>
                <a:moveTo>
                  <a:pt x="11875" y="7156"/>
                </a:moveTo>
                <a:lnTo>
                  <a:pt x="16875" y="11156"/>
                </a:lnTo>
                <a:lnTo>
                  <a:pt x="17125" y="10844"/>
                </a:lnTo>
                <a:lnTo>
                  <a:pt x="12125" y="6844"/>
                </a:lnTo>
                <a:close/>
                <a:moveTo>
                  <a:pt x="4300" y="11000"/>
                </a:moveTo>
                <a:lnTo>
                  <a:pt x="9700" y="11000"/>
                </a:lnTo>
                <a:cubicBezTo>
                  <a:pt x="9866" y="11000"/>
                  <a:pt x="10000" y="11134"/>
                  <a:pt x="10000" y="11300"/>
                </a:cubicBezTo>
                <a:lnTo>
                  <a:pt x="10000" y="13700"/>
                </a:lnTo>
                <a:cubicBezTo>
                  <a:pt x="10000" y="13866"/>
                  <a:pt x="9866" y="14000"/>
                  <a:pt x="9700" y="14000"/>
                </a:cubicBezTo>
                <a:lnTo>
                  <a:pt x="4300" y="14000"/>
                </a:lnTo>
                <a:cubicBezTo>
                  <a:pt x="4134" y="14000"/>
                  <a:pt x="4000" y="13866"/>
                  <a:pt x="4000" y="13700"/>
                </a:cubicBezTo>
                <a:lnTo>
                  <a:pt x="4000" y="11300"/>
                </a:lnTo>
                <a:cubicBezTo>
                  <a:pt x="4000" y="11134"/>
                  <a:pt x="4134" y="11000"/>
                  <a:pt x="4300" y="11000"/>
                </a:cubicBezTo>
                <a:close/>
                <a:moveTo>
                  <a:pt x="14300" y="11000"/>
                </a:moveTo>
                <a:lnTo>
                  <a:pt x="19700" y="11000"/>
                </a:lnTo>
                <a:cubicBezTo>
                  <a:pt x="19866" y="11000"/>
                  <a:pt x="20000" y="11134"/>
                  <a:pt x="20000" y="11300"/>
                </a:cubicBezTo>
                <a:lnTo>
                  <a:pt x="20000" y="13700"/>
                </a:lnTo>
                <a:cubicBezTo>
                  <a:pt x="20000" y="13866"/>
                  <a:pt x="19866" y="14000"/>
                  <a:pt x="19700" y="14000"/>
                </a:cubicBezTo>
                <a:lnTo>
                  <a:pt x="14300" y="14000"/>
                </a:lnTo>
                <a:cubicBezTo>
                  <a:pt x="14134" y="14000"/>
                  <a:pt x="14000" y="13866"/>
                  <a:pt x="14000" y="13700"/>
                </a:cubicBezTo>
                <a:lnTo>
                  <a:pt x="14000" y="11300"/>
                </a:lnTo>
                <a:cubicBezTo>
                  <a:pt x="14000" y="11134"/>
                  <a:pt x="14134" y="11000"/>
                  <a:pt x="14300" y="11000"/>
                </a:cubicBezTo>
                <a:close/>
                <a:moveTo>
                  <a:pt x="6840" y="13880"/>
                </a:moveTo>
                <a:lnTo>
                  <a:pt x="3840" y="17880"/>
                </a:lnTo>
                <a:lnTo>
                  <a:pt x="4160" y="18120"/>
                </a:lnTo>
                <a:lnTo>
                  <a:pt x="7160" y="14120"/>
                </a:lnTo>
                <a:close/>
                <a:moveTo>
                  <a:pt x="6840" y="14120"/>
                </a:moveTo>
                <a:lnTo>
                  <a:pt x="9840" y="18120"/>
                </a:lnTo>
                <a:lnTo>
                  <a:pt x="10160" y="17880"/>
                </a:lnTo>
                <a:lnTo>
                  <a:pt x="7160" y="13880"/>
                </a:lnTo>
                <a:close/>
                <a:moveTo>
                  <a:pt x="16840" y="13880"/>
                </a:moveTo>
                <a:lnTo>
                  <a:pt x="13840" y="17880"/>
                </a:lnTo>
                <a:lnTo>
                  <a:pt x="14160" y="18120"/>
                </a:lnTo>
                <a:lnTo>
                  <a:pt x="17160" y="14120"/>
                </a:lnTo>
                <a:close/>
                <a:moveTo>
                  <a:pt x="16840" y="14120"/>
                </a:moveTo>
                <a:lnTo>
                  <a:pt x="19840" y="18120"/>
                </a:lnTo>
                <a:lnTo>
                  <a:pt x="20160" y="17880"/>
                </a:lnTo>
                <a:lnTo>
                  <a:pt x="17160" y="13880"/>
                </a:lnTo>
                <a:close/>
                <a:moveTo>
                  <a:pt x="5400" y="19000"/>
                </a:moveTo>
                <a:cubicBezTo>
                  <a:pt x="5400" y="19773"/>
                  <a:pt x="4773" y="20400"/>
                  <a:pt x="4000" y="20400"/>
                </a:cubicBezTo>
                <a:cubicBezTo>
                  <a:pt x="3227" y="20400"/>
                  <a:pt x="2600" y="19773"/>
                  <a:pt x="2600" y="19000"/>
                </a:cubicBezTo>
                <a:cubicBezTo>
                  <a:pt x="2600" y="18227"/>
                  <a:pt x="3227" y="17600"/>
                  <a:pt x="4000" y="17600"/>
                </a:cubicBezTo>
                <a:cubicBezTo>
                  <a:pt x="4773" y="17600"/>
                  <a:pt x="5400" y="18227"/>
                  <a:pt x="5400" y="19000"/>
                </a:cubicBezTo>
                <a:close/>
                <a:moveTo>
                  <a:pt x="11400" y="19000"/>
                </a:moveTo>
                <a:cubicBezTo>
                  <a:pt x="11400" y="19773"/>
                  <a:pt x="10773" y="20400"/>
                  <a:pt x="10000" y="20400"/>
                </a:cubicBezTo>
                <a:cubicBezTo>
                  <a:pt x="9227" y="20400"/>
                  <a:pt x="8600" y="19773"/>
                  <a:pt x="8600" y="19000"/>
                </a:cubicBezTo>
                <a:cubicBezTo>
                  <a:pt x="8600" y="18227"/>
                  <a:pt x="9227" y="17600"/>
                  <a:pt x="10000" y="17600"/>
                </a:cubicBezTo>
                <a:cubicBezTo>
                  <a:pt x="10773" y="17600"/>
                  <a:pt x="11400" y="18227"/>
                  <a:pt x="11400" y="19000"/>
                </a:cubicBezTo>
                <a:close/>
                <a:moveTo>
                  <a:pt x="15400" y="19000"/>
                </a:moveTo>
                <a:cubicBezTo>
                  <a:pt x="15400" y="19773"/>
                  <a:pt x="14773" y="20400"/>
                  <a:pt x="14000" y="20400"/>
                </a:cubicBezTo>
                <a:cubicBezTo>
                  <a:pt x="13227" y="20400"/>
                  <a:pt x="12600" y="19773"/>
                  <a:pt x="12600" y="19000"/>
                </a:cubicBezTo>
                <a:cubicBezTo>
                  <a:pt x="12600" y="18227"/>
                  <a:pt x="13227" y="17600"/>
                  <a:pt x="14000" y="17600"/>
                </a:cubicBezTo>
                <a:cubicBezTo>
                  <a:pt x="14773" y="17600"/>
                  <a:pt x="15400" y="18227"/>
                  <a:pt x="15400" y="19000"/>
                </a:cubicBezTo>
                <a:close/>
                <a:moveTo>
                  <a:pt x="21400" y="19000"/>
                </a:moveTo>
                <a:cubicBezTo>
                  <a:pt x="21400" y="19773"/>
                  <a:pt x="20773" y="20400"/>
                  <a:pt x="20000" y="20400"/>
                </a:cubicBezTo>
                <a:cubicBezTo>
                  <a:pt x="19227" y="20400"/>
                  <a:pt x="18600" y="19773"/>
                  <a:pt x="18600" y="19000"/>
                </a:cubicBezTo>
                <a:cubicBezTo>
                  <a:pt x="18600" y="18227"/>
                  <a:pt x="19227" y="17600"/>
                  <a:pt x="20000" y="17600"/>
                </a:cubicBezTo>
                <a:cubicBezTo>
                  <a:pt x="20773" y="17600"/>
                  <a:pt x="21400" y="18227"/>
                  <a:pt x="214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驱动树</a:t>
            </a:r>
          </a:p>
        </p:txBody>
      </p:sp>
      <p:sp>
        <p:nvSpPr>
          <p:cNvPr id="61" name="DIAG-020"/>
          <p:cNvSpPr/>
          <p:nvPr/>
        </p:nvSpPr>
        <p:spPr>
          <a:xfrm>
            <a:off x="228600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4000"/>
                </a:moveTo>
                <a:lnTo>
                  <a:pt x="8700" y="4000"/>
                </a:lnTo>
                <a:cubicBezTo>
                  <a:pt x="8866" y="4000"/>
                  <a:pt x="9000" y="4134"/>
                  <a:pt x="9000" y="4300"/>
                </a:cubicBezTo>
                <a:lnTo>
                  <a:pt x="9000" y="7700"/>
                </a:lnTo>
                <a:cubicBezTo>
                  <a:pt x="9000" y="7866"/>
                  <a:pt x="8866" y="8000"/>
                  <a:pt x="8700" y="8000"/>
                </a:cubicBezTo>
                <a:lnTo>
                  <a:pt x="2300" y="8000"/>
                </a:lnTo>
                <a:cubicBezTo>
                  <a:pt x="2134" y="8000"/>
                  <a:pt x="2000" y="7866"/>
                  <a:pt x="2000" y="7700"/>
                </a:cubicBezTo>
                <a:lnTo>
                  <a:pt x="2000" y="4300"/>
                </a:lnTo>
                <a:cubicBezTo>
                  <a:pt x="2000" y="4134"/>
                  <a:pt x="2134" y="4000"/>
                  <a:pt x="2300" y="4000"/>
                </a:cubicBezTo>
                <a:close/>
                <a:moveTo>
                  <a:pt x="9500" y="6250"/>
                </a:moveTo>
                <a:lnTo>
                  <a:pt x="13300" y="6250"/>
                </a:lnTo>
                <a:lnTo>
                  <a:pt x="13300" y="6800"/>
                </a:lnTo>
                <a:lnTo>
                  <a:pt x="14500" y="6000"/>
                </a:lnTo>
                <a:lnTo>
                  <a:pt x="13300" y="5200"/>
                </a:lnTo>
                <a:lnTo>
                  <a:pt x="13300" y="5750"/>
                </a:lnTo>
                <a:lnTo>
                  <a:pt x="9500" y="5750"/>
                </a:lnTo>
                <a:close/>
                <a:moveTo>
                  <a:pt x="15300" y="4000"/>
                </a:moveTo>
                <a:lnTo>
                  <a:pt x="21700" y="4000"/>
                </a:lnTo>
                <a:cubicBezTo>
                  <a:pt x="21866" y="4000"/>
                  <a:pt x="22000" y="4134"/>
                  <a:pt x="22000" y="4300"/>
                </a:cubicBezTo>
                <a:lnTo>
                  <a:pt x="22000" y="7700"/>
                </a:lnTo>
                <a:cubicBezTo>
                  <a:pt x="22000" y="7866"/>
                  <a:pt x="21866" y="8000"/>
                  <a:pt x="21700" y="8000"/>
                </a:cubicBezTo>
                <a:lnTo>
                  <a:pt x="15300" y="8000"/>
                </a:lnTo>
                <a:cubicBezTo>
                  <a:pt x="15134" y="8000"/>
                  <a:pt x="15000" y="7866"/>
                  <a:pt x="15000" y="7700"/>
                </a:cubicBezTo>
                <a:lnTo>
                  <a:pt x="15000" y="4300"/>
                </a:lnTo>
                <a:cubicBezTo>
                  <a:pt x="15000" y="4134"/>
                  <a:pt x="15134" y="4000"/>
                  <a:pt x="15300" y="4000"/>
                </a:cubicBezTo>
                <a:close/>
                <a:moveTo>
                  <a:pt x="17750" y="9000"/>
                </a:moveTo>
                <a:lnTo>
                  <a:pt x="17750" y="12800"/>
                </a:lnTo>
                <a:lnTo>
                  <a:pt x="17200" y="12800"/>
                </a:lnTo>
                <a:lnTo>
                  <a:pt x="18000" y="14000"/>
                </a:lnTo>
                <a:lnTo>
                  <a:pt x="18800" y="12800"/>
                </a:lnTo>
                <a:lnTo>
                  <a:pt x="18250" y="12800"/>
                </a:lnTo>
                <a:lnTo>
                  <a:pt x="18250" y="9000"/>
                </a:lnTo>
                <a:close/>
                <a:moveTo>
                  <a:pt x="15300" y="15000"/>
                </a:moveTo>
                <a:lnTo>
                  <a:pt x="21700" y="15000"/>
                </a:lnTo>
                <a:cubicBezTo>
                  <a:pt x="21866" y="15000"/>
                  <a:pt x="22000" y="15134"/>
                  <a:pt x="22000" y="15300"/>
                </a:cubicBezTo>
                <a:lnTo>
                  <a:pt x="22000" y="18700"/>
                </a:lnTo>
                <a:cubicBezTo>
                  <a:pt x="22000" y="18866"/>
                  <a:pt x="21866" y="19000"/>
                  <a:pt x="21700" y="19000"/>
                </a:cubicBezTo>
                <a:lnTo>
                  <a:pt x="15300" y="19000"/>
                </a:lnTo>
                <a:cubicBezTo>
                  <a:pt x="15134" y="19000"/>
                  <a:pt x="15000" y="18866"/>
                  <a:pt x="15000" y="18700"/>
                </a:cubicBezTo>
                <a:lnTo>
                  <a:pt x="15000" y="15300"/>
                </a:lnTo>
                <a:cubicBezTo>
                  <a:pt x="15000" y="15134"/>
                  <a:pt x="15134" y="15000"/>
                  <a:pt x="15300" y="15000"/>
                </a:cubicBezTo>
                <a:close/>
                <a:moveTo>
                  <a:pt x="16753" y="17247"/>
                </a:moveTo>
                <a:lnTo>
                  <a:pt x="17753" y="18247"/>
                </a:lnTo>
                <a:lnTo>
                  <a:pt x="18247" y="17753"/>
                </a:lnTo>
                <a:lnTo>
                  <a:pt x="17247" y="16753"/>
                </a:lnTo>
                <a:close/>
                <a:moveTo>
                  <a:pt x="18247" y="18247"/>
                </a:moveTo>
                <a:lnTo>
                  <a:pt x="20247" y="16247"/>
                </a:lnTo>
                <a:lnTo>
                  <a:pt x="19753" y="15753"/>
                </a:lnTo>
                <a:lnTo>
                  <a:pt x="17753" y="17753"/>
                </a:lnTo>
                <a:close/>
                <a:moveTo>
                  <a:pt x="3823" y="6177"/>
                </a:moveTo>
                <a:lnTo>
                  <a:pt x="4823" y="7177"/>
                </a:lnTo>
                <a:lnTo>
                  <a:pt x="5177" y="6823"/>
                </a:lnTo>
                <a:lnTo>
                  <a:pt x="4177" y="5823"/>
                </a:lnTo>
                <a:close/>
                <a:moveTo>
                  <a:pt x="5177" y="7177"/>
                </a:moveTo>
                <a:lnTo>
                  <a:pt x="7177" y="5177"/>
                </a:lnTo>
                <a:lnTo>
                  <a:pt x="6823" y="4823"/>
                </a:lnTo>
                <a:lnTo>
                  <a:pt x="4823" y="682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10312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DIAG-020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假设验证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06_战略概念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4E79"/>
                </a:solidFill>
              </a:rPr>
              <a:t>CONCEPT · 40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每个图标对应一个公开商业方法论框架。Shape Fill 一键改色。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06_战略概念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CONCEPT · 第 1/2 页 · 共 40 个</a:t>
            </a:r>
          </a:p>
        </p:txBody>
      </p:sp>
      <p:sp>
        <p:nvSpPr>
          <p:cNvPr id="4" name="CONCEPT-001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20800"/>
                </a:moveTo>
                <a:cubicBezTo>
                  <a:pt x="9000" y="20800"/>
                  <a:pt x="15000" y="4800"/>
                  <a:pt x="21000" y="4800"/>
                </a:cubicBezTo>
                <a:lnTo>
                  <a:pt x="21000" y="3200"/>
                </a:lnTo>
                <a:cubicBezTo>
                  <a:pt x="15000" y="3200"/>
                  <a:pt x="9000" y="19200"/>
                  <a:pt x="3000" y="19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单条S曲线</a:t>
            </a:r>
          </a:p>
        </p:txBody>
      </p:sp>
      <p:sp>
        <p:nvSpPr>
          <p:cNvPr id="7" name="CONCEPT-002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21000"/>
                </a:moveTo>
                <a:cubicBezTo>
                  <a:pt x="5000" y="21000"/>
                  <a:pt x="7000" y="19000"/>
                  <a:pt x="8000" y="14000"/>
                </a:cubicBezTo>
                <a:cubicBezTo>
                  <a:pt x="9000" y="9000"/>
                  <a:pt x="10000" y="8000"/>
                  <a:pt x="12000" y="8000"/>
                </a:cubicBezTo>
                <a:cubicBezTo>
                  <a:pt x="14000" y="8000"/>
                  <a:pt x="14000" y="9000"/>
                  <a:pt x="14000" y="11000"/>
                </a:cubicBezTo>
                <a:moveTo>
                  <a:pt x="8000" y="21000"/>
                </a:moveTo>
                <a:cubicBezTo>
                  <a:pt x="10000" y="21000"/>
                  <a:pt x="12000" y="19000"/>
                  <a:pt x="13000" y="12000"/>
                </a:cubicBezTo>
                <a:cubicBezTo>
                  <a:pt x="14000" y="5000"/>
                  <a:pt x="16000" y="4000"/>
                  <a:pt x="18000" y="4000"/>
                </a:cubicBezTo>
                <a:moveTo>
                  <a:pt x="3202" y="21222"/>
                </a:moveTo>
                <a:lnTo>
                  <a:pt x="14202" y="11222"/>
                </a:lnTo>
                <a:lnTo>
                  <a:pt x="13798" y="10778"/>
                </a:lnTo>
                <a:lnTo>
                  <a:pt x="2798" y="20778"/>
                </a:lnTo>
                <a:close/>
                <a:moveTo>
                  <a:pt x="8259" y="21152"/>
                </a:moveTo>
                <a:lnTo>
                  <a:pt x="18259" y="4152"/>
                </a:lnTo>
                <a:lnTo>
                  <a:pt x="17741" y="3848"/>
                </a:lnTo>
                <a:lnTo>
                  <a:pt x="7741" y="208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多重S曲线</a:t>
            </a:r>
          </a:p>
        </p:txBody>
      </p:sp>
      <p:sp>
        <p:nvSpPr>
          <p:cNvPr id="10" name="CONCEPT-003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21000"/>
                </a:moveTo>
                <a:lnTo>
                  <a:pt x="13000" y="21000"/>
                </a:lnTo>
                <a:lnTo>
                  <a:pt x="13000" y="19400"/>
                </a:lnTo>
                <a:cubicBezTo>
                  <a:pt x="15000" y="19400"/>
                  <a:pt x="20000" y="4000"/>
                  <a:pt x="21000" y="4000"/>
                </a:cubicBezTo>
                <a:lnTo>
                  <a:pt x="21000" y="5600"/>
                </a:lnTo>
                <a:cubicBezTo>
                  <a:pt x="19000" y="5600"/>
                  <a:pt x="15000" y="20600"/>
                  <a:pt x="14600" y="20600"/>
                </a:cubicBezTo>
                <a:lnTo>
                  <a:pt x="3000" y="20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曲棍球棒增长</a:t>
            </a:r>
          </a:p>
        </p:txBody>
      </p:sp>
      <p:sp>
        <p:nvSpPr>
          <p:cNvPr id="13" name="CONCEPT-004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9000"/>
                </a:moveTo>
                <a:lnTo>
                  <a:pt x="7000" y="18000"/>
                </a:lnTo>
                <a:lnTo>
                  <a:pt x="11000" y="17000"/>
                </a:lnTo>
                <a:lnTo>
                  <a:pt x="12000" y="17000"/>
                </a:lnTo>
                <a:lnTo>
                  <a:pt x="14000" y="11000"/>
                </a:lnTo>
                <a:lnTo>
                  <a:pt x="18000" y="5000"/>
                </a:lnTo>
                <a:lnTo>
                  <a:pt x="21000" y="3000"/>
                </a:lnTo>
                <a:moveTo>
                  <a:pt x="3108" y="19488"/>
                </a:moveTo>
                <a:lnTo>
                  <a:pt x="12108" y="17488"/>
                </a:lnTo>
                <a:lnTo>
                  <a:pt x="11892" y="16512"/>
                </a:lnTo>
                <a:lnTo>
                  <a:pt x="2892" y="18512"/>
                </a:lnTo>
                <a:close/>
                <a:moveTo>
                  <a:pt x="12474" y="17158"/>
                </a:moveTo>
                <a:lnTo>
                  <a:pt x="14474" y="11158"/>
                </a:lnTo>
                <a:lnTo>
                  <a:pt x="13526" y="10842"/>
                </a:lnTo>
                <a:lnTo>
                  <a:pt x="11526" y="16842"/>
                </a:lnTo>
                <a:close/>
                <a:moveTo>
                  <a:pt x="14376" y="11329"/>
                </a:moveTo>
                <a:lnTo>
                  <a:pt x="21376" y="3329"/>
                </a:lnTo>
                <a:lnTo>
                  <a:pt x="20624" y="2671"/>
                </a:lnTo>
                <a:lnTo>
                  <a:pt x="13624" y="10671"/>
                </a:lnTo>
                <a:close/>
                <a:moveTo>
                  <a:pt x="12000" y="15400"/>
                </a:moveTo>
                <a:lnTo>
                  <a:pt x="12294" y="16595"/>
                </a:lnTo>
                <a:lnTo>
                  <a:pt x="13522" y="16506"/>
                </a:lnTo>
                <a:lnTo>
                  <a:pt x="12476" y="17155"/>
                </a:lnTo>
                <a:lnTo>
                  <a:pt x="12940" y="18294"/>
                </a:lnTo>
                <a:lnTo>
                  <a:pt x="12000" y="17500"/>
                </a:lnTo>
                <a:lnTo>
                  <a:pt x="11060" y="18294"/>
                </a:lnTo>
                <a:lnTo>
                  <a:pt x="11524" y="17155"/>
                </a:lnTo>
                <a:lnTo>
                  <a:pt x="10478" y="16506"/>
                </a:lnTo>
                <a:lnTo>
                  <a:pt x="11706" y="1659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引爆点</a:t>
            </a:r>
          </a:p>
        </p:txBody>
      </p:sp>
      <p:sp>
        <p:nvSpPr>
          <p:cNvPr id="16" name="CONCEPT-005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800" y="12000"/>
                </a:moveTo>
                <a:cubicBezTo>
                  <a:pt x="13800" y="12994"/>
                  <a:pt x="12994" y="13800"/>
                  <a:pt x="12000" y="13800"/>
                </a:cubicBezTo>
                <a:cubicBezTo>
                  <a:pt x="11006" y="13800"/>
                  <a:pt x="10200" y="12994"/>
                  <a:pt x="10200" y="12000"/>
                </a:cubicBezTo>
                <a:cubicBezTo>
                  <a:pt x="10200" y="11006"/>
                  <a:pt x="11006" y="10200"/>
                  <a:pt x="12000" y="10200"/>
                </a:cubicBezTo>
                <a:cubicBezTo>
                  <a:pt x="12994" y="10200"/>
                  <a:pt x="13800" y="11006"/>
                  <a:pt x="13800" y="12000"/>
                </a:cubicBezTo>
                <a:close/>
                <a:moveTo>
                  <a:pt x="6400" y="5000"/>
                </a:moveTo>
                <a:cubicBezTo>
                  <a:pt x="6400" y="5773"/>
                  <a:pt x="5773" y="6400"/>
                  <a:pt x="5000" y="6400"/>
                </a:cubicBezTo>
                <a:cubicBezTo>
                  <a:pt x="4227" y="6400"/>
                  <a:pt x="3600" y="5773"/>
                  <a:pt x="3600" y="5000"/>
                </a:cubicBezTo>
                <a:cubicBezTo>
                  <a:pt x="3600" y="4227"/>
                  <a:pt x="4227" y="3600"/>
                  <a:pt x="5000" y="3600"/>
                </a:cubicBezTo>
                <a:cubicBezTo>
                  <a:pt x="5773" y="3600"/>
                  <a:pt x="6400" y="4227"/>
                  <a:pt x="6400" y="5000"/>
                </a:cubicBezTo>
                <a:close/>
                <a:moveTo>
                  <a:pt x="20400" y="5000"/>
                </a:moveTo>
                <a:cubicBezTo>
                  <a:pt x="20400" y="5773"/>
                  <a:pt x="19773" y="6400"/>
                  <a:pt x="19000" y="6400"/>
                </a:cubicBezTo>
                <a:cubicBezTo>
                  <a:pt x="18227" y="6400"/>
                  <a:pt x="17600" y="5773"/>
                  <a:pt x="17600" y="5000"/>
                </a:cubicBezTo>
                <a:cubicBezTo>
                  <a:pt x="17600" y="4227"/>
                  <a:pt x="18227" y="3600"/>
                  <a:pt x="19000" y="3600"/>
                </a:cubicBezTo>
                <a:cubicBezTo>
                  <a:pt x="19773" y="3600"/>
                  <a:pt x="20400" y="4227"/>
                  <a:pt x="20400" y="5000"/>
                </a:cubicBezTo>
                <a:close/>
                <a:moveTo>
                  <a:pt x="6400" y="19000"/>
                </a:moveTo>
                <a:cubicBezTo>
                  <a:pt x="6400" y="19773"/>
                  <a:pt x="5773" y="20400"/>
                  <a:pt x="5000" y="20400"/>
                </a:cubicBezTo>
                <a:cubicBezTo>
                  <a:pt x="4227" y="20400"/>
                  <a:pt x="3600" y="19773"/>
                  <a:pt x="3600" y="19000"/>
                </a:cubicBezTo>
                <a:cubicBezTo>
                  <a:pt x="3600" y="18227"/>
                  <a:pt x="4227" y="17600"/>
                  <a:pt x="5000" y="17600"/>
                </a:cubicBezTo>
                <a:cubicBezTo>
                  <a:pt x="5773" y="17600"/>
                  <a:pt x="6400" y="18227"/>
                  <a:pt x="6400" y="19000"/>
                </a:cubicBezTo>
                <a:close/>
                <a:moveTo>
                  <a:pt x="20400" y="19000"/>
                </a:moveTo>
                <a:cubicBezTo>
                  <a:pt x="20400" y="19773"/>
                  <a:pt x="19773" y="20400"/>
                  <a:pt x="19000" y="20400"/>
                </a:cubicBezTo>
                <a:cubicBezTo>
                  <a:pt x="18227" y="20400"/>
                  <a:pt x="17600" y="19773"/>
                  <a:pt x="17600" y="19000"/>
                </a:cubicBezTo>
                <a:cubicBezTo>
                  <a:pt x="17600" y="18227"/>
                  <a:pt x="18227" y="17600"/>
                  <a:pt x="19000" y="17600"/>
                </a:cubicBezTo>
                <a:cubicBezTo>
                  <a:pt x="19773" y="17600"/>
                  <a:pt x="20400" y="18227"/>
                  <a:pt x="20400" y="19000"/>
                </a:cubicBezTo>
                <a:close/>
                <a:moveTo>
                  <a:pt x="13000" y="4000"/>
                </a:moveTo>
                <a:cubicBezTo>
                  <a:pt x="13000" y="4552"/>
                  <a:pt x="12552" y="5000"/>
                  <a:pt x="12000" y="5000"/>
                </a:cubicBezTo>
                <a:cubicBezTo>
                  <a:pt x="11448" y="5000"/>
                  <a:pt x="11000" y="4552"/>
                  <a:pt x="11000" y="4000"/>
                </a:cubicBezTo>
                <a:cubicBezTo>
                  <a:pt x="11000" y="3448"/>
                  <a:pt x="11448" y="3000"/>
                  <a:pt x="12000" y="3000"/>
                </a:cubicBezTo>
                <a:cubicBezTo>
                  <a:pt x="12552" y="3000"/>
                  <a:pt x="13000" y="3448"/>
                  <a:pt x="13000" y="4000"/>
                </a:cubicBezTo>
                <a:close/>
                <a:moveTo>
                  <a:pt x="5000" y="12000"/>
                </a:moveTo>
                <a:cubicBezTo>
                  <a:pt x="5000" y="12552"/>
                  <a:pt x="4552" y="13000"/>
                  <a:pt x="4000" y="13000"/>
                </a:cubicBezTo>
                <a:cubicBezTo>
                  <a:pt x="3448" y="13000"/>
                  <a:pt x="3000" y="12552"/>
                  <a:pt x="3000" y="12000"/>
                </a:cubicBezTo>
                <a:cubicBezTo>
                  <a:pt x="3000" y="11448"/>
                  <a:pt x="3448" y="11000"/>
                  <a:pt x="4000" y="11000"/>
                </a:cubicBezTo>
                <a:cubicBezTo>
                  <a:pt x="4552" y="11000"/>
                  <a:pt x="5000" y="11448"/>
                  <a:pt x="5000" y="12000"/>
                </a:cubicBezTo>
                <a:close/>
                <a:moveTo>
                  <a:pt x="21000" y="12000"/>
                </a:moveTo>
                <a:cubicBezTo>
                  <a:pt x="21000" y="12552"/>
                  <a:pt x="20552" y="13000"/>
                  <a:pt x="20000" y="13000"/>
                </a:cubicBezTo>
                <a:cubicBezTo>
                  <a:pt x="19448" y="13000"/>
                  <a:pt x="19000" y="12552"/>
                  <a:pt x="19000" y="12000"/>
                </a:cubicBezTo>
                <a:cubicBezTo>
                  <a:pt x="19000" y="11448"/>
                  <a:pt x="19448" y="11000"/>
                  <a:pt x="20000" y="11000"/>
                </a:cubicBezTo>
                <a:cubicBezTo>
                  <a:pt x="20552" y="11000"/>
                  <a:pt x="21000" y="11448"/>
                  <a:pt x="21000" y="12000"/>
                </a:cubicBezTo>
                <a:close/>
                <a:moveTo>
                  <a:pt x="13000" y="20000"/>
                </a:moveTo>
                <a:cubicBezTo>
                  <a:pt x="13000" y="20552"/>
                  <a:pt x="12552" y="21000"/>
                  <a:pt x="12000" y="21000"/>
                </a:cubicBezTo>
                <a:cubicBezTo>
                  <a:pt x="11448" y="21000"/>
                  <a:pt x="11000" y="20552"/>
                  <a:pt x="11000" y="20000"/>
                </a:cubicBezTo>
                <a:cubicBezTo>
                  <a:pt x="11000" y="19448"/>
                  <a:pt x="11448" y="19000"/>
                  <a:pt x="12000" y="19000"/>
                </a:cubicBezTo>
                <a:cubicBezTo>
                  <a:pt x="12552" y="19000"/>
                  <a:pt x="13000" y="19448"/>
                  <a:pt x="13000" y="20000"/>
                </a:cubicBezTo>
                <a:close/>
                <a:moveTo>
                  <a:pt x="12106" y="11894"/>
                </a:moveTo>
                <a:lnTo>
                  <a:pt x="5106" y="4894"/>
                </a:lnTo>
                <a:lnTo>
                  <a:pt x="4894" y="5106"/>
                </a:lnTo>
                <a:lnTo>
                  <a:pt x="11894" y="12106"/>
                </a:lnTo>
                <a:close/>
                <a:moveTo>
                  <a:pt x="12106" y="12106"/>
                </a:moveTo>
                <a:lnTo>
                  <a:pt x="19106" y="5106"/>
                </a:lnTo>
                <a:lnTo>
                  <a:pt x="18894" y="4894"/>
                </a:lnTo>
                <a:lnTo>
                  <a:pt x="11894" y="11894"/>
                </a:lnTo>
                <a:close/>
                <a:moveTo>
                  <a:pt x="11894" y="11894"/>
                </a:moveTo>
                <a:lnTo>
                  <a:pt x="4894" y="18894"/>
                </a:lnTo>
                <a:lnTo>
                  <a:pt x="5106" y="19106"/>
                </a:lnTo>
                <a:lnTo>
                  <a:pt x="12106" y="12106"/>
                </a:lnTo>
                <a:close/>
                <a:moveTo>
                  <a:pt x="11894" y="12106"/>
                </a:moveTo>
                <a:lnTo>
                  <a:pt x="18894" y="19106"/>
                </a:lnTo>
                <a:lnTo>
                  <a:pt x="19106" y="18894"/>
                </a:lnTo>
                <a:lnTo>
                  <a:pt x="12106" y="11894"/>
                </a:lnTo>
                <a:close/>
                <a:moveTo>
                  <a:pt x="12150" y="12000"/>
                </a:moveTo>
                <a:lnTo>
                  <a:pt x="12150" y="4000"/>
                </a:lnTo>
                <a:lnTo>
                  <a:pt x="11850" y="4000"/>
                </a:lnTo>
                <a:lnTo>
                  <a:pt x="11850" y="12000"/>
                </a:lnTo>
                <a:close/>
                <a:moveTo>
                  <a:pt x="12000" y="11850"/>
                </a:moveTo>
                <a:lnTo>
                  <a:pt x="4000" y="11850"/>
                </a:lnTo>
                <a:lnTo>
                  <a:pt x="4000" y="12150"/>
                </a:lnTo>
                <a:lnTo>
                  <a:pt x="12000" y="12150"/>
                </a:lnTo>
                <a:close/>
                <a:moveTo>
                  <a:pt x="12000" y="12150"/>
                </a:moveTo>
                <a:lnTo>
                  <a:pt x="20000" y="12150"/>
                </a:lnTo>
                <a:lnTo>
                  <a:pt x="20000" y="11850"/>
                </a:lnTo>
                <a:lnTo>
                  <a:pt x="12000" y="11850"/>
                </a:lnTo>
                <a:close/>
                <a:moveTo>
                  <a:pt x="11850" y="12000"/>
                </a:moveTo>
                <a:lnTo>
                  <a:pt x="11850" y="20000"/>
                </a:lnTo>
                <a:lnTo>
                  <a:pt x="12150" y="20000"/>
                </a:lnTo>
                <a:lnTo>
                  <a:pt x="12150" y="12000"/>
                </a:lnTo>
                <a:close/>
                <a:moveTo>
                  <a:pt x="5000" y="5150"/>
                </a:moveTo>
                <a:lnTo>
                  <a:pt x="19000" y="5150"/>
                </a:lnTo>
                <a:lnTo>
                  <a:pt x="19000" y="4850"/>
                </a:lnTo>
                <a:lnTo>
                  <a:pt x="5000" y="4850"/>
                </a:lnTo>
                <a:close/>
                <a:moveTo>
                  <a:pt x="4850" y="5000"/>
                </a:moveTo>
                <a:lnTo>
                  <a:pt x="4850" y="19000"/>
                </a:lnTo>
                <a:lnTo>
                  <a:pt x="5150" y="19000"/>
                </a:lnTo>
                <a:lnTo>
                  <a:pt x="5150" y="5000"/>
                </a:lnTo>
                <a:close/>
                <a:moveTo>
                  <a:pt x="18850" y="5000"/>
                </a:moveTo>
                <a:lnTo>
                  <a:pt x="18850" y="19000"/>
                </a:lnTo>
                <a:lnTo>
                  <a:pt x="19150" y="19000"/>
                </a:lnTo>
                <a:lnTo>
                  <a:pt x="19150" y="5000"/>
                </a:lnTo>
                <a:close/>
                <a:moveTo>
                  <a:pt x="5000" y="19150"/>
                </a:moveTo>
                <a:lnTo>
                  <a:pt x="19000" y="19150"/>
                </a:lnTo>
                <a:lnTo>
                  <a:pt x="19000" y="18850"/>
                </a:lnTo>
                <a:lnTo>
                  <a:pt x="5000" y="188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网络效应</a:t>
            </a:r>
          </a:p>
        </p:txBody>
      </p:sp>
      <p:sp>
        <p:nvSpPr>
          <p:cNvPr id="19" name="CONCEPT-006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飞轮效应</a:t>
            </a:r>
          </a:p>
        </p:txBody>
      </p:sp>
      <p:sp>
        <p:nvSpPr>
          <p:cNvPr id="22" name="CONCEPT-007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21000"/>
                </a:moveTo>
                <a:cubicBezTo>
                  <a:pt x="11000" y="21000"/>
                  <a:pt x="16000" y="11000"/>
                  <a:pt x="21000" y="4000"/>
                </a:cubicBezTo>
                <a:lnTo>
                  <a:pt x="21000" y="5500"/>
                </a:lnTo>
                <a:cubicBezTo>
                  <a:pt x="16000" y="12500"/>
                  <a:pt x="11000" y="22500"/>
                  <a:pt x="3000" y="22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复利增长</a:t>
            </a:r>
          </a:p>
        </p:txBody>
      </p:sp>
      <p:sp>
        <p:nvSpPr>
          <p:cNvPr id="25" name="CONCEPT-008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21000"/>
                </a:moveTo>
                <a:cubicBezTo>
                  <a:pt x="11000" y="21000"/>
                  <a:pt x="16000" y="11000"/>
                  <a:pt x="21000" y="4000"/>
                </a:cubicBezTo>
                <a:lnTo>
                  <a:pt x="21000" y="5500"/>
                </a:lnTo>
                <a:cubicBezTo>
                  <a:pt x="16000" y="12500"/>
                  <a:pt x="11000" y="22500"/>
                  <a:pt x="3000" y="22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指数增长</a:t>
            </a:r>
          </a:p>
        </p:txBody>
      </p:sp>
      <p:sp>
        <p:nvSpPr>
          <p:cNvPr id="28" name="CONCEPT-009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9000"/>
                </a:moveTo>
                <a:cubicBezTo>
                  <a:pt x="5000" y="19000"/>
                  <a:pt x="8000" y="8000"/>
                  <a:pt x="13000" y="6000"/>
                </a:cubicBezTo>
                <a:cubicBezTo>
                  <a:pt x="17000" y="5000"/>
                  <a:pt x="19000" y="5000"/>
                  <a:pt x="21000" y="5000"/>
                </a:cubicBezTo>
                <a:moveTo>
                  <a:pt x="3555" y="19427"/>
                </a:moveTo>
                <a:lnTo>
                  <a:pt x="13555" y="6427"/>
                </a:lnTo>
                <a:lnTo>
                  <a:pt x="12445" y="5573"/>
                </a:lnTo>
                <a:lnTo>
                  <a:pt x="2445" y="18573"/>
                </a:lnTo>
                <a:close/>
                <a:moveTo>
                  <a:pt x="13087" y="6695"/>
                </a:moveTo>
                <a:lnTo>
                  <a:pt x="21087" y="5695"/>
                </a:lnTo>
                <a:lnTo>
                  <a:pt x="20913" y="4305"/>
                </a:lnTo>
                <a:lnTo>
                  <a:pt x="12913" y="530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对数平台</a:t>
            </a:r>
          </a:p>
        </p:txBody>
      </p:sp>
      <p:sp>
        <p:nvSpPr>
          <p:cNvPr id="31" name="CONCEPT-010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0000"/>
                </a:moveTo>
                <a:cubicBezTo>
                  <a:pt x="2000" y="17200"/>
                  <a:pt x="7000" y="6000"/>
                  <a:pt x="12000" y="6000"/>
                </a:cubicBezTo>
                <a:cubicBezTo>
                  <a:pt x="17000" y="6000"/>
                  <a:pt x="22000" y="17200"/>
                  <a:pt x="22000" y="20000"/>
                </a:cubicBezTo>
                <a:lnTo>
                  <a:pt x="20600" y="20000"/>
                </a:lnTo>
                <a:cubicBezTo>
                  <a:pt x="20600" y="17900"/>
                  <a:pt x="16440" y="8100"/>
                  <a:pt x="12000" y="8100"/>
                </a:cubicBezTo>
                <a:cubicBezTo>
                  <a:pt x="7560" y="8100"/>
                  <a:pt x="3400" y="17900"/>
                  <a:pt x="3400" y="20000"/>
                </a:cubicBezTo>
                <a:close/>
                <a:moveTo>
                  <a:pt x="2200" y="20000"/>
                </a:moveTo>
                <a:lnTo>
                  <a:pt x="21800" y="20000"/>
                </a:lnTo>
                <a:cubicBezTo>
                  <a:pt x="21910" y="20000"/>
                  <a:pt x="22000" y="20090"/>
                  <a:pt x="22000" y="20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20200"/>
                </a:lnTo>
                <a:cubicBezTo>
                  <a:pt x="2000" y="20090"/>
                  <a:pt x="2090" y="20000"/>
                  <a:pt x="22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钟形曲线</a:t>
            </a:r>
          </a:p>
        </p:txBody>
      </p:sp>
      <p:sp>
        <p:nvSpPr>
          <p:cNvPr id="34" name="CONCEPT-011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200" y="6000"/>
                </a:moveTo>
                <a:lnTo>
                  <a:pt x="4800" y="6000"/>
                </a:lnTo>
                <a:cubicBezTo>
                  <a:pt x="4910" y="6000"/>
                  <a:pt x="5000" y="6090"/>
                  <a:pt x="5000" y="6200"/>
                </a:cubicBezTo>
                <a:lnTo>
                  <a:pt x="5000" y="20800"/>
                </a:lnTo>
                <a:cubicBezTo>
                  <a:pt x="5000" y="20910"/>
                  <a:pt x="4910" y="21000"/>
                  <a:pt x="48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6200"/>
                </a:lnTo>
                <a:cubicBezTo>
                  <a:pt x="3000" y="6090"/>
                  <a:pt x="3090" y="6000"/>
                  <a:pt x="3200" y="6000"/>
                </a:cubicBezTo>
                <a:close/>
                <a:moveTo>
                  <a:pt x="5700" y="9000"/>
                </a:moveTo>
                <a:lnTo>
                  <a:pt x="7300" y="9000"/>
                </a:lnTo>
                <a:cubicBezTo>
                  <a:pt x="7410" y="9000"/>
                  <a:pt x="7500" y="9090"/>
                  <a:pt x="7500" y="9200"/>
                </a:cubicBezTo>
                <a:lnTo>
                  <a:pt x="7500" y="20800"/>
                </a:lnTo>
                <a:cubicBezTo>
                  <a:pt x="7500" y="20910"/>
                  <a:pt x="7410" y="21000"/>
                  <a:pt x="7300" y="21000"/>
                </a:cubicBezTo>
                <a:lnTo>
                  <a:pt x="5700" y="21000"/>
                </a:lnTo>
                <a:cubicBezTo>
                  <a:pt x="5590" y="21000"/>
                  <a:pt x="5500" y="20910"/>
                  <a:pt x="5500" y="20800"/>
                </a:cubicBezTo>
                <a:lnTo>
                  <a:pt x="5500" y="9200"/>
                </a:lnTo>
                <a:cubicBezTo>
                  <a:pt x="5500" y="9090"/>
                  <a:pt x="5590" y="9000"/>
                  <a:pt x="5700" y="9000"/>
                </a:cubicBezTo>
                <a:close/>
                <a:moveTo>
                  <a:pt x="8200" y="13000"/>
                </a:moveTo>
                <a:lnTo>
                  <a:pt x="9800" y="13000"/>
                </a:lnTo>
                <a:cubicBezTo>
                  <a:pt x="9910" y="13000"/>
                  <a:pt x="10000" y="13090"/>
                  <a:pt x="10000" y="13200"/>
                </a:cubicBezTo>
                <a:lnTo>
                  <a:pt x="10000" y="20800"/>
                </a:lnTo>
                <a:cubicBezTo>
                  <a:pt x="10000" y="20910"/>
                  <a:pt x="9910" y="21000"/>
                  <a:pt x="9800" y="21000"/>
                </a:cubicBezTo>
                <a:lnTo>
                  <a:pt x="8200" y="21000"/>
                </a:lnTo>
                <a:cubicBezTo>
                  <a:pt x="8090" y="21000"/>
                  <a:pt x="8000" y="20910"/>
                  <a:pt x="8000" y="20800"/>
                </a:cubicBezTo>
                <a:lnTo>
                  <a:pt x="8000" y="13200"/>
                </a:lnTo>
                <a:cubicBezTo>
                  <a:pt x="8000" y="13090"/>
                  <a:pt x="8090" y="13000"/>
                  <a:pt x="8200" y="13000"/>
                </a:cubicBezTo>
                <a:close/>
                <a:moveTo>
                  <a:pt x="10700" y="15000"/>
                </a:moveTo>
                <a:lnTo>
                  <a:pt x="12300" y="15000"/>
                </a:lnTo>
                <a:cubicBezTo>
                  <a:pt x="12410" y="15000"/>
                  <a:pt x="12500" y="15090"/>
                  <a:pt x="12500" y="15200"/>
                </a:cubicBezTo>
                <a:lnTo>
                  <a:pt x="12500" y="20800"/>
                </a:lnTo>
                <a:cubicBezTo>
                  <a:pt x="12500" y="20910"/>
                  <a:pt x="12410" y="21000"/>
                  <a:pt x="12300" y="21000"/>
                </a:cubicBezTo>
                <a:lnTo>
                  <a:pt x="10700" y="21000"/>
                </a:lnTo>
                <a:cubicBezTo>
                  <a:pt x="10590" y="21000"/>
                  <a:pt x="10500" y="20910"/>
                  <a:pt x="10500" y="20800"/>
                </a:cubicBezTo>
                <a:lnTo>
                  <a:pt x="10500" y="15200"/>
                </a:lnTo>
                <a:cubicBezTo>
                  <a:pt x="10500" y="15090"/>
                  <a:pt x="10590" y="15000"/>
                  <a:pt x="10700" y="15000"/>
                </a:cubicBezTo>
                <a:close/>
                <a:moveTo>
                  <a:pt x="13200" y="17000"/>
                </a:moveTo>
                <a:lnTo>
                  <a:pt x="14800" y="17000"/>
                </a:lnTo>
                <a:cubicBezTo>
                  <a:pt x="14910" y="17000"/>
                  <a:pt x="15000" y="17090"/>
                  <a:pt x="15000" y="17200"/>
                </a:cubicBezTo>
                <a:lnTo>
                  <a:pt x="15000" y="20800"/>
                </a:lnTo>
                <a:cubicBezTo>
                  <a:pt x="15000" y="20910"/>
                  <a:pt x="14910" y="21000"/>
                  <a:pt x="14800" y="21000"/>
                </a:cubicBezTo>
                <a:lnTo>
                  <a:pt x="13200" y="21000"/>
                </a:lnTo>
                <a:cubicBezTo>
                  <a:pt x="13090" y="21000"/>
                  <a:pt x="13000" y="20910"/>
                  <a:pt x="13000" y="20800"/>
                </a:cubicBezTo>
                <a:lnTo>
                  <a:pt x="13000" y="17200"/>
                </a:lnTo>
                <a:cubicBezTo>
                  <a:pt x="13000" y="17090"/>
                  <a:pt x="13090" y="17000"/>
                  <a:pt x="13200" y="17000"/>
                </a:cubicBezTo>
                <a:close/>
                <a:moveTo>
                  <a:pt x="15700" y="18000"/>
                </a:moveTo>
                <a:lnTo>
                  <a:pt x="17300" y="18000"/>
                </a:lnTo>
                <a:cubicBezTo>
                  <a:pt x="17410" y="18000"/>
                  <a:pt x="17500" y="18090"/>
                  <a:pt x="17500" y="18200"/>
                </a:cubicBezTo>
                <a:lnTo>
                  <a:pt x="17500" y="20800"/>
                </a:lnTo>
                <a:cubicBezTo>
                  <a:pt x="17500" y="20910"/>
                  <a:pt x="17410" y="21000"/>
                  <a:pt x="17300" y="21000"/>
                </a:cubicBezTo>
                <a:lnTo>
                  <a:pt x="15700" y="21000"/>
                </a:lnTo>
                <a:cubicBezTo>
                  <a:pt x="15590" y="21000"/>
                  <a:pt x="15500" y="20910"/>
                  <a:pt x="15500" y="20800"/>
                </a:cubicBezTo>
                <a:lnTo>
                  <a:pt x="15500" y="18200"/>
                </a:lnTo>
                <a:cubicBezTo>
                  <a:pt x="15500" y="18090"/>
                  <a:pt x="15590" y="18000"/>
                  <a:pt x="15700" y="18000"/>
                </a:cubicBezTo>
                <a:close/>
                <a:moveTo>
                  <a:pt x="18200" y="19000"/>
                </a:moveTo>
                <a:lnTo>
                  <a:pt x="19800" y="19000"/>
                </a:lnTo>
                <a:cubicBezTo>
                  <a:pt x="19910" y="19000"/>
                  <a:pt x="20000" y="19090"/>
                  <a:pt x="20000" y="19200"/>
                </a:cubicBezTo>
                <a:lnTo>
                  <a:pt x="20000" y="20800"/>
                </a:lnTo>
                <a:cubicBezTo>
                  <a:pt x="20000" y="20910"/>
                  <a:pt x="19910" y="21000"/>
                  <a:pt x="19800" y="21000"/>
                </a:cubicBezTo>
                <a:lnTo>
                  <a:pt x="18200" y="21000"/>
                </a:lnTo>
                <a:cubicBezTo>
                  <a:pt x="18090" y="21000"/>
                  <a:pt x="18000" y="20910"/>
                  <a:pt x="18000" y="20800"/>
                </a:cubicBezTo>
                <a:lnTo>
                  <a:pt x="18000" y="19200"/>
                </a:lnTo>
                <a:cubicBezTo>
                  <a:pt x="18000" y="19090"/>
                  <a:pt x="18090" y="19000"/>
                  <a:pt x="18200" y="19000"/>
                </a:cubicBezTo>
                <a:close/>
                <a:moveTo>
                  <a:pt x="20700" y="19500"/>
                </a:moveTo>
                <a:lnTo>
                  <a:pt x="22300" y="19500"/>
                </a:lnTo>
                <a:cubicBezTo>
                  <a:pt x="22410" y="19500"/>
                  <a:pt x="22500" y="19590"/>
                  <a:pt x="22500" y="19700"/>
                </a:cubicBezTo>
                <a:lnTo>
                  <a:pt x="22500" y="20800"/>
                </a:lnTo>
                <a:cubicBezTo>
                  <a:pt x="22500" y="20910"/>
                  <a:pt x="22410" y="21000"/>
                  <a:pt x="22300" y="21000"/>
                </a:cubicBezTo>
                <a:lnTo>
                  <a:pt x="20700" y="21000"/>
                </a:lnTo>
                <a:cubicBezTo>
                  <a:pt x="20590" y="21000"/>
                  <a:pt x="20500" y="20910"/>
                  <a:pt x="20500" y="20800"/>
                </a:cubicBezTo>
                <a:lnTo>
                  <a:pt x="20500" y="19700"/>
                </a:lnTo>
                <a:cubicBezTo>
                  <a:pt x="20500" y="19590"/>
                  <a:pt x="20590" y="19500"/>
                  <a:pt x="20700" y="19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长尾分布</a:t>
            </a:r>
          </a:p>
        </p:txBody>
      </p:sp>
      <p:sp>
        <p:nvSpPr>
          <p:cNvPr id="37" name="CONCEPT-012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4000"/>
                </a:moveTo>
                <a:cubicBezTo>
                  <a:pt x="5000" y="4000"/>
                  <a:pt x="7000" y="18000"/>
                  <a:pt x="14000" y="19000"/>
                </a:cubicBezTo>
                <a:cubicBezTo>
                  <a:pt x="18000" y="20000"/>
                  <a:pt x="20000" y="20000"/>
                  <a:pt x="22000" y="20000"/>
                </a:cubicBezTo>
                <a:moveTo>
                  <a:pt x="2519" y="4137"/>
                </a:moveTo>
                <a:lnTo>
                  <a:pt x="6519" y="18137"/>
                </a:lnTo>
                <a:lnTo>
                  <a:pt x="7481" y="17863"/>
                </a:lnTo>
                <a:lnTo>
                  <a:pt x="3481" y="3863"/>
                </a:lnTo>
                <a:close/>
                <a:moveTo>
                  <a:pt x="6929" y="18495"/>
                </a:moveTo>
                <a:lnTo>
                  <a:pt x="13929" y="19495"/>
                </a:lnTo>
                <a:lnTo>
                  <a:pt x="14071" y="18505"/>
                </a:lnTo>
                <a:lnTo>
                  <a:pt x="7071" y="17505"/>
                </a:lnTo>
                <a:close/>
                <a:moveTo>
                  <a:pt x="13938" y="19496"/>
                </a:moveTo>
                <a:lnTo>
                  <a:pt x="21938" y="20496"/>
                </a:lnTo>
                <a:lnTo>
                  <a:pt x="22062" y="19504"/>
                </a:lnTo>
                <a:lnTo>
                  <a:pt x="14062" y="1850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幂律分布</a:t>
            </a:r>
          </a:p>
        </p:txBody>
      </p:sp>
      <p:sp>
        <p:nvSpPr>
          <p:cNvPr id="40" name="CONCEPT-013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3000"/>
                </a:moveTo>
                <a:lnTo>
                  <a:pt x="11500" y="3000"/>
                </a:lnTo>
                <a:lnTo>
                  <a:pt x="11500" y="3600"/>
                </a:lnTo>
                <a:lnTo>
                  <a:pt x="3000" y="3600"/>
                </a:lnTo>
                <a:close/>
                <a:moveTo>
                  <a:pt x="3000" y="10900"/>
                </a:moveTo>
                <a:lnTo>
                  <a:pt x="11500" y="10900"/>
                </a:lnTo>
                <a:lnTo>
                  <a:pt x="11500" y="11500"/>
                </a:lnTo>
                <a:lnTo>
                  <a:pt x="3000" y="11500"/>
                </a:lnTo>
                <a:close/>
                <a:moveTo>
                  <a:pt x="3000" y="3000"/>
                </a:moveTo>
                <a:lnTo>
                  <a:pt x="3600" y="3000"/>
                </a:lnTo>
                <a:lnTo>
                  <a:pt x="3600" y="11500"/>
                </a:lnTo>
                <a:lnTo>
                  <a:pt x="3000" y="11500"/>
                </a:lnTo>
                <a:close/>
                <a:moveTo>
                  <a:pt x="10900" y="3000"/>
                </a:moveTo>
                <a:lnTo>
                  <a:pt x="11500" y="3000"/>
                </a:lnTo>
                <a:lnTo>
                  <a:pt x="11500" y="11500"/>
                </a:lnTo>
                <a:lnTo>
                  <a:pt x="10900" y="11500"/>
                </a:lnTo>
                <a:close/>
                <a:moveTo>
                  <a:pt x="12500" y="3000"/>
                </a:moveTo>
                <a:lnTo>
                  <a:pt x="21000" y="3000"/>
                </a:lnTo>
                <a:lnTo>
                  <a:pt x="21000" y="3600"/>
                </a:lnTo>
                <a:lnTo>
                  <a:pt x="12500" y="3600"/>
                </a:lnTo>
                <a:close/>
                <a:moveTo>
                  <a:pt x="12500" y="10900"/>
                </a:moveTo>
                <a:lnTo>
                  <a:pt x="21000" y="10900"/>
                </a:lnTo>
                <a:lnTo>
                  <a:pt x="21000" y="11500"/>
                </a:lnTo>
                <a:lnTo>
                  <a:pt x="12500" y="11500"/>
                </a:lnTo>
                <a:close/>
                <a:moveTo>
                  <a:pt x="12500" y="3000"/>
                </a:moveTo>
                <a:lnTo>
                  <a:pt x="13100" y="3000"/>
                </a:lnTo>
                <a:lnTo>
                  <a:pt x="13100" y="11500"/>
                </a:lnTo>
                <a:lnTo>
                  <a:pt x="12500" y="11500"/>
                </a:lnTo>
                <a:close/>
                <a:moveTo>
                  <a:pt x="20400" y="3000"/>
                </a:moveTo>
                <a:lnTo>
                  <a:pt x="21000" y="3000"/>
                </a:lnTo>
                <a:lnTo>
                  <a:pt x="21000" y="11500"/>
                </a:lnTo>
                <a:lnTo>
                  <a:pt x="20400" y="11500"/>
                </a:lnTo>
                <a:close/>
                <a:moveTo>
                  <a:pt x="3000" y="12500"/>
                </a:moveTo>
                <a:lnTo>
                  <a:pt x="11500" y="12500"/>
                </a:lnTo>
                <a:lnTo>
                  <a:pt x="11500" y="13100"/>
                </a:lnTo>
                <a:lnTo>
                  <a:pt x="3000" y="13100"/>
                </a:lnTo>
                <a:close/>
                <a:moveTo>
                  <a:pt x="3000" y="20400"/>
                </a:moveTo>
                <a:lnTo>
                  <a:pt x="11500" y="20400"/>
                </a:lnTo>
                <a:lnTo>
                  <a:pt x="11500" y="21000"/>
                </a:lnTo>
                <a:lnTo>
                  <a:pt x="3000" y="21000"/>
                </a:lnTo>
                <a:close/>
                <a:moveTo>
                  <a:pt x="3000" y="12500"/>
                </a:moveTo>
                <a:lnTo>
                  <a:pt x="3600" y="12500"/>
                </a:lnTo>
                <a:lnTo>
                  <a:pt x="3600" y="21000"/>
                </a:lnTo>
                <a:lnTo>
                  <a:pt x="3000" y="21000"/>
                </a:lnTo>
                <a:close/>
                <a:moveTo>
                  <a:pt x="10900" y="12500"/>
                </a:moveTo>
                <a:lnTo>
                  <a:pt x="11500" y="12500"/>
                </a:lnTo>
                <a:lnTo>
                  <a:pt x="11500" y="21000"/>
                </a:lnTo>
                <a:lnTo>
                  <a:pt x="10900" y="21000"/>
                </a:lnTo>
                <a:close/>
                <a:moveTo>
                  <a:pt x="12500" y="12500"/>
                </a:moveTo>
                <a:lnTo>
                  <a:pt x="21000" y="12500"/>
                </a:lnTo>
                <a:lnTo>
                  <a:pt x="21000" y="13100"/>
                </a:lnTo>
                <a:lnTo>
                  <a:pt x="12500" y="13100"/>
                </a:lnTo>
                <a:close/>
                <a:moveTo>
                  <a:pt x="12500" y="20400"/>
                </a:moveTo>
                <a:lnTo>
                  <a:pt x="21000" y="20400"/>
                </a:lnTo>
                <a:lnTo>
                  <a:pt x="21000" y="21000"/>
                </a:lnTo>
                <a:lnTo>
                  <a:pt x="12500" y="21000"/>
                </a:lnTo>
                <a:close/>
                <a:moveTo>
                  <a:pt x="12500" y="12500"/>
                </a:moveTo>
                <a:lnTo>
                  <a:pt x="13100" y="12500"/>
                </a:lnTo>
                <a:lnTo>
                  <a:pt x="13100" y="21000"/>
                </a:lnTo>
                <a:lnTo>
                  <a:pt x="12500" y="21000"/>
                </a:lnTo>
                <a:close/>
                <a:moveTo>
                  <a:pt x="20400" y="12500"/>
                </a:moveTo>
                <a:lnTo>
                  <a:pt x="21000" y="12500"/>
                </a:lnTo>
                <a:lnTo>
                  <a:pt x="21000" y="21000"/>
                </a:lnTo>
                <a:lnTo>
                  <a:pt x="20400" y="21000"/>
                </a:lnTo>
                <a:close/>
                <a:moveTo>
                  <a:pt x="2700" y="21500"/>
                </a:moveTo>
                <a:lnTo>
                  <a:pt x="2700" y="2500"/>
                </a:lnTo>
                <a:lnTo>
                  <a:pt x="3200" y="2500"/>
                </a:lnTo>
                <a:lnTo>
                  <a:pt x="2500" y="1500"/>
                </a:lnTo>
                <a:lnTo>
                  <a:pt x="1800" y="2500"/>
                </a:lnTo>
                <a:lnTo>
                  <a:pt x="2300" y="2500"/>
                </a:lnTo>
                <a:lnTo>
                  <a:pt x="2300" y="21500"/>
                </a:lnTo>
                <a:close/>
                <a:moveTo>
                  <a:pt x="2500" y="21700"/>
                </a:moveTo>
                <a:lnTo>
                  <a:pt x="21500" y="21700"/>
                </a:lnTo>
                <a:lnTo>
                  <a:pt x="21500" y="22200"/>
                </a:lnTo>
                <a:lnTo>
                  <a:pt x="22500" y="21500"/>
                </a:lnTo>
                <a:lnTo>
                  <a:pt x="21500" y="20800"/>
                </a:lnTo>
                <a:lnTo>
                  <a:pt x="21500" y="21300"/>
                </a:lnTo>
                <a:lnTo>
                  <a:pt x="2500" y="2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Cynefin框架</a:t>
            </a:r>
          </a:p>
        </p:txBody>
      </p:sp>
      <p:sp>
        <p:nvSpPr>
          <p:cNvPr id="43" name="CONCEPT-014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6400" y="7000"/>
                </a:moveTo>
                <a:cubicBezTo>
                  <a:pt x="6400" y="7773"/>
                  <a:pt x="5773" y="8400"/>
                  <a:pt x="5000" y="8400"/>
                </a:cubicBezTo>
                <a:cubicBezTo>
                  <a:pt x="4227" y="8400"/>
                  <a:pt x="3600" y="7773"/>
                  <a:pt x="3600" y="7000"/>
                </a:cubicBezTo>
                <a:cubicBezTo>
                  <a:pt x="3600" y="6227"/>
                  <a:pt x="4227" y="5600"/>
                  <a:pt x="5000" y="5600"/>
                </a:cubicBezTo>
                <a:cubicBezTo>
                  <a:pt x="5773" y="5600"/>
                  <a:pt x="6400" y="6227"/>
                  <a:pt x="6400" y="7000"/>
                </a:cubicBezTo>
                <a:close/>
                <a:moveTo>
                  <a:pt x="12400" y="11000"/>
                </a:moveTo>
                <a:cubicBezTo>
                  <a:pt x="12400" y="11773"/>
                  <a:pt x="11773" y="12400"/>
                  <a:pt x="11000" y="12400"/>
                </a:cubicBezTo>
                <a:cubicBezTo>
                  <a:pt x="10227" y="12400"/>
                  <a:pt x="9600" y="11773"/>
                  <a:pt x="9600" y="11000"/>
                </a:cubicBezTo>
                <a:cubicBezTo>
                  <a:pt x="9600" y="10227"/>
                  <a:pt x="10227" y="9600"/>
                  <a:pt x="11000" y="9600"/>
                </a:cubicBezTo>
                <a:cubicBezTo>
                  <a:pt x="11773" y="9600"/>
                  <a:pt x="12400" y="10227"/>
                  <a:pt x="12400" y="11000"/>
                </a:cubicBezTo>
                <a:close/>
                <a:moveTo>
                  <a:pt x="18400" y="18000"/>
                </a:moveTo>
                <a:cubicBezTo>
                  <a:pt x="18400" y="18773"/>
                  <a:pt x="17773" y="19400"/>
                  <a:pt x="17000" y="19400"/>
                </a:cubicBezTo>
                <a:cubicBezTo>
                  <a:pt x="16227" y="19400"/>
                  <a:pt x="15600" y="18773"/>
                  <a:pt x="15600" y="18000"/>
                </a:cubicBezTo>
                <a:cubicBezTo>
                  <a:pt x="15600" y="17227"/>
                  <a:pt x="16227" y="16600"/>
                  <a:pt x="17000" y="16600"/>
                </a:cubicBezTo>
                <a:cubicBezTo>
                  <a:pt x="17773" y="16600"/>
                  <a:pt x="18400" y="17227"/>
                  <a:pt x="18400" y="18000"/>
                </a:cubicBezTo>
                <a:close/>
                <a:moveTo>
                  <a:pt x="4889" y="7166"/>
                </a:moveTo>
                <a:lnTo>
                  <a:pt x="10889" y="11166"/>
                </a:lnTo>
                <a:lnTo>
                  <a:pt x="11111" y="10834"/>
                </a:lnTo>
                <a:lnTo>
                  <a:pt x="5111" y="6834"/>
                </a:lnTo>
                <a:close/>
                <a:moveTo>
                  <a:pt x="10848" y="11130"/>
                </a:moveTo>
                <a:lnTo>
                  <a:pt x="16848" y="18130"/>
                </a:lnTo>
                <a:lnTo>
                  <a:pt x="17152" y="17870"/>
                </a:lnTo>
                <a:lnTo>
                  <a:pt x="11152" y="10870"/>
                </a:lnTo>
                <a:close/>
                <a:moveTo>
                  <a:pt x="5000" y="7200"/>
                </a:moveTo>
                <a:lnTo>
                  <a:pt x="6000" y="7200"/>
                </a:lnTo>
                <a:lnTo>
                  <a:pt x="6000" y="7700"/>
                </a:lnTo>
                <a:lnTo>
                  <a:pt x="7000" y="7000"/>
                </a:lnTo>
                <a:lnTo>
                  <a:pt x="6000" y="6300"/>
                </a:lnTo>
                <a:lnTo>
                  <a:pt x="6000" y="6800"/>
                </a:lnTo>
                <a:lnTo>
                  <a:pt x="5000" y="6800"/>
                </a:lnTo>
                <a:close/>
                <a:moveTo>
                  <a:pt x="11000" y="11200"/>
                </a:moveTo>
                <a:lnTo>
                  <a:pt x="12000" y="11200"/>
                </a:lnTo>
                <a:lnTo>
                  <a:pt x="12000" y="11700"/>
                </a:lnTo>
                <a:lnTo>
                  <a:pt x="13000" y="11000"/>
                </a:lnTo>
                <a:lnTo>
                  <a:pt x="12000" y="10300"/>
                </a:lnTo>
                <a:lnTo>
                  <a:pt x="12000" y="10800"/>
                </a:lnTo>
                <a:lnTo>
                  <a:pt x="11000" y="108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Wardley地图</a:t>
            </a:r>
          </a:p>
        </p:txBody>
      </p:sp>
      <p:sp>
        <p:nvSpPr>
          <p:cNvPr id="46" name="CONCEPT-015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45" y="2055"/>
                </a:moveTo>
                <a:lnTo>
                  <a:pt x="15090" y="2489"/>
                </a:lnTo>
                <a:lnTo>
                  <a:pt x="17000" y="3340"/>
                </a:lnTo>
                <a:lnTo>
                  <a:pt x="18691" y="4569"/>
                </a:lnTo>
                <a:lnTo>
                  <a:pt x="20090" y="6122"/>
                </a:lnTo>
                <a:lnTo>
                  <a:pt x="21135" y="7933"/>
                </a:lnTo>
                <a:lnTo>
                  <a:pt x="21781" y="9921"/>
                </a:lnTo>
                <a:lnTo>
                  <a:pt x="23249" y="9609"/>
                </a:lnTo>
                <a:lnTo>
                  <a:pt x="23472" y="11198"/>
                </a:lnTo>
                <a:lnTo>
                  <a:pt x="17380" y="10856"/>
                </a:lnTo>
                <a:lnTo>
                  <a:pt x="18847" y="10545"/>
                </a:lnTo>
                <a:lnTo>
                  <a:pt x="18395" y="9153"/>
                </a:lnTo>
                <a:lnTo>
                  <a:pt x="17663" y="7886"/>
                </a:lnTo>
                <a:lnTo>
                  <a:pt x="16684" y="6798"/>
                </a:lnTo>
                <a:lnTo>
                  <a:pt x="15500" y="5938"/>
                </a:lnTo>
                <a:lnTo>
                  <a:pt x="14163" y="5343"/>
                </a:lnTo>
                <a:lnTo>
                  <a:pt x="12732" y="5038"/>
                </a:lnTo>
                <a:close/>
                <a:moveTo>
                  <a:pt x="21945" y="13045"/>
                </a:moveTo>
                <a:lnTo>
                  <a:pt x="21511" y="15090"/>
                </a:lnTo>
                <a:lnTo>
                  <a:pt x="20660" y="17000"/>
                </a:lnTo>
                <a:lnTo>
                  <a:pt x="19431" y="18691"/>
                </a:lnTo>
                <a:lnTo>
                  <a:pt x="17878" y="20090"/>
                </a:lnTo>
                <a:lnTo>
                  <a:pt x="16067" y="21135"/>
                </a:lnTo>
                <a:lnTo>
                  <a:pt x="14079" y="21781"/>
                </a:lnTo>
                <a:lnTo>
                  <a:pt x="14391" y="23249"/>
                </a:lnTo>
                <a:lnTo>
                  <a:pt x="12802" y="23472"/>
                </a:lnTo>
                <a:lnTo>
                  <a:pt x="13144" y="17380"/>
                </a:lnTo>
                <a:lnTo>
                  <a:pt x="13455" y="18847"/>
                </a:lnTo>
                <a:lnTo>
                  <a:pt x="14847" y="18395"/>
                </a:lnTo>
                <a:lnTo>
                  <a:pt x="16114" y="17663"/>
                </a:lnTo>
                <a:lnTo>
                  <a:pt x="17202" y="16684"/>
                </a:lnTo>
                <a:lnTo>
                  <a:pt x="18062" y="15500"/>
                </a:lnTo>
                <a:lnTo>
                  <a:pt x="18657" y="14163"/>
                </a:lnTo>
                <a:lnTo>
                  <a:pt x="18962" y="12732"/>
                </a:lnTo>
                <a:close/>
                <a:moveTo>
                  <a:pt x="10955" y="21945"/>
                </a:moveTo>
                <a:lnTo>
                  <a:pt x="8910" y="21511"/>
                </a:lnTo>
                <a:lnTo>
                  <a:pt x="7000" y="20660"/>
                </a:lnTo>
                <a:lnTo>
                  <a:pt x="5309" y="19431"/>
                </a:lnTo>
                <a:lnTo>
                  <a:pt x="3910" y="17878"/>
                </a:lnTo>
                <a:lnTo>
                  <a:pt x="2865" y="16067"/>
                </a:lnTo>
                <a:lnTo>
                  <a:pt x="2219" y="14079"/>
                </a:lnTo>
                <a:lnTo>
                  <a:pt x="751" y="14391"/>
                </a:lnTo>
                <a:lnTo>
                  <a:pt x="528" y="12802"/>
                </a:lnTo>
                <a:lnTo>
                  <a:pt x="6620" y="13144"/>
                </a:lnTo>
                <a:lnTo>
                  <a:pt x="5153" y="13455"/>
                </a:lnTo>
                <a:lnTo>
                  <a:pt x="5605" y="14847"/>
                </a:lnTo>
                <a:lnTo>
                  <a:pt x="6337" y="16114"/>
                </a:lnTo>
                <a:lnTo>
                  <a:pt x="7316" y="17202"/>
                </a:lnTo>
                <a:lnTo>
                  <a:pt x="8500" y="18062"/>
                </a:lnTo>
                <a:lnTo>
                  <a:pt x="9837" y="18657"/>
                </a:lnTo>
                <a:lnTo>
                  <a:pt x="11268" y="18962"/>
                </a:lnTo>
                <a:close/>
                <a:moveTo>
                  <a:pt x="2055" y="10955"/>
                </a:moveTo>
                <a:lnTo>
                  <a:pt x="2489" y="8910"/>
                </a:lnTo>
                <a:lnTo>
                  <a:pt x="3340" y="7000"/>
                </a:lnTo>
                <a:lnTo>
                  <a:pt x="4569" y="5309"/>
                </a:lnTo>
                <a:lnTo>
                  <a:pt x="6122" y="3910"/>
                </a:lnTo>
                <a:lnTo>
                  <a:pt x="7933" y="2865"/>
                </a:lnTo>
                <a:lnTo>
                  <a:pt x="9921" y="2219"/>
                </a:lnTo>
                <a:lnTo>
                  <a:pt x="9609" y="751"/>
                </a:lnTo>
                <a:lnTo>
                  <a:pt x="11198" y="528"/>
                </a:lnTo>
                <a:lnTo>
                  <a:pt x="10856" y="6620"/>
                </a:lnTo>
                <a:lnTo>
                  <a:pt x="10545" y="5153"/>
                </a:lnTo>
                <a:lnTo>
                  <a:pt x="9153" y="5605"/>
                </a:lnTo>
                <a:lnTo>
                  <a:pt x="7886" y="6337"/>
                </a:lnTo>
                <a:lnTo>
                  <a:pt x="6798" y="7316"/>
                </a:lnTo>
                <a:lnTo>
                  <a:pt x="5938" y="8500"/>
                </a:lnTo>
                <a:lnTo>
                  <a:pt x="5343" y="9837"/>
                </a:lnTo>
                <a:lnTo>
                  <a:pt x="5038" y="1126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OODA循环</a:t>
            </a:r>
          </a:p>
        </p:txBody>
      </p:sp>
      <p:sp>
        <p:nvSpPr>
          <p:cNvPr id="49" name="CONCEPT-016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1000"/>
                </a:moveTo>
                <a:lnTo>
                  <a:pt x="22000" y="11000"/>
                </a:lnTo>
                <a:lnTo>
                  <a:pt x="22000" y="11400"/>
                </a:lnTo>
                <a:lnTo>
                  <a:pt x="2000" y="11400"/>
                </a:lnTo>
                <a:close/>
                <a:moveTo>
                  <a:pt x="8000" y="4000"/>
                </a:moveTo>
                <a:lnTo>
                  <a:pt x="16000" y="4000"/>
                </a:lnTo>
                <a:lnTo>
                  <a:pt x="18000" y="11000"/>
                </a:lnTo>
                <a:lnTo>
                  <a:pt x="6000" y="11000"/>
                </a:lnTo>
                <a:close/>
                <a:moveTo>
                  <a:pt x="6000" y="11000"/>
                </a:moveTo>
                <a:lnTo>
                  <a:pt x="18000" y="11000"/>
                </a:lnTo>
                <a:lnTo>
                  <a:pt x="20000" y="21000"/>
                </a:lnTo>
                <a:lnTo>
                  <a:pt x="4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冰山模型</a:t>
            </a:r>
          </a:p>
        </p:txBody>
      </p:sp>
      <p:sp>
        <p:nvSpPr>
          <p:cNvPr id="52" name="CONCEPT-017"/>
          <p:cNvSpPr/>
          <p:nvPr/>
        </p:nvSpPr>
        <p:spPr>
          <a:xfrm>
            <a:off x="722376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500" y="12000"/>
                </a:moveTo>
                <a:cubicBezTo>
                  <a:pt x="22500" y="17799"/>
                  <a:pt x="17799" y="22500"/>
                  <a:pt x="12000" y="22500"/>
                </a:cubicBezTo>
                <a:cubicBezTo>
                  <a:pt x="6201" y="22500"/>
                  <a:pt x="1500" y="17799"/>
                  <a:pt x="1500" y="12000"/>
                </a:cubicBezTo>
                <a:cubicBezTo>
                  <a:pt x="1500" y="6201"/>
                  <a:pt x="6201" y="1500"/>
                  <a:pt x="12000" y="1500"/>
                </a:cubicBezTo>
                <a:cubicBezTo>
                  <a:pt x="17799" y="1500"/>
                  <a:pt x="22500" y="6201"/>
                  <a:pt x="22500" y="12000"/>
                </a:cubicBezTo>
                <a:close/>
                <a:moveTo>
                  <a:pt x="21500" y="12000"/>
                </a:moveTo>
                <a:cubicBezTo>
                  <a:pt x="21500" y="6753"/>
                  <a:pt x="17247" y="2500"/>
                  <a:pt x="12000" y="2500"/>
                </a:cubicBezTo>
                <a:cubicBezTo>
                  <a:pt x="6753" y="2500"/>
                  <a:pt x="2500" y="6753"/>
                  <a:pt x="2500" y="12000"/>
                </a:cubicBezTo>
                <a:cubicBezTo>
                  <a:pt x="2500" y="17247"/>
                  <a:pt x="6753" y="21500"/>
                  <a:pt x="12000" y="21500"/>
                </a:cubicBezTo>
                <a:cubicBezTo>
                  <a:pt x="17247" y="21500"/>
                  <a:pt x="21500" y="17247"/>
                  <a:pt x="21500" y="12000"/>
                </a:cubicBezTo>
                <a:close/>
                <a:moveTo>
                  <a:pt x="20600" y="12000"/>
                </a:moveTo>
                <a:cubicBezTo>
                  <a:pt x="20600" y="16750"/>
                  <a:pt x="16750" y="20600"/>
                  <a:pt x="12000" y="20600"/>
                </a:cubicBezTo>
                <a:cubicBezTo>
                  <a:pt x="7250" y="20600"/>
                  <a:pt x="3400" y="16750"/>
                  <a:pt x="3400" y="12000"/>
                </a:cubicBezTo>
                <a:cubicBezTo>
                  <a:pt x="3400" y="7250"/>
                  <a:pt x="7250" y="3400"/>
                  <a:pt x="12000" y="3400"/>
                </a:cubicBezTo>
                <a:cubicBezTo>
                  <a:pt x="16750" y="3400"/>
                  <a:pt x="20600" y="7250"/>
                  <a:pt x="20600" y="12000"/>
                </a:cubicBezTo>
                <a:close/>
                <a:moveTo>
                  <a:pt x="19600" y="12000"/>
                </a:moveTo>
                <a:cubicBezTo>
                  <a:pt x="19600" y="7803"/>
                  <a:pt x="16197" y="4400"/>
                  <a:pt x="12000" y="4400"/>
                </a:cubicBezTo>
                <a:cubicBezTo>
                  <a:pt x="7803" y="4400"/>
                  <a:pt x="4400" y="7803"/>
                  <a:pt x="4400" y="12000"/>
                </a:cubicBezTo>
                <a:cubicBezTo>
                  <a:pt x="4400" y="16197"/>
                  <a:pt x="7803" y="19600"/>
                  <a:pt x="12000" y="19600"/>
                </a:cubicBezTo>
                <a:cubicBezTo>
                  <a:pt x="16197" y="19600"/>
                  <a:pt x="19600" y="16197"/>
                  <a:pt x="19600" y="12000"/>
                </a:cubicBezTo>
                <a:close/>
                <a:moveTo>
                  <a:pt x="18700" y="12000"/>
                </a:moveTo>
                <a:cubicBezTo>
                  <a:pt x="18700" y="15700"/>
                  <a:pt x="15700" y="18700"/>
                  <a:pt x="12000" y="18700"/>
                </a:cubicBezTo>
                <a:cubicBezTo>
                  <a:pt x="8300" y="18700"/>
                  <a:pt x="5300" y="15700"/>
                  <a:pt x="5300" y="12000"/>
                </a:cubicBezTo>
                <a:cubicBezTo>
                  <a:pt x="5300" y="8300"/>
                  <a:pt x="8300" y="5300"/>
                  <a:pt x="12000" y="5300"/>
                </a:cubicBezTo>
                <a:cubicBezTo>
                  <a:pt x="15700" y="5300"/>
                  <a:pt x="18700" y="8300"/>
                  <a:pt x="18700" y="12000"/>
                </a:cubicBezTo>
                <a:close/>
                <a:moveTo>
                  <a:pt x="17700" y="12000"/>
                </a:moveTo>
                <a:cubicBezTo>
                  <a:pt x="17700" y="8852"/>
                  <a:pt x="15148" y="6300"/>
                  <a:pt x="12000" y="6300"/>
                </a:cubicBezTo>
                <a:cubicBezTo>
                  <a:pt x="8852" y="6300"/>
                  <a:pt x="6300" y="8852"/>
                  <a:pt x="6300" y="12000"/>
                </a:cubicBezTo>
                <a:cubicBezTo>
                  <a:pt x="6300" y="15148"/>
                  <a:pt x="8852" y="17700"/>
                  <a:pt x="12000" y="17700"/>
                </a:cubicBezTo>
                <a:cubicBezTo>
                  <a:pt x="15148" y="17700"/>
                  <a:pt x="17700" y="15148"/>
                  <a:pt x="17700" y="12000"/>
                </a:cubicBezTo>
                <a:close/>
                <a:moveTo>
                  <a:pt x="16800" y="12000"/>
                </a:moveTo>
                <a:cubicBezTo>
                  <a:pt x="16800" y="14651"/>
                  <a:pt x="14651" y="16800"/>
                  <a:pt x="12000" y="16800"/>
                </a:cubicBezTo>
                <a:cubicBezTo>
                  <a:pt x="9349" y="16800"/>
                  <a:pt x="7200" y="14651"/>
                  <a:pt x="7200" y="12000"/>
                </a:cubicBezTo>
                <a:cubicBezTo>
                  <a:pt x="7200" y="9349"/>
                  <a:pt x="9349" y="7200"/>
                  <a:pt x="12000" y="7200"/>
                </a:cubicBezTo>
                <a:cubicBezTo>
                  <a:pt x="14651" y="7200"/>
                  <a:pt x="16800" y="9349"/>
                  <a:pt x="16800" y="12000"/>
                </a:cubicBezTo>
                <a:close/>
                <a:moveTo>
                  <a:pt x="15800" y="12000"/>
                </a:moveTo>
                <a:cubicBezTo>
                  <a:pt x="15800" y="9901"/>
                  <a:pt x="14099" y="8200"/>
                  <a:pt x="12000" y="8200"/>
                </a:cubicBezTo>
                <a:cubicBezTo>
                  <a:pt x="9901" y="8200"/>
                  <a:pt x="8200" y="9901"/>
                  <a:pt x="8200" y="12000"/>
                </a:cubicBezTo>
                <a:cubicBezTo>
                  <a:pt x="8200" y="14099"/>
                  <a:pt x="9901" y="15800"/>
                  <a:pt x="12000" y="15800"/>
                </a:cubicBezTo>
                <a:cubicBezTo>
                  <a:pt x="14099" y="15800"/>
                  <a:pt x="15800" y="14099"/>
                  <a:pt x="15800" y="12000"/>
                </a:cubicBezTo>
                <a:close/>
                <a:moveTo>
                  <a:pt x="14900" y="12000"/>
                </a:moveTo>
                <a:cubicBezTo>
                  <a:pt x="14900" y="13602"/>
                  <a:pt x="13602" y="14900"/>
                  <a:pt x="12000" y="14900"/>
                </a:cubicBezTo>
                <a:cubicBezTo>
                  <a:pt x="10398" y="14900"/>
                  <a:pt x="9100" y="13602"/>
                  <a:pt x="9100" y="12000"/>
                </a:cubicBezTo>
                <a:cubicBezTo>
                  <a:pt x="9100" y="10398"/>
                  <a:pt x="10398" y="9100"/>
                  <a:pt x="12000" y="9100"/>
                </a:cubicBezTo>
                <a:cubicBezTo>
                  <a:pt x="13602" y="9100"/>
                  <a:pt x="14900" y="10398"/>
                  <a:pt x="14900" y="12000"/>
                </a:cubicBezTo>
                <a:close/>
                <a:moveTo>
                  <a:pt x="13900" y="12000"/>
                </a:moveTo>
                <a:cubicBezTo>
                  <a:pt x="13900" y="10951"/>
                  <a:pt x="13049" y="10100"/>
                  <a:pt x="12000" y="10100"/>
                </a:cubicBezTo>
                <a:cubicBezTo>
                  <a:pt x="10951" y="10100"/>
                  <a:pt x="10100" y="10951"/>
                  <a:pt x="10100" y="12000"/>
                </a:cubicBezTo>
                <a:cubicBezTo>
                  <a:pt x="10100" y="13049"/>
                  <a:pt x="10951" y="13900"/>
                  <a:pt x="12000" y="13900"/>
                </a:cubicBezTo>
                <a:cubicBezTo>
                  <a:pt x="13049" y="13900"/>
                  <a:pt x="13900" y="13049"/>
                  <a:pt x="13900" y="12000"/>
                </a:cubicBezTo>
                <a:close/>
                <a:moveTo>
                  <a:pt x="13200" y="12000"/>
                </a:moveTo>
                <a:cubicBezTo>
                  <a:pt x="13200" y="12663"/>
                  <a:pt x="12663" y="13200"/>
                  <a:pt x="12000" y="13200"/>
                </a:cubicBezTo>
                <a:cubicBezTo>
                  <a:pt x="11337" y="13200"/>
                  <a:pt x="10800" y="12663"/>
                  <a:pt x="10800" y="12000"/>
                </a:cubicBezTo>
                <a:cubicBezTo>
                  <a:pt x="10800" y="11337"/>
                  <a:pt x="11337" y="10800"/>
                  <a:pt x="12000" y="10800"/>
                </a:cubicBezTo>
                <a:cubicBezTo>
                  <a:pt x="12663" y="10800"/>
                  <a:pt x="13200" y="11337"/>
                  <a:pt x="132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04088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洋葱模型</a:t>
            </a:r>
          </a:p>
        </p:txBody>
      </p:sp>
      <p:sp>
        <p:nvSpPr>
          <p:cNvPr id="55" name="CONCEPT-018"/>
          <p:cNvSpPr/>
          <p:nvPr/>
        </p:nvSpPr>
        <p:spPr>
          <a:xfrm>
            <a:off x="88696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4000"/>
                </a:moveTo>
                <a:lnTo>
                  <a:pt x="18928" y="8000"/>
                </a:lnTo>
                <a:lnTo>
                  <a:pt x="18928" y="16000"/>
                </a:lnTo>
                <a:lnTo>
                  <a:pt x="12000" y="20000"/>
                </a:lnTo>
                <a:lnTo>
                  <a:pt x="5072" y="16000"/>
                </a:lnTo>
                <a:lnTo>
                  <a:pt x="5072" y="8000"/>
                </a:lnTo>
                <a:close/>
                <a:moveTo>
                  <a:pt x="12000" y="8000"/>
                </a:moveTo>
                <a:lnTo>
                  <a:pt x="15464" y="10000"/>
                </a:lnTo>
                <a:lnTo>
                  <a:pt x="15464" y="14000"/>
                </a:lnTo>
                <a:lnTo>
                  <a:pt x="12000" y="16000"/>
                </a:lnTo>
                <a:lnTo>
                  <a:pt x="8536" y="14000"/>
                </a:lnTo>
                <a:lnTo>
                  <a:pt x="8536" y="10000"/>
                </a:lnTo>
                <a:close/>
                <a:moveTo>
                  <a:pt x="13400" y="12000"/>
                </a:moveTo>
                <a:cubicBezTo>
                  <a:pt x="13400" y="12773"/>
                  <a:pt x="12773" y="13400"/>
                  <a:pt x="12000" y="13400"/>
                </a:cubicBezTo>
                <a:cubicBezTo>
                  <a:pt x="11227" y="13400"/>
                  <a:pt x="10600" y="12773"/>
                  <a:pt x="10600" y="12000"/>
                </a:cubicBezTo>
                <a:cubicBezTo>
                  <a:pt x="10600" y="11227"/>
                  <a:pt x="11227" y="10600"/>
                  <a:pt x="12000" y="10600"/>
                </a:cubicBezTo>
                <a:cubicBezTo>
                  <a:pt x="12773" y="10600"/>
                  <a:pt x="13400" y="11227"/>
                  <a:pt x="134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六边形架构</a:t>
            </a:r>
          </a:p>
        </p:txBody>
      </p:sp>
      <p:sp>
        <p:nvSpPr>
          <p:cNvPr id="58" name="CONCEPT-019"/>
          <p:cNvSpPr/>
          <p:nvPr/>
        </p:nvSpPr>
        <p:spPr>
          <a:xfrm>
            <a:off x="6400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3000"/>
                </a:moveTo>
                <a:lnTo>
                  <a:pt x="13000" y="3000"/>
                </a:lnTo>
                <a:lnTo>
                  <a:pt x="14600" y="6280"/>
                </a:lnTo>
                <a:lnTo>
                  <a:pt x="9400" y="6280"/>
                </a:lnTo>
                <a:close/>
                <a:moveTo>
                  <a:pt x="9400" y="6680"/>
                </a:moveTo>
                <a:lnTo>
                  <a:pt x="14600" y="6680"/>
                </a:lnTo>
                <a:lnTo>
                  <a:pt x="16200" y="9960"/>
                </a:lnTo>
                <a:lnTo>
                  <a:pt x="7800" y="9960"/>
                </a:lnTo>
                <a:close/>
                <a:moveTo>
                  <a:pt x="7800" y="10360"/>
                </a:moveTo>
                <a:lnTo>
                  <a:pt x="16200" y="10360"/>
                </a:lnTo>
                <a:lnTo>
                  <a:pt x="17800" y="13640"/>
                </a:lnTo>
                <a:lnTo>
                  <a:pt x="6200" y="13640"/>
                </a:lnTo>
                <a:close/>
                <a:moveTo>
                  <a:pt x="6200" y="14040"/>
                </a:moveTo>
                <a:lnTo>
                  <a:pt x="17800" y="14040"/>
                </a:lnTo>
                <a:lnTo>
                  <a:pt x="19400" y="17320"/>
                </a:lnTo>
                <a:lnTo>
                  <a:pt x="4600" y="17320"/>
                </a:lnTo>
                <a:close/>
                <a:moveTo>
                  <a:pt x="4600" y="17720"/>
                </a:moveTo>
                <a:lnTo>
                  <a:pt x="19400" y="17720"/>
                </a:lnTo>
                <a:lnTo>
                  <a:pt x="21000" y="21000"/>
                </a:lnTo>
                <a:lnTo>
                  <a:pt x="3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需求金字塔</a:t>
            </a:r>
          </a:p>
        </p:txBody>
      </p:sp>
      <p:sp>
        <p:nvSpPr>
          <p:cNvPr id="61" name="CONCEPT-020"/>
          <p:cNvSpPr/>
          <p:nvPr/>
        </p:nvSpPr>
        <p:spPr>
          <a:xfrm>
            <a:off x="228600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600" y="8000"/>
                </a:moveTo>
                <a:cubicBezTo>
                  <a:pt x="9600" y="8884"/>
                  <a:pt x="8884" y="9600"/>
                  <a:pt x="8000" y="9600"/>
                </a:cubicBezTo>
                <a:cubicBezTo>
                  <a:pt x="7116" y="9600"/>
                  <a:pt x="6400" y="8884"/>
                  <a:pt x="6400" y="8000"/>
                </a:cubicBezTo>
                <a:cubicBezTo>
                  <a:pt x="6400" y="7116"/>
                  <a:pt x="7116" y="6400"/>
                  <a:pt x="8000" y="6400"/>
                </a:cubicBezTo>
                <a:cubicBezTo>
                  <a:pt x="8884" y="6400"/>
                  <a:pt x="9600" y="7116"/>
                  <a:pt x="9600" y="8000"/>
                </a:cubicBezTo>
                <a:close/>
                <a:moveTo>
                  <a:pt x="17600" y="8000"/>
                </a:moveTo>
                <a:cubicBezTo>
                  <a:pt x="17600" y="8884"/>
                  <a:pt x="16884" y="9600"/>
                  <a:pt x="16000" y="9600"/>
                </a:cubicBezTo>
                <a:cubicBezTo>
                  <a:pt x="15116" y="9600"/>
                  <a:pt x="14400" y="8884"/>
                  <a:pt x="14400" y="8000"/>
                </a:cubicBezTo>
                <a:cubicBezTo>
                  <a:pt x="14400" y="7116"/>
                  <a:pt x="15116" y="6400"/>
                  <a:pt x="16000" y="6400"/>
                </a:cubicBezTo>
                <a:cubicBezTo>
                  <a:pt x="16884" y="6400"/>
                  <a:pt x="17600" y="7116"/>
                  <a:pt x="17600" y="8000"/>
                </a:cubicBezTo>
                <a:close/>
                <a:moveTo>
                  <a:pt x="17600" y="16000"/>
                </a:moveTo>
                <a:cubicBezTo>
                  <a:pt x="17600" y="16884"/>
                  <a:pt x="16884" y="17600"/>
                  <a:pt x="16000" y="17600"/>
                </a:cubicBezTo>
                <a:cubicBezTo>
                  <a:pt x="15116" y="17600"/>
                  <a:pt x="14400" y="16884"/>
                  <a:pt x="14400" y="16000"/>
                </a:cubicBezTo>
                <a:cubicBezTo>
                  <a:pt x="14400" y="15116"/>
                  <a:pt x="15116" y="14400"/>
                  <a:pt x="16000" y="14400"/>
                </a:cubicBezTo>
                <a:cubicBezTo>
                  <a:pt x="16884" y="14400"/>
                  <a:pt x="17600" y="15116"/>
                  <a:pt x="17600" y="16000"/>
                </a:cubicBezTo>
                <a:close/>
                <a:moveTo>
                  <a:pt x="9600" y="16000"/>
                </a:moveTo>
                <a:cubicBezTo>
                  <a:pt x="9600" y="16884"/>
                  <a:pt x="8884" y="17600"/>
                  <a:pt x="8000" y="17600"/>
                </a:cubicBezTo>
                <a:cubicBezTo>
                  <a:pt x="7116" y="17600"/>
                  <a:pt x="6400" y="16884"/>
                  <a:pt x="6400" y="16000"/>
                </a:cubicBezTo>
                <a:cubicBezTo>
                  <a:pt x="6400" y="15116"/>
                  <a:pt x="7116" y="14400"/>
                  <a:pt x="8000" y="14400"/>
                </a:cubicBezTo>
                <a:cubicBezTo>
                  <a:pt x="8884" y="14400"/>
                  <a:pt x="9600" y="15116"/>
                  <a:pt x="9600" y="16000"/>
                </a:cubicBezTo>
                <a:close/>
                <a:moveTo>
                  <a:pt x="9500" y="8200"/>
                </a:moveTo>
                <a:lnTo>
                  <a:pt x="13500" y="8200"/>
                </a:lnTo>
                <a:lnTo>
                  <a:pt x="13500" y="8700"/>
                </a:lnTo>
                <a:lnTo>
                  <a:pt x="14500" y="8000"/>
                </a:lnTo>
                <a:lnTo>
                  <a:pt x="13500" y="7300"/>
                </a:lnTo>
                <a:lnTo>
                  <a:pt x="13500" y="7800"/>
                </a:lnTo>
                <a:lnTo>
                  <a:pt x="9500" y="7800"/>
                </a:lnTo>
                <a:close/>
                <a:moveTo>
                  <a:pt x="15800" y="9500"/>
                </a:moveTo>
                <a:lnTo>
                  <a:pt x="15800" y="13500"/>
                </a:lnTo>
                <a:lnTo>
                  <a:pt x="15300" y="13500"/>
                </a:lnTo>
                <a:lnTo>
                  <a:pt x="16000" y="14500"/>
                </a:lnTo>
                <a:lnTo>
                  <a:pt x="16700" y="13500"/>
                </a:lnTo>
                <a:lnTo>
                  <a:pt x="16200" y="13500"/>
                </a:lnTo>
                <a:lnTo>
                  <a:pt x="16200" y="9500"/>
                </a:lnTo>
                <a:close/>
                <a:moveTo>
                  <a:pt x="14500" y="15800"/>
                </a:moveTo>
                <a:lnTo>
                  <a:pt x="10500" y="15800"/>
                </a:lnTo>
                <a:lnTo>
                  <a:pt x="10500" y="15300"/>
                </a:lnTo>
                <a:lnTo>
                  <a:pt x="9500" y="16000"/>
                </a:lnTo>
                <a:lnTo>
                  <a:pt x="10500" y="16700"/>
                </a:lnTo>
                <a:lnTo>
                  <a:pt x="10500" y="16200"/>
                </a:lnTo>
                <a:lnTo>
                  <a:pt x="14500" y="16200"/>
                </a:lnTo>
                <a:close/>
                <a:moveTo>
                  <a:pt x="8200" y="14500"/>
                </a:moveTo>
                <a:lnTo>
                  <a:pt x="8200" y="10500"/>
                </a:lnTo>
                <a:lnTo>
                  <a:pt x="8700" y="10500"/>
                </a:lnTo>
                <a:lnTo>
                  <a:pt x="8000" y="9500"/>
                </a:lnTo>
                <a:lnTo>
                  <a:pt x="7300" y="10500"/>
                </a:lnTo>
                <a:lnTo>
                  <a:pt x="7800" y="10500"/>
                </a:lnTo>
                <a:lnTo>
                  <a:pt x="7800" y="14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10312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因果回路</a:t>
            </a:r>
          </a:p>
        </p:txBody>
      </p:sp>
      <p:sp>
        <p:nvSpPr>
          <p:cNvPr id="64" name="CONCEPT-021"/>
          <p:cNvSpPr/>
          <p:nvPr/>
        </p:nvSpPr>
        <p:spPr>
          <a:xfrm>
            <a:off x="393192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400" y="9000"/>
                </a:moveTo>
                <a:lnTo>
                  <a:pt x="15600" y="9000"/>
                </a:lnTo>
                <a:cubicBezTo>
                  <a:pt x="15821" y="9000"/>
                  <a:pt x="16000" y="9179"/>
                  <a:pt x="16000" y="9400"/>
                </a:cubicBezTo>
                <a:lnTo>
                  <a:pt x="16000" y="14600"/>
                </a:lnTo>
                <a:cubicBezTo>
                  <a:pt x="16000" y="14821"/>
                  <a:pt x="15821" y="15000"/>
                  <a:pt x="15600" y="15000"/>
                </a:cubicBezTo>
                <a:lnTo>
                  <a:pt x="8400" y="15000"/>
                </a:lnTo>
                <a:cubicBezTo>
                  <a:pt x="8179" y="15000"/>
                  <a:pt x="8000" y="14821"/>
                  <a:pt x="8000" y="14600"/>
                </a:cubicBezTo>
                <a:lnTo>
                  <a:pt x="8000" y="9400"/>
                </a:lnTo>
                <a:cubicBezTo>
                  <a:pt x="8000" y="9179"/>
                  <a:pt x="8179" y="9000"/>
                  <a:pt x="8400" y="9000"/>
                </a:cubicBezTo>
                <a:close/>
                <a:moveTo>
                  <a:pt x="2000" y="12500"/>
                </a:moveTo>
                <a:lnTo>
                  <a:pt x="5400" y="12500"/>
                </a:lnTo>
                <a:lnTo>
                  <a:pt x="5400" y="13200"/>
                </a:lnTo>
                <a:lnTo>
                  <a:pt x="7000" y="12000"/>
                </a:lnTo>
                <a:lnTo>
                  <a:pt x="5400" y="10800"/>
                </a:lnTo>
                <a:lnTo>
                  <a:pt x="5400" y="11500"/>
                </a:lnTo>
                <a:lnTo>
                  <a:pt x="2000" y="11500"/>
                </a:lnTo>
                <a:close/>
                <a:moveTo>
                  <a:pt x="17000" y="12500"/>
                </a:moveTo>
                <a:lnTo>
                  <a:pt x="20400" y="12500"/>
                </a:lnTo>
                <a:lnTo>
                  <a:pt x="20400" y="13200"/>
                </a:lnTo>
                <a:lnTo>
                  <a:pt x="22000" y="12000"/>
                </a:lnTo>
                <a:lnTo>
                  <a:pt x="20400" y="10800"/>
                </a:lnTo>
                <a:lnTo>
                  <a:pt x="20400" y="11500"/>
                </a:lnTo>
                <a:lnTo>
                  <a:pt x="17000" y="11500"/>
                </a:lnTo>
                <a:close/>
                <a:moveTo>
                  <a:pt x="5800" y="12000"/>
                </a:moveTo>
                <a:cubicBezTo>
                  <a:pt x="5800" y="12442"/>
                  <a:pt x="5442" y="12800"/>
                  <a:pt x="5000" y="12800"/>
                </a:cubicBezTo>
                <a:cubicBezTo>
                  <a:pt x="4558" y="12800"/>
                  <a:pt x="4200" y="12442"/>
                  <a:pt x="4200" y="12000"/>
                </a:cubicBezTo>
                <a:cubicBezTo>
                  <a:pt x="4200" y="11558"/>
                  <a:pt x="4558" y="11200"/>
                  <a:pt x="5000" y="11200"/>
                </a:cubicBezTo>
                <a:cubicBezTo>
                  <a:pt x="5442" y="11200"/>
                  <a:pt x="5800" y="11558"/>
                  <a:pt x="5800" y="12000"/>
                </a:cubicBezTo>
                <a:close/>
                <a:moveTo>
                  <a:pt x="20800" y="12000"/>
                </a:moveTo>
                <a:cubicBezTo>
                  <a:pt x="20800" y="12442"/>
                  <a:pt x="20442" y="12800"/>
                  <a:pt x="20000" y="12800"/>
                </a:cubicBezTo>
                <a:cubicBezTo>
                  <a:pt x="19558" y="12800"/>
                  <a:pt x="19200" y="12442"/>
                  <a:pt x="19200" y="12000"/>
                </a:cubicBezTo>
                <a:cubicBezTo>
                  <a:pt x="19200" y="11558"/>
                  <a:pt x="19558" y="11200"/>
                  <a:pt x="20000" y="11200"/>
                </a:cubicBezTo>
                <a:cubicBezTo>
                  <a:pt x="20442" y="11200"/>
                  <a:pt x="20800" y="11558"/>
                  <a:pt x="208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74904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存量流量</a:t>
            </a:r>
          </a:p>
        </p:txBody>
      </p:sp>
      <p:sp>
        <p:nvSpPr>
          <p:cNvPr id="67" name="CONCEPT-022"/>
          <p:cNvSpPr/>
          <p:nvPr/>
        </p:nvSpPr>
        <p:spPr>
          <a:xfrm>
            <a:off x="557784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  <a:moveTo>
                  <a:pt x="18500" y="12000"/>
                </a:moveTo>
                <a:cubicBezTo>
                  <a:pt x="18500" y="8410"/>
                  <a:pt x="15590" y="5500"/>
                  <a:pt x="12000" y="5500"/>
                </a:cubicBezTo>
                <a:cubicBezTo>
                  <a:pt x="8410" y="5500"/>
                  <a:pt x="5500" y="8410"/>
                  <a:pt x="5500" y="12000"/>
                </a:cubicBezTo>
                <a:cubicBezTo>
                  <a:pt x="5500" y="15590"/>
                  <a:pt x="8410" y="18500"/>
                  <a:pt x="12000" y="18500"/>
                </a:cubicBezTo>
                <a:cubicBezTo>
                  <a:pt x="15590" y="18500"/>
                  <a:pt x="18500" y="15590"/>
                  <a:pt x="18500" y="12000"/>
                </a:cubicBezTo>
                <a:close/>
                <a:moveTo>
                  <a:pt x="15000" y="6000"/>
                </a:moveTo>
                <a:lnTo>
                  <a:pt x="12000" y="4000"/>
                </a:lnTo>
                <a:lnTo>
                  <a:pt x="15000" y="2000"/>
                </a:lnTo>
                <a:close/>
                <a:moveTo>
                  <a:pt x="10400" y="10000"/>
                </a:moveTo>
                <a:lnTo>
                  <a:pt x="13600" y="10000"/>
                </a:lnTo>
                <a:cubicBezTo>
                  <a:pt x="13821" y="10000"/>
                  <a:pt x="14000" y="10179"/>
                  <a:pt x="14000" y="10400"/>
                </a:cubicBezTo>
                <a:lnTo>
                  <a:pt x="14000" y="13600"/>
                </a:lnTo>
                <a:cubicBezTo>
                  <a:pt x="14000" y="13821"/>
                  <a:pt x="13821" y="14000"/>
                  <a:pt x="13600" y="14000"/>
                </a:cubicBezTo>
                <a:lnTo>
                  <a:pt x="10400" y="14000"/>
                </a:lnTo>
                <a:cubicBezTo>
                  <a:pt x="10179" y="14000"/>
                  <a:pt x="10000" y="13821"/>
                  <a:pt x="10000" y="13600"/>
                </a:cubicBezTo>
                <a:lnTo>
                  <a:pt x="10000" y="10400"/>
                </a:lnTo>
                <a:cubicBezTo>
                  <a:pt x="10000" y="10179"/>
                  <a:pt x="10179" y="10000"/>
                  <a:pt x="10400" y="10000"/>
                </a:cubicBezTo>
                <a:close/>
                <a:moveTo>
                  <a:pt x="11000" y="13000"/>
                </a:moveTo>
                <a:lnTo>
                  <a:pt x="12000" y="11000"/>
                </a:lnTo>
                <a:lnTo>
                  <a:pt x="13000" y="13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39496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增强回路</a:t>
            </a:r>
          </a:p>
        </p:txBody>
      </p:sp>
      <p:sp>
        <p:nvSpPr>
          <p:cNvPr id="70" name="CONCEPT-023"/>
          <p:cNvSpPr/>
          <p:nvPr/>
        </p:nvSpPr>
        <p:spPr>
          <a:xfrm>
            <a:off x="722376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  <a:moveTo>
                  <a:pt x="18500" y="12000"/>
                </a:moveTo>
                <a:cubicBezTo>
                  <a:pt x="18500" y="8410"/>
                  <a:pt x="15590" y="5500"/>
                  <a:pt x="12000" y="5500"/>
                </a:cubicBezTo>
                <a:cubicBezTo>
                  <a:pt x="8410" y="5500"/>
                  <a:pt x="5500" y="8410"/>
                  <a:pt x="5500" y="12000"/>
                </a:cubicBezTo>
                <a:cubicBezTo>
                  <a:pt x="5500" y="15590"/>
                  <a:pt x="8410" y="18500"/>
                  <a:pt x="12000" y="18500"/>
                </a:cubicBezTo>
                <a:cubicBezTo>
                  <a:pt x="15590" y="18500"/>
                  <a:pt x="18500" y="15590"/>
                  <a:pt x="18500" y="12000"/>
                </a:cubicBezTo>
                <a:close/>
                <a:moveTo>
                  <a:pt x="15000" y="6000"/>
                </a:moveTo>
                <a:lnTo>
                  <a:pt x="12000" y="4000"/>
                </a:lnTo>
                <a:lnTo>
                  <a:pt x="15000" y="2000"/>
                </a:lnTo>
                <a:close/>
                <a:moveTo>
                  <a:pt x="10400" y="10000"/>
                </a:moveTo>
                <a:lnTo>
                  <a:pt x="13600" y="10000"/>
                </a:lnTo>
                <a:cubicBezTo>
                  <a:pt x="13821" y="10000"/>
                  <a:pt x="14000" y="10179"/>
                  <a:pt x="14000" y="10400"/>
                </a:cubicBezTo>
                <a:lnTo>
                  <a:pt x="14000" y="13600"/>
                </a:lnTo>
                <a:cubicBezTo>
                  <a:pt x="14000" y="13821"/>
                  <a:pt x="13821" y="14000"/>
                  <a:pt x="13600" y="14000"/>
                </a:cubicBezTo>
                <a:lnTo>
                  <a:pt x="10400" y="14000"/>
                </a:lnTo>
                <a:cubicBezTo>
                  <a:pt x="10179" y="14000"/>
                  <a:pt x="10000" y="13821"/>
                  <a:pt x="10000" y="13600"/>
                </a:cubicBezTo>
                <a:lnTo>
                  <a:pt x="10000" y="10400"/>
                </a:lnTo>
                <a:cubicBezTo>
                  <a:pt x="10000" y="10179"/>
                  <a:pt x="10179" y="10000"/>
                  <a:pt x="10400" y="10000"/>
                </a:cubicBezTo>
                <a:close/>
                <a:moveTo>
                  <a:pt x="10000" y="12700"/>
                </a:moveTo>
                <a:lnTo>
                  <a:pt x="14000" y="12700"/>
                </a:lnTo>
                <a:lnTo>
                  <a:pt x="14000" y="11300"/>
                </a:lnTo>
                <a:lnTo>
                  <a:pt x="10000" y="1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04088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调节回路</a:t>
            </a:r>
          </a:p>
        </p:txBody>
      </p:sp>
      <p:sp>
        <p:nvSpPr>
          <p:cNvPr id="73" name="CONCEPT-024"/>
          <p:cNvSpPr/>
          <p:nvPr/>
        </p:nvSpPr>
        <p:spPr>
          <a:xfrm>
            <a:off x="8869680" y="658368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4000"/>
                </a:moveTo>
                <a:lnTo>
                  <a:pt x="10000" y="4000"/>
                </a:lnTo>
                <a:lnTo>
                  <a:pt x="12000" y="8000"/>
                </a:lnTo>
                <a:lnTo>
                  <a:pt x="12000" y="16000"/>
                </a:lnTo>
                <a:lnTo>
                  <a:pt x="10000" y="20000"/>
                </a:lnTo>
                <a:lnTo>
                  <a:pt x="2000" y="20000"/>
                </a:lnTo>
                <a:close/>
                <a:moveTo>
                  <a:pt x="22000" y="4000"/>
                </a:moveTo>
                <a:lnTo>
                  <a:pt x="14000" y="4000"/>
                </a:lnTo>
                <a:lnTo>
                  <a:pt x="12000" y="8000"/>
                </a:lnTo>
                <a:lnTo>
                  <a:pt x="12000" y="16000"/>
                </a:lnTo>
                <a:lnTo>
                  <a:pt x="14000" y="20000"/>
                </a:lnTo>
                <a:lnTo>
                  <a:pt x="22000" y="20000"/>
                </a:lnTo>
                <a:close/>
                <a:moveTo>
                  <a:pt x="13400" y="12000"/>
                </a:moveTo>
                <a:cubicBezTo>
                  <a:pt x="13400" y="12773"/>
                  <a:pt x="12773" y="13400"/>
                  <a:pt x="12000" y="13400"/>
                </a:cubicBezTo>
                <a:cubicBezTo>
                  <a:pt x="11227" y="13400"/>
                  <a:pt x="10600" y="12773"/>
                  <a:pt x="10600" y="12000"/>
                </a:cubicBezTo>
                <a:cubicBezTo>
                  <a:pt x="10600" y="11227"/>
                  <a:pt x="11227" y="10600"/>
                  <a:pt x="12000" y="10600"/>
                </a:cubicBezTo>
                <a:cubicBezTo>
                  <a:pt x="12773" y="10600"/>
                  <a:pt x="13400" y="11227"/>
                  <a:pt x="134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86800" y="7700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7909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瓶颈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06_战略概念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CONCEPT · 第 2/2 页 · 共 40 个</a:t>
            </a:r>
          </a:p>
        </p:txBody>
      </p:sp>
      <p:sp>
        <p:nvSpPr>
          <p:cNvPr id="4" name="CONCEPT-025"/>
          <p:cNvSpPr/>
          <p:nvPr/>
        </p:nvSpPr>
        <p:spPr>
          <a:xfrm>
            <a:off x="6400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9000"/>
                </a:moveTo>
                <a:lnTo>
                  <a:pt x="20000" y="9000"/>
                </a:lnTo>
                <a:cubicBezTo>
                  <a:pt x="21105" y="9000"/>
                  <a:pt x="22000" y="9895"/>
                  <a:pt x="22000" y="11000"/>
                </a:cubicBezTo>
                <a:lnTo>
                  <a:pt x="22000" y="13000"/>
                </a:lnTo>
                <a:cubicBezTo>
                  <a:pt x="22000" y="14105"/>
                  <a:pt x="21105" y="15000"/>
                  <a:pt x="20000" y="15000"/>
                </a:cubicBezTo>
                <a:lnTo>
                  <a:pt x="4000" y="15000"/>
                </a:lnTo>
                <a:cubicBezTo>
                  <a:pt x="2895" y="15000"/>
                  <a:pt x="2000" y="14105"/>
                  <a:pt x="2000" y="13000"/>
                </a:cubicBezTo>
                <a:lnTo>
                  <a:pt x="2000" y="11000"/>
                </a:lnTo>
                <a:cubicBezTo>
                  <a:pt x="2000" y="9895"/>
                  <a:pt x="2895" y="9000"/>
                  <a:pt x="4000" y="9000"/>
                </a:cubicBezTo>
                <a:close/>
                <a:moveTo>
                  <a:pt x="6000" y="12000"/>
                </a:moveTo>
                <a:cubicBezTo>
                  <a:pt x="6000" y="12552"/>
                  <a:pt x="5552" y="13000"/>
                  <a:pt x="5000" y="13000"/>
                </a:cubicBezTo>
                <a:cubicBezTo>
                  <a:pt x="4448" y="13000"/>
                  <a:pt x="4000" y="12552"/>
                  <a:pt x="4000" y="12000"/>
                </a:cubicBezTo>
                <a:cubicBezTo>
                  <a:pt x="4000" y="11448"/>
                  <a:pt x="4448" y="11000"/>
                  <a:pt x="5000" y="11000"/>
                </a:cubicBezTo>
                <a:cubicBezTo>
                  <a:pt x="5552" y="11000"/>
                  <a:pt x="6000" y="11448"/>
                  <a:pt x="6000" y="12000"/>
                </a:cubicBezTo>
                <a:close/>
                <a:moveTo>
                  <a:pt x="10000" y="12000"/>
                </a:moveTo>
                <a:cubicBezTo>
                  <a:pt x="10000" y="12552"/>
                  <a:pt x="9552" y="13000"/>
                  <a:pt x="9000" y="13000"/>
                </a:cubicBezTo>
                <a:cubicBezTo>
                  <a:pt x="8448" y="13000"/>
                  <a:pt x="8000" y="12552"/>
                  <a:pt x="8000" y="12000"/>
                </a:cubicBezTo>
                <a:cubicBezTo>
                  <a:pt x="8000" y="11448"/>
                  <a:pt x="8448" y="11000"/>
                  <a:pt x="9000" y="11000"/>
                </a:cubicBezTo>
                <a:cubicBezTo>
                  <a:pt x="9552" y="11000"/>
                  <a:pt x="10000" y="11448"/>
                  <a:pt x="10000" y="12000"/>
                </a:cubicBezTo>
                <a:close/>
                <a:moveTo>
                  <a:pt x="14000" y="12000"/>
                </a:moveTo>
                <a:cubicBezTo>
                  <a:pt x="14000" y="12552"/>
                  <a:pt x="13552" y="13000"/>
                  <a:pt x="13000" y="13000"/>
                </a:cubicBezTo>
                <a:cubicBezTo>
                  <a:pt x="12448" y="13000"/>
                  <a:pt x="12000" y="12552"/>
                  <a:pt x="12000" y="12000"/>
                </a:cubicBezTo>
                <a:cubicBezTo>
                  <a:pt x="12000" y="11448"/>
                  <a:pt x="12448" y="11000"/>
                  <a:pt x="13000" y="11000"/>
                </a:cubicBezTo>
                <a:cubicBezTo>
                  <a:pt x="13552" y="11000"/>
                  <a:pt x="14000" y="11448"/>
                  <a:pt x="14000" y="12000"/>
                </a:cubicBezTo>
                <a:close/>
                <a:moveTo>
                  <a:pt x="18000" y="12000"/>
                </a:moveTo>
                <a:cubicBezTo>
                  <a:pt x="18000" y="12552"/>
                  <a:pt x="17552" y="13000"/>
                  <a:pt x="17000" y="13000"/>
                </a:cubicBezTo>
                <a:cubicBezTo>
                  <a:pt x="16448" y="13000"/>
                  <a:pt x="16000" y="12552"/>
                  <a:pt x="16000" y="12000"/>
                </a:cubicBezTo>
                <a:cubicBezTo>
                  <a:pt x="16000" y="11448"/>
                  <a:pt x="16448" y="11000"/>
                  <a:pt x="17000" y="11000"/>
                </a:cubicBezTo>
                <a:cubicBezTo>
                  <a:pt x="17552" y="11000"/>
                  <a:pt x="18000" y="11448"/>
                  <a:pt x="18000" y="12000"/>
                </a:cubicBezTo>
                <a:close/>
                <a:moveTo>
                  <a:pt x="21000" y="12000"/>
                </a:moveTo>
                <a:cubicBezTo>
                  <a:pt x="21000" y="12552"/>
                  <a:pt x="20552" y="13000"/>
                  <a:pt x="20000" y="13000"/>
                </a:cubicBezTo>
                <a:cubicBezTo>
                  <a:pt x="19448" y="13000"/>
                  <a:pt x="19000" y="12552"/>
                  <a:pt x="19000" y="12000"/>
                </a:cubicBezTo>
                <a:cubicBezTo>
                  <a:pt x="19000" y="11448"/>
                  <a:pt x="19448" y="11000"/>
                  <a:pt x="20000" y="11000"/>
                </a:cubicBezTo>
                <a:cubicBezTo>
                  <a:pt x="20552" y="11000"/>
                  <a:pt x="21000" y="11448"/>
                  <a:pt x="21000" y="12000"/>
                </a:cubicBezTo>
                <a:close/>
                <a:moveTo>
                  <a:pt x="20000" y="5250"/>
                </a:moveTo>
                <a:lnTo>
                  <a:pt x="21000" y="5250"/>
                </a:lnTo>
                <a:lnTo>
                  <a:pt x="21000" y="5700"/>
                </a:lnTo>
                <a:lnTo>
                  <a:pt x="22000" y="5000"/>
                </a:lnTo>
                <a:lnTo>
                  <a:pt x="21000" y="4300"/>
                </a:lnTo>
                <a:lnTo>
                  <a:pt x="21000" y="4750"/>
                </a:lnTo>
                <a:lnTo>
                  <a:pt x="20000" y="47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管道吞吐</a:t>
            </a:r>
          </a:p>
        </p:txBody>
      </p:sp>
      <p:sp>
        <p:nvSpPr>
          <p:cNvPr id="7" name="CONCEPT-026"/>
          <p:cNvSpPr/>
          <p:nvPr/>
        </p:nvSpPr>
        <p:spPr>
          <a:xfrm>
            <a:off x="228600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500" y="12000"/>
                </a:moveTo>
                <a:cubicBezTo>
                  <a:pt x="18500" y="15590"/>
                  <a:pt x="15590" y="18500"/>
                  <a:pt x="12000" y="18500"/>
                </a:cubicBezTo>
                <a:cubicBezTo>
                  <a:pt x="8410" y="18500"/>
                  <a:pt x="5500" y="15590"/>
                  <a:pt x="5500" y="12000"/>
                </a:cubicBezTo>
                <a:cubicBezTo>
                  <a:pt x="5500" y="8410"/>
                  <a:pt x="8410" y="5500"/>
                  <a:pt x="12000" y="5500"/>
                </a:cubicBezTo>
                <a:cubicBezTo>
                  <a:pt x="15590" y="5500"/>
                  <a:pt x="18500" y="8410"/>
                  <a:pt x="18500" y="12000"/>
                </a:cubicBezTo>
                <a:close/>
                <a:moveTo>
                  <a:pt x="9000" y="9000"/>
                </a:moveTo>
                <a:cubicBezTo>
                  <a:pt x="9000" y="9552"/>
                  <a:pt x="8552" y="10000"/>
                  <a:pt x="8000" y="10000"/>
                </a:cubicBezTo>
                <a:cubicBezTo>
                  <a:pt x="7448" y="10000"/>
                  <a:pt x="7000" y="9552"/>
                  <a:pt x="7000" y="9000"/>
                </a:cubicBezTo>
                <a:cubicBezTo>
                  <a:pt x="7000" y="8448"/>
                  <a:pt x="7448" y="8000"/>
                  <a:pt x="8000" y="8000"/>
                </a:cubicBezTo>
                <a:cubicBezTo>
                  <a:pt x="8552" y="8000"/>
                  <a:pt x="9000" y="8448"/>
                  <a:pt x="9000" y="9000"/>
                </a:cubicBezTo>
                <a:close/>
                <a:moveTo>
                  <a:pt x="16000" y="8000"/>
                </a:moveTo>
                <a:cubicBezTo>
                  <a:pt x="16000" y="8552"/>
                  <a:pt x="15552" y="9000"/>
                  <a:pt x="15000" y="9000"/>
                </a:cubicBezTo>
                <a:cubicBezTo>
                  <a:pt x="14448" y="9000"/>
                  <a:pt x="14000" y="8552"/>
                  <a:pt x="14000" y="8000"/>
                </a:cubicBezTo>
                <a:cubicBezTo>
                  <a:pt x="14000" y="7448"/>
                  <a:pt x="14448" y="7000"/>
                  <a:pt x="15000" y="7000"/>
                </a:cubicBezTo>
                <a:cubicBezTo>
                  <a:pt x="15552" y="7000"/>
                  <a:pt x="16000" y="7448"/>
                  <a:pt x="16000" y="8000"/>
                </a:cubicBezTo>
                <a:close/>
                <a:moveTo>
                  <a:pt x="14000" y="12000"/>
                </a:moveTo>
                <a:cubicBezTo>
                  <a:pt x="14000" y="12552"/>
                  <a:pt x="13552" y="13000"/>
                  <a:pt x="13000" y="13000"/>
                </a:cubicBezTo>
                <a:cubicBezTo>
                  <a:pt x="12448" y="13000"/>
                  <a:pt x="12000" y="12552"/>
                  <a:pt x="12000" y="12000"/>
                </a:cubicBezTo>
                <a:cubicBezTo>
                  <a:pt x="12000" y="11448"/>
                  <a:pt x="12448" y="11000"/>
                  <a:pt x="13000" y="11000"/>
                </a:cubicBezTo>
                <a:cubicBezTo>
                  <a:pt x="13552" y="11000"/>
                  <a:pt x="14000" y="11448"/>
                  <a:pt x="14000" y="12000"/>
                </a:cubicBezTo>
                <a:close/>
                <a:moveTo>
                  <a:pt x="10000" y="14000"/>
                </a:moveTo>
                <a:cubicBezTo>
                  <a:pt x="10000" y="14552"/>
                  <a:pt x="9552" y="15000"/>
                  <a:pt x="9000" y="15000"/>
                </a:cubicBezTo>
                <a:cubicBezTo>
                  <a:pt x="8448" y="15000"/>
                  <a:pt x="8000" y="14552"/>
                  <a:pt x="8000" y="14000"/>
                </a:cubicBezTo>
                <a:cubicBezTo>
                  <a:pt x="8000" y="13448"/>
                  <a:pt x="8448" y="13000"/>
                  <a:pt x="9000" y="13000"/>
                </a:cubicBezTo>
                <a:cubicBezTo>
                  <a:pt x="9552" y="13000"/>
                  <a:pt x="10000" y="13448"/>
                  <a:pt x="10000" y="14000"/>
                </a:cubicBezTo>
                <a:close/>
                <a:moveTo>
                  <a:pt x="17000" y="14000"/>
                </a:moveTo>
                <a:cubicBezTo>
                  <a:pt x="17000" y="14552"/>
                  <a:pt x="16552" y="15000"/>
                  <a:pt x="16000" y="15000"/>
                </a:cubicBezTo>
                <a:cubicBezTo>
                  <a:pt x="15448" y="15000"/>
                  <a:pt x="15000" y="14552"/>
                  <a:pt x="15000" y="14000"/>
                </a:cubicBezTo>
                <a:cubicBezTo>
                  <a:pt x="15000" y="13448"/>
                  <a:pt x="15448" y="13000"/>
                  <a:pt x="16000" y="13000"/>
                </a:cubicBezTo>
                <a:cubicBezTo>
                  <a:pt x="16552" y="13000"/>
                  <a:pt x="17000" y="13448"/>
                  <a:pt x="17000" y="14000"/>
                </a:cubicBezTo>
                <a:close/>
                <a:moveTo>
                  <a:pt x="12000" y="16000"/>
                </a:moveTo>
                <a:cubicBezTo>
                  <a:pt x="12000" y="16552"/>
                  <a:pt x="11552" y="17000"/>
                  <a:pt x="11000" y="17000"/>
                </a:cubicBezTo>
                <a:cubicBezTo>
                  <a:pt x="10448" y="17000"/>
                  <a:pt x="10000" y="16552"/>
                  <a:pt x="10000" y="16000"/>
                </a:cubicBezTo>
                <a:cubicBezTo>
                  <a:pt x="10000" y="15448"/>
                  <a:pt x="10448" y="15000"/>
                  <a:pt x="11000" y="15000"/>
                </a:cubicBezTo>
                <a:cubicBezTo>
                  <a:pt x="11552" y="15000"/>
                  <a:pt x="12000" y="15448"/>
                  <a:pt x="12000" y="16000"/>
                </a:cubicBezTo>
                <a:close/>
                <a:moveTo>
                  <a:pt x="20212" y="5212"/>
                </a:moveTo>
                <a:lnTo>
                  <a:pt x="21364" y="4061"/>
                </a:lnTo>
                <a:lnTo>
                  <a:pt x="21717" y="4414"/>
                </a:lnTo>
                <a:lnTo>
                  <a:pt x="22000" y="3000"/>
                </a:lnTo>
                <a:lnTo>
                  <a:pt x="20586" y="3283"/>
                </a:lnTo>
                <a:lnTo>
                  <a:pt x="20939" y="3636"/>
                </a:lnTo>
                <a:lnTo>
                  <a:pt x="19788" y="478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0312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临界质量</a:t>
            </a:r>
          </a:p>
        </p:txBody>
      </p:sp>
      <p:sp>
        <p:nvSpPr>
          <p:cNvPr id="10" name="CONCEPT-027"/>
          <p:cNvSpPr/>
          <p:nvPr/>
        </p:nvSpPr>
        <p:spPr>
          <a:xfrm>
            <a:off x="393192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800" y="18000"/>
                </a:moveTo>
                <a:cubicBezTo>
                  <a:pt x="6800" y="18994"/>
                  <a:pt x="5994" y="19800"/>
                  <a:pt x="5000" y="19800"/>
                </a:cubicBezTo>
                <a:cubicBezTo>
                  <a:pt x="4006" y="19800"/>
                  <a:pt x="3200" y="18994"/>
                  <a:pt x="3200" y="18000"/>
                </a:cubicBezTo>
                <a:cubicBezTo>
                  <a:pt x="3200" y="17006"/>
                  <a:pt x="4006" y="16200"/>
                  <a:pt x="5000" y="16200"/>
                </a:cubicBezTo>
                <a:cubicBezTo>
                  <a:pt x="5994" y="16200"/>
                  <a:pt x="6800" y="17006"/>
                  <a:pt x="6800" y="18000"/>
                </a:cubicBezTo>
                <a:close/>
                <a:moveTo>
                  <a:pt x="13600" y="16000"/>
                </a:moveTo>
                <a:cubicBezTo>
                  <a:pt x="13600" y="17436"/>
                  <a:pt x="12436" y="18600"/>
                  <a:pt x="11000" y="18600"/>
                </a:cubicBezTo>
                <a:cubicBezTo>
                  <a:pt x="9564" y="18600"/>
                  <a:pt x="8400" y="17436"/>
                  <a:pt x="8400" y="16000"/>
                </a:cubicBezTo>
                <a:cubicBezTo>
                  <a:pt x="8400" y="14564"/>
                  <a:pt x="9564" y="13400"/>
                  <a:pt x="11000" y="13400"/>
                </a:cubicBezTo>
                <a:cubicBezTo>
                  <a:pt x="12436" y="13400"/>
                  <a:pt x="13600" y="14564"/>
                  <a:pt x="13600" y="16000"/>
                </a:cubicBezTo>
                <a:close/>
                <a:moveTo>
                  <a:pt x="22400" y="12000"/>
                </a:moveTo>
                <a:cubicBezTo>
                  <a:pt x="22400" y="14430"/>
                  <a:pt x="20430" y="16400"/>
                  <a:pt x="18000" y="16400"/>
                </a:cubicBezTo>
                <a:cubicBezTo>
                  <a:pt x="15570" y="16400"/>
                  <a:pt x="13600" y="14430"/>
                  <a:pt x="13600" y="12000"/>
                </a:cubicBezTo>
                <a:cubicBezTo>
                  <a:pt x="13600" y="9570"/>
                  <a:pt x="15570" y="7600"/>
                  <a:pt x="18000" y="7600"/>
                </a:cubicBezTo>
                <a:cubicBezTo>
                  <a:pt x="20430" y="7600"/>
                  <a:pt x="22400" y="9570"/>
                  <a:pt x="22400" y="12000"/>
                </a:cubicBezTo>
                <a:close/>
                <a:moveTo>
                  <a:pt x="2141" y="21141"/>
                </a:moveTo>
                <a:lnTo>
                  <a:pt x="4434" y="18849"/>
                </a:lnTo>
                <a:lnTo>
                  <a:pt x="4788" y="19202"/>
                </a:lnTo>
                <a:lnTo>
                  <a:pt x="5000" y="18000"/>
                </a:lnTo>
                <a:lnTo>
                  <a:pt x="3798" y="18212"/>
                </a:lnTo>
                <a:lnTo>
                  <a:pt x="4151" y="18566"/>
                </a:lnTo>
                <a:lnTo>
                  <a:pt x="1859" y="20859"/>
                </a:lnTo>
                <a:close/>
                <a:moveTo>
                  <a:pt x="5063" y="18190"/>
                </a:moveTo>
                <a:lnTo>
                  <a:pt x="11063" y="16190"/>
                </a:lnTo>
                <a:lnTo>
                  <a:pt x="10937" y="15810"/>
                </a:lnTo>
                <a:lnTo>
                  <a:pt x="4937" y="17810"/>
                </a:lnTo>
                <a:close/>
                <a:moveTo>
                  <a:pt x="11099" y="16174"/>
                </a:moveTo>
                <a:lnTo>
                  <a:pt x="18099" y="12174"/>
                </a:lnTo>
                <a:lnTo>
                  <a:pt x="17901" y="11826"/>
                </a:lnTo>
                <a:lnTo>
                  <a:pt x="10901" y="1582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4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滚雪球</a:t>
            </a:r>
          </a:p>
        </p:txBody>
      </p:sp>
      <p:sp>
        <p:nvSpPr>
          <p:cNvPr id="13" name="CONCEPT-028"/>
          <p:cNvSpPr/>
          <p:nvPr/>
        </p:nvSpPr>
        <p:spPr>
          <a:xfrm>
            <a:off x="557784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33" y="12000"/>
                </a:moveTo>
                <a:cubicBezTo>
                  <a:pt x="5333" y="12736"/>
                  <a:pt x="4736" y="13333"/>
                  <a:pt x="4000" y="13333"/>
                </a:cubicBezTo>
                <a:cubicBezTo>
                  <a:pt x="3264" y="13333"/>
                  <a:pt x="2667" y="12736"/>
                  <a:pt x="2667" y="12000"/>
                </a:cubicBezTo>
                <a:cubicBezTo>
                  <a:pt x="2667" y="11264"/>
                  <a:pt x="3264" y="10667"/>
                  <a:pt x="4000" y="10667"/>
                </a:cubicBezTo>
                <a:cubicBezTo>
                  <a:pt x="4736" y="10667"/>
                  <a:pt x="5333" y="11264"/>
                  <a:pt x="5333" y="12000"/>
                </a:cubicBezTo>
                <a:close/>
                <a:moveTo>
                  <a:pt x="5533" y="12250"/>
                </a:moveTo>
                <a:lnTo>
                  <a:pt x="5467" y="12250"/>
                </a:lnTo>
                <a:lnTo>
                  <a:pt x="5467" y="12700"/>
                </a:lnTo>
                <a:lnTo>
                  <a:pt x="6467" y="12000"/>
                </a:lnTo>
                <a:lnTo>
                  <a:pt x="5467" y="11300"/>
                </a:lnTo>
                <a:lnTo>
                  <a:pt x="5467" y="11750"/>
                </a:lnTo>
                <a:lnTo>
                  <a:pt x="5533" y="11750"/>
                </a:lnTo>
                <a:close/>
                <a:moveTo>
                  <a:pt x="9333" y="12000"/>
                </a:moveTo>
                <a:cubicBezTo>
                  <a:pt x="9333" y="12736"/>
                  <a:pt x="8736" y="13333"/>
                  <a:pt x="8000" y="13333"/>
                </a:cubicBezTo>
                <a:cubicBezTo>
                  <a:pt x="7264" y="13333"/>
                  <a:pt x="6667" y="12736"/>
                  <a:pt x="6667" y="12000"/>
                </a:cubicBezTo>
                <a:cubicBezTo>
                  <a:pt x="6667" y="11264"/>
                  <a:pt x="7264" y="10667"/>
                  <a:pt x="8000" y="10667"/>
                </a:cubicBezTo>
                <a:cubicBezTo>
                  <a:pt x="8736" y="10667"/>
                  <a:pt x="9333" y="11264"/>
                  <a:pt x="9333" y="12000"/>
                </a:cubicBezTo>
                <a:close/>
                <a:moveTo>
                  <a:pt x="9533" y="12250"/>
                </a:moveTo>
                <a:lnTo>
                  <a:pt x="9467" y="12250"/>
                </a:lnTo>
                <a:lnTo>
                  <a:pt x="9467" y="12700"/>
                </a:lnTo>
                <a:lnTo>
                  <a:pt x="10467" y="12000"/>
                </a:lnTo>
                <a:lnTo>
                  <a:pt x="9467" y="11300"/>
                </a:lnTo>
                <a:lnTo>
                  <a:pt x="9467" y="11750"/>
                </a:lnTo>
                <a:lnTo>
                  <a:pt x="9533" y="11750"/>
                </a:lnTo>
                <a:close/>
                <a:moveTo>
                  <a:pt x="13333" y="12000"/>
                </a:moveTo>
                <a:cubicBezTo>
                  <a:pt x="13333" y="12736"/>
                  <a:pt x="12736" y="13333"/>
                  <a:pt x="12000" y="13333"/>
                </a:cubicBezTo>
                <a:cubicBezTo>
                  <a:pt x="11264" y="13333"/>
                  <a:pt x="10667" y="12736"/>
                  <a:pt x="10667" y="12000"/>
                </a:cubicBezTo>
                <a:cubicBezTo>
                  <a:pt x="10667" y="11264"/>
                  <a:pt x="11264" y="10667"/>
                  <a:pt x="12000" y="10667"/>
                </a:cubicBezTo>
                <a:cubicBezTo>
                  <a:pt x="12736" y="10667"/>
                  <a:pt x="13333" y="11264"/>
                  <a:pt x="13333" y="12000"/>
                </a:cubicBezTo>
                <a:close/>
                <a:moveTo>
                  <a:pt x="13533" y="12250"/>
                </a:moveTo>
                <a:lnTo>
                  <a:pt x="13467" y="12250"/>
                </a:lnTo>
                <a:lnTo>
                  <a:pt x="13467" y="12700"/>
                </a:lnTo>
                <a:lnTo>
                  <a:pt x="14467" y="12000"/>
                </a:lnTo>
                <a:lnTo>
                  <a:pt x="13467" y="11300"/>
                </a:lnTo>
                <a:lnTo>
                  <a:pt x="13467" y="11750"/>
                </a:lnTo>
                <a:lnTo>
                  <a:pt x="13533" y="11750"/>
                </a:lnTo>
                <a:close/>
                <a:moveTo>
                  <a:pt x="17333" y="12000"/>
                </a:moveTo>
                <a:cubicBezTo>
                  <a:pt x="17333" y="12736"/>
                  <a:pt x="16736" y="13333"/>
                  <a:pt x="16000" y="13333"/>
                </a:cubicBezTo>
                <a:cubicBezTo>
                  <a:pt x="15264" y="13333"/>
                  <a:pt x="14667" y="12736"/>
                  <a:pt x="14667" y="12000"/>
                </a:cubicBezTo>
                <a:cubicBezTo>
                  <a:pt x="14667" y="11264"/>
                  <a:pt x="15264" y="10667"/>
                  <a:pt x="16000" y="10667"/>
                </a:cubicBezTo>
                <a:cubicBezTo>
                  <a:pt x="16736" y="10667"/>
                  <a:pt x="17333" y="11264"/>
                  <a:pt x="17333" y="12000"/>
                </a:cubicBezTo>
                <a:close/>
                <a:moveTo>
                  <a:pt x="17533" y="12250"/>
                </a:moveTo>
                <a:lnTo>
                  <a:pt x="17467" y="12250"/>
                </a:lnTo>
                <a:lnTo>
                  <a:pt x="17467" y="12700"/>
                </a:lnTo>
                <a:lnTo>
                  <a:pt x="18467" y="12000"/>
                </a:lnTo>
                <a:lnTo>
                  <a:pt x="17467" y="11300"/>
                </a:lnTo>
                <a:lnTo>
                  <a:pt x="17467" y="11750"/>
                </a:lnTo>
                <a:lnTo>
                  <a:pt x="17533" y="11750"/>
                </a:lnTo>
                <a:close/>
                <a:moveTo>
                  <a:pt x="21333" y="12000"/>
                </a:moveTo>
                <a:cubicBezTo>
                  <a:pt x="21333" y="12736"/>
                  <a:pt x="20736" y="13333"/>
                  <a:pt x="20000" y="13333"/>
                </a:cubicBezTo>
                <a:cubicBezTo>
                  <a:pt x="19264" y="13333"/>
                  <a:pt x="18667" y="12736"/>
                  <a:pt x="18667" y="12000"/>
                </a:cubicBezTo>
                <a:cubicBezTo>
                  <a:pt x="18667" y="11264"/>
                  <a:pt x="19264" y="10667"/>
                  <a:pt x="20000" y="10667"/>
                </a:cubicBezTo>
                <a:cubicBezTo>
                  <a:pt x="20736" y="10667"/>
                  <a:pt x="21333" y="11264"/>
                  <a:pt x="21333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连锁反应</a:t>
            </a:r>
          </a:p>
        </p:txBody>
      </p:sp>
      <p:sp>
        <p:nvSpPr>
          <p:cNvPr id="16" name="CONCEPT-029"/>
          <p:cNvSpPr/>
          <p:nvPr/>
        </p:nvSpPr>
        <p:spPr>
          <a:xfrm>
            <a:off x="722376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8000"/>
                </a:moveTo>
                <a:lnTo>
                  <a:pt x="4200" y="8000"/>
                </a:lnTo>
                <a:cubicBezTo>
                  <a:pt x="4310" y="8000"/>
                  <a:pt x="4400" y="8090"/>
                  <a:pt x="4400" y="8200"/>
                </a:cubicBezTo>
                <a:lnTo>
                  <a:pt x="4400" y="20800"/>
                </a:lnTo>
                <a:cubicBezTo>
                  <a:pt x="4400" y="20910"/>
                  <a:pt x="4310" y="21000"/>
                  <a:pt x="4200" y="21000"/>
                </a:cubicBezTo>
                <a:lnTo>
                  <a:pt x="3200" y="21000"/>
                </a:lnTo>
                <a:cubicBezTo>
                  <a:pt x="3090" y="21000"/>
                  <a:pt x="3000" y="20910"/>
                  <a:pt x="3000" y="20800"/>
                </a:cubicBezTo>
                <a:lnTo>
                  <a:pt x="3000" y="8200"/>
                </a:lnTo>
                <a:cubicBezTo>
                  <a:pt x="3000" y="8090"/>
                  <a:pt x="3090" y="8000"/>
                  <a:pt x="3200" y="8000"/>
                </a:cubicBezTo>
                <a:close/>
                <a:moveTo>
                  <a:pt x="5000" y="8000"/>
                </a:moveTo>
                <a:lnTo>
                  <a:pt x="5000" y="21000"/>
                </a:lnTo>
                <a:lnTo>
                  <a:pt x="8000" y="21000"/>
                </a:lnTo>
                <a:lnTo>
                  <a:pt x="8000" y="11000"/>
                </a:lnTo>
                <a:close/>
                <a:moveTo>
                  <a:pt x="8500" y="11000"/>
                </a:moveTo>
                <a:lnTo>
                  <a:pt x="8500" y="21000"/>
                </a:lnTo>
                <a:lnTo>
                  <a:pt x="11500" y="21000"/>
                </a:lnTo>
                <a:lnTo>
                  <a:pt x="11500" y="14000"/>
                </a:lnTo>
                <a:close/>
                <a:moveTo>
                  <a:pt x="12000" y="14000"/>
                </a:moveTo>
                <a:lnTo>
                  <a:pt x="12000" y="21000"/>
                </a:lnTo>
                <a:lnTo>
                  <a:pt x="15000" y="21000"/>
                </a:lnTo>
                <a:lnTo>
                  <a:pt x="15000" y="17000"/>
                </a:lnTo>
                <a:close/>
                <a:moveTo>
                  <a:pt x="15500" y="17000"/>
                </a:moveTo>
                <a:lnTo>
                  <a:pt x="15500" y="21000"/>
                </a:lnTo>
                <a:lnTo>
                  <a:pt x="18500" y="21000"/>
                </a:lnTo>
                <a:lnTo>
                  <a:pt x="18500" y="19000"/>
                </a:lnTo>
                <a:close/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多米诺效应</a:t>
            </a:r>
          </a:p>
        </p:txBody>
      </p:sp>
      <p:sp>
        <p:nvSpPr>
          <p:cNvPr id="19" name="CONCEPT-030"/>
          <p:cNvSpPr/>
          <p:nvPr/>
        </p:nvSpPr>
        <p:spPr>
          <a:xfrm>
            <a:off x="8869680" y="137160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7000"/>
                </a:moveTo>
                <a:lnTo>
                  <a:pt x="9000" y="7000"/>
                </a:lnTo>
                <a:lnTo>
                  <a:pt x="11000" y="17000"/>
                </a:lnTo>
                <a:lnTo>
                  <a:pt x="14000" y="7000"/>
                </a:lnTo>
                <a:lnTo>
                  <a:pt x="21000" y="7000"/>
                </a:lnTo>
                <a:moveTo>
                  <a:pt x="3000" y="7500"/>
                </a:moveTo>
                <a:lnTo>
                  <a:pt x="9000" y="7500"/>
                </a:lnTo>
                <a:lnTo>
                  <a:pt x="9000" y="6500"/>
                </a:lnTo>
                <a:lnTo>
                  <a:pt x="3000" y="6500"/>
                </a:lnTo>
                <a:close/>
                <a:moveTo>
                  <a:pt x="8510" y="7098"/>
                </a:moveTo>
                <a:lnTo>
                  <a:pt x="10510" y="17098"/>
                </a:lnTo>
                <a:lnTo>
                  <a:pt x="11490" y="16902"/>
                </a:lnTo>
                <a:lnTo>
                  <a:pt x="9490" y="6902"/>
                </a:lnTo>
                <a:close/>
                <a:moveTo>
                  <a:pt x="11479" y="17144"/>
                </a:moveTo>
                <a:lnTo>
                  <a:pt x="14479" y="7144"/>
                </a:lnTo>
                <a:lnTo>
                  <a:pt x="13521" y="6856"/>
                </a:lnTo>
                <a:lnTo>
                  <a:pt x="10521" y="16856"/>
                </a:lnTo>
                <a:close/>
                <a:moveTo>
                  <a:pt x="14000" y="7500"/>
                </a:moveTo>
                <a:lnTo>
                  <a:pt x="21000" y="7500"/>
                </a:lnTo>
                <a:lnTo>
                  <a:pt x="21000" y="6500"/>
                </a:lnTo>
                <a:lnTo>
                  <a:pt x="14000" y="6500"/>
                </a:lnTo>
                <a:close/>
                <a:moveTo>
                  <a:pt x="12000" y="17000"/>
                </a:moveTo>
                <a:cubicBezTo>
                  <a:pt x="12000" y="17552"/>
                  <a:pt x="11552" y="18000"/>
                  <a:pt x="11000" y="18000"/>
                </a:cubicBezTo>
                <a:cubicBezTo>
                  <a:pt x="10448" y="18000"/>
                  <a:pt x="10000" y="17552"/>
                  <a:pt x="10000" y="17000"/>
                </a:cubicBezTo>
                <a:cubicBezTo>
                  <a:pt x="10000" y="16448"/>
                  <a:pt x="10448" y="16000"/>
                  <a:pt x="11000" y="16000"/>
                </a:cubicBezTo>
                <a:cubicBezTo>
                  <a:pt x="11552" y="16000"/>
                  <a:pt x="12000" y="16448"/>
                  <a:pt x="120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0" y="2488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韧性反弹</a:t>
            </a:r>
          </a:p>
        </p:txBody>
      </p:sp>
      <p:sp>
        <p:nvSpPr>
          <p:cNvPr id="22" name="CONCEPT-031"/>
          <p:cNvSpPr/>
          <p:nvPr/>
        </p:nvSpPr>
        <p:spPr>
          <a:xfrm>
            <a:off x="6400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2000"/>
                </a:moveTo>
                <a:lnTo>
                  <a:pt x="7000" y="13000"/>
                </a:lnTo>
                <a:lnTo>
                  <a:pt x="9000" y="19000"/>
                </a:lnTo>
                <a:lnTo>
                  <a:pt x="13000" y="6000"/>
                </a:lnTo>
                <a:lnTo>
                  <a:pt x="17000" y="11000"/>
                </a:lnTo>
                <a:lnTo>
                  <a:pt x="21000" y="4000"/>
                </a:lnTo>
                <a:moveTo>
                  <a:pt x="2879" y="12485"/>
                </a:moveTo>
                <a:lnTo>
                  <a:pt x="6879" y="13485"/>
                </a:lnTo>
                <a:lnTo>
                  <a:pt x="7121" y="12515"/>
                </a:lnTo>
                <a:lnTo>
                  <a:pt x="3121" y="11515"/>
                </a:lnTo>
                <a:close/>
                <a:moveTo>
                  <a:pt x="6526" y="13158"/>
                </a:moveTo>
                <a:lnTo>
                  <a:pt x="8526" y="19158"/>
                </a:lnTo>
                <a:lnTo>
                  <a:pt x="9474" y="18842"/>
                </a:lnTo>
                <a:lnTo>
                  <a:pt x="7474" y="12842"/>
                </a:lnTo>
                <a:close/>
                <a:moveTo>
                  <a:pt x="9478" y="19147"/>
                </a:moveTo>
                <a:lnTo>
                  <a:pt x="13478" y="6147"/>
                </a:lnTo>
                <a:lnTo>
                  <a:pt x="12522" y="5853"/>
                </a:lnTo>
                <a:lnTo>
                  <a:pt x="8522" y="18853"/>
                </a:lnTo>
                <a:close/>
                <a:moveTo>
                  <a:pt x="12610" y="6312"/>
                </a:moveTo>
                <a:lnTo>
                  <a:pt x="16610" y="11312"/>
                </a:lnTo>
                <a:lnTo>
                  <a:pt x="17390" y="10688"/>
                </a:lnTo>
                <a:lnTo>
                  <a:pt x="13390" y="5688"/>
                </a:lnTo>
                <a:close/>
                <a:moveTo>
                  <a:pt x="17434" y="11248"/>
                </a:moveTo>
                <a:lnTo>
                  <a:pt x="21434" y="4248"/>
                </a:lnTo>
                <a:lnTo>
                  <a:pt x="20566" y="3752"/>
                </a:lnTo>
                <a:lnTo>
                  <a:pt x="16566" y="10752"/>
                </a:lnTo>
                <a:close/>
                <a:moveTo>
                  <a:pt x="21000" y="2600"/>
                </a:moveTo>
                <a:lnTo>
                  <a:pt x="21283" y="3717"/>
                </a:lnTo>
                <a:lnTo>
                  <a:pt x="22400" y="4000"/>
                </a:lnTo>
                <a:lnTo>
                  <a:pt x="21283" y="4283"/>
                </a:lnTo>
                <a:lnTo>
                  <a:pt x="21000" y="5400"/>
                </a:lnTo>
                <a:lnTo>
                  <a:pt x="20717" y="4283"/>
                </a:lnTo>
                <a:lnTo>
                  <a:pt x="19600" y="4000"/>
                </a:lnTo>
                <a:lnTo>
                  <a:pt x="20717" y="37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反脆弱</a:t>
            </a:r>
          </a:p>
        </p:txBody>
      </p:sp>
      <p:sp>
        <p:nvSpPr>
          <p:cNvPr id="25" name="CONCEPT-032"/>
          <p:cNvSpPr/>
          <p:nvPr/>
        </p:nvSpPr>
        <p:spPr>
          <a:xfrm>
            <a:off x="228600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21700"/>
                </a:moveTo>
                <a:lnTo>
                  <a:pt x="9600" y="21700"/>
                </a:lnTo>
                <a:lnTo>
                  <a:pt x="9600" y="22700"/>
                </a:lnTo>
                <a:lnTo>
                  <a:pt x="12000" y="21000"/>
                </a:lnTo>
                <a:lnTo>
                  <a:pt x="9600" y="19300"/>
                </a:lnTo>
                <a:lnTo>
                  <a:pt x="9600" y="20300"/>
                </a:lnTo>
                <a:lnTo>
                  <a:pt x="3000" y="20300"/>
                </a:lnTo>
                <a:close/>
                <a:moveTo>
                  <a:pt x="12700" y="16000"/>
                </a:moveTo>
                <a:lnTo>
                  <a:pt x="12700" y="6400"/>
                </a:lnTo>
                <a:lnTo>
                  <a:pt x="13700" y="6400"/>
                </a:lnTo>
                <a:lnTo>
                  <a:pt x="12000" y="4000"/>
                </a:lnTo>
                <a:lnTo>
                  <a:pt x="10300" y="6400"/>
                </a:lnTo>
                <a:lnTo>
                  <a:pt x="11300" y="6400"/>
                </a:lnTo>
                <a:lnTo>
                  <a:pt x="11300" y="16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0312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战略转向</a:t>
            </a:r>
          </a:p>
        </p:txBody>
      </p:sp>
      <p:sp>
        <p:nvSpPr>
          <p:cNvPr id="28" name="CONCEPT-033"/>
          <p:cNvSpPr/>
          <p:nvPr/>
        </p:nvSpPr>
        <p:spPr>
          <a:xfrm>
            <a:off x="393192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9000"/>
                </a:moveTo>
                <a:lnTo>
                  <a:pt x="8000" y="18000"/>
                </a:lnTo>
                <a:lnTo>
                  <a:pt x="12000" y="17000"/>
                </a:lnTo>
                <a:lnTo>
                  <a:pt x="12000" y="17000"/>
                </a:lnTo>
                <a:lnTo>
                  <a:pt x="15000" y="11000"/>
                </a:lnTo>
                <a:lnTo>
                  <a:pt x="19000" y="4000"/>
                </a:lnTo>
                <a:moveTo>
                  <a:pt x="3098" y="19490"/>
                </a:moveTo>
                <a:lnTo>
                  <a:pt x="8098" y="18490"/>
                </a:lnTo>
                <a:lnTo>
                  <a:pt x="7902" y="17510"/>
                </a:lnTo>
                <a:lnTo>
                  <a:pt x="2902" y="18510"/>
                </a:lnTo>
                <a:close/>
                <a:moveTo>
                  <a:pt x="8121" y="18485"/>
                </a:moveTo>
                <a:lnTo>
                  <a:pt x="12121" y="17485"/>
                </a:lnTo>
                <a:lnTo>
                  <a:pt x="11879" y="16515"/>
                </a:lnTo>
                <a:lnTo>
                  <a:pt x="7879" y="17515"/>
                </a:lnTo>
                <a:close/>
                <a:moveTo>
                  <a:pt x="12447" y="17224"/>
                </a:moveTo>
                <a:lnTo>
                  <a:pt x="15447" y="11224"/>
                </a:lnTo>
                <a:lnTo>
                  <a:pt x="14553" y="10776"/>
                </a:lnTo>
                <a:lnTo>
                  <a:pt x="11553" y="16776"/>
                </a:lnTo>
                <a:close/>
                <a:moveTo>
                  <a:pt x="15434" y="11248"/>
                </a:moveTo>
                <a:lnTo>
                  <a:pt x="19434" y="4248"/>
                </a:lnTo>
                <a:lnTo>
                  <a:pt x="18566" y="3752"/>
                </a:lnTo>
                <a:lnTo>
                  <a:pt x="14566" y="10752"/>
                </a:lnTo>
                <a:close/>
                <a:moveTo>
                  <a:pt x="13600" y="17000"/>
                </a:moveTo>
                <a:cubicBezTo>
                  <a:pt x="13600" y="17884"/>
                  <a:pt x="12884" y="18600"/>
                  <a:pt x="12000" y="18600"/>
                </a:cubicBezTo>
                <a:cubicBezTo>
                  <a:pt x="11116" y="18600"/>
                  <a:pt x="10400" y="17884"/>
                  <a:pt x="10400" y="17000"/>
                </a:cubicBezTo>
                <a:cubicBezTo>
                  <a:pt x="10400" y="16116"/>
                  <a:pt x="11116" y="15400"/>
                  <a:pt x="12000" y="15400"/>
                </a:cubicBezTo>
                <a:cubicBezTo>
                  <a:pt x="12884" y="15400"/>
                  <a:pt x="13600" y="16116"/>
                  <a:pt x="136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4904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拐点</a:t>
            </a:r>
          </a:p>
        </p:txBody>
      </p:sp>
      <p:sp>
        <p:nvSpPr>
          <p:cNvPr id="31" name="CONCEPT-034"/>
          <p:cNvSpPr/>
          <p:nvPr/>
        </p:nvSpPr>
        <p:spPr>
          <a:xfrm>
            <a:off x="557784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2400"/>
                </a:moveTo>
                <a:lnTo>
                  <a:pt x="8600" y="12400"/>
                </a:lnTo>
                <a:lnTo>
                  <a:pt x="8600" y="13000"/>
                </a:lnTo>
                <a:lnTo>
                  <a:pt x="10000" y="12000"/>
                </a:lnTo>
                <a:lnTo>
                  <a:pt x="8600" y="11000"/>
                </a:lnTo>
                <a:lnTo>
                  <a:pt x="8600" y="11600"/>
                </a:lnTo>
                <a:lnTo>
                  <a:pt x="2000" y="11600"/>
                </a:lnTo>
                <a:close/>
                <a:moveTo>
                  <a:pt x="10252" y="12432"/>
                </a:moveTo>
                <a:lnTo>
                  <a:pt x="22252" y="5432"/>
                </a:lnTo>
                <a:lnTo>
                  <a:pt x="21748" y="4568"/>
                </a:lnTo>
                <a:lnTo>
                  <a:pt x="9748" y="11568"/>
                </a:lnTo>
                <a:close/>
                <a:moveTo>
                  <a:pt x="20000" y="4000"/>
                </a:moveTo>
                <a:lnTo>
                  <a:pt x="22000" y="5000"/>
                </a:lnTo>
                <a:lnTo>
                  <a:pt x="20000" y="6500"/>
                </a:lnTo>
                <a:close/>
                <a:moveTo>
                  <a:pt x="9748" y="12432"/>
                </a:moveTo>
                <a:lnTo>
                  <a:pt x="21748" y="19432"/>
                </a:lnTo>
                <a:lnTo>
                  <a:pt x="22252" y="18568"/>
                </a:lnTo>
                <a:lnTo>
                  <a:pt x="10252" y="11568"/>
                </a:lnTo>
                <a:close/>
                <a:moveTo>
                  <a:pt x="20000" y="18000"/>
                </a:moveTo>
                <a:lnTo>
                  <a:pt x="22000" y="19000"/>
                </a:lnTo>
                <a:lnTo>
                  <a:pt x="20000" y="20500"/>
                </a:lnTo>
                <a:close/>
                <a:moveTo>
                  <a:pt x="11400" y="12000"/>
                </a:moveTo>
                <a:cubicBezTo>
                  <a:pt x="11400" y="12773"/>
                  <a:pt x="10773" y="13400"/>
                  <a:pt x="10000" y="13400"/>
                </a:cubicBezTo>
                <a:cubicBezTo>
                  <a:pt x="9227" y="13400"/>
                  <a:pt x="8600" y="12773"/>
                  <a:pt x="8600" y="12000"/>
                </a:cubicBezTo>
                <a:cubicBezTo>
                  <a:pt x="8600" y="11227"/>
                  <a:pt x="9227" y="10600"/>
                  <a:pt x="10000" y="10600"/>
                </a:cubicBezTo>
                <a:cubicBezTo>
                  <a:pt x="10773" y="10600"/>
                  <a:pt x="11400" y="11227"/>
                  <a:pt x="114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路径分叉</a:t>
            </a:r>
          </a:p>
        </p:txBody>
      </p:sp>
      <p:sp>
        <p:nvSpPr>
          <p:cNvPr id="34" name="CONCEPT-035"/>
          <p:cNvSpPr/>
          <p:nvPr/>
        </p:nvSpPr>
        <p:spPr>
          <a:xfrm>
            <a:off x="722376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54" y="5316"/>
                </a:moveTo>
                <a:lnTo>
                  <a:pt x="9649" y="11456"/>
                </a:lnTo>
                <a:lnTo>
                  <a:pt x="9281" y="11930"/>
                </a:lnTo>
                <a:lnTo>
                  <a:pt x="11000" y="12000"/>
                </a:lnTo>
                <a:lnTo>
                  <a:pt x="10509" y="10351"/>
                </a:lnTo>
                <a:lnTo>
                  <a:pt x="10140" y="10825"/>
                </a:lnTo>
                <a:lnTo>
                  <a:pt x="2246" y="4684"/>
                </a:lnTo>
                <a:close/>
                <a:moveTo>
                  <a:pt x="2246" y="19316"/>
                </a:moveTo>
                <a:lnTo>
                  <a:pt x="10140" y="13175"/>
                </a:lnTo>
                <a:lnTo>
                  <a:pt x="10509" y="13649"/>
                </a:lnTo>
                <a:lnTo>
                  <a:pt x="11000" y="12000"/>
                </a:lnTo>
                <a:lnTo>
                  <a:pt x="9281" y="12070"/>
                </a:lnTo>
                <a:lnTo>
                  <a:pt x="9649" y="12544"/>
                </a:lnTo>
                <a:lnTo>
                  <a:pt x="1754" y="18684"/>
                </a:lnTo>
                <a:close/>
                <a:moveTo>
                  <a:pt x="11000" y="12500"/>
                </a:moveTo>
                <a:lnTo>
                  <a:pt x="20400" y="12500"/>
                </a:lnTo>
                <a:lnTo>
                  <a:pt x="20400" y="13200"/>
                </a:lnTo>
                <a:lnTo>
                  <a:pt x="22000" y="12000"/>
                </a:lnTo>
                <a:lnTo>
                  <a:pt x="20400" y="10800"/>
                </a:lnTo>
                <a:lnTo>
                  <a:pt x="20400" y="11500"/>
                </a:lnTo>
                <a:lnTo>
                  <a:pt x="11000" y="11500"/>
                </a:lnTo>
                <a:close/>
                <a:moveTo>
                  <a:pt x="12600" y="12000"/>
                </a:moveTo>
                <a:cubicBezTo>
                  <a:pt x="12600" y="12884"/>
                  <a:pt x="11884" y="13600"/>
                  <a:pt x="11000" y="13600"/>
                </a:cubicBezTo>
                <a:cubicBezTo>
                  <a:pt x="10116" y="13600"/>
                  <a:pt x="9400" y="12884"/>
                  <a:pt x="9400" y="12000"/>
                </a:cubicBezTo>
                <a:cubicBezTo>
                  <a:pt x="9400" y="11116"/>
                  <a:pt x="10116" y="10400"/>
                  <a:pt x="11000" y="10400"/>
                </a:cubicBezTo>
                <a:cubicBezTo>
                  <a:pt x="11884" y="10400"/>
                  <a:pt x="12600" y="11116"/>
                  <a:pt x="126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收敛汇聚</a:t>
            </a:r>
          </a:p>
        </p:txBody>
      </p:sp>
      <p:sp>
        <p:nvSpPr>
          <p:cNvPr id="37" name="CONCEPT-036"/>
          <p:cNvSpPr/>
          <p:nvPr/>
        </p:nvSpPr>
        <p:spPr>
          <a:xfrm>
            <a:off x="8869680" y="310896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14000"/>
                </a:moveTo>
                <a:lnTo>
                  <a:pt x="11000" y="13000"/>
                </a:lnTo>
                <a:lnTo>
                  <a:pt x="11000" y="13000"/>
                </a:lnTo>
                <a:lnTo>
                  <a:pt x="13000" y="4000"/>
                </a:lnTo>
                <a:lnTo>
                  <a:pt x="21000" y="4000"/>
                </a:lnTo>
                <a:moveTo>
                  <a:pt x="3062" y="14496"/>
                </a:moveTo>
                <a:lnTo>
                  <a:pt x="11062" y="13496"/>
                </a:lnTo>
                <a:lnTo>
                  <a:pt x="10938" y="12504"/>
                </a:lnTo>
                <a:lnTo>
                  <a:pt x="2938" y="13504"/>
                </a:lnTo>
                <a:close/>
                <a:moveTo>
                  <a:pt x="11488" y="13108"/>
                </a:moveTo>
                <a:lnTo>
                  <a:pt x="13488" y="4108"/>
                </a:lnTo>
                <a:lnTo>
                  <a:pt x="12512" y="3892"/>
                </a:lnTo>
                <a:lnTo>
                  <a:pt x="10512" y="12892"/>
                </a:lnTo>
                <a:close/>
                <a:moveTo>
                  <a:pt x="13000" y="4500"/>
                </a:moveTo>
                <a:lnTo>
                  <a:pt x="21000" y="4500"/>
                </a:lnTo>
                <a:lnTo>
                  <a:pt x="21000" y="3500"/>
                </a:lnTo>
                <a:lnTo>
                  <a:pt x="13000" y="3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0" y="422624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3484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平台突破</a:t>
            </a:r>
          </a:p>
        </p:txBody>
      </p:sp>
      <p:sp>
        <p:nvSpPr>
          <p:cNvPr id="40" name="CONCEPT-037"/>
          <p:cNvSpPr/>
          <p:nvPr/>
        </p:nvSpPr>
        <p:spPr>
          <a:xfrm>
            <a:off x="64008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4000"/>
                </a:moveTo>
                <a:lnTo>
                  <a:pt x="21800" y="4000"/>
                </a:lnTo>
                <a:cubicBezTo>
                  <a:pt x="21910" y="4000"/>
                  <a:pt x="22000" y="4090"/>
                  <a:pt x="22000" y="4200"/>
                </a:cubicBezTo>
                <a:lnTo>
                  <a:pt x="22000" y="4800"/>
                </a:lnTo>
                <a:cubicBezTo>
                  <a:pt x="22000" y="4910"/>
                  <a:pt x="21910" y="5000"/>
                  <a:pt x="21800" y="5000"/>
                </a:cubicBezTo>
                <a:lnTo>
                  <a:pt x="2200" y="5000"/>
                </a:lnTo>
                <a:cubicBezTo>
                  <a:pt x="2090" y="5000"/>
                  <a:pt x="2000" y="4910"/>
                  <a:pt x="2000" y="4800"/>
                </a:cubicBezTo>
                <a:lnTo>
                  <a:pt x="2000" y="4200"/>
                </a:lnTo>
                <a:cubicBezTo>
                  <a:pt x="2000" y="4090"/>
                  <a:pt x="2090" y="4000"/>
                  <a:pt x="2200" y="4000"/>
                </a:cubicBezTo>
                <a:close/>
                <a:moveTo>
                  <a:pt x="2200" y="19000"/>
                </a:moveTo>
                <a:lnTo>
                  <a:pt x="21800" y="19000"/>
                </a:lnTo>
                <a:cubicBezTo>
                  <a:pt x="21910" y="19000"/>
                  <a:pt x="22000" y="19090"/>
                  <a:pt x="22000" y="19200"/>
                </a:cubicBezTo>
                <a:lnTo>
                  <a:pt x="22000" y="19800"/>
                </a:lnTo>
                <a:cubicBezTo>
                  <a:pt x="22000" y="19910"/>
                  <a:pt x="21910" y="20000"/>
                  <a:pt x="21800" y="20000"/>
                </a:cubicBezTo>
                <a:lnTo>
                  <a:pt x="2200" y="20000"/>
                </a:lnTo>
                <a:cubicBezTo>
                  <a:pt x="2090" y="20000"/>
                  <a:pt x="2000" y="19910"/>
                  <a:pt x="2000" y="19800"/>
                </a:cubicBezTo>
                <a:lnTo>
                  <a:pt x="2000" y="19200"/>
                </a:lnTo>
                <a:cubicBezTo>
                  <a:pt x="2000" y="19090"/>
                  <a:pt x="2090" y="19000"/>
                  <a:pt x="2200" y="19000"/>
                </a:cubicBezTo>
                <a:close/>
                <a:moveTo>
                  <a:pt x="3000" y="16000"/>
                </a:moveTo>
                <a:quadBezTo>
                  <a:pt x="6000" y="14000"/>
                  <a:pt x="9000" y="11000"/>
                </a:quadBezTo>
                <a:quadBezTo>
                  <a:pt x="12000" y="8000"/>
                  <a:pt x="15000" y="9000"/>
                </a:quadBezTo>
                <a:quadBezTo>
                  <a:pt x="18000" y="10000"/>
                  <a:pt x="21000" y="6000"/>
                </a:quadBezTo>
                <a:moveTo>
                  <a:pt x="3320" y="16384"/>
                </a:moveTo>
                <a:lnTo>
                  <a:pt x="9320" y="11384"/>
                </a:lnTo>
                <a:lnTo>
                  <a:pt x="8680" y="10616"/>
                </a:lnTo>
                <a:lnTo>
                  <a:pt x="2680" y="15616"/>
                </a:lnTo>
                <a:close/>
                <a:moveTo>
                  <a:pt x="9158" y="11474"/>
                </a:moveTo>
                <a:lnTo>
                  <a:pt x="15158" y="9474"/>
                </a:lnTo>
                <a:lnTo>
                  <a:pt x="14842" y="8526"/>
                </a:lnTo>
                <a:lnTo>
                  <a:pt x="8842" y="10526"/>
                </a:lnTo>
                <a:close/>
                <a:moveTo>
                  <a:pt x="15224" y="9447"/>
                </a:moveTo>
                <a:lnTo>
                  <a:pt x="21224" y="6447"/>
                </a:lnTo>
                <a:lnTo>
                  <a:pt x="20776" y="5553"/>
                </a:lnTo>
                <a:lnTo>
                  <a:pt x="14776" y="855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天花板地板</a:t>
            </a:r>
          </a:p>
        </p:txBody>
      </p:sp>
      <p:sp>
        <p:nvSpPr>
          <p:cNvPr id="43" name="CONCEPT-038"/>
          <p:cNvSpPr/>
          <p:nvPr/>
        </p:nvSpPr>
        <p:spPr>
          <a:xfrm>
            <a:off x="228600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9000"/>
                </a:moveTo>
                <a:cubicBezTo>
                  <a:pt x="5000" y="12000"/>
                  <a:pt x="7000" y="18000"/>
                  <a:pt x="11000" y="18000"/>
                </a:cubicBezTo>
                <a:cubicBezTo>
                  <a:pt x="17000" y="18000"/>
                  <a:pt x="19000" y="8000"/>
                  <a:pt x="21000" y="3000"/>
                </a:cubicBezTo>
                <a:moveTo>
                  <a:pt x="2553" y="9224"/>
                </a:moveTo>
                <a:lnTo>
                  <a:pt x="4553" y="13224"/>
                </a:lnTo>
                <a:lnTo>
                  <a:pt x="5447" y="12776"/>
                </a:lnTo>
                <a:lnTo>
                  <a:pt x="3447" y="8776"/>
                </a:lnTo>
                <a:close/>
                <a:moveTo>
                  <a:pt x="4600" y="13300"/>
                </a:moveTo>
                <a:lnTo>
                  <a:pt x="7600" y="17300"/>
                </a:lnTo>
                <a:lnTo>
                  <a:pt x="8400" y="16700"/>
                </a:lnTo>
                <a:lnTo>
                  <a:pt x="5400" y="12700"/>
                </a:lnTo>
                <a:close/>
                <a:moveTo>
                  <a:pt x="7879" y="17485"/>
                </a:moveTo>
                <a:lnTo>
                  <a:pt x="11879" y="18485"/>
                </a:lnTo>
                <a:lnTo>
                  <a:pt x="12121" y="17515"/>
                </a:lnTo>
                <a:lnTo>
                  <a:pt x="8121" y="16515"/>
                </a:lnTo>
                <a:close/>
                <a:moveTo>
                  <a:pt x="12354" y="18354"/>
                </a:moveTo>
                <a:lnTo>
                  <a:pt x="16354" y="14354"/>
                </a:lnTo>
                <a:lnTo>
                  <a:pt x="15646" y="13646"/>
                </a:lnTo>
                <a:lnTo>
                  <a:pt x="11646" y="17646"/>
                </a:lnTo>
                <a:close/>
                <a:moveTo>
                  <a:pt x="16447" y="14224"/>
                </a:moveTo>
                <a:lnTo>
                  <a:pt x="19447" y="8224"/>
                </a:lnTo>
                <a:lnTo>
                  <a:pt x="18553" y="7776"/>
                </a:lnTo>
                <a:lnTo>
                  <a:pt x="15553" y="13776"/>
                </a:lnTo>
                <a:close/>
                <a:moveTo>
                  <a:pt x="19464" y="8186"/>
                </a:moveTo>
                <a:lnTo>
                  <a:pt x="21464" y="3186"/>
                </a:lnTo>
                <a:lnTo>
                  <a:pt x="20536" y="2814"/>
                </a:lnTo>
                <a:lnTo>
                  <a:pt x="18536" y="781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10312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J曲线</a:t>
            </a:r>
          </a:p>
        </p:txBody>
      </p:sp>
      <p:sp>
        <p:nvSpPr>
          <p:cNvPr id="46" name="CONCEPT-039"/>
          <p:cNvSpPr/>
          <p:nvPr/>
        </p:nvSpPr>
        <p:spPr>
          <a:xfrm>
            <a:off x="393192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3000" y="5000"/>
                </a:moveTo>
                <a:cubicBezTo>
                  <a:pt x="5000" y="8000"/>
                  <a:pt x="7000" y="18000"/>
                  <a:pt x="12000" y="18000"/>
                </a:cubicBezTo>
                <a:cubicBezTo>
                  <a:pt x="17000" y="18000"/>
                  <a:pt x="19000" y="8000"/>
                  <a:pt x="21000" y="5000"/>
                </a:cubicBezTo>
                <a:moveTo>
                  <a:pt x="2540" y="5197"/>
                </a:moveTo>
                <a:lnTo>
                  <a:pt x="5540" y="12197"/>
                </a:lnTo>
                <a:lnTo>
                  <a:pt x="6460" y="11803"/>
                </a:lnTo>
                <a:lnTo>
                  <a:pt x="3460" y="4803"/>
                </a:lnTo>
                <a:close/>
                <a:moveTo>
                  <a:pt x="5571" y="12257"/>
                </a:moveTo>
                <a:lnTo>
                  <a:pt x="8571" y="17257"/>
                </a:lnTo>
                <a:lnTo>
                  <a:pt x="9429" y="16743"/>
                </a:lnTo>
                <a:lnTo>
                  <a:pt x="6429" y="11743"/>
                </a:lnTo>
                <a:close/>
                <a:moveTo>
                  <a:pt x="8842" y="17474"/>
                </a:moveTo>
                <a:lnTo>
                  <a:pt x="11842" y="18474"/>
                </a:lnTo>
                <a:lnTo>
                  <a:pt x="12158" y="17526"/>
                </a:lnTo>
                <a:lnTo>
                  <a:pt x="9158" y="16526"/>
                </a:lnTo>
                <a:close/>
                <a:moveTo>
                  <a:pt x="12158" y="18474"/>
                </a:moveTo>
                <a:lnTo>
                  <a:pt x="15158" y="17474"/>
                </a:lnTo>
                <a:lnTo>
                  <a:pt x="14842" y="16526"/>
                </a:lnTo>
                <a:lnTo>
                  <a:pt x="11842" y="17526"/>
                </a:lnTo>
                <a:close/>
                <a:moveTo>
                  <a:pt x="15429" y="17257"/>
                </a:moveTo>
                <a:lnTo>
                  <a:pt x="18429" y="12257"/>
                </a:lnTo>
                <a:lnTo>
                  <a:pt x="17571" y="11743"/>
                </a:lnTo>
                <a:lnTo>
                  <a:pt x="14571" y="16743"/>
                </a:lnTo>
                <a:close/>
                <a:moveTo>
                  <a:pt x="18460" y="12197"/>
                </a:moveTo>
                <a:lnTo>
                  <a:pt x="21460" y="5197"/>
                </a:lnTo>
                <a:lnTo>
                  <a:pt x="20540" y="4803"/>
                </a:lnTo>
                <a:lnTo>
                  <a:pt x="17540" y="1180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U曲线</a:t>
            </a:r>
          </a:p>
        </p:txBody>
      </p:sp>
      <p:sp>
        <p:nvSpPr>
          <p:cNvPr id="49" name="CONCEPT-040"/>
          <p:cNvSpPr/>
          <p:nvPr/>
        </p:nvSpPr>
        <p:spPr>
          <a:xfrm>
            <a:off x="5577840" y="4846320"/>
            <a:ext cx="1097280" cy="10972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20800"/>
                </a:moveTo>
                <a:cubicBezTo>
                  <a:pt x="9000" y="20800"/>
                  <a:pt x="15000" y="4800"/>
                  <a:pt x="21000" y="4800"/>
                </a:cubicBezTo>
                <a:lnTo>
                  <a:pt x="21000" y="3200"/>
                </a:lnTo>
                <a:cubicBezTo>
                  <a:pt x="15000" y="3200"/>
                  <a:pt x="9000" y="19200"/>
                  <a:pt x="3000" y="19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94960" y="59636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4E79"/>
                </a:solidFill>
              </a:rPr>
              <a:t>CONCEPT-040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1722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2D3748"/>
                </a:solidFill>
              </a:rPr>
              <a:t>逻辑斯蒂曲线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