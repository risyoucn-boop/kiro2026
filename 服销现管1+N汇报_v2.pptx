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8640000" cy="97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40000" cy="396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0" y="3060000"/>
            <a:ext cx="2880000" cy="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0" y="3204000"/>
            <a:ext cx="1440000" cy="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540000"/>
            <a:ext cx="7200000" cy="36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Arial"/>
              </a:rPr>
              <a:t>PING AN  ·  客服中心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7200000" cy="93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</a:rPr>
              <a:t>服销现管 1+N 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7200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Microsoft YaHei"/>
                <a:ea typeface="Microsoft YaHei"/>
              </a:rPr>
              <a:t>总公司汇报材料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66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736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从「流程视角」重构为「职能视角」 —— 让团队长把时间释放到高价值管理上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500000"/>
            <a:ext cx="7200000" cy="2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4680000"/>
            <a:ext cx="684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本次汇报核心叙事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5112000"/>
            <a:ext cx="2160000" cy="216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5256000"/>
            <a:ext cx="216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3200" b="1" i="0">
                <a:solidFill>
                  <a:srgbClr val="FF6F00"/>
                </a:solidFill>
                <a:latin typeface="Microsoft YaHei"/>
                <a:ea typeface="Microsoft YaHei"/>
              </a:rPr>
              <a:t>12类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5904000"/>
            <a:ext cx="216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团队长核心职能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6192000"/>
            <a:ext cx="216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按职能拆解，非流程顺序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0" y="5112000"/>
            <a:ext cx="2160000" cy="216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0" y="5256000"/>
            <a:ext cx="216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3200" b="1" i="0">
                <a:solidFill>
                  <a:srgbClr val="FF6F00"/>
                </a:solidFill>
                <a:latin typeface="Microsoft YaHei"/>
                <a:ea typeface="Microsoft YaHei"/>
              </a:rPr>
              <a:t>585min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5904000"/>
            <a:ext cx="216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工作时间结构重塑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0" y="6192000"/>
            <a:ext cx="216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不是减少，而是重塑分布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0000" y="5112000"/>
            <a:ext cx="2160000" cy="216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0000" y="5256000"/>
            <a:ext cx="216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3200" b="1" i="0">
                <a:solidFill>
                  <a:srgbClr val="FF6F00"/>
                </a:solidFill>
                <a:latin typeface="Microsoft YaHei"/>
                <a:ea typeface="Microsoft YaHei"/>
              </a:rPr>
              <a:t>3角色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000" y="5904000"/>
            <a:ext cx="216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现管新定位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0000" y="6192000"/>
            <a:ext cx="216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兜底人 · 情报官 · 训练师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8820000"/>
            <a:ext cx="8640000" cy="90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9000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汇报人：客服中心   |   汇报对象：马董事长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9288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2026年5月  ·  内部材料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核心判断：管理岗按「职能」，作业岗按「流程」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岗位 1+N 与 场景 1+N 的逻辑差异 —— 决定了汇报框架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864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72000" cy="86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296000"/>
            <a:ext cx="7488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桂总核心反馈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548000"/>
            <a:ext cx="7488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</a:rPr>
              <a:t>「1+N」必须区分到底是岗位 1+N 还是场景 1+N。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</a:rPr>
              <a:t>场景按流程（前后步骤）；岗位按职能（核心职责）。团队长是管理岗，应按职能拆。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304000"/>
            <a:ext cx="3744000" cy="251999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2304000"/>
            <a:ext cx="37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✕  原版：「流程视角」（已被否）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555999"/>
            <a:ext cx="3744000" cy="3708001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000" y="273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第一步：早会布达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" y="309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第二步：查邮件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345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第三步：看报表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381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第四步：辅导员工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417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第五步：现场巡检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" y="453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第六步：处理客诉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" y="4896000"/>
            <a:ext cx="3384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○  第七步：晚会复盘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5472000"/>
            <a:ext cx="3384000" cy="612000"/>
          </a:xfrm>
          <a:prstGeom prst="rect">
            <a:avLst/>
          </a:prstGeom>
          <a:solidFill>
            <a:srgbClr val="FF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000" y="5544000"/>
            <a:ext cx="3240001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C82A2A"/>
                </a:solidFill>
                <a:latin typeface="Microsoft YaHei"/>
                <a:ea typeface="Microsoft YaHei"/>
              </a:rPr>
              <a:t>问题：管理岗一天的工作不是线性流程；</a:t>
            </a:r>
          </a:p>
          <a:p>
            <a:pPr algn="l"/>
            <a:r>
              <a:rPr sz="1000" b="1" i="0">
                <a:solidFill>
                  <a:srgbClr val="C82A2A"/>
                </a:solidFill>
                <a:latin typeface="Microsoft YaHei"/>
                <a:ea typeface="Microsoft YaHei"/>
              </a:rPr>
              <a:t>查邮件 / 辅导 / 巡场全天反复发生，无法用步骤表达。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000" y="2304000"/>
            <a:ext cx="3744000" cy="251999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4000" y="2304000"/>
            <a:ext cx="37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✓  新版：「职能视角」（本次重构）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4000" y="2555999"/>
            <a:ext cx="3744000" cy="3708001"/>
          </a:xfrm>
          <a:prstGeom prst="rect">
            <a:avLst/>
          </a:prstGeom>
          <a:solidFill>
            <a:srgbClr val="FFF3E0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4000" y="2736000"/>
            <a:ext cx="3384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●  职能 ①  录音辅导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8000" y="2952000"/>
            <a:ext cx="3384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原 60min → 现 30min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4000" y="3239999"/>
            <a:ext cx="3384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●  职能 ②  现场巡检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8000" y="3455999"/>
            <a:ext cx="3384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原 30min → 现 ≈0min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4000" y="3743999"/>
            <a:ext cx="3384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●  职能 ③  数据分析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8000" y="3959999"/>
            <a:ext cx="3384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尾部自动定位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4000" y="4247999"/>
            <a:ext cx="3384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●  职能 ④  异常改善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8000" y="4463999"/>
            <a:ext cx="3384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系统持续追踪闭环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4751999"/>
            <a:ext cx="3384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●  职能 ⑤  客诉兜底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8000" y="4967999"/>
            <a:ext cx="3384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AI 初筛 + 主管介入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4000" y="5256000"/>
            <a:ext cx="3384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●  职能 ⑥  早晚会等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8000" y="5472000"/>
            <a:ext cx="3384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8 类速览（见 P8）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6480000"/>
            <a:ext cx="7776000" cy="216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000" y="6588000"/>
            <a:ext cx="7776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E05A00"/>
                </a:solidFill>
                <a:latin typeface="Microsoft YaHei"/>
                <a:ea typeface="Microsoft YaHei"/>
              </a:rPr>
              <a:t>汇报框架重构原则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6912000"/>
            <a:ext cx="7776000" cy="54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000" y="6912000"/>
            <a:ext cx="54000" cy="540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000" y="6948000"/>
            <a:ext cx="144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Microsoft YaHei"/>
                <a:ea typeface="Microsoft YaHei"/>
              </a:rPr>
              <a:t>作业型岗位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000" y="7163999"/>
            <a:ext cx="144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财富资金 / 金账户等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60000" y="6948000"/>
            <a:ext cx="2520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Microsoft YaHei"/>
                <a:ea typeface="Microsoft YaHei"/>
              </a:rPr>
              <a:t>→  按「流程」写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0000" y="6948000"/>
            <a:ext cx="3240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前后顺序明确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000" y="7524000"/>
            <a:ext cx="7776000" cy="54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2000" y="7524000"/>
            <a:ext cx="54000" cy="54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000" y="7560000"/>
            <a:ext cx="144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Microsoft YaHei"/>
                <a:ea typeface="Microsoft YaHei"/>
              </a:rPr>
              <a:t>管理型岗位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000" y="7775999"/>
            <a:ext cx="144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团队长 / 现管 / 主管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0000" y="7560000"/>
            <a:ext cx="2520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→  按「职能」写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0000" y="7560000"/>
            <a:ext cx="3240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核心职责并行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团队长一天的 12 类核心职能事项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这些职能在一天中并行 / 反复发生，不是线性流程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46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332000"/>
            <a:ext cx="7560000" cy="36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团队长不是「早→中→晚」按步骤走，而是围绕核心职责反复处理事项。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12 类职能 = 1（核心管理职责）+ N（具体管理事项），是岗位 1+N 的真正含义。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944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944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2088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124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录音辅导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2808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AI 切片 / 问题定位 / 话术提炼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0000" y="1944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0000" y="1944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4000" y="2088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0" y="2124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现场巡检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000" y="2808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机器人自动巡查 / 异常邮件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8000" y="1944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88000" y="1944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2000" y="2088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2124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数据分析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2000" y="2808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服销虾尾部定位 / 开口异议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636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3636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3780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0" y="3816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异常改善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4500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系统持续追踪 / 改善闭环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0000" y="3636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0000" y="3636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4000" y="3780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0000" y="3816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客诉兜底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4000" y="4500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AI 初筛升级 / 主管强交互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8000" y="3636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88000" y="3636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2000" y="3780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8000" y="3816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员工关怀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2000" y="4500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情绪识别 / 一对一面谈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000" y="5328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" y="5328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00" y="5472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000" y="5508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早晚会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" y="6192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AI 自动汇总 / 模板生成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0000" y="5328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0000" y="5328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4000" y="5472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0000" y="5508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邮件处理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4000" y="6192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邮件分类 / 智能摘要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88000" y="5328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88000" y="5328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2000" y="5472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8000" y="5508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排班 / 考勤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32000" y="6192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自动排班 / 异常签到识别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7020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2000" y="7020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00" y="7164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000" y="7200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跨部门沟通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00" y="7884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工单流转 / 智能分发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0000" y="7020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60000" y="7020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4000" y="7164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⑪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0000" y="7200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人才识别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4000" y="7884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绩效画像 / 潜力评估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88000" y="7020000"/>
            <a:ext cx="2520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88000" y="7020000"/>
            <a:ext cx="2520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2000" y="7164000"/>
            <a:ext cx="54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6F00"/>
                </a:solidFill>
                <a:latin typeface="Microsoft YaHei"/>
                <a:ea typeface="Microsoft YaHei"/>
              </a:rPr>
              <a:t>⑫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8000" y="7200000"/>
            <a:ext cx="1800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Microsoft YaHei"/>
                <a:ea typeface="Microsoft YaHei"/>
              </a:rPr>
              <a:t>AI 工具训练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32000" y="7884000"/>
            <a:ext cx="23040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标注反馈 / 模型迭代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000" y="7920000"/>
            <a:ext cx="7776000" cy="90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2000" y="7920000"/>
            <a:ext cx="54000" cy="90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00" y="7992000"/>
            <a:ext cx="756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本次重点拆解 4 类核心职能（P4-P7），其余 8 类速览（P8）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00" y="8280000"/>
            <a:ext cx="7560000" cy="54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每个职能将统一回答四个问题：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①原来怎么做  →  ②痛点 / 耗时  →  ③数字化方案（AI 智能体 / 服销虾 / 平安望）  →  ④提效结果与管理价值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职能 ①  录音辅导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AI 切片 + 问题定位 + 话术提炼，组长拿「结论」做辅导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1296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72000" cy="1296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原耗时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666666"/>
                </a:solidFill>
                <a:latin typeface="Microsoft YaHei"/>
                <a:ea typeface="Microsoft YaHe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分钟 / 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1620000"/>
            <a:ext cx="72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800" b="1" i="0">
                <a:solidFill>
                  <a:srgbClr val="FF6F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E05A00"/>
                </a:solidFill>
                <a:latin typeface="Microsoft YaHei"/>
                <a:ea typeface="Microsoft YaHei"/>
              </a:rPr>
              <a:t>现耗时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FF6F00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分钟 / 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1620000"/>
            <a:ext cx="1620000" cy="57600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0" y="1620000"/>
            <a:ext cx="162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提效显著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2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736000"/>
            <a:ext cx="3744000" cy="432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Microsoft YaHei"/>
                <a:ea typeface="Microsoft YaHei"/>
              </a:rPr>
              <a:t>① 原来怎么做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组长每天人工抽听 1-2 通录音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手工拉数据 / 准备辅导材料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约员工面谈，输出辅导记录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事后再人工追踪改善情况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4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4000" y="2736000"/>
            <a:ext cx="3744000" cy="43200"/>
          </a:xfrm>
          <a:prstGeom prst="rect">
            <a:avLst/>
          </a:prstGeom>
          <a:solidFill>
            <a:srgbClr val="C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82A2A"/>
                </a:solidFill>
                <a:latin typeface="Microsoft YaHei"/>
                <a:ea typeface="Microsoft YaHei"/>
              </a:rPr>
              <a:t>② 当前痛点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整轮 ≈ 60 分钟，挤占核心管理时间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抽样小、问题定位主观、覆盖不全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辅导内容靠经验，话术不一致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改善追踪缺位，闭环弱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2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724000"/>
            <a:ext cx="3744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③ 数字化方案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AI 智能体自动切片全量录音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自动定位问题点（开口 / 异议 / 合规）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自动提炼最佳实践话术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组长直接拿结论 + 切片做面谈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4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4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4000" y="5724000"/>
            <a:ext cx="3744000" cy="43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Microsoft YaHei"/>
                <a:ea typeface="Microsoft YaHei"/>
              </a:rPr>
              <a:t>④ 提效与管理价值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辅导时长压缩 50%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辅导覆盖人数 ↑、抽样从抽样到全量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话术标准化、新人成长曲线变陡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组长精力释放到面谈本身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职能 ②  现场巡检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人肉巡场 → 机器人自动巡查 + 异常邮件实时下发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1296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72000" cy="1296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原耗时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666666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分钟 / 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1620000"/>
            <a:ext cx="72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800" b="1" i="0">
                <a:solidFill>
                  <a:srgbClr val="FF6F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E05A00"/>
                </a:solidFill>
                <a:latin typeface="Microsoft YaHei"/>
                <a:ea typeface="Microsoft YaHei"/>
              </a:rPr>
              <a:t>现耗时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FF6F00"/>
                </a:solidFill>
                <a:latin typeface="Microsoft YaHei"/>
                <a:ea typeface="Microsoft YaHei"/>
              </a:rPr>
              <a:t>≈0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分钟 / 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1620000"/>
            <a:ext cx="1620000" cy="57600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0" y="1620000"/>
            <a:ext cx="162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提效显著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2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736000"/>
            <a:ext cx="3744000" cy="432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Microsoft YaHei"/>
                <a:ea typeface="Microsoft YaHei"/>
              </a:rPr>
              <a:t>① 原来怎么做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组长沿工位走一圈巡查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人工核对签入 / 签出状态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回看过去 1 小时作业效果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发现异常人工口头提醒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4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4000" y="2736000"/>
            <a:ext cx="3744000" cy="43200"/>
          </a:xfrm>
          <a:prstGeom prst="rect">
            <a:avLst/>
          </a:prstGeom>
          <a:solidFill>
            <a:srgbClr val="C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82A2A"/>
                </a:solidFill>
                <a:latin typeface="Microsoft YaHei"/>
                <a:ea typeface="Microsoft YaHei"/>
              </a:rPr>
              <a:t>② 当前痛点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30 分钟 / 轮，且看不全、有死角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异常发现滞后，错过最佳干预窗口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无统一口径，处理依赖经验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无证据留痕，复盘困难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2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724000"/>
            <a:ext cx="3744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③ 数字化方案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机器人自动 7×24 巡检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自动识别签到 / 工位 / 通话异常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邮件实时同步员工 + 组长 + 主管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异常事件自动归档 + 留痕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4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4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4000" y="5724000"/>
            <a:ext cx="3744000" cy="43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Microsoft YaHei"/>
                <a:ea typeface="Microsoft YaHei"/>
              </a:rPr>
              <a:t>④ 提效与管理价值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组长不再「走查」，只处理「异常」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异常响应从小时级 → 分钟级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全量覆盖，无死角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数据沉淀支持后续画像 / 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职能 ③  数据分析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人工看报表 → 服销虾自动尾部定位 + 异议分析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1296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72000" cy="1296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原耗时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666666"/>
                </a:solidFill>
                <a:latin typeface="Microsoft YaHei"/>
                <a:ea typeface="Microsoft YaHei"/>
              </a:rPr>
              <a:t>≈45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分钟 / 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1620000"/>
            <a:ext cx="72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800" b="1" i="0">
                <a:solidFill>
                  <a:srgbClr val="FF6F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E05A00"/>
                </a:solidFill>
                <a:latin typeface="Microsoft YaHei"/>
                <a:ea typeface="Microsoft YaHei"/>
              </a:rPr>
              <a:t>现耗时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FF6F00"/>
                </a:solidFill>
                <a:latin typeface="Microsoft YaHei"/>
                <a:ea typeface="Microsoft YaHei"/>
              </a:rPr>
              <a:t>≈10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分钟 / 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1620000"/>
            <a:ext cx="1620000" cy="57600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0" y="1620000"/>
            <a:ext cx="162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提效显著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2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736000"/>
            <a:ext cx="3744000" cy="432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Microsoft YaHei"/>
                <a:ea typeface="Microsoft YaHei"/>
              </a:rPr>
              <a:t>① 原来怎么做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组长打开多张报表逐个翻看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手工 Excel 透视尾部人员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凭经验判断「问题在哪」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形成结论后再去找员工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4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4000" y="2736000"/>
            <a:ext cx="3744000" cy="43200"/>
          </a:xfrm>
          <a:prstGeom prst="rect">
            <a:avLst/>
          </a:prstGeom>
          <a:solidFill>
            <a:srgbClr val="C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82A2A"/>
                </a:solidFill>
                <a:latin typeface="Microsoft YaHei"/>
                <a:ea typeface="Microsoft YaHei"/>
              </a:rPr>
              <a:t>② 当前痛点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维度浅、对比难、定位慢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尾部判定主观，易误判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开口 / 异议问题靠「听感」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结论难以闭环到下一个动作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2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724000"/>
            <a:ext cx="3744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③ 数字化方案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服销虾自动产出尾部画像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开口问题、异议应对自动归类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结合录音切片定位具体短板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结论自动推送到组长工作台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4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4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4000" y="5724000"/>
            <a:ext cx="3744000" cy="43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Microsoft YaHei"/>
                <a:ea typeface="Microsoft YaHei"/>
              </a:rPr>
              <a:t>④ 提效与管理价值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尾部定位从「猜」到「精准」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辅导对象选择更科学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从「看数据」到「用数据」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为模型迭代持续提供反馈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职能 ④  异常追踪与改善闭环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主管盯人 → 系统持续追踪 + 升级机制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1296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72000" cy="1296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原耗时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666666"/>
                </a:solidFill>
                <a:latin typeface="Microsoft YaHei"/>
                <a:ea typeface="Microsoft YaHei"/>
              </a:rPr>
              <a:t>人工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处理方式升级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1620000"/>
            <a:ext cx="72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800" b="1" i="0">
                <a:solidFill>
                  <a:srgbClr val="FF6F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1368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E05A00"/>
                </a:solidFill>
                <a:latin typeface="Microsoft YaHei"/>
                <a:ea typeface="Microsoft YaHei"/>
              </a:rPr>
              <a:t>现耗时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1620000"/>
            <a:ext cx="2520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FF6F00"/>
                </a:solidFill>
                <a:latin typeface="Microsoft YaHei"/>
                <a:ea typeface="Microsoft YaHei"/>
              </a:rPr>
              <a:t>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0" y="2232000"/>
            <a:ext cx="25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处理方式升级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1620000"/>
            <a:ext cx="1620000" cy="57600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0" y="1620000"/>
            <a:ext cx="1620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提效显著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2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736000"/>
            <a:ext cx="3744000" cy="432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Microsoft YaHei"/>
                <a:ea typeface="Microsoft YaHei"/>
              </a:rPr>
              <a:t>① 原来怎么做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主管发现问题后口头提醒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靠记忆 / 笔记追下一小时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改善与否凭主观判断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未改善时主管再次介入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4000" y="2736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4000" y="2772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4000" y="2736000"/>
            <a:ext cx="3744000" cy="43200"/>
          </a:xfrm>
          <a:prstGeom prst="rect">
            <a:avLst/>
          </a:prstGeom>
          <a:solidFill>
            <a:srgbClr val="C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000" y="2880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82A2A"/>
                </a:solidFill>
                <a:latin typeface="Microsoft YaHei"/>
                <a:ea typeface="Microsoft YaHei"/>
              </a:rPr>
              <a:t>② 当前痛点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000" y="3276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主管精力分散，追踪易遗漏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改善判定无标准，难复盘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升级路径不清晰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数据沉淀少，不利于人才画像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2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724000"/>
            <a:ext cx="3744000" cy="432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③ 数字化方案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T+1h 系统自动核验改善情况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已改善：自动记录 + 正向反馈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未改善：再次提醒 + 升级主管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全过程数据沉淀进员工档案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4000" y="5724000"/>
            <a:ext cx="3744000" cy="28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4000" y="5760000"/>
            <a:ext cx="79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4400" b="1" i="0">
                <a:solidFill>
                  <a:srgbClr val="F2F2F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4000" y="5724000"/>
            <a:ext cx="3744000" cy="43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000" y="5868000"/>
            <a:ext cx="3384000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Microsoft YaHei"/>
                <a:ea typeface="Microsoft YaHei"/>
              </a:rPr>
              <a:t>④ 提效与管理价值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000" y="6264000"/>
            <a:ext cx="3456000" cy="22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管理颗粒度从「天」细到「小时」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主管只在关键节点介入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改善可量化、可追溯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为人才识别提供长期数据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其他 8 类职能速览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覆盖团队长一天剩余的管理事项 —— 数字化介入方式与提效逻辑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96000"/>
            <a:ext cx="77760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0" y="1296000"/>
            <a:ext cx="288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000" y="1296000"/>
            <a:ext cx="126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职能模块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4000" y="1296000"/>
            <a:ext cx="198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原来痛点 / 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000" y="1296000"/>
            <a:ext cx="198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数字化介入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4000" y="1296000"/>
            <a:ext cx="2268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提效与价值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20000"/>
            <a:ext cx="7776000" cy="7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1620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1692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客诉兜底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4000" y="1692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全程主管接听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升级判定靠经验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000" y="1692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AI 初筛分级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升级规则自动化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4000" y="1692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主管精力聚焦疑难案件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响应时间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2412000"/>
            <a:ext cx="7776000" cy="792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2412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00" y="2484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员工关怀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4000" y="2484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情绪问题靠观察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一对一缺数据支撑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000" y="2484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情绪识别 + 行为画像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关怀提醒推送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4000" y="2484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主动关怀 ↑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离职预警提前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3204000"/>
            <a:ext cx="7776000" cy="7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3204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000" y="3276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早 / 晚会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4000" y="3276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数据 + 案例靠人工汇总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约 25 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000" y="3276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AI 自动生成会议要点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模板化输出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4000" y="3276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汇总时间 ↓ 80%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会议聚焦决策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996000"/>
            <a:ext cx="7776000" cy="792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000" y="3996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000" y="4068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邮件处理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34000" y="4068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全天高频打断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重要邮件易遗漏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4000" y="4068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邮件智能分类 + 摘要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紧急邮件置顶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4000" y="4068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处理效率 ↑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打断次数 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4788000"/>
            <a:ext cx="7776000" cy="7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000" y="4788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000" y="4860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排班 / 考勤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34000" y="4860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手工排班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异常签到难发现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4000" y="4860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自动排班 + 异常签到识别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实时邮件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4000" y="4860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排班时间 ↓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违规签到清零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000" y="5580000"/>
            <a:ext cx="7776000" cy="792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000" y="5580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000" y="5652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跨部门沟通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4000" y="5652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工单流转靠人催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责任不清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14000" y="5652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工单智能分发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 SLA 自动监控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94000" y="5652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流转时长 ↓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责任清晰可追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000" y="6372000"/>
            <a:ext cx="7776000" cy="7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000" y="6372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000" y="6444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人才识别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4000" y="6444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靠主观印象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月度盘点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14000" y="6444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绩效 + 行为多维画像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潜力员工自动浮现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94000" y="6444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识人更客观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人才储备前置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7164000"/>
            <a:ext cx="7776000" cy="792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6000" y="7164000"/>
            <a:ext cx="288000" cy="79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000" y="7236000"/>
            <a:ext cx="126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AI 工具训练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34000" y="7236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（新增职能）</a:t>
            </a:r>
          </a:p>
          <a:p>
            <a:pPr algn="l"/>
            <a:r>
              <a:rPr sz="1000" b="0" i="0">
                <a:solidFill>
                  <a:srgbClr val="C82A2A"/>
                </a:solidFill>
                <a:latin typeface="Microsoft YaHei"/>
                <a:ea typeface="Microsoft YaHei"/>
              </a:rPr>
              <a:t>模型靠厂商优化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14000" y="7236000"/>
            <a:ext cx="1908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组长标注 / 反馈 / 提需求</a:t>
            </a:r>
          </a:p>
          <a:p>
            <a:pPr algn="l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持续迭代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94000" y="7236000"/>
            <a:ext cx="2196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模型贴合实战</a:t>
            </a:r>
          </a:p>
          <a:p>
            <a:pPr algn="l"/>
            <a:r>
              <a:rPr sz="1000" b="0" i="0">
                <a:solidFill>
                  <a:srgbClr val="2E7D32"/>
                </a:solidFill>
                <a:latin typeface="Microsoft YaHei"/>
                <a:ea typeface="Microsoft YaHei"/>
              </a:rPr>
              <a:t>现管成为训练师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000" y="7956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000" y="8460000"/>
            <a:ext cx="7776000" cy="612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2000" y="8460000"/>
            <a:ext cx="54000" cy="612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00" y="8514000"/>
            <a:ext cx="756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12 类职能合计：每天可释放约 3-4 小时核心管理时间用于辅导、客诉、员工成长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00" y="8766000"/>
            <a:ext cx="756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释放方式不是「减少工作」，而是「事务低价值化、管理高价值化」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585 分钟工作时间结构重塑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核心叙事修正：不是「减少 585 分钟」，而是「重塑 585 分钟内的分布」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86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332000"/>
            <a:ext cx="756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✕  错误表达：「数字化减少了 585 分钟工作」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638000"/>
            <a:ext cx="7560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✓  正确表达：「585 分钟的时间结构被重塑 —— 低价值事务下降、核心管理时间上升」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944000"/>
            <a:ext cx="756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FFF3E0"/>
                </a:solidFill>
                <a:latin typeface="Microsoft YaHei"/>
                <a:ea typeface="Microsoft YaHei"/>
              </a:rPr>
              <a:t>组长仍然在岗 585 分钟，但每分钟创造的管理价值不一样了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520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  <a:latin typeface="Microsoft YaHei"/>
                <a:ea typeface="Microsoft YaHei"/>
              </a:rPr>
              <a:t>重塑前 · 时间分布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771999"/>
            <a:ext cx="252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（事务驱动）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2520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E05A00"/>
                </a:solidFill>
                <a:latin typeface="Microsoft YaHei"/>
                <a:ea typeface="Microsoft YaHei"/>
              </a:rPr>
              <a:t>重塑后 · 时间分布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2771999"/>
            <a:ext cx="252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E05A00"/>
                </a:solidFill>
                <a:latin typeface="Microsoft YaHei"/>
                <a:ea typeface="Microsoft YaHei"/>
              </a:rPr>
              <a:t>（管理价值驱动）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3096000"/>
            <a:ext cx="2520000" cy="257400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096000"/>
            <a:ext cx="2520000" cy="25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低价值事务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65%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" y="5670000"/>
            <a:ext cx="2520000" cy="990000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5670000"/>
            <a:ext cx="2520000" cy="99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中价值事务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" y="6660000"/>
            <a:ext cx="2520000" cy="396000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6660000"/>
            <a:ext cx="252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高价值管理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0000" y="3096000"/>
            <a:ext cx="2520000" cy="990000"/>
          </a:xfrm>
          <a:prstGeom prst="rect">
            <a:avLst/>
          </a:prstGeom>
          <a:solidFill>
            <a:srgbClr val="FFB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0000" y="3096000"/>
            <a:ext cx="2520000" cy="99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低价值事务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0000" y="4086000"/>
            <a:ext cx="2520000" cy="1386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0" y="4086000"/>
            <a:ext cx="2520000" cy="13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中价值事务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0000" y="5472000"/>
            <a:ext cx="2520000" cy="1584000"/>
          </a:xfrm>
          <a:prstGeom prst="rect">
            <a:avLst/>
          </a:prstGeom>
          <a:solidFill>
            <a:srgbClr val="E0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0000" y="5472000"/>
            <a:ext cx="2520000" cy="158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高价值管理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0" y="4716000"/>
            <a:ext cx="1080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6000" b="1" i="0">
                <a:solidFill>
                  <a:srgbClr val="FF6F0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0" y="5436000"/>
            <a:ext cx="108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E05A00"/>
                </a:solidFill>
                <a:latin typeface="Microsoft YaHei"/>
                <a:ea typeface="Microsoft YaHei"/>
              </a:rPr>
              <a:t>结构重塑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7740000"/>
            <a:ext cx="7776000" cy="118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000" y="7740000"/>
            <a:ext cx="54000" cy="1188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7812000"/>
            <a:ext cx="756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如何向董事长汇报这张图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000" y="8082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团队长岗位价值 = 单位时间产出的管理价值，不是工作时长本身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" y="8280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数字化的目标是「把低价值事务从 65% 压到 25%」，把高价值管理从 10% 提到 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00" y="8478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释放出的时间投入到：辅导面谈、客诉兜底、员工关怀、跨部门协同、AI 工具训练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" y="8676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这是「重塑」，不是「裁人」 —— 组长更有价值，员工更被关怀，客户更被服务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现管新三角色定位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1+N 落地后，现管角色升级为「现场兜底 + 业务情报 + AI 训练」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09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60000"/>
            <a:ext cx="7776000" cy="540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332000"/>
            <a:ext cx="756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E05A00"/>
                </a:solidFill>
                <a:latin typeface="Microsoft YaHei"/>
                <a:ea typeface="Microsoft YaHei"/>
              </a:rPr>
              <a:t>数字化不削弱现管，而是把现管推向更高价值的位置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84000"/>
            <a:ext cx="756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重要：三角色不是概念，必须落到具体动作 / 机制 / 考核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2520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1980000"/>
            <a:ext cx="2520000" cy="90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2052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2322000"/>
            <a:ext cx="2340000" cy="36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现场兜底人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2000"/>
            <a:ext cx="234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FFF3E0"/>
                </a:solidFill>
                <a:latin typeface="Arial"/>
                <a:ea typeface="Arial"/>
              </a:rPr>
              <a:t>Field Last-Mile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3024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核心定位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240000"/>
            <a:ext cx="223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Microsoft YaHei"/>
                <a:ea typeface="Microsoft YaHei"/>
              </a:rPr>
              <a:t>AI 解决共性，主管处理疑难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4140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关键动作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356000"/>
            <a:ext cx="2232000" cy="18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客诉升级处理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员工情绪安抚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异常事件现场决策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跨部门紧急协同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6408000"/>
            <a:ext cx="2304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6480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考核维度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6696000"/>
            <a:ext cx="22320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升级响应时长 / 客诉解决率 / 员工流失率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0000" y="1980000"/>
            <a:ext cx="2520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0000" y="1980000"/>
            <a:ext cx="2520000" cy="90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4000" y="2052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4000" y="2322000"/>
            <a:ext cx="2340000" cy="36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业务情报官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4000" y="2682000"/>
            <a:ext cx="234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FFF3E0"/>
                </a:solidFill>
                <a:latin typeface="Arial"/>
                <a:ea typeface="Arial"/>
              </a:rPr>
              <a:t>Business Intel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4000" y="3024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核心定位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4000" y="3240000"/>
            <a:ext cx="223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Microsoft YaHei"/>
                <a:ea typeface="Microsoft YaHei"/>
              </a:rPr>
              <a:t>把现场反馈翻译成业务语言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4000" y="4140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关键动作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4000" y="4356000"/>
            <a:ext cx="2232000" cy="18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尾部画像解读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异议趋势分析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向上汇报现场实情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跨班组横向对标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0" y="6408000"/>
            <a:ext cx="2304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4000" y="6480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考核维度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4000" y="6696000"/>
            <a:ext cx="22320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改善建议落地数 / 业务问题前置识别率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8000" y="1980000"/>
            <a:ext cx="2520000" cy="5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88000" y="1980000"/>
            <a:ext cx="2520000" cy="90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2000" y="2052000"/>
            <a:ext cx="252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2000" y="2322000"/>
            <a:ext cx="2340000" cy="36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AI 工具训练师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2000" y="2682000"/>
            <a:ext cx="234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FFF3E0"/>
                </a:solidFill>
                <a:latin typeface="Arial"/>
                <a:ea typeface="Arial"/>
              </a:rPr>
              <a:t>AI Trainer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2000" y="3024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核心定位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2000" y="3240000"/>
            <a:ext cx="2232000" cy="72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Microsoft YaHei"/>
                <a:ea typeface="Microsoft YaHei"/>
              </a:rPr>
              <a:t>让模型越用越准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2000" y="4140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关键动作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2000" y="4356000"/>
            <a:ext cx="2232000" cy="18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标注录音 / 异常样本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校正模型误判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提交模型迭代需求</a:t>
            </a:r>
          </a:p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•  推动新场景上线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6000" y="6408000"/>
            <a:ext cx="2304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2000" y="6480000"/>
            <a:ext cx="2232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考核维度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000" y="6696000"/>
            <a:ext cx="22320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标注质量 / 模型采纳率 / 新场景孵化数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000" y="7740000"/>
            <a:ext cx="7776000" cy="118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2000" y="7740000"/>
            <a:ext cx="54000" cy="1188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00" y="7812000"/>
            <a:ext cx="756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05A00"/>
                </a:solidFill>
                <a:latin typeface="Microsoft YaHei"/>
                <a:ea typeface="Microsoft YaHei"/>
              </a:rPr>
              <a:t>落地承诺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000" y="8082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三角色的关键动作将写入现管岗位说明书（6月内）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000" y="8280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三角色考核指标进入季度 PBC，与晋升 / 评优挂钩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000" y="8478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建立三角色「动作—机制—考核」闭环跟踪表，季度盘点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000" y="8676000"/>
            <a:ext cx="7560000" cy="19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Microsoft YaHei"/>
                <a:ea typeface="Microsoft YaHei"/>
              </a:rPr>
              <a:t>•  AI 训练师角色配套培训认证机制，输出「现管 × AI」双能力人才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风险与边界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讲清楚「AI 不能做什么」，比「AI 能做什么」更重要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332000"/>
            <a:ext cx="7776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332000"/>
            <a:ext cx="900000" cy="1440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332000"/>
            <a:ext cx="900000" cy="14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6F00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1422000"/>
            <a:ext cx="648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585 分钟表述风险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169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C82A2A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1692000"/>
            <a:ext cx="5940000" cy="43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易被理解为「减少 585 分钟工作量」，让基层焦虑、高层误判产能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3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Microsoft YaHei"/>
                <a:ea typeface="Microsoft YaHei"/>
              </a:rPr>
              <a:t>管控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0000" y="2232000"/>
            <a:ext cx="5940000" cy="4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统一口径：「重塑 585 分钟分布」，配比图必带；汇报、培训、对外文档保持一致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862000"/>
            <a:ext cx="7776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2862000"/>
            <a:ext cx="900000" cy="1440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2862000"/>
            <a:ext cx="900000" cy="14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6F00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2952000"/>
            <a:ext cx="648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AI 替代边界风险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22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C82A2A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3222000"/>
            <a:ext cx="5940000" cy="43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过度宣传 AI 能力，会被质疑「不接地气」；客诉兜底 / 情绪安抚 / 跨部门强交互不能交给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76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Microsoft YaHei"/>
                <a:ea typeface="Microsoft YaHei"/>
              </a:rPr>
              <a:t>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762000"/>
            <a:ext cx="5940000" cy="4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明确「AI 处理共性、主管处理个性」，所有汇报材料标注边界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392000"/>
            <a:ext cx="7776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4392000"/>
            <a:ext cx="900000" cy="1440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4392000"/>
            <a:ext cx="900000" cy="14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6F00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0" y="4482000"/>
            <a:ext cx="648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模型精准度风险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475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C82A2A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0000" y="4752000"/>
            <a:ext cx="5940000" cy="43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录音切片、尾部画像、异常识别仍存在误判 / 漏判 / 可用化不足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0000" y="529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Microsoft YaHei"/>
                <a:ea typeface="Microsoft YaHei"/>
              </a:rPr>
              <a:t>管控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0000" y="5292000"/>
            <a:ext cx="5940000" cy="4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汇报中说「已跑通」，不说「已成熟」；同步打磨节奏与里程碑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5922000"/>
            <a:ext cx="7776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000" y="5922000"/>
            <a:ext cx="900000" cy="1440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5922000"/>
            <a:ext cx="900000" cy="14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6F00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0000" y="6012000"/>
            <a:ext cx="648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新角色落地风险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0000" y="628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C82A2A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80000" y="6282000"/>
            <a:ext cx="5940000" cy="43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「兜底人 / 情报官 / 训练师」如果只是概念，3 个月后会被证伪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682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Microsoft YaHei"/>
                <a:ea typeface="Microsoft YaHei"/>
              </a:rPr>
              <a:t>管控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0000" y="6822000"/>
            <a:ext cx="5940000" cy="4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动作清单、考核口径、数据看板三件套同步上线，季度盘点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000" y="7452000"/>
            <a:ext cx="7776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" y="7452000"/>
            <a:ext cx="900000" cy="1440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000" y="7452000"/>
            <a:ext cx="900000" cy="14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6F00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0000" y="7542000"/>
            <a:ext cx="648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  <a:ea typeface="Microsoft YaHei"/>
              </a:rPr>
              <a:t>数据 / 隐私合规风险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0000" y="781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C82A2A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80000" y="7812000"/>
            <a:ext cx="5940000" cy="43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录音切片、行为画像涉及员工隐私 / 客户敏感信息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0000" y="8352000"/>
            <a:ext cx="720000" cy="21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Microsoft YaHei"/>
                <a:ea typeface="Microsoft YaHei"/>
              </a:rPr>
              <a:t>管控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80000" y="8352000"/>
            <a:ext cx="5940000" cy="46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Microsoft YaHei"/>
                <a:ea typeface="Microsoft YaHei"/>
              </a:rPr>
              <a:t>数据使用范围与脱敏机制经合规、信息安全双审；员工知情同意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432000"/>
            <a:ext cx="648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8000" y="378000"/>
            <a:ext cx="7200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Microsoft YaHei"/>
                <a:ea typeface="Microsoft YaHei"/>
              </a:rPr>
              <a:t>当日待办与后续优化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774000"/>
            <a:ext cx="7200000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桂总要求：今天全部改完，素材不重做、重新组合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6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0000" y="432000"/>
            <a:ext cx="827999" cy="251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1000" b="1" i="0">
                <a:solidFill>
                  <a:srgbClr val="FF6F00"/>
                </a:solidFill>
                <a:latin typeface="Microsoft YaHei"/>
                <a:ea typeface="Microsoft YaHe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96000"/>
            <a:ext cx="7776000" cy="324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296000"/>
            <a:ext cx="720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● 当日 Hot Fix（今天闭环）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0" y="1296000"/>
            <a:ext cx="936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620000"/>
            <a:ext cx="7776000" cy="363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692000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1692000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汇报框架由「流程」改为「职能」（团队长岗位部分整体重写）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92000" y="1728000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2000" y="1728000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汇报组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087999"/>
            <a:ext cx="777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105999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2105999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重新梳理团队长 12 类核心职能事项清单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2000" y="2141999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2000" y="2141999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现管 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2519999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00" y="2519999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每个职能补齐四项内容：原来怎么做 / 痛点 / 数字化方案 / 提效与价值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92000" y="2555999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00" y="2555999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汇报组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2916000"/>
            <a:ext cx="777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2934000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000" y="2934000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585 分钟表达统一改为「时间结构重塑」，配比图同步更新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2000" y="2970000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汇报组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3347999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000" y="3347999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把「查邮件 / 排班 / 考勤」从流程步骤改为职能事项归类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2000" y="3383999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2000" y="3383999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汇报组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3744000"/>
            <a:ext cx="777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00" y="3762000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000" y="3762000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异常巡检案例补全：实时识别 → 邮件提醒 → T+1h 复核 → 升级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92000" y="3798000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2000" y="3798000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数字化组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4176000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000" y="4176000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现管三角色（兜底人 / 情报官 / 训练师）写到岗位说明书初稿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92000" y="4212000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92000" y="4212000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HRBP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00" y="4571999"/>
            <a:ext cx="7776000" cy="3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00" y="4589999"/>
            <a:ext cx="251999" cy="32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000" y="4589999"/>
            <a:ext cx="612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汇报材料 V2 内审：今晚 22:00 前送至桂总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92000" y="4625999"/>
            <a:ext cx="1044000" cy="251999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92000" y="4625999"/>
            <a:ext cx="1044000" cy="251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E05A00"/>
                </a:solidFill>
                <a:latin typeface="Microsoft YaHei"/>
                <a:ea typeface="Microsoft YaHei"/>
              </a:rPr>
              <a:t>汇报组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5580000"/>
            <a:ext cx="7776000" cy="324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00" y="5580000"/>
            <a:ext cx="7560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● 后续持续优化（本月内）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000" y="5904000"/>
            <a:ext cx="7776000" cy="2736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000" y="5976000"/>
            <a:ext cx="216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999" y="5976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服销虾模型继续优化（尾部画像 / 开口 / 异议精度），向翟总反馈需求清单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000" y="6372000"/>
            <a:ext cx="216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999" y="6372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异常巡检案例库扩充，沉淀典型异常 50+ 例并形成处置 SOP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000" y="6768000"/>
            <a:ext cx="216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999" y="6768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现管三角色考核口径与季度 PBC 联动，建立动作-机制-考核闭环表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000" y="7164000"/>
            <a:ext cx="216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999" y="7164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AI 训练师认证体系搭建，首批 30 人 6 月底前完成认证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000" y="7560000"/>
            <a:ext cx="216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999" y="7560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数据 / 隐私合规复审：录音切片、行为画像范围与脱敏机制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000" y="7956000"/>
            <a:ext cx="216000" cy="28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6F00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999" y="7956000"/>
            <a:ext cx="7200000" cy="28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Microsoft YaHei"/>
                <a:ea typeface="Microsoft YaHei"/>
              </a:rPr>
              <a:t>12 类职能数字化覆盖度月度盘点，输出「职能 × 工具」矩阵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2000" y="8820000"/>
            <a:ext cx="7776000" cy="468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2000" y="8820000"/>
            <a:ext cx="7776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服销现管 1+N ── 让 AI 处理事务，让组长创造价值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000" y="9252000"/>
            <a:ext cx="7776000" cy="144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2000" y="9306000"/>
            <a:ext cx="5400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客服中心 · 服销现管 1+N 项目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00000" y="9306000"/>
            <a:ext cx="2808000" cy="1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汇报人：客服中心  | 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