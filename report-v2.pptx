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3A1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62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645920"/>
            <a:ext cx="3931920" cy="3657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00E5FF"/>
                </a:solidFill>
                <a:latin typeface="Microsoft YaHei"/>
              </a:rPr>
              <a:t>PAONE × 服销现管 · 数智化转型白皮书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现管再造：当 PAone 接管机械劳动，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组长该</a:t>
            </a:r>
            <a:r>
              <a:rPr sz="4000" b="1" i="0">
                <a:solidFill>
                  <a:srgbClr val="00E5FF"/>
                </a:solidFill>
                <a:latin typeface="Microsoft YaHei"/>
              </a:rPr>
              <a:t> 去哪里？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8892B0"/>
                </a:solidFill>
                <a:latin typeface="Consolas"/>
              </a:rPr>
              <a:t>FROM LABOR-INTENSIVE TO INTELLIGENCE-DRIVEN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0E0E0"/>
                </a:solidFill>
                <a:latin typeface="Microsoft YaHei"/>
              </a:rPr>
              <a:t>服销团队长数字化落地研究  ·  量化收益  ·  新范式路径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5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6A00"/>
                </a:solidFill>
                <a:latin typeface="Consolas"/>
              </a:rPr>
              <a:t>WHITEPAPER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3550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00E5FF"/>
                </a:solidFill>
                <a:latin typeface="Consolas"/>
              </a:rPr>
              <a:t>FROM IDEA TO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CONTENTS  /  目录 /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七个章节，一条从困境到回报的完整叙事链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105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困境诊断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组长的一天，为什么总是很忙却没干成事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8105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量化收益账本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1488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总工时未减，但管理带宽正在结构性迁徙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WHO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81635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角色新范式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154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组长不再是监工，而是数智指挥官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517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54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PLAYBOOK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81635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话术萃取实战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154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拆解一次真实萃取：从客户说再考虑一下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60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8221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真实挽回案例时间轴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160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6 天的故事：AI 预警 × 组长介入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6576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947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60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HOW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8221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90 天落地路径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4160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从工具接入到能力升级的三阶段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6634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166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82803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业绩 KPI + 行业对标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166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不止是改善，而是站在行业前列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6634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0E5FF"/>
                </a:solidFill>
                <a:latin typeface="Consolas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166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6A00"/>
                </a:solidFill>
                <a:latin typeface="Consolas"/>
              </a:rPr>
              <a:t>ROI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482803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投入产出账本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5166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6 个月回本，远快于行业 18 个月均值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01  /  WHY — 困境诊断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组长的一天，为什么总是"很忙却没干成事"？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直面当下现管岗位的三重结构性痛点 —— 这不是个人能力问题，而是工具缺位下的必然。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8100" cy="365760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0E0E0"/>
                </a:solidFill>
                <a:latin typeface="Microsoft YaHei"/>
              </a:rPr>
              <a:t>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6A00"/>
                </a:solidFill>
                <a:latin typeface="Microsoft YaHei"/>
              </a:rPr>
              <a:t>时间黑洞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日均工时中超过 60% 被消耗在"捞数据、做表格、人肉盯盘"等低价值机械劳动上，真正用于业务思考与团队辅导的时间被严重挤压。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2377440" cy="365760"/>
          </a:xfrm>
          <a:prstGeom prst="roundRect">
            <a:avLst>
              <a:gd name="adj" fmla="val 35000"/>
            </a:avLst>
          </a:prstGeom>
          <a:solidFill>
            <a:srgbClr val="401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&gt; 350 min / 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0312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8100" cy="365760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0E0E0"/>
                </a:solidFill>
                <a:latin typeface="Microsoft YaHei"/>
              </a:rPr>
              <a:t>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632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6A00"/>
                </a:solidFill>
                <a:latin typeface="Microsoft YaHei"/>
              </a:rPr>
              <a:t>辅导失焦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1188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1V1 沟通缺少数据抓手，常常沦为"泛泛谈心、打鸡血"。组长无法精准定位坐席能力短板，更难以提供可执行的话术级辅导。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5166360"/>
            <a:ext cx="2377440" cy="365760"/>
          </a:xfrm>
          <a:prstGeom prst="roundRect">
            <a:avLst>
              <a:gd name="adj" fmla="val 35000"/>
            </a:avLst>
          </a:prstGeom>
          <a:solidFill>
            <a:srgbClr val="401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165 min / 天 低效投入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10312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103120"/>
            <a:ext cx="38100" cy="365760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377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0E0E0"/>
                </a:solidFill>
                <a:latin typeface="Microsoft YaHei"/>
              </a:rPr>
              <a:t>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0632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6A00"/>
                </a:solidFill>
                <a:latin typeface="Microsoft YaHei"/>
              </a:rPr>
              <a:t>决策滞后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1188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问题发现严重依赖夕会复盘，而非实时感知。当异常数据出现在报表上时，最佳干预窗口往往已经关闭，组长被迫陷入"事后救火"的被动循环。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5166360"/>
            <a:ext cx="2377440" cy="365760"/>
          </a:xfrm>
          <a:prstGeom prst="roundRect">
            <a:avLst>
              <a:gd name="adj" fmla="val 35000"/>
            </a:avLst>
          </a:prstGeom>
          <a:solidFill>
            <a:srgbClr val="401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T+1 响应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02  /  WHAT — 量化收益账本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总工时未减，但管理带宽正在"结构性迁徙"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引入 PAone 后，组长总工时并没有减少。真正发生的是 —— 时间从机械劳动迁徙到了高价值辅导。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00E5FF"/>
                </a:solidFill>
                <a:latin typeface="Microsoft YaHei"/>
              </a:rPr>
              <a:t>585 min </a:t>
            </a:r>
            <a:r>
              <a:rPr sz="3600" b="1" i="0">
                <a:solidFill>
                  <a:srgbClr val="8892B0"/>
                </a:solidFill>
                <a:latin typeface="Microsoft YaHei"/>
              </a:rPr>
              <a:t>=</a:t>
            </a:r>
            <a:r>
              <a:rPr sz="3600" b="1" i="0">
                <a:solidFill>
                  <a:srgbClr val="00E5FF"/>
                </a:solidFill>
                <a:latin typeface="Microsoft YaHei"/>
              </a:rPr>
              <a:t> 585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旧模式与新模式 </a:t>
            </a:r>
            <a:r>
              <a:rPr sz="1200" b="1" i="0">
                <a:solidFill>
                  <a:srgbClr val="FFFFFF"/>
                </a:solidFill>
                <a:latin typeface="Microsoft YaHei"/>
              </a:rPr>
              <a:t>总工时完全相等</a:t>
            </a:r>
            <a:r>
              <a:rPr sz="1200" b="0" i="0">
                <a:solidFill>
                  <a:srgbClr val="8892B0"/>
                </a:solidFill>
                <a:latin typeface="Microsoft YaHei"/>
              </a:rPr>
              <a:t>，但时间结构发生质变：高价值投入从 28% 提升至 </a:t>
            </a:r>
            <a:r>
              <a:rPr sz="1200" b="1" i="0">
                <a:solidFill>
                  <a:srgbClr val="00E5FF"/>
                </a:solidFill>
                <a:latin typeface="Microsoft YaHei"/>
              </a:rPr>
              <a:t>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892B0"/>
                </a:solidFill>
                <a:latin typeface="Consolas"/>
              </a:rPr>
              <a:t>旧模式 · 劳动密集型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Total: 585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977640"/>
            <a:ext cx="492369" cy="50292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977640"/>
            <a:ext cx="49236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碎片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2529" y="3977640"/>
            <a:ext cx="2543907" cy="50292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2529" y="3977640"/>
            <a:ext cx="254390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333333"/>
                </a:solidFill>
                <a:latin typeface="Microsoft YaHei"/>
              </a:rPr>
              <a:t>数据盘点 155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6436" y="3977640"/>
            <a:ext cx="2708030" cy="502920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6436" y="3977640"/>
            <a:ext cx="270803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003333"/>
                </a:solidFill>
                <a:latin typeface="Microsoft YaHei"/>
              </a:rPr>
              <a:t>核心辅导 165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4466" y="3977640"/>
            <a:ext cx="3856892" cy="502920"/>
          </a:xfrm>
          <a:prstGeom prst="rect">
            <a:avLst/>
          </a:prstGeom>
          <a:solidFill>
            <a:srgbClr val="4A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4466" y="3977640"/>
            <a:ext cx="38568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E0E0E0"/>
                </a:solidFill>
                <a:latin typeface="Microsoft YaHei"/>
              </a:rPr>
              <a:t>会议协同 235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09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892B0"/>
                </a:solidFill>
                <a:latin typeface="Consolas"/>
              </a:rPr>
              <a:t>新模式 · 数智驱动型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09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Total: 585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5029200"/>
            <a:ext cx="82061" cy="50292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029200"/>
            <a:ext cx="8206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62221" y="5029200"/>
            <a:ext cx="574430" cy="50292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62221" y="5029200"/>
            <a:ext cx="57443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333333"/>
                </a:solidFill>
                <a:latin typeface="Microsoft YaHei"/>
              </a:rPr>
              <a:t>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6651" y="5029200"/>
            <a:ext cx="5087815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6651" y="5029200"/>
            <a:ext cx="50878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003333"/>
                </a:solidFill>
                <a:latin typeface="Microsoft YaHei"/>
              </a:rPr>
              <a:t>核心辅导 310  ·  高价值带宽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24466" y="5029200"/>
            <a:ext cx="3856892" cy="502920"/>
          </a:xfrm>
          <a:prstGeom prst="rect">
            <a:avLst/>
          </a:prstGeom>
          <a:solidFill>
            <a:srgbClr val="4A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4466" y="5029200"/>
            <a:ext cx="38568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E0E0E0"/>
                </a:solidFill>
                <a:latin typeface="Microsoft YaHei"/>
              </a:rPr>
              <a:t>会议协同 235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5833871"/>
            <a:ext cx="137160" cy="13716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576071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碎片巡视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5833871"/>
            <a:ext cx="137160" cy="13716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576071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数据盘点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833871"/>
            <a:ext cx="137160" cy="1371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1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核心辅导（钻石）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5833871"/>
            <a:ext cx="137160" cy="137160"/>
          </a:xfrm>
          <a:prstGeom prst="rect">
            <a:avLst/>
          </a:prstGeom>
          <a:solidFill>
            <a:srgbClr val="4A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576071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会议协同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02  /  WHAT — 量化收益账本（续）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四个管理模块的时间迁徙明细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下表按价值层级排序，钻石区（核心辅导）是本次转型的最大赢家。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892B0"/>
                </a:solidFill>
                <a:latin typeface="Microsoft YaHei"/>
              </a:rPr>
              <a:t>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892B0"/>
                </a:solidFill>
                <a:latin typeface="Microsoft YaHei"/>
              </a:rPr>
              <a:t>旧模式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892B0"/>
                </a:solidFill>
                <a:latin typeface="Microsoft YaHei"/>
              </a:rPr>
              <a:t>新模式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892B0"/>
                </a:solidFill>
                <a:latin typeface="Microsoft YaHei"/>
              </a:rPr>
              <a:t>效能变化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1031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892B0"/>
                </a:solidFill>
                <a:latin typeface="Microsoft YaHei"/>
              </a:rPr>
              <a:t>带宽流向与价值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1064240" cy="868680"/>
          </a:xfrm>
          <a:prstGeom prst="rect">
            <a:avLst/>
          </a:prstGeom>
          <a:solidFill>
            <a:srgbClr val="081F26"/>
          </a:solidFill>
          <a:ln w="63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38100" cy="8686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697480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08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00E5FF"/>
                </a:solidFill>
                <a:latin typeface="Consolas"/>
              </a:rPr>
              <a:t>L3 钻石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核心干预与 1V1 辅导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83464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2814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8346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165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83464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02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28346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00E5FF"/>
                </a:solidFill>
                <a:latin typeface="Consolas"/>
              </a:rPr>
              <a:t>310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6032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52C41A"/>
                </a:solidFill>
                <a:latin typeface="Consolas"/>
              </a:rPr>
              <a:t>▲ +87.8%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56032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0E0E0"/>
                </a:solidFill>
                <a:latin typeface="Microsoft YaHei"/>
              </a:rPr>
              <a:t>核心投向：从"泛泛谈心"跃升为"数据驱动的精准赋能"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29000"/>
            <a:ext cx="11064240" cy="868680"/>
          </a:xfrm>
          <a:prstGeom prst="rect">
            <a:avLst/>
          </a:prstGeom>
          <a:noFill/>
          <a:ln w="63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566160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661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FFB347"/>
                </a:solidFill>
                <a:latin typeface="Consolas"/>
              </a:rPr>
              <a:t>L2 中性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86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会议管理与组织协同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370332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2814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37033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235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70332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02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7033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00E5FF"/>
                </a:solidFill>
                <a:latin typeface="Consolas"/>
              </a:rPr>
              <a:t>235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4290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8892B0"/>
                </a:solidFill>
                <a:latin typeface="Consolas"/>
              </a:rPr>
              <a:t>— 持平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42900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时长不变，但决策依据从"凭经验拍板"升级为"AI 情报+实时看板"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64240" cy="868680"/>
          </a:xfrm>
          <a:prstGeom prst="rect">
            <a:avLst/>
          </a:prstGeom>
          <a:noFill/>
          <a:ln w="63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434840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348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8892B0"/>
                </a:solidFill>
                <a:latin typeface="Consolas"/>
              </a:rPr>
              <a:t>L1 机械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数据盘点与材料准备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11880" y="457200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2814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457200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155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457200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02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457200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00E5FF"/>
                </a:solidFill>
                <a:latin typeface="Consolas"/>
              </a:rPr>
              <a:t>35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29768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4D4F"/>
                </a:solidFill>
                <a:latin typeface="Consolas"/>
              </a:rPr>
              <a:t>▼ -77.4%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29768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RPA + AIGC 一键生成早夕会与通报材料，释放机械体力活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166359"/>
            <a:ext cx="11064240" cy="868680"/>
          </a:xfrm>
          <a:prstGeom prst="rect">
            <a:avLst/>
          </a:prstGeom>
          <a:noFill/>
          <a:ln w="63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5303519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30351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8892B0"/>
                </a:solidFill>
                <a:latin typeface="Consolas"/>
              </a:rPr>
              <a:t>L1 机械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62355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碎片状态巡视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11880" y="5440679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2814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544067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30 min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92040" y="5440679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02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92040" y="544067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00E5FF"/>
                </a:solidFill>
                <a:latin typeface="Consolas"/>
              </a:rPr>
              <a:t>5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5166359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4D4F"/>
                </a:solidFill>
                <a:latin typeface="Consolas"/>
              </a:rPr>
              <a:t>▼ -83.3%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5166359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消灭"人肉盯盘"，规则引擎自动识别异常并主动推单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03  /  WHO — 角色新范式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组长不再是"监工"，而是"数智指挥官"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机械劳动被 PAone 接管 → 管理带宽被释放 → 岗位能力模型被重新定义。组长正在进化为三重新角色。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560320" cy="640080"/>
          </a:xfrm>
          <a:prstGeom prst="roundRect">
            <a:avLst>
              <a:gd name="adj" fmla="val 20000"/>
            </a:avLst>
          </a:prstGeom>
          <a:solidFill>
            <a:srgbClr val="281402"/>
          </a:solidFill>
          <a:ln w="9525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56032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strike="sngStrike">
                <a:solidFill>
                  <a:srgbClr val="FF6A00"/>
                </a:solidFill>
                <a:latin typeface="Microsoft YaHei"/>
              </a:rPr>
              <a:t>盯流程的监工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8892B0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920240"/>
            <a:ext cx="2560320" cy="640080"/>
          </a:xfrm>
          <a:prstGeom prst="roundRect">
            <a:avLst>
              <a:gd name="adj" fmla="val 20000"/>
            </a:avLst>
          </a:prstGeom>
          <a:solidFill>
            <a:srgbClr val="281402"/>
          </a:solidFill>
          <a:ln w="9525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256032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strike="sngStrike">
                <a:solidFill>
                  <a:srgbClr val="FF6A00"/>
                </a:solidFill>
                <a:latin typeface="Microsoft YaHei"/>
              </a:rPr>
              <a:t>救火的客诉员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8892B0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920240"/>
            <a:ext cx="4480560" cy="640080"/>
          </a:xfrm>
          <a:prstGeom prst="roundRect">
            <a:avLst>
              <a:gd name="adj" fmla="val 20000"/>
            </a:avLst>
          </a:prstGeom>
          <a:solidFill>
            <a:srgbClr val="02282C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448056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Microsoft YaHei"/>
              </a:rPr>
              <a:t>数智指挥官 · 微型业务总经理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17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E0E0E0"/>
                </a:solidFill>
                <a:latin typeface="Microsoft YaHei"/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00E5FF"/>
                </a:solidFill>
                <a:latin typeface="Consolas"/>
              </a:rPr>
              <a:t>EMOTIONAL 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情绪价值终极兜底人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E0E0E0"/>
                </a:solidFill>
                <a:latin typeface="Microsoft YaHei"/>
              </a:rPr>
              <a:t>不再纠结流程：</a:t>
            </a:r>
            <a:r>
              <a:rPr sz="1000" b="0" i="0">
                <a:solidFill>
                  <a:srgbClr val="8892B0"/>
                </a:solidFill>
                <a:latin typeface="Microsoft YaHei"/>
              </a:rPr>
              <a:t>AI 已秒级完成查单与核实，组长将精力 100% 投入高风险客户的情感挽回。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E0E0E0"/>
                </a:solidFill>
                <a:latin typeface="Microsoft YaHei"/>
              </a:rPr>
              <a:t>人性化防波堤：</a:t>
            </a:r>
            <a:r>
              <a:rPr sz="1000" b="0" i="0">
                <a:solidFill>
                  <a:srgbClr val="8892B0"/>
                </a:solidFill>
                <a:latin typeface="Microsoft YaHei"/>
              </a:rPr>
              <a:t>发挥人类共情力，处理 AI 逻辑之外的复杂客诉，守住服务品牌的最后防线。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577840"/>
            <a:ext cx="3108960" cy="548640"/>
          </a:xfrm>
          <a:prstGeom prst="rect">
            <a:avLst/>
          </a:prstGeom>
          <a:solidFill>
            <a:srgbClr val="0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577840"/>
            <a:ext cx="2857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00E5FF"/>
                </a:solidFill>
                <a:latin typeface="Consolas"/>
              </a:rPr>
              <a:t>KEY ACTION · 量化抓手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338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每周亲自挽回 ≥ 3 例 高风险客户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83464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017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E0E0E0"/>
                </a:solidFill>
                <a:latin typeface="Microsoft YaHei"/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5661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00E5FF"/>
                </a:solidFill>
                <a:latin typeface="Consolas"/>
              </a:rPr>
              <a:t>STRATEGIC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840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业务策略前线情报官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343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E0E0E0"/>
                </a:solidFill>
                <a:latin typeface="Microsoft YaHei"/>
              </a:rPr>
              <a:t>销冠话术萃取：</a:t>
            </a:r>
            <a:r>
              <a:rPr sz="1000" b="0" i="0">
                <a:solidFill>
                  <a:srgbClr val="8892B0"/>
                </a:solidFill>
                <a:latin typeface="Microsoft YaHei"/>
              </a:rPr>
              <a:t>从 AI 初筛的优质录音中提炼"一枪打透"的实战话术，而非盲目打气。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120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E0E0E0"/>
                </a:solidFill>
                <a:latin typeface="Microsoft YaHei"/>
              </a:rPr>
              <a:t>战术反馈中枢：</a:t>
            </a:r>
            <a:r>
              <a:rPr sz="1000" b="0" i="0">
                <a:solidFill>
                  <a:srgbClr val="8892B0"/>
                </a:solidFill>
                <a:latin typeface="Microsoft YaHei"/>
              </a:rPr>
              <a:t>分析业绩跳水深层根因，向产品线输送基于 AI 语料洞察的前线情报。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5577840"/>
            <a:ext cx="3108960" cy="548640"/>
          </a:xfrm>
          <a:prstGeom prst="rect">
            <a:avLst/>
          </a:prstGeom>
          <a:solidFill>
            <a:srgbClr val="0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5577840"/>
            <a:ext cx="2857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56235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00E5FF"/>
                </a:solidFill>
                <a:latin typeface="Consolas"/>
              </a:rPr>
              <a:t>KEY ACTION · 量化抓手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8338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每月输出 ≥ 1 份 话术萃取 / 市场情报简报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83464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017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E0E0E0"/>
                </a:solidFill>
                <a:latin typeface="Microsoft YaHei"/>
              </a:rP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5661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00E5FF"/>
                </a:solidFill>
                <a:latin typeface="Consolas"/>
              </a:rPr>
              <a:t>AI TRAINER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840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智能工具首席语料师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43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E0E0E0"/>
                </a:solidFill>
                <a:latin typeface="Microsoft YaHei"/>
              </a:rPr>
              <a:t>喂养 AI 大脑：</a:t>
            </a:r>
            <a:r>
              <a:rPr sz="1000" b="0" i="0">
                <a:solidFill>
                  <a:srgbClr val="8892B0"/>
                </a:solidFill>
                <a:latin typeface="Microsoft YaHei"/>
              </a:rPr>
              <a:t>将实战中的优秀案例与复杂逻辑打标签，训练 PAone 真正"懂业务"。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20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E0E0E0"/>
                </a:solidFill>
                <a:latin typeface="Microsoft YaHei"/>
              </a:rPr>
              <a:t>人机协同进化：</a:t>
            </a:r>
            <a:r>
              <a:rPr sz="1000" b="0" i="0">
                <a:solidFill>
                  <a:srgbClr val="8892B0"/>
                </a:solidFill>
                <a:latin typeface="Microsoft YaHei"/>
              </a:rPr>
              <a:t>组长是 AI 的教练，通过纠偏与反哺，让工具具备部门专属的管理灵魂。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5577840"/>
            <a:ext cx="3108960" cy="548640"/>
          </a:xfrm>
          <a:prstGeom prst="rect">
            <a:avLst/>
          </a:prstGeom>
          <a:solidFill>
            <a:srgbClr val="0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66760" y="5577840"/>
            <a:ext cx="2857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56235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00E5FF"/>
                </a:solidFill>
                <a:latin typeface="Consolas"/>
              </a:rPr>
              <a:t>KEY ACTION · 量化抓手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8338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每周向 PAone 标注 ≥ 10 条 优质案例 / 纠偏反馈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04  /  PLAYBOOK — 销冠话术萃取实战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拆解一次真实萃取：从"客户说再考虑一下"看组长的情报官价值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角色定义是虚的，样本才是实的。组长作为情报官每月从 AI 初筛的优质录音中萃取话术，反哺团队训练库。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51A24"/>
          </a:solidFill>
          <a:ln w="63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2140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FFD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A1500"/>
                </a:solidFill>
                <a:latin typeface="Microsoft YaHei"/>
              </a:rPr>
              <a:t>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客户反馈："我再考虑一下，暂时不太需要"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出现频次：</a:t>
            </a:r>
          </a:p>
          <a:p>
            <a:pPr algn="r">
              <a:lnSpc>
                <a:spcPct val="130000"/>
              </a:lnSpc>
            </a:pPr>
            <a:r>
              <a:rPr sz="1200" b="1" i="0">
                <a:solidFill>
                  <a:srgbClr val="FFD666"/>
                </a:solidFill>
                <a:latin typeface="Microsoft YaHei"/>
              </a:rPr>
              <a:t>日均 37 次</a:t>
            </a:r>
            <a:r>
              <a:rPr sz="1000" b="0" i="0">
                <a:solidFill>
                  <a:srgbClr val="8892B0"/>
                </a:solidFill>
                <a:latin typeface="Microsoft YaHei"/>
              </a:rPr>
              <a:t>  · 黑洞级高频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440680" cy="2560320"/>
          </a:xfrm>
          <a:prstGeom prst="roundRect">
            <a:avLst>
              <a:gd name="adj" fmla="val 8000"/>
            </a:avLst>
          </a:prstGeom>
          <a:solidFill>
            <a:srgbClr val="1A0808"/>
          </a:solidFill>
          <a:ln w="9525">
            <a:solidFill>
              <a:srgbClr val="5A22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26080"/>
            <a:ext cx="2011680" cy="320040"/>
          </a:xfrm>
          <a:prstGeom prst="roundRect">
            <a:avLst>
              <a:gd name="adj" fmla="val 40000"/>
            </a:avLst>
          </a:prstGeom>
          <a:solidFill>
            <a:srgbClr val="3A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4D4F"/>
                </a:solidFill>
                <a:latin typeface="Microsoft YaHei"/>
              </a:rPr>
              <a:t>❌ 普通坐席话术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1">
                <a:solidFill>
                  <a:srgbClr val="E0E0E0"/>
                </a:solidFill>
                <a:latin typeface="Microsoft YaHei"/>
              </a:rPr>
              <a:t>"好的王姐，那您有需要随时联系我哈~ 我们的产品真的很好，您可以再了解一下。祝您生活愉快！"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09160"/>
            <a:ext cx="1554480" cy="320040"/>
          </a:xfrm>
          <a:prstGeom prst="roundRect">
            <a:avLst>
              <a:gd name="adj" fmla="val 35000"/>
            </a:avLst>
          </a:prstGeom>
          <a:solidFill>
            <a:srgbClr val="3A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FF4D4F"/>
                </a:solidFill>
                <a:latin typeface="Consolas"/>
              </a:rPr>
              <a:t>二次触达 12%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4709160"/>
            <a:ext cx="1554480" cy="320040"/>
          </a:xfrm>
          <a:prstGeom prst="roundRect">
            <a:avLst>
              <a:gd name="adj" fmla="val 35000"/>
            </a:avLst>
          </a:prstGeom>
          <a:solidFill>
            <a:srgbClr val="3A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4709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FF4D4F"/>
                </a:solidFill>
                <a:latin typeface="Consolas"/>
              </a:rPr>
              <a:t>流失率 78%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709160"/>
            <a:ext cx="1554480" cy="320040"/>
          </a:xfrm>
          <a:prstGeom prst="roundRect">
            <a:avLst>
              <a:gd name="adj" fmla="val 35000"/>
            </a:avLst>
          </a:prstGeom>
          <a:solidFill>
            <a:srgbClr val="3A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709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FF4D4F"/>
                </a:solidFill>
                <a:latin typeface="Consolas"/>
              </a:rPr>
              <a:t>挽回 &gt;14 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743200"/>
            <a:ext cx="5440680" cy="2560320"/>
          </a:xfrm>
          <a:prstGeom prst="roundRect">
            <a:avLst>
              <a:gd name="adj" fmla="val 8000"/>
            </a:avLst>
          </a:prstGeom>
          <a:solidFill>
            <a:srgbClr val="081A06"/>
          </a:solidFill>
          <a:ln w="9525">
            <a:solidFill>
              <a:srgbClr val="22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926080"/>
            <a:ext cx="3200400" cy="320040"/>
          </a:xfrm>
          <a:prstGeom prst="roundRect">
            <a:avLst>
              <a:gd name="adj" fmla="val 40000"/>
            </a:avLst>
          </a:prstGeom>
          <a:solidFill>
            <a:srgbClr val="0C3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52C41A"/>
                </a:solidFill>
                <a:latin typeface="Microsoft YaHei"/>
              </a:rPr>
              <a:t>✓ 销冠话术（AI 萃取后沉淀）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1">
                <a:solidFill>
                  <a:srgbClr val="E0E0E0"/>
                </a:solidFill>
                <a:latin typeface="Microsoft YaHei"/>
              </a:rPr>
              <a:t>"王姐，特别理解您这个感受。其实您刚说的'再考虑'，我经手的客户里 90% 最后真正的顾虑都在三件事上 —— </a:t>
            </a:r>
            <a:r>
              <a:rPr sz="1050" b="1" i="1">
                <a:solidFill>
                  <a:srgbClr val="FFFFFF"/>
                </a:solidFill>
                <a:latin typeface="Microsoft YaHei"/>
              </a:rPr>
              <a:t>价格、理赔流程、或保障范围</a:t>
            </a:r>
            <a:r>
              <a:rPr sz="1050" b="0" i="1">
                <a:solidFill>
                  <a:srgbClr val="E0E0E0"/>
                </a:solidFill>
                <a:latin typeface="Microsoft YaHei"/>
              </a:rPr>
              <a:t>。我这边有个不占用您太多时间的办法：我直接用您家庭情况帮您模拟三种方案的差别，</a:t>
            </a:r>
            <a:r>
              <a:rPr sz="1050" b="1" i="1">
                <a:solidFill>
                  <a:srgbClr val="FFFFFF"/>
                </a:solidFill>
                <a:latin typeface="Microsoft YaHei"/>
              </a:rPr>
              <a:t>看完没兴趣这事就过去</a:t>
            </a:r>
            <a:r>
              <a:rPr sz="1050" b="0" i="1">
                <a:solidFill>
                  <a:srgbClr val="E0E0E0"/>
                </a:solidFill>
                <a:latin typeface="Microsoft YaHei"/>
              </a:rPr>
              <a:t>，行吗？"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709160"/>
            <a:ext cx="1554480" cy="320040"/>
          </a:xfrm>
          <a:prstGeom prst="roundRect">
            <a:avLst>
              <a:gd name="adj" fmla="val 35000"/>
            </a:avLst>
          </a:prstGeom>
          <a:solidFill>
            <a:srgbClr val="0C3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709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52C41A"/>
                </a:solidFill>
                <a:latin typeface="Consolas"/>
              </a:rPr>
              <a:t>二次触达 46%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709160"/>
            <a:ext cx="1554480" cy="320040"/>
          </a:xfrm>
          <a:prstGeom prst="roundRect">
            <a:avLst>
              <a:gd name="adj" fmla="val 35000"/>
            </a:avLst>
          </a:prstGeom>
          <a:solidFill>
            <a:srgbClr val="0C3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4709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52C41A"/>
                </a:solidFill>
                <a:latin typeface="Consolas"/>
              </a:rPr>
              <a:t>转化率 34%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4709160"/>
            <a:ext cx="1554480" cy="320040"/>
          </a:xfrm>
          <a:prstGeom prst="roundRect">
            <a:avLst>
              <a:gd name="adj" fmla="val 35000"/>
            </a:avLst>
          </a:prstGeom>
          <a:solidFill>
            <a:srgbClr val="0C3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4709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52C41A"/>
                </a:solidFill>
                <a:latin typeface="Consolas"/>
              </a:rPr>
              <a:t>挽回 3 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486400"/>
            <a:ext cx="38100" cy="9144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0E5FF"/>
                </a:solidFill>
                <a:latin typeface="Microsoft YaHei"/>
              </a:rPr>
              <a:t>📐 萃取心法（组长的情报官产出范式）：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E0E0E0"/>
                </a:solidFill>
                <a:latin typeface="Microsoft YaHei"/>
              </a:rPr>
              <a:t>这段话术能复用，不是因为嘴甜，而是拆解出了可迁移的三段结构 —— </a:t>
            </a:r>
            <a:r>
              <a:rPr sz="1100" b="1" i="0">
                <a:solidFill>
                  <a:srgbClr val="FFFFFF"/>
                </a:solidFill>
                <a:latin typeface="Microsoft YaHei"/>
              </a:rPr>
              <a:t>共情承接</a:t>
            </a:r>
            <a:r>
              <a:rPr sz="1100" b="0" i="0">
                <a:solidFill>
                  <a:srgbClr val="8892B0"/>
                </a:solidFill>
                <a:latin typeface="Microsoft YaHei"/>
              </a:rPr>
              <a:t> + </a:t>
            </a:r>
            <a:r>
              <a:rPr sz="1100" b="1" i="0">
                <a:solidFill>
                  <a:srgbClr val="FFFFFF"/>
                </a:solidFill>
                <a:latin typeface="Microsoft YaHei"/>
              </a:rPr>
              <a:t>行业数据锚定</a:t>
            </a:r>
            <a:r>
              <a:rPr sz="1100" b="0" i="0">
                <a:solidFill>
                  <a:srgbClr val="8892B0"/>
                </a:solidFill>
                <a:latin typeface="Microsoft YaHei"/>
              </a:rPr>
              <a:t> + </a:t>
            </a:r>
            <a:r>
              <a:rPr sz="1100" b="1" i="0">
                <a:solidFill>
                  <a:srgbClr val="FFFFFF"/>
                </a:solidFill>
                <a:latin typeface="Microsoft YaHei"/>
              </a:rPr>
              <a:t>零压力退出承诺</a:t>
            </a:r>
            <a:r>
              <a:rPr sz="1100" b="0" i="0">
                <a:solidFill>
                  <a:srgbClr val="E0E0E0"/>
                </a:solidFill>
                <a:latin typeface="Microsoft YaHei"/>
              </a:rPr>
              <a:t>。组长要做的就是把"结构"从销冠身上拆出来，变成全团队可套用的模板。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05  /  CASE — 真实挽回案例时间轴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一个 6 天的故事：AI 预警 × 组长介入 × 200 万续保逆转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⚠ 下方案例为原销售场景示意，银卡客服组长场景需替换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5A4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D666"/>
                </a:solidFill>
                <a:latin typeface="Consolas"/>
              </a:rPr>
              <a:t>CASE · </a:t>
            </a:r>
            <a:r>
              <a:rPr sz="1500" b="1" i="0">
                <a:solidFill>
                  <a:srgbClr val="FFFFFF"/>
                </a:solidFill>
                <a:latin typeface="Microsoft YaHei"/>
              </a:rPr>
              <a:t>李女士续保危机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45 岁 · 高净值客户 · 重疾险即将到期 · 家庭 200 万保额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05740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D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057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500"/>
                </a:solidFill>
                <a:latin typeface="Microsoft YaHei"/>
              </a:rPr>
              <a:t>挽回结果：续保+加保 340 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971800"/>
            <a:ext cx="19050" cy="30632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443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T-3 天</a:t>
            </a:r>
          </a:p>
        </p:txBody>
      </p:sp>
      <p:sp>
        <p:nvSpPr>
          <p:cNvPr id="14" name="Oval 13"/>
          <p:cNvSpPr/>
          <p:nvPr/>
        </p:nvSpPr>
        <p:spPr>
          <a:xfrm>
            <a:off x="1353312" y="2990088"/>
            <a:ext cx="182880" cy="182880"/>
          </a:xfrm>
          <a:prstGeom prst="ellipse">
            <a:avLst/>
          </a:prstGeom>
          <a:solidFill>
            <a:srgbClr val="FF6A00"/>
          </a:solidFill>
          <a:ln w="19050">
            <a:solidFill>
              <a:srgbClr val="0A0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91640" y="2880360"/>
            <a:ext cx="9966960" cy="438912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20" y="290779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FF6A00"/>
                </a:solidFill>
                <a:latin typeface="Consolas"/>
              </a:rPr>
              <a:t>PAONE · 行为监测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305409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0E0E0"/>
                </a:solidFill>
                <a:latin typeface="Microsoft YaHei"/>
              </a:rPr>
              <a:t>监测到李女士 3 次登录官网保单页、停留 8 分 47 秒，但未发起操作。同时竞品官网 cookie 出现在同设备。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T-2 天</a:t>
            </a:r>
          </a:p>
        </p:txBody>
      </p:sp>
      <p:sp>
        <p:nvSpPr>
          <p:cNvPr id="19" name="Oval 18"/>
          <p:cNvSpPr/>
          <p:nvPr/>
        </p:nvSpPr>
        <p:spPr>
          <a:xfrm>
            <a:off x="1353312" y="3493008"/>
            <a:ext cx="182880" cy="182880"/>
          </a:xfrm>
          <a:prstGeom prst="ellipse">
            <a:avLst/>
          </a:prstGeom>
          <a:solidFill>
            <a:srgbClr val="FF6A00"/>
          </a:solidFill>
          <a:ln w="19050">
            <a:solidFill>
              <a:srgbClr val="0A0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383280"/>
            <a:ext cx="9966960" cy="438912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20" y="341071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FF6A00"/>
                </a:solidFill>
                <a:latin typeface="Consolas"/>
              </a:rPr>
              <a:t>PAONE · 规则引擎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355701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0E0E0"/>
                </a:solidFill>
                <a:latin typeface="Microsoft YaHei"/>
              </a:rPr>
              <a:t>自动打标「流失高风险 · 紧急」，并推单至组长工作台（而非坐席）。系统备注："建议管理层亲自介入"。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5020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T-1 天</a:t>
            </a:r>
          </a:p>
        </p:txBody>
      </p:sp>
      <p:sp>
        <p:nvSpPr>
          <p:cNvPr id="24" name="Oval 23"/>
          <p:cNvSpPr/>
          <p:nvPr/>
        </p:nvSpPr>
        <p:spPr>
          <a:xfrm>
            <a:off x="1353312" y="3995928"/>
            <a:ext cx="182880" cy="182880"/>
          </a:xfrm>
          <a:prstGeom prst="ellipse">
            <a:avLst/>
          </a:prstGeom>
          <a:solidFill>
            <a:srgbClr val="FF6A00"/>
          </a:solidFill>
          <a:ln w="19050">
            <a:solidFill>
              <a:srgbClr val="0A0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91640" y="3886200"/>
            <a:ext cx="9966960" cy="438912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20" y="39136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FF6A00"/>
                </a:solidFill>
                <a:latin typeface="Consolas"/>
              </a:rPr>
              <a:t>组长 · 情报准备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4059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0E0E0"/>
                </a:solidFill>
                <a:latin typeface="Microsoft YaHei"/>
              </a:rPr>
              <a:t>调阅客户画像，发现关键线索：3 个月前咨询过理赔但未闭环。判断真实顾虑是对理赔体验的不信任。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5312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FD666"/>
                </a:solidFill>
                <a:latin typeface="Consolas"/>
              </a:rPr>
              <a:t>T 0</a:t>
            </a:r>
          </a:p>
        </p:txBody>
      </p:sp>
      <p:sp>
        <p:nvSpPr>
          <p:cNvPr id="29" name="Oval 28"/>
          <p:cNvSpPr/>
          <p:nvPr/>
        </p:nvSpPr>
        <p:spPr>
          <a:xfrm>
            <a:off x="1353312" y="4498848"/>
            <a:ext cx="182880" cy="182880"/>
          </a:xfrm>
          <a:prstGeom prst="ellipse">
            <a:avLst/>
          </a:prstGeom>
          <a:solidFill>
            <a:srgbClr val="FFD666"/>
          </a:solidFill>
          <a:ln w="19050">
            <a:solidFill>
              <a:srgbClr val="0A0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91640" y="4389120"/>
            <a:ext cx="9966960" cy="438912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20" y="44165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FFD666"/>
                </a:solidFill>
                <a:latin typeface="Consolas"/>
              </a:rPr>
              <a:t>组长 · 亲自致电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20" y="456285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0E0E0"/>
                </a:solidFill>
                <a:latin typeface="Microsoft YaHei"/>
              </a:rPr>
              <a:t>15 分钟通话，全程不提续费。只谈三件事：①回溯理赔咨询 ②解释流程卡点并道歉 ③承诺专属服务对接。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560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52C41A"/>
                </a:solidFill>
                <a:latin typeface="Consolas"/>
              </a:rPr>
              <a:t>T+2 天</a:t>
            </a:r>
          </a:p>
        </p:txBody>
      </p:sp>
      <p:sp>
        <p:nvSpPr>
          <p:cNvPr id="34" name="Oval 33"/>
          <p:cNvSpPr/>
          <p:nvPr/>
        </p:nvSpPr>
        <p:spPr>
          <a:xfrm>
            <a:off x="1353312" y="5001768"/>
            <a:ext cx="182880" cy="182880"/>
          </a:xfrm>
          <a:prstGeom prst="ellipse">
            <a:avLst/>
          </a:prstGeom>
          <a:solidFill>
            <a:srgbClr val="52C41A"/>
          </a:solidFill>
          <a:ln w="19050">
            <a:solidFill>
              <a:srgbClr val="0A0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91640" y="4892040"/>
            <a:ext cx="9966960" cy="438912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74520" y="491947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52C41A"/>
                </a:solidFill>
                <a:latin typeface="Consolas"/>
              </a:rPr>
              <a:t>客户 · 主动回访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20" y="506577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0E0E0"/>
                </a:solidFill>
                <a:latin typeface="Microsoft YaHei"/>
              </a:rPr>
              <a:t>李女士主动来电询问续保升级方案，并提出为丈夫加保。最终签单续保 200 万 + 加保 140 万 = 340 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589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52C41A"/>
                </a:solidFill>
                <a:latin typeface="Consolas"/>
              </a:rPr>
              <a:t>T+7 天</a:t>
            </a:r>
          </a:p>
        </p:txBody>
      </p:sp>
      <p:sp>
        <p:nvSpPr>
          <p:cNvPr id="39" name="Oval 38"/>
          <p:cNvSpPr/>
          <p:nvPr/>
        </p:nvSpPr>
        <p:spPr>
          <a:xfrm>
            <a:off x="1353312" y="5504688"/>
            <a:ext cx="182880" cy="182880"/>
          </a:xfrm>
          <a:prstGeom prst="ellipse">
            <a:avLst/>
          </a:prstGeom>
          <a:solidFill>
            <a:srgbClr val="52C41A"/>
          </a:solidFill>
          <a:ln w="19050">
            <a:solidFill>
              <a:srgbClr val="0A0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691640" y="5394960"/>
            <a:ext cx="9966960" cy="438912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542239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52C41A"/>
                </a:solidFill>
                <a:latin typeface="Consolas"/>
              </a:rPr>
              <a:t>组长 · AI 喂养闭环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20" y="556869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0E0E0"/>
                </a:solidFill>
                <a:latin typeface="Microsoft YaHei"/>
              </a:rPr>
              <a:t>案例打标「高净值 · 理赔体验型流失」喂给 PAone。同类客户将被自动识别并优先推单。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98932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A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989320"/>
            <a:ext cx="28575" cy="502920"/>
          </a:xfrm>
          <a:prstGeom prst="rect">
            <a:avLst/>
          </a:prstGeom>
          <a:solidFill>
            <a:srgbClr val="FF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06247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4D4F"/>
                </a:solidFill>
                <a:latin typeface="Microsoft YaHei"/>
              </a:rPr>
              <a:t>❌ 旧模式：</a:t>
            </a:r>
            <a:r>
              <a:rPr sz="1000" b="0" i="0">
                <a:solidFill>
                  <a:srgbClr val="E0E0E0"/>
                </a:solidFill>
                <a:latin typeface="Microsoft YaHei"/>
              </a:rPr>
              <a:t>客户出现在夕会流失名单时已签他司，根因永远无法触达。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598932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081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5989320"/>
            <a:ext cx="28575" cy="502920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606247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52C41A"/>
                </a:solidFill>
                <a:latin typeface="Microsoft YaHei"/>
              </a:rPr>
              <a:t>✓ 数智指挥官：</a:t>
            </a:r>
            <a:r>
              <a:rPr sz="1000" b="0" i="0">
                <a:solidFill>
                  <a:srgbClr val="E0E0E0"/>
                </a:solidFill>
                <a:latin typeface="Microsoft YaHei"/>
              </a:rPr>
              <a:t>AI 提前 3 天预警 → 组长共情挽回 → 案例反向训练 AI。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06  /  HOW — 落地路径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三阶段 90 天，从工具接入到能力升级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蓝图再美也要脚手架。三阶段路径让数智化转型从愿景变为可排期、可验收、可复盘的行动。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64240" cy="411480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743200"/>
            <a:ext cx="8503920" cy="1905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2423160"/>
            <a:ext cx="640080" cy="640080"/>
          </a:xfrm>
          <a:prstGeom prst="ellipse">
            <a:avLst/>
          </a:prstGeom>
          <a:solidFill>
            <a:srgbClr val="151A24"/>
          </a:solidFill>
          <a:ln w="3175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423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6A00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工具接入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A6378"/>
                </a:solidFill>
                <a:latin typeface="Consolas"/>
              </a:rPr>
              <a:t>WEEK 1 —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776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14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PAone 账号与权限开通，接入团队数据源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规则引擎配置：异常推单阈值 / 通报口径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120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组长完成工具基础培训与首次诊断</a:t>
            </a:r>
          </a:p>
        </p:txBody>
      </p:sp>
      <p:sp>
        <p:nvSpPr>
          <p:cNvPr id="17" name="Oval 16"/>
          <p:cNvSpPr/>
          <p:nvPr/>
        </p:nvSpPr>
        <p:spPr>
          <a:xfrm>
            <a:off x="6035039" y="2423160"/>
            <a:ext cx="640080" cy="640080"/>
          </a:xfrm>
          <a:prstGeom prst="ellipse">
            <a:avLst/>
          </a:prstGeom>
          <a:solidFill>
            <a:srgbClr val="151A24"/>
          </a:solidFill>
          <a:ln w="3175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39" y="2423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B347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流程重塑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566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A6378"/>
                </a:solidFill>
                <a:latin typeface="Consolas"/>
              </a:rPr>
              <a:t>WEEK 3 —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19" y="39776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599" y="4114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废除人肉巡视、手工取数等旧 SOP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599" y="46177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建立 AI 初筛 + 组长精辅导 的 1V1 新机制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599" y="5120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夕会改造：从汇报型转向数据驱动决策型</a:t>
            </a:r>
          </a:p>
        </p:txBody>
      </p:sp>
      <p:sp>
        <p:nvSpPr>
          <p:cNvPr id="25" name="Oval 24"/>
          <p:cNvSpPr/>
          <p:nvPr/>
        </p:nvSpPr>
        <p:spPr>
          <a:xfrm>
            <a:off x="9784080" y="2423160"/>
            <a:ext cx="640080" cy="640080"/>
          </a:xfrm>
          <a:prstGeom prst="ellipse">
            <a:avLst/>
          </a:prstGeom>
          <a:solidFill>
            <a:srgbClr val="151A24"/>
          </a:solidFill>
          <a:ln w="317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423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能力升级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566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A6378"/>
                </a:solidFill>
                <a:latin typeface="Consolas"/>
              </a:rPr>
              <a:t>WEEK 9 — 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39776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4114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组长完成三种新角色能力认证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6177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建立 AI 语料喂养日常机制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120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0E5FF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8892B0"/>
                </a:solidFill>
                <a:latin typeface="Microsoft YaHei"/>
              </a:rPr>
              <a:t>输出首份《团队数智化复盘报告》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07  /  RESULT — 预期业绩 + 行业对标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不止是"改善"，而是站在行业前列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四个验收 KPI 配套行业基准，让每一个数字都经得起追问。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0E0E0"/>
                </a:solidFill>
                <a:latin typeface="Microsoft YaHe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高价值时间占比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00E5FF"/>
                </a:solidFill>
                <a:latin typeface="Microsoft YaHei"/>
              </a:rPr>
              <a:t>53</a:t>
            </a:r>
            <a:r>
              <a:rPr sz="1400" b="0" i="0">
                <a:solidFill>
                  <a:srgbClr val="8892B0"/>
                </a:solidFill>
                <a:latin typeface="Microsoft YaHei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Microsoft YaHei"/>
              </a:rPr>
              <a:t>从 28% 提升至 53%，带宽翻倍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01168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0E0E0"/>
                </a:solidFill>
                <a:latin typeface="Microsoft YaHei"/>
              </a:rPr>
              <a:t>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514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高风险客户挽回率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00E5FF"/>
                </a:solidFill>
                <a:latin typeface="Microsoft YaHei"/>
              </a:rPr>
              <a:t>+25</a:t>
            </a:r>
            <a:r>
              <a:rPr sz="1400" b="0" i="0">
                <a:solidFill>
                  <a:srgbClr val="8892B0"/>
                </a:solidFill>
                <a:latin typeface="Microsoft YaHei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37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Microsoft YaHei"/>
              </a:rPr>
              <a:t>组长介入 + AI 预警前置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201168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2148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0E0E0"/>
                </a:solidFill>
                <a:latin typeface="Microsoft YaHe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514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销冠话术复用率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00E5FF"/>
                </a:solidFill>
                <a:latin typeface="Microsoft YaHei"/>
              </a:rPr>
              <a:t>+40</a:t>
            </a:r>
            <a:r>
              <a:rPr sz="1400" b="0" i="0">
                <a:solidFill>
                  <a:srgbClr val="8892B0"/>
                </a:solidFill>
                <a:latin typeface="Microsoft YaHei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337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Microsoft YaHei"/>
              </a:rPr>
              <a:t>月度话术萃取入训练库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399" y="201168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399" y="2148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0E0E0"/>
                </a:solidFill>
                <a:latin typeface="Microsoft YaHei"/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399" y="2514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异常响应时效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399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00E5FF"/>
                </a:solidFill>
                <a:latin typeface="Microsoft YaHei"/>
              </a:rPr>
              <a:t>T+0</a:t>
            </a:r>
            <a:r>
              <a:rPr sz="1400" b="0" i="0">
                <a:solidFill>
                  <a:srgbClr val="8892B0"/>
                </a:solidFill>
                <a:latin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79" y="33375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Microsoft YaHei"/>
              </a:rPr>
              <a:t>从 T+1 转为实时推单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31920"/>
            <a:ext cx="11064240" cy="25603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📊 横向对标：我们相对行业的位置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38912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892B0"/>
                </a:solidFill>
                <a:latin typeface="Microsoft YaHei"/>
              </a:rPr>
              <a:t>数据来源：金融保险业服销运营基准报告 · 行业平均为呼入/服销混合型团队中位数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高价值时间占比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0916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超出行业中位数 2.4 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8892B0"/>
                </a:solidFill>
                <a:latin typeface="Microsoft YaHei"/>
              </a:rPr>
              <a:t>行业底部 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5010912"/>
            <a:ext cx="5943600" cy="137160"/>
          </a:xfrm>
          <a:prstGeom prst="rect">
            <a:avLst/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14600" y="5010912"/>
            <a:ext cx="1485900" cy="137160"/>
          </a:xfrm>
          <a:prstGeom prst="rect">
            <a:avLst/>
          </a:prstGeom>
          <a:solidFill>
            <a:srgbClr val="44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498348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E0E0E0"/>
                </a:solidFill>
                <a:latin typeface="Consolas"/>
              </a:rPr>
              <a:t>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4807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8892B0"/>
                </a:solidFill>
                <a:latin typeface="Microsoft YaHei"/>
              </a:rPr>
              <a:t>行业中位数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5175504"/>
            <a:ext cx="5943600" cy="137160"/>
          </a:xfrm>
          <a:prstGeom prst="rect">
            <a:avLst/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14600" y="5175504"/>
            <a:ext cx="2179320" cy="13716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514807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E0E0E0"/>
                </a:solidFill>
                <a:latin typeface="Consolas"/>
              </a:rPr>
              <a:t>22%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12663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00E5FF"/>
                </a:solidFill>
                <a:latin typeface="Microsoft YaHei"/>
              </a:rPr>
              <a:t>PAone 模式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5340095"/>
            <a:ext cx="5943600" cy="137160"/>
          </a:xfrm>
          <a:prstGeom prst="rect">
            <a:avLst/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14600" y="5340095"/>
            <a:ext cx="5250180" cy="1371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5312663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00E5FF"/>
                </a:solidFill>
                <a:latin typeface="Consolas"/>
              </a:rPr>
              <a:t>53%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577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销冠话术复用率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57784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892B0"/>
                </a:solidFill>
                <a:latin typeface="Microsoft YaHei"/>
              </a:rPr>
              <a:t>领先行业均值 3.3 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85216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8892B0"/>
                </a:solidFill>
                <a:latin typeface="Microsoft YaHei"/>
              </a:rPr>
              <a:t>行业底部 25%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5879592"/>
            <a:ext cx="5943600" cy="137160"/>
          </a:xfrm>
          <a:prstGeom prst="rect">
            <a:avLst/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14600" y="5879592"/>
            <a:ext cx="495300" cy="137160"/>
          </a:xfrm>
          <a:prstGeom prst="rect">
            <a:avLst/>
          </a:prstGeom>
          <a:solidFill>
            <a:srgbClr val="44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58521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E0E0E0"/>
                </a:solidFill>
                <a:latin typeface="Consolas"/>
              </a:rPr>
              <a:t>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601675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8892B0"/>
                </a:solidFill>
                <a:latin typeface="Microsoft YaHei"/>
              </a:rPr>
              <a:t>行业中位数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4600" y="6044184"/>
            <a:ext cx="5943600" cy="137160"/>
          </a:xfrm>
          <a:prstGeom prst="rect">
            <a:avLst/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14600" y="6044184"/>
            <a:ext cx="1188720" cy="13716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601675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E0E0E0"/>
                </a:solidFill>
                <a:latin typeface="Consolas"/>
              </a:rPr>
              <a:t>12%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181343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00E5FF"/>
                </a:solidFill>
                <a:latin typeface="Microsoft YaHei"/>
              </a:rPr>
              <a:t>PAone 模式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14600" y="6208775"/>
            <a:ext cx="5943600" cy="137160"/>
          </a:xfrm>
          <a:prstGeom prst="rect">
            <a:avLst/>
          </a:prstGeom>
          <a:solidFill>
            <a:srgbClr val="1F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14600" y="6208775"/>
            <a:ext cx="3962400" cy="1371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6181343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00E5FF"/>
                </a:solidFill>
                <a:latin typeface="Consolas"/>
              </a:rPr>
              <a:t>40%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6A00"/>
                </a:solidFill>
                <a:latin typeface="Consolas"/>
              </a:rPr>
              <a:t>08  /  ROI — 投入产出账本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6 个月回本，远快于行业 18 个月均值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标准中等规模团队（20 坐席 + 1 组长）的 12 个月 ROI 测算。数字为示意，需用真实数据替换。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1A1402"/>
          </a:solidFill>
          <a:ln w="9525">
            <a:solidFill>
              <a:srgbClr val="5A4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D666"/>
                </a:solidFill>
                <a:latin typeface="Consolas"/>
              </a:rPr>
              <a:t>12 个月净收益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5600" b="1" i="0">
                <a:solidFill>
                  <a:srgbClr val="FFFFFF"/>
                </a:solidFill>
                <a:latin typeface="Microsoft YaHei"/>
              </a:rPr>
              <a:t>+</a:t>
            </a:r>
            <a:r>
              <a:rPr sz="7200" b="1" i="0">
                <a:solidFill>
                  <a:srgbClr val="FFD666"/>
                </a:solidFill>
                <a:latin typeface="Microsoft YaHei"/>
              </a:rPr>
              <a:t>312</a:t>
            </a:r>
            <a:r>
              <a:rPr sz="3200" b="1" i="0">
                <a:solidFill>
                  <a:srgbClr val="FFFFFF"/>
                </a:solidFill>
                <a:latin typeface="Microsoft YaHei"/>
              </a:rPr>
              <a:t>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892B0"/>
                </a:solidFill>
                <a:latin typeface="Microsoft YaHei"/>
              </a:rPr>
              <a:t>对比传统数智化项目 </a:t>
            </a:r>
            <a:r>
              <a:rPr sz="1200" b="1" i="0">
                <a:solidFill>
                  <a:srgbClr val="FFFFFF"/>
                </a:solidFill>
                <a:latin typeface="Microsoft YaHei"/>
              </a:rPr>
              <a:t>18 个月回本周期</a:t>
            </a:r>
            <a:r>
              <a:rPr sz="1200" b="0" i="0">
                <a:solidFill>
                  <a:srgbClr val="8892B0"/>
                </a:solidFill>
                <a:latin typeface="Microsoft YaHei"/>
              </a:rPr>
              <a:t>，PAone 模式凭借低部署成本与即时业绩放大效应，</a:t>
            </a:r>
            <a:r>
              <a:rPr sz="1300" b="1" i="0">
                <a:solidFill>
                  <a:srgbClr val="FFD666"/>
                </a:solidFill>
                <a:latin typeface="Microsoft YaHei"/>
              </a:rPr>
              <a:t>6 个月即可回本</a:t>
            </a:r>
            <a:r>
              <a:rPr sz="1200" b="0" i="0">
                <a:solidFill>
                  <a:srgbClr val="8892B0"/>
                </a:solidFill>
                <a:latin typeface="Microsoft Ya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103120"/>
            <a:ext cx="5852160" cy="420624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9525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89320" y="2377440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工具部署 + 年订阅费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7744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- 48 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926080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组长 + 坐席培训成本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92608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- 15 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474720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47472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高风险客户挽回增量（+25%）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47472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52C41A"/>
                </a:solidFill>
                <a:latin typeface="Consolas"/>
              </a:rPr>
              <a:t>+ 180 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4023360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0233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话术复用带来转化率提升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02336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52C41A"/>
                </a:solidFill>
                <a:latin typeface="Consolas"/>
              </a:rPr>
              <a:t>+ 125 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572000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5720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892B0"/>
                </a:solidFill>
                <a:latin typeface="Microsoft YaHei"/>
              </a:rPr>
              <a:t>组长带宽释放（机会成本）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57200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52C41A"/>
                </a:solidFill>
                <a:latin typeface="Consolas"/>
              </a:rPr>
              <a:t>+ 70 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5120640"/>
            <a:ext cx="5394960" cy="640080"/>
          </a:xfrm>
          <a:prstGeom prst="roundRect">
            <a:avLst>
              <a:gd name="adj" fmla="val 15000"/>
            </a:avLst>
          </a:prstGeom>
          <a:solidFill>
            <a:srgbClr val="062A0A"/>
          </a:solidFill>
          <a:ln w="9525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12064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12 个月净收益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120640"/>
            <a:ext cx="5257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1" i="0">
                <a:solidFill>
                  <a:srgbClr val="52C41A"/>
                </a:solidFill>
                <a:latin typeface="Consolas"/>
              </a:rPr>
              <a:t>+ 312 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A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PAONE × 服销现管 · 数智化转型白皮书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A6378"/>
                </a:solidFill>
                <a:latin typeface="Consolas"/>
              </a:rPr>
              <a:t>11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914400"/>
            <a:ext cx="5760720" cy="5029200"/>
          </a:xfrm>
          <a:prstGeom prst="ellipse">
            <a:avLst/>
          </a:prstGeom>
          <a:solidFill>
            <a:srgbClr val="0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600" b="1" i="0">
                <a:solidFill>
                  <a:srgbClr val="00E5FF"/>
                </a:solidFill>
                <a:latin typeface="Microsoft YaHei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2400" b="0" i="0">
                <a:solidFill>
                  <a:srgbClr val="FFFFFF"/>
                </a:solidFill>
                <a:latin typeface="Microsoft YaHei"/>
              </a:rPr>
              <a:t>引入 PAone 之后，现管岗位不仅是减负，</a:t>
            </a:r>
          </a:p>
          <a:p>
            <a:pPr algn="ctr">
              <a:lnSpc>
                <a:spcPct val="170000"/>
              </a:lnSpc>
            </a:pPr>
            <a:r>
              <a:rPr sz="2400" b="0" i="0">
                <a:solidFill>
                  <a:srgbClr val="FFFFFF"/>
                </a:solidFill>
                <a:latin typeface="Microsoft YaHei"/>
              </a:rPr>
              <a:t>更是 </a:t>
            </a:r>
            <a:r>
              <a:rPr sz="2600" b="1" i="0">
                <a:solidFill>
                  <a:srgbClr val="00E5FF"/>
                </a:solidFill>
                <a:latin typeface="Microsoft YaHei"/>
              </a:rPr>
              <a:t>从"管事"向"理人"的质变</a:t>
            </a:r>
            <a:r>
              <a:rPr sz="2400" b="0" i="0">
                <a:solidFill>
                  <a:srgbClr val="FFFFFF"/>
                </a:solidFill>
                <a:latin typeface="Microsoft YaHei"/>
              </a:rPr>
              <a:t>。</a:t>
            </a:r>
          </a:p>
          <a:p>
            <a:pPr algn="ctr">
              <a:lnSpc>
                <a:spcPct val="170000"/>
              </a:lnSpc>
            </a:pPr>
          </a:p>
          <a:p>
            <a:pPr algn="ctr">
              <a:lnSpc>
                <a:spcPct val="170000"/>
              </a:lnSpc>
            </a:pPr>
            <a:r>
              <a:rPr sz="2000" b="0" i="0">
                <a:solidFill>
                  <a:srgbClr val="E0E0E0"/>
                </a:solidFill>
                <a:latin typeface="Microsoft YaHei"/>
              </a:rPr>
              <a:t>组长不再是"管 10 个人的监工"，</a:t>
            </a:r>
          </a:p>
          <a:p>
            <a:pPr algn="ctr">
              <a:lnSpc>
                <a:spcPct val="170000"/>
              </a:lnSpc>
            </a:pPr>
            <a:r>
              <a:rPr sz="2000" b="0" i="0">
                <a:solidFill>
                  <a:srgbClr val="E0E0E0"/>
                </a:solidFill>
                <a:latin typeface="Microsoft YaHei"/>
              </a:rPr>
              <a:t>而是 </a:t>
            </a:r>
            <a:r>
              <a:rPr sz="2200" b="1" i="0">
                <a:solidFill>
                  <a:srgbClr val="FF6A00"/>
                </a:solidFill>
                <a:latin typeface="Microsoft YaHei"/>
              </a:rPr>
              <a:t>指挥 10 人 + 1 个 AI 军团</a:t>
            </a:r>
            <a:r>
              <a:rPr sz="2000" b="0" i="0">
                <a:solidFill>
                  <a:srgbClr val="E0E0E0"/>
                </a:solidFill>
                <a:latin typeface="Microsoft YaHei"/>
              </a:rPr>
              <a:t> 的 </a:t>
            </a:r>
            <a:r>
              <a:rPr sz="2200" b="1" i="0">
                <a:solidFill>
                  <a:srgbClr val="00E5FF"/>
                </a:solidFill>
                <a:latin typeface="Microsoft YaHei"/>
              </a:rPr>
              <a:t>微型业务总经理</a:t>
            </a:r>
            <a:r>
              <a:rPr sz="2000" b="0" i="0">
                <a:solidFill>
                  <a:srgbClr val="E0E0E0"/>
                </a:solidFill>
                <a:latin typeface="Microsoft YaHei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943600"/>
            <a:ext cx="6675120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A6378"/>
                </a:solidFill>
                <a:latin typeface="Consolas"/>
              </a:rPr>
              <a:t>— THE NEW PARADIGM OF SALES-SERVICE MANAGEMENT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5A6378"/>
                </a:solidFill>
                <a:latin typeface="Consolas"/>
              </a:rPr>
              <a:t>END /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