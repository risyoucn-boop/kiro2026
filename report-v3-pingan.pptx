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E7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4114800" cy="6748272"/>
          </a:xfrm>
          <a:prstGeom prst="rect">
            <a:avLst/>
          </a:prstGeom>
          <a:solidFill>
            <a:srgbClr val="EE7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ight Triangle 4"/>
          <p:cNvSpPr/>
          <p:nvPr/>
        </p:nvSpPr>
        <p:spPr>
          <a:xfrm rot="5400000">
            <a:off x="4114800" y="109728"/>
            <a:ext cx="1097280" cy="6748272"/>
          </a:xfrm>
          <a:prstGeom prst="rtTriangle">
            <a:avLst/>
          </a:prstGeom>
          <a:solidFill>
            <a:srgbClr val="EE7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FFFFFF"/>
                </a:solidFill>
                <a:latin typeface="Consolas"/>
              </a:rPr>
              <a:t>PING AN · PAone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25880"/>
            <a:ext cx="548640" cy="19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55448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Microsoft YaHei"/>
              </a:rPr>
              <a:t>白皮书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486400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onsolas"/>
              </a:rPr>
              <a:t>WHITEPAPER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806440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Microsoft YaHei"/>
              </a:rPr>
              <a:t>服销团队长数字化落地研究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0" y="1463040"/>
            <a:ext cx="6217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EE7723"/>
                </a:solidFill>
                <a:latin typeface="Consolas"/>
              </a:rPr>
              <a:t>PAone × 服销现管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0" y="1874519"/>
            <a:ext cx="640080" cy="28575"/>
          </a:xfrm>
          <a:prstGeom prst="rect">
            <a:avLst/>
          </a:prstGeom>
          <a:solidFill>
            <a:srgbClr val="EE7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0" y="2103120"/>
            <a:ext cx="62179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5400" b="1" i="0">
                <a:solidFill>
                  <a:srgbClr val="1A1D29"/>
                </a:solidFill>
                <a:latin typeface="Microsoft YaHei"/>
              </a:rPr>
              <a:t>现管再造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3063240"/>
            <a:ext cx="621792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b="0" i="0">
                <a:solidFill>
                  <a:srgbClr val="333847"/>
                </a:solidFill>
                <a:latin typeface="Microsoft YaHei"/>
              </a:rPr>
              <a:t>当 </a:t>
            </a:r>
            <a:r>
              <a:rPr sz="2400" b="1" i="0">
                <a:solidFill>
                  <a:srgbClr val="EE7723"/>
                </a:solidFill>
                <a:latin typeface="Microsoft YaHei"/>
              </a:rPr>
              <a:t>PAone</a:t>
            </a:r>
            <a:r>
              <a:rPr sz="2400" b="0" i="0">
                <a:solidFill>
                  <a:srgbClr val="333847"/>
                </a:solidFill>
                <a:latin typeface="Microsoft YaHei"/>
              </a:rPr>
              <a:t> 接管机械劳动，</a:t>
            </a:r>
          </a:p>
          <a:p>
            <a:pPr algn="l">
              <a:lnSpc>
                <a:spcPct val="140000"/>
              </a:lnSpc>
            </a:pPr>
            <a:r>
              <a:rPr sz="2400" b="0" i="0">
                <a:solidFill>
                  <a:srgbClr val="333847"/>
                </a:solidFill>
                <a:latin typeface="Microsoft YaHei"/>
              </a:rPr>
              <a:t>组长该 </a:t>
            </a:r>
            <a:r>
              <a:rPr sz="2600" b="1" i="0">
                <a:solidFill>
                  <a:srgbClr val="C95A0F"/>
                </a:solidFill>
                <a:latin typeface="Microsoft YaHei"/>
              </a:rPr>
              <a:t>去哪里？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0" y="4846320"/>
            <a:ext cx="3657600" cy="9525"/>
          </a:xfrm>
          <a:prstGeom prst="rect">
            <a:avLst/>
          </a:prstGeom>
          <a:solidFill>
            <a:srgbClr val="C9C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0" y="4983480"/>
            <a:ext cx="6217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6B7280"/>
                </a:solidFill>
                <a:latin typeface="Consolas"/>
              </a:rPr>
              <a:t>FROM LABOR-INTENSIVE TO INTELLIGENCE-DRIVEN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0" y="5349240"/>
            <a:ext cx="6217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333847"/>
                </a:solidFill>
                <a:latin typeface="Microsoft YaHei"/>
              </a:rPr>
              <a:t>量化收益  ·  角色新范式  ·  实战案例  ·  行业对标  ·  ROI 账本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6263640"/>
            <a:ext cx="6217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9AA0AC"/>
                </a:solidFill>
                <a:latin typeface="Consolas"/>
              </a:rPr>
              <a:t>PING AN · INTERNAL WHITEPAPER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EE7723"/>
                </a:solidFill>
                <a:latin typeface="Consolas"/>
              </a:rPr>
              <a:t>CONTENTS  /  目录 / 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22960"/>
            <a:ext cx="502920" cy="38100"/>
          </a:xfrm>
          <a:prstGeom prst="rect">
            <a:avLst/>
          </a:prstGeom>
          <a:solidFill>
            <a:srgbClr val="EE7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1" i="0">
                <a:solidFill>
                  <a:srgbClr val="1A1D29"/>
                </a:solidFill>
                <a:latin typeface="Microsoft YaHei"/>
              </a:rPr>
              <a:t>七个章节，一条从困境到回报的完整叙事链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544068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37360"/>
            <a:ext cx="38100" cy="960120"/>
          </a:xfrm>
          <a:prstGeom prst="rect">
            <a:avLst/>
          </a:prstGeom>
          <a:solidFill>
            <a:srgbClr val="EE7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65376"/>
            <a:ext cx="777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600" b="1" i="0">
                <a:solidFill>
                  <a:srgbClr val="EE7723"/>
                </a:solidFill>
                <a:latin typeface="Consola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331720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1" i="0">
                <a:solidFill>
                  <a:srgbClr val="9AA0AC"/>
                </a:solidFill>
                <a:latin typeface="Consolas"/>
              </a:rPr>
              <a:t>WHY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1938528"/>
            <a:ext cx="3886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 i="0">
                <a:solidFill>
                  <a:srgbClr val="1A1D29"/>
                </a:solidFill>
                <a:latin typeface="Microsoft YaHei"/>
              </a:rPr>
              <a:t>困境诊断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2304288"/>
            <a:ext cx="3886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6B7280"/>
                </a:solidFill>
                <a:latin typeface="Microsoft YaHei"/>
              </a:rPr>
              <a:t>组长的一天，为什么总是很忙却没干成事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737360"/>
            <a:ext cx="544068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737360"/>
            <a:ext cx="38100" cy="960120"/>
          </a:xfrm>
          <a:prstGeom prst="rect">
            <a:avLst/>
          </a:prstGeom>
          <a:solidFill>
            <a:srgbClr val="EE7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865376"/>
            <a:ext cx="777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600" b="1" i="0">
                <a:solidFill>
                  <a:srgbClr val="EE7723"/>
                </a:solidFill>
                <a:latin typeface="Consola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331720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1" i="0">
                <a:solidFill>
                  <a:srgbClr val="9AA0AC"/>
                </a:solidFill>
                <a:latin typeface="Consolas"/>
              </a:rPr>
              <a:t>WHAT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35240" y="1938528"/>
            <a:ext cx="3886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 i="0">
                <a:solidFill>
                  <a:srgbClr val="1A1D29"/>
                </a:solidFill>
                <a:latin typeface="Microsoft YaHei"/>
              </a:rPr>
              <a:t>量化收益账本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35240" y="2304288"/>
            <a:ext cx="3886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6B7280"/>
                </a:solidFill>
                <a:latin typeface="Microsoft YaHei"/>
              </a:rPr>
              <a:t>总工时未减，但管理带宽正在结构性迁徙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2816352"/>
            <a:ext cx="544068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2816352"/>
            <a:ext cx="38100" cy="960120"/>
          </a:xfrm>
          <a:prstGeom prst="rect">
            <a:avLst/>
          </a:prstGeom>
          <a:solidFill>
            <a:srgbClr val="EE7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2944368"/>
            <a:ext cx="777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600" b="1" i="0">
                <a:solidFill>
                  <a:srgbClr val="EE7723"/>
                </a:solidFill>
                <a:latin typeface="Consola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3410712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1" i="0">
                <a:solidFill>
                  <a:srgbClr val="9AA0AC"/>
                </a:solidFill>
                <a:latin typeface="Consolas"/>
              </a:rPr>
              <a:t>WHO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0" y="3017520"/>
            <a:ext cx="3886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 i="0">
                <a:solidFill>
                  <a:srgbClr val="1A1D29"/>
                </a:solidFill>
                <a:latin typeface="Microsoft YaHei"/>
              </a:rPr>
              <a:t>角色新范式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0" y="3383280"/>
            <a:ext cx="3886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6B7280"/>
                </a:solidFill>
                <a:latin typeface="Microsoft YaHei"/>
              </a:rPr>
              <a:t>组长不再是监工，而是数智指挥官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2816352"/>
            <a:ext cx="544068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63640" y="2816352"/>
            <a:ext cx="38100" cy="960120"/>
          </a:xfrm>
          <a:prstGeom prst="rect">
            <a:avLst/>
          </a:prstGeom>
          <a:solidFill>
            <a:srgbClr val="EE7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2944368"/>
            <a:ext cx="777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600" b="1" i="0">
                <a:solidFill>
                  <a:srgbClr val="EE7723"/>
                </a:solidFill>
                <a:latin typeface="Consolas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3410712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1" i="0">
                <a:solidFill>
                  <a:srgbClr val="9AA0AC"/>
                </a:solidFill>
                <a:latin typeface="Consolas"/>
              </a:rPr>
              <a:t>PLAYBOOK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35240" y="3017520"/>
            <a:ext cx="3886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 i="0">
                <a:solidFill>
                  <a:srgbClr val="1A1D29"/>
                </a:solidFill>
                <a:latin typeface="Microsoft YaHei"/>
              </a:rPr>
              <a:t>话术萃取实战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35240" y="3383280"/>
            <a:ext cx="3886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6B7280"/>
                </a:solidFill>
                <a:latin typeface="Microsoft YaHei"/>
              </a:rPr>
              <a:t>从"客户说再考虑一下"看情报官价值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3895344"/>
            <a:ext cx="544068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0080" y="3895344"/>
            <a:ext cx="38100" cy="960120"/>
          </a:xfrm>
          <a:prstGeom prst="rect">
            <a:avLst/>
          </a:prstGeom>
          <a:solidFill>
            <a:srgbClr val="EE7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4023360"/>
            <a:ext cx="777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600" b="1" i="0">
                <a:solidFill>
                  <a:srgbClr val="EE7723"/>
                </a:solidFill>
                <a:latin typeface="Consolas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" y="4489704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1" i="0">
                <a:solidFill>
                  <a:srgbClr val="9AA0AC"/>
                </a:solidFill>
                <a:latin typeface="Consolas"/>
              </a:rPr>
              <a:t>CASE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11680" y="4096512"/>
            <a:ext cx="3886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 i="0">
                <a:solidFill>
                  <a:srgbClr val="1A1D29"/>
                </a:solidFill>
                <a:latin typeface="Microsoft YaHei"/>
              </a:rPr>
              <a:t>真实挽回案例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11680" y="4462272"/>
            <a:ext cx="3886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6B7280"/>
                </a:solidFill>
                <a:latin typeface="Microsoft YaHei"/>
              </a:rPr>
              <a:t>6 天的故事：AI 预警 × 组长介入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63640" y="3895344"/>
            <a:ext cx="544068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263640" y="3895344"/>
            <a:ext cx="38100" cy="960120"/>
          </a:xfrm>
          <a:prstGeom prst="rect">
            <a:avLst/>
          </a:prstGeom>
          <a:solidFill>
            <a:srgbClr val="EE7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92240" y="4023360"/>
            <a:ext cx="777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600" b="1" i="0">
                <a:solidFill>
                  <a:srgbClr val="EE7723"/>
                </a:solidFill>
                <a:latin typeface="Consolas"/>
              </a:rPr>
              <a:t>06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92240" y="4489704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1" i="0">
                <a:solidFill>
                  <a:srgbClr val="9AA0AC"/>
                </a:solidFill>
                <a:latin typeface="Consolas"/>
              </a:rPr>
              <a:t>HOW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35240" y="4096512"/>
            <a:ext cx="3886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 i="0">
                <a:solidFill>
                  <a:srgbClr val="1A1D29"/>
                </a:solidFill>
                <a:latin typeface="Microsoft YaHei"/>
              </a:rPr>
              <a:t>90 天落地路径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35240" y="4462272"/>
            <a:ext cx="3886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6B7280"/>
                </a:solidFill>
                <a:latin typeface="Microsoft YaHei"/>
              </a:rPr>
              <a:t>从工具接入到能力升级的三阶段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0080" y="4974336"/>
            <a:ext cx="544068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40080" y="4974336"/>
            <a:ext cx="38100" cy="960120"/>
          </a:xfrm>
          <a:prstGeom prst="rect">
            <a:avLst/>
          </a:prstGeom>
          <a:solidFill>
            <a:srgbClr val="EE7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68680" y="5102352"/>
            <a:ext cx="777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600" b="1" i="0">
                <a:solidFill>
                  <a:srgbClr val="EE7723"/>
                </a:solidFill>
                <a:latin typeface="Consolas"/>
              </a:rPr>
              <a:t>07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8680" y="5568696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1" i="0">
                <a:solidFill>
                  <a:srgbClr val="9AA0AC"/>
                </a:solidFill>
                <a:latin typeface="Consolas"/>
              </a:rPr>
              <a:t>RESULT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011680" y="5175504"/>
            <a:ext cx="3886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 i="0">
                <a:solidFill>
                  <a:srgbClr val="1A1D29"/>
                </a:solidFill>
                <a:latin typeface="Microsoft YaHei"/>
              </a:rPr>
              <a:t>KPI + 行业对标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011680" y="5541264"/>
            <a:ext cx="3886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6B7280"/>
                </a:solidFill>
                <a:latin typeface="Microsoft YaHei"/>
              </a:rPr>
              <a:t>不止是改善，而是站在行业前列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263640" y="4974336"/>
            <a:ext cx="544068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263640" y="4974336"/>
            <a:ext cx="38100" cy="960120"/>
          </a:xfrm>
          <a:prstGeom prst="rect">
            <a:avLst/>
          </a:prstGeom>
          <a:solidFill>
            <a:srgbClr val="EE7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92240" y="5102352"/>
            <a:ext cx="777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600" b="1" i="0">
                <a:solidFill>
                  <a:srgbClr val="EE7723"/>
                </a:solidFill>
                <a:latin typeface="Consolas"/>
              </a:rPr>
              <a:t>08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92240" y="5568696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1" i="0">
                <a:solidFill>
                  <a:srgbClr val="9AA0AC"/>
                </a:solidFill>
                <a:latin typeface="Consolas"/>
              </a:rPr>
              <a:t>ROI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635240" y="5175504"/>
            <a:ext cx="3886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 i="0">
                <a:solidFill>
                  <a:srgbClr val="1A1D29"/>
                </a:solidFill>
                <a:latin typeface="Microsoft YaHei"/>
              </a:rPr>
              <a:t>投入产出账本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635240" y="5541264"/>
            <a:ext cx="3886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6B7280"/>
                </a:solidFill>
                <a:latin typeface="Microsoft YaHei"/>
              </a:rPr>
              <a:t>6 个月回本，远快于行业均值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40080" y="6510528"/>
            <a:ext cx="10881360" cy="9525"/>
          </a:xfrm>
          <a:prstGeom prst="rect">
            <a:avLst/>
          </a:prstGeom>
          <a:solidFill>
            <a:srgbClr val="E4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640080" y="6629400"/>
            <a:ext cx="109728" cy="109728"/>
          </a:xfrm>
          <a:prstGeom prst="ellipse">
            <a:avLst/>
          </a:prstGeom>
          <a:solidFill>
            <a:srgbClr val="EE7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22960" y="6601968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9AA0AC"/>
                </a:solidFill>
                <a:latin typeface="Consolas"/>
              </a:rPr>
              <a:t>PAONE · 服销现管数智化转型白皮书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601200" y="6601968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0" i="0">
                <a:solidFill>
                  <a:srgbClr val="9AA0AC"/>
                </a:solidFill>
                <a:latin typeface="Consolas"/>
              </a:rPr>
              <a:t>02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EE7723"/>
                </a:solidFill>
                <a:latin typeface="Consolas"/>
              </a:rPr>
              <a:t>01  /  WHY — 困境诊断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22960"/>
            <a:ext cx="502920" cy="38100"/>
          </a:xfrm>
          <a:prstGeom prst="rect">
            <a:avLst/>
          </a:prstGeom>
          <a:solidFill>
            <a:srgbClr val="EE7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1" i="0">
                <a:solidFill>
                  <a:srgbClr val="1A1D29"/>
                </a:solidFill>
                <a:latin typeface="Microsoft YaHei"/>
              </a:rPr>
              <a:t>组长的一天，为什么总是"很忙却没干成事"？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6B7280"/>
                </a:solidFill>
                <a:latin typeface="Microsoft YaHei"/>
              </a:rPr>
              <a:t>直面当下现管岗位的三重结构性痛点 —— 这不是个人能力问题，而是工具缺位下的必然。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286000"/>
            <a:ext cx="3566160" cy="3840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286000"/>
            <a:ext cx="3566160" cy="73152"/>
          </a:xfrm>
          <a:prstGeom prst="rect">
            <a:avLst/>
          </a:prstGeom>
          <a:solidFill>
            <a:srgbClr val="EE7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606040"/>
            <a:ext cx="13716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4400" b="1" i="0">
                <a:solidFill>
                  <a:srgbClr val="EE7723"/>
                </a:solidFill>
                <a:latin typeface="Consolas"/>
              </a:rPr>
              <a:t>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05840" y="3840480"/>
            <a:ext cx="457200" cy="28575"/>
          </a:xfrm>
          <a:prstGeom prst="rect">
            <a:avLst/>
          </a:prstGeom>
          <a:solidFill>
            <a:srgbClr val="EE7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42900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1A1D29"/>
                </a:solidFill>
                <a:latin typeface="Microsoft YaHei"/>
              </a:rPr>
              <a:t>时间黑洞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069080"/>
            <a:ext cx="28346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200" b="0" i="0">
                <a:solidFill>
                  <a:srgbClr val="6B7280"/>
                </a:solidFill>
                <a:latin typeface="Microsoft YaHei"/>
              </a:rPr>
              <a:t>日均工时中超过 60% 被消耗在"捞数据、做表格、人肉盯盘"等低价值机械劳动上，真正用于业务思考与团队辅导的时间被严重挤压。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" y="5532120"/>
            <a:ext cx="2834640" cy="384048"/>
          </a:xfrm>
          <a:prstGeom prst="roundRect">
            <a:avLst>
              <a:gd name="adj" fmla="val 40000"/>
            </a:avLst>
          </a:prstGeom>
          <a:solidFill>
            <a:srgbClr val="FD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5532120"/>
            <a:ext cx="2834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1" i="0">
                <a:solidFill>
                  <a:srgbClr val="C95A0F"/>
                </a:solidFill>
                <a:latin typeface="Consolas"/>
              </a:rPr>
              <a:t>&gt; 350 min / 天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34840" y="2286000"/>
            <a:ext cx="3566160" cy="3840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34840" y="2286000"/>
            <a:ext cx="3566160" cy="73152"/>
          </a:xfrm>
          <a:prstGeom prst="rect">
            <a:avLst/>
          </a:prstGeom>
          <a:solidFill>
            <a:srgbClr val="EE7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00600" y="2606040"/>
            <a:ext cx="13716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4400" b="1" i="0">
                <a:solidFill>
                  <a:srgbClr val="EE7723"/>
                </a:solidFill>
                <a:latin typeface="Consolas"/>
              </a:rPr>
              <a:t>02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00600" y="3840480"/>
            <a:ext cx="457200" cy="28575"/>
          </a:xfrm>
          <a:prstGeom prst="rect">
            <a:avLst/>
          </a:prstGeom>
          <a:solidFill>
            <a:srgbClr val="EE7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00600" y="342900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1A1D29"/>
                </a:solidFill>
                <a:latin typeface="Microsoft YaHei"/>
              </a:rPr>
              <a:t>辅导失焦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00600" y="4069080"/>
            <a:ext cx="28346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200" b="0" i="0">
                <a:solidFill>
                  <a:srgbClr val="6B7280"/>
                </a:solidFill>
                <a:latin typeface="Microsoft YaHei"/>
              </a:rPr>
              <a:t>1V1 沟通缺少数据抓手，常常沦为"泛泛谈心、打鸡血"。组长无法精准定位坐席能力短板，更难以提供可执行的话术级辅导。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800600" y="5532120"/>
            <a:ext cx="2834640" cy="384048"/>
          </a:xfrm>
          <a:prstGeom prst="roundRect">
            <a:avLst>
              <a:gd name="adj" fmla="val 40000"/>
            </a:avLst>
          </a:prstGeom>
          <a:solidFill>
            <a:srgbClr val="FD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00600" y="5532120"/>
            <a:ext cx="2834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1" i="0">
                <a:solidFill>
                  <a:srgbClr val="C95A0F"/>
                </a:solidFill>
                <a:latin typeface="Consolas"/>
              </a:rPr>
              <a:t>165 min / 天 低效投入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0" y="2286000"/>
            <a:ext cx="3566160" cy="3840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29600" y="2286000"/>
            <a:ext cx="3566160" cy="73152"/>
          </a:xfrm>
          <a:prstGeom prst="rect">
            <a:avLst/>
          </a:prstGeom>
          <a:solidFill>
            <a:srgbClr val="EE7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95360" y="2606040"/>
            <a:ext cx="13716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4400" b="1" i="0">
                <a:solidFill>
                  <a:srgbClr val="EE7723"/>
                </a:solidFill>
                <a:latin typeface="Consolas"/>
              </a:rPr>
              <a:t>03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595360" y="3840480"/>
            <a:ext cx="457200" cy="28575"/>
          </a:xfrm>
          <a:prstGeom prst="rect">
            <a:avLst/>
          </a:prstGeom>
          <a:solidFill>
            <a:srgbClr val="EE7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95360" y="342900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1A1D29"/>
                </a:solidFill>
                <a:latin typeface="Microsoft YaHei"/>
              </a:rPr>
              <a:t>决策滞后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0" y="4069080"/>
            <a:ext cx="28346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200" b="0" i="0">
                <a:solidFill>
                  <a:srgbClr val="6B7280"/>
                </a:solidFill>
                <a:latin typeface="Microsoft YaHei"/>
              </a:rPr>
              <a:t>问题发现严重依赖夕会复盘，而非实时感知。当异常数据出现在报表上时，最佳干预窗口往往已经关闭，组长被迫陷入"事后救火"的被动循环。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595360" y="5532120"/>
            <a:ext cx="2834640" cy="384048"/>
          </a:xfrm>
          <a:prstGeom prst="roundRect">
            <a:avLst>
              <a:gd name="adj" fmla="val 40000"/>
            </a:avLst>
          </a:prstGeom>
          <a:solidFill>
            <a:srgbClr val="FD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95360" y="5532120"/>
            <a:ext cx="2834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1" i="0">
                <a:solidFill>
                  <a:srgbClr val="C95A0F"/>
                </a:solidFill>
                <a:latin typeface="Consolas"/>
              </a:rPr>
              <a:t>T+1 响应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6510528"/>
            <a:ext cx="10881360" cy="9525"/>
          </a:xfrm>
          <a:prstGeom prst="rect">
            <a:avLst/>
          </a:prstGeom>
          <a:solidFill>
            <a:srgbClr val="E4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40080" y="6629400"/>
            <a:ext cx="109728" cy="109728"/>
          </a:xfrm>
          <a:prstGeom prst="ellipse">
            <a:avLst/>
          </a:prstGeom>
          <a:solidFill>
            <a:srgbClr val="EE7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" y="6601968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9AA0AC"/>
                </a:solidFill>
                <a:latin typeface="Consolas"/>
              </a:rPr>
              <a:t>PAONE · 服销现管数智化转型白皮书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0" y="6601968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0" i="0">
                <a:solidFill>
                  <a:srgbClr val="9AA0AC"/>
                </a:solidFill>
                <a:latin typeface="Consolas"/>
              </a:rPr>
              <a:t>03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EE7723"/>
                </a:solidFill>
                <a:latin typeface="Consolas"/>
              </a:rPr>
              <a:t>02  /  WHAT — 量化收益账本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22960"/>
            <a:ext cx="502920" cy="38100"/>
          </a:xfrm>
          <a:prstGeom prst="rect">
            <a:avLst/>
          </a:prstGeom>
          <a:solidFill>
            <a:srgbClr val="EE7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1" i="0">
                <a:solidFill>
                  <a:srgbClr val="1A1D29"/>
                </a:solidFill>
                <a:latin typeface="Microsoft YaHei"/>
              </a:rPr>
              <a:t>总工时未减，但管理带宽正在"结构性迁徙"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6B7280"/>
                </a:solidFill>
                <a:latin typeface="Microsoft YaHei"/>
              </a:rPr>
              <a:t>引入 PAone 后，组长总工时并没有减少。真正发生的是时间从机械劳动迁徙到了高价值辅导。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148840"/>
            <a:ext cx="10881360" cy="4206240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 w="9525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423160"/>
            <a:ext cx="108813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4000" b="1" i="0">
                <a:solidFill>
                  <a:srgbClr val="EE7723"/>
                </a:solidFill>
                <a:latin typeface="Microsoft YaHei"/>
              </a:rPr>
              <a:t>585 min </a:t>
            </a:r>
            <a:r>
              <a:rPr sz="4000" b="1" i="0">
                <a:solidFill>
                  <a:srgbClr val="9AA0AC"/>
                </a:solidFill>
                <a:latin typeface="Microsoft YaHei"/>
              </a:rPr>
              <a:t>=</a:t>
            </a:r>
            <a:r>
              <a:rPr sz="4000" b="1" i="0">
                <a:solidFill>
                  <a:srgbClr val="EE7723"/>
                </a:solidFill>
                <a:latin typeface="Microsoft YaHei"/>
              </a:rPr>
              <a:t> 585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15468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0" i="0">
                <a:solidFill>
                  <a:srgbClr val="6B7280"/>
                </a:solidFill>
                <a:latin typeface="Microsoft YaHei"/>
              </a:rPr>
              <a:t>旧模式与新模式 </a:t>
            </a:r>
            <a:r>
              <a:rPr sz="1200" b="1" i="0">
                <a:solidFill>
                  <a:srgbClr val="1A1D29"/>
                </a:solidFill>
                <a:latin typeface="Microsoft YaHei"/>
              </a:rPr>
              <a:t>总工时完全相等</a:t>
            </a:r>
            <a:r>
              <a:rPr sz="1200" b="0" i="0">
                <a:solidFill>
                  <a:srgbClr val="6B7280"/>
                </a:solidFill>
                <a:latin typeface="Microsoft YaHei"/>
              </a:rPr>
              <a:t>，但时间结构发生质变：高价值投入从 28% 提升至 </a:t>
            </a:r>
            <a:r>
              <a:rPr sz="1300" b="1" i="0">
                <a:solidFill>
                  <a:srgbClr val="EE7723"/>
                </a:solidFill>
                <a:latin typeface="Microsoft YaHei"/>
              </a:rPr>
              <a:t>53%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794760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6B7280"/>
                </a:solidFill>
                <a:latin typeface="Consolas"/>
              </a:rPr>
              <a:t>旧模式 · 劳动密集型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794760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1" i="0">
                <a:solidFill>
                  <a:srgbClr val="1A1D29"/>
                </a:solidFill>
                <a:latin typeface="Microsoft YaHei"/>
              </a:rPr>
              <a:t>Total: 585 min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0" y="4114800"/>
            <a:ext cx="482990" cy="502920"/>
          </a:xfrm>
          <a:prstGeom prst="rect">
            <a:avLst/>
          </a:prstGeom>
          <a:solidFill>
            <a:srgbClr val="F7A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4114800"/>
            <a:ext cx="48299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1" i="0">
                <a:solidFill>
                  <a:srgbClr val="FFFFFF"/>
                </a:solidFill>
                <a:latin typeface="Microsoft YaHei"/>
              </a:rPr>
              <a:t>碎片 30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54590" y="4114800"/>
            <a:ext cx="2495452" cy="502920"/>
          </a:xfrm>
          <a:prstGeom prst="rect">
            <a:avLst/>
          </a:prstGeom>
          <a:solidFill>
            <a:srgbClr val="F5B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54590" y="4114800"/>
            <a:ext cx="2495452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1" i="0">
                <a:solidFill>
                  <a:srgbClr val="333333"/>
                </a:solidFill>
                <a:latin typeface="Microsoft YaHei"/>
              </a:rPr>
              <a:t>数据盘点 155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50042" y="4114800"/>
            <a:ext cx="2656449" cy="502920"/>
          </a:xfrm>
          <a:prstGeom prst="rect">
            <a:avLst/>
          </a:prstGeom>
          <a:solidFill>
            <a:srgbClr val="EE7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50042" y="4114800"/>
            <a:ext cx="2656449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1" i="0">
                <a:solidFill>
                  <a:srgbClr val="FFFFFF"/>
                </a:solidFill>
                <a:latin typeface="Microsoft YaHei"/>
              </a:rPr>
              <a:t>核心辅导 165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006491" y="4114800"/>
            <a:ext cx="3783427" cy="502920"/>
          </a:xfrm>
          <a:prstGeom prst="rect">
            <a:avLst/>
          </a:prstGeom>
          <a:solidFill>
            <a:srgbClr val="C9C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06491" y="4114800"/>
            <a:ext cx="3783427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1" i="0">
                <a:solidFill>
                  <a:srgbClr val="333847"/>
                </a:solidFill>
                <a:latin typeface="Microsoft YaHei"/>
              </a:rPr>
              <a:t>会议协同 235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846320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6B7280"/>
                </a:solidFill>
                <a:latin typeface="Consolas"/>
              </a:rPr>
              <a:t>新模式 · 数智驱动型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846320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1" i="0">
                <a:solidFill>
                  <a:srgbClr val="1A1D29"/>
                </a:solidFill>
                <a:latin typeface="Microsoft YaHei"/>
              </a:rPr>
              <a:t>Total: 585 min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371600" y="5166360"/>
            <a:ext cx="80498" cy="502920"/>
          </a:xfrm>
          <a:prstGeom prst="rect">
            <a:avLst/>
          </a:prstGeom>
          <a:solidFill>
            <a:srgbClr val="F7A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71600" y="5166360"/>
            <a:ext cx="8049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1" i="0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452098" y="5166360"/>
            <a:ext cx="563489" cy="502920"/>
          </a:xfrm>
          <a:prstGeom prst="rect">
            <a:avLst/>
          </a:prstGeom>
          <a:solidFill>
            <a:srgbClr val="F5B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52098" y="5166360"/>
            <a:ext cx="563489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1" i="0">
                <a:solidFill>
                  <a:srgbClr val="333333"/>
                </a:solidFill>
                <a:latin typeface="Microsoft YaHei"/>
              </a:rPr>
              <a:t>35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015587" y="5166360"/>
            <a:ext cx="4990904" cy="502920"/>
          </a:xfrm>
          <a:prstGeom prst="rect">
            <a:avLst/>
          </a:prstGeom>
          <a:solidFill>
            <a:srgbClr val="C95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015587" y="5166360"/>
            <a:ext cx="4990904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1" i="0">
                <a:solidFill>
                  <a:srgbClr val="FFFFFF"/>
                </a:solidFill>
                <a:latin typeface="Microsoft YaHei"/>
              </a:rPr>
              <a:t>核心辅导 310  ·  高价值带宽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006491" y="5166360"/>
            <a:ext cx="3783427" cy="502920"/>
          </a:xfrm>
          <a:prstGeom prst="rect">
            <a:avLst/>
          </a:prstGeom>
          <a:solidFill>
            <a:srgbClr val="C9C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06491" y="5166360"/>
            <a:ext cx="3783427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1" i="0">
                <a:solidFill>
                  <a:srgbClr val="333847"/>
                </a:solidFill>
                <a:latin typeface="Microsoft YaHei"/>
              </a:rPr>
              <a:t>会议协同 235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103120" y="5971031"/>
            <a:ext cx="137160" cy="137160"/>
          </a:xfrm>
          <a:prstGeom prst="rect">
            <a:avLst/>
          </a:prstGeom>
          <a:solidFill>
            <a:srgbClr val="F7A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331720" y="5897879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6B7280"/>
                </a:solidFill>
                <a:latin typeface="Microsoft YaHei"/>
              </a:rPr>
              <a:t>碎片巡视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97680" y="5971031"/>
            <a:ext cx="137160" cy="137160"/>
          </a:xfrm>
          <a:prstGeom prst="rect">
            <a:avLst/>
          </a:prstGeom>
          <a:solidFill>
            <a:srgbClr val="F5B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26280" y="5897879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6B7280"/>
                </a:solidFill>
                <a:latin typeface="Microsoft YaHei"/>
              </a:rPr>
              <a:t>数据盘点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92240" y="5971031"/>
            <a:ext cx="137160" cy="137160"/>
          </a:xfrm>
          <a:prstGeom prst="rect">
            <a:avLst/>
          </a:prstGeom>
          <a:solidFill>
            <a:srgbClr val="C95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20840" y="5897879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6B7280"/>
                </a:solidFill>
                <a:latin typeface="Microsoft YaHei"/>
              </a:rPr>
              <a:t>核心辅导（钻石）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686800" y="5971031"/>
            <a:ext cx="137160" cy="137160"/>
          </a:xfrm>
          <a:prstGeom prst="rect">
            <a:avLst/>
          </a:prstGeom>
          <a:solidFill>
            <a:srgbClr val="C9C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915400" y="5897879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6B7280"/>
                </a:solidFill>
                <a:latin typeface="Microsoft YaHei"/>
              </a:rPr>
              <a:t>会议协同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" y="6510528"/>
            <a:ext cx="10881360" cy="9525"/>
          </a:xfrm>
          <a:prstGeom prst="rect">
            <a:avLst/>
          </a:prstGeom>
          <a:solidFill>
            <a:srgbClr val="E4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40080" y="6629400"/>
            <a:ext cx="109728" cy="109728"/>
          </a:xfrm>
          <a:prstGeom prst="ellipse">
            <a:avLst/>
          </a:prstGeom>
          <a:solidFill>
            <a:srgbClr val="EE7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2960" y="6601968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9AA0AC"/>
                </a:solidFill>
                <a:latin typeface="Consolas"/>
              </a:rPr>
              <a:t>PAONE · 服销现管数智化转型白皮书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01200" y="6601968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0" i="0">
                <a:solidFill>
                  <a:srgbClr val="9AA0AC"/>
                </a:solidFill>
                <a:latin typeface="Consolas"/>
              </a:rPr>
              <a:t>04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EE7723"/>
                </a:solidFill>
                <a:latin typeface="Consolas"/>
              </a:rPr>
              <a:t>02  /  WHAT — 量化收益账本（续）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22960"/>
            <a:ext cx="502920" cy="38100"/>
          </a:xfrm>
          <a:prstGeom prst="rect">
            <a:avLst/>
          </a:prstGeom>
          <a:solidFill>
            <a:srgbClr val="EE7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1" i="0">
                <a:solidFill>
                  <a:srgbClr val="1A1D29"/>
                </a:solidFill>
                <a:latin typeface="Microsoft YaHei"/>
              </a:rPr>
              <a:t>四个管理模块的时间迁徙明细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6B7280"/>
                </a:solidFill>
                <a:latin typeface="Microsoft YaHei"/>
              </a:rPr>
              <a:t>下表按价值层级排序，钻石区（核心辅导）是本次转型的最大赢家。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10881360" cy="457200"/>
          </a:xfrm>
          <a:prstGeom prst="rect">
            <a:avLst/>
          </a:prstGeom>
          <a:solidFill>
            <a:srgbClr val="EE7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9456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FFFFFF"/>
                </a:solidFill>
                <a:latin typeface="Microsoft YaHei"/>
              </a:rPr>
              <a:t>管理模块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40" y="2194560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FFFFFF"/>
                </a:solidFill>
                <a:latin typeface="Microsoft YaHei"/>
              </a:rPr>
              <a:t>旧模式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2194560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FFFFFF"/>
                </a:solidFill>
                <a:latin typeface="Microsoft YaHei"/>
              </a:rPr>
              <a:t>新模式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194560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FFFFFF"/>
                </a:solidFill>
                <a:latin typeface="Microsoft YaHei"/>
              </a:rPr>
              <a:t>效能变化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0" y="2194560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FFFFFF"/>
                </a:solidFill>
                <a:latin typeface="Microsoft YaHei"/>
              </a:rPr>
              <a:t>带宽流向与价值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651760"/>
            <a:ext cx="10881360" cy="868680"/>
          </a:xfrm>
          <a:prstGeom prst="rect">
            <a:avLst/>
          </a:prstGeom>
          <a:solidFill>
            <a:srgbClr val="FDF3EA"/>
          </a:solidFill>
          <a:ln w="635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2651760"/>
            <a:ext cx="38100" cy="868680"/>
          </a:xfrm>
          <a:prstGeom prst="rect">
            <a:avLst/>
          </a:prstGeom>
          <a:solidFill>
            <a:srgbClr val="EE7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2960" y="2788920"/>
            <a:ext cx="777240" cy="274320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6350">
            <a:solidFill>
              <a:srgbClr val="EE77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2788920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900" b="1" i="0">
                <a:solidFill>
                  <a:srgbClr val="EE7723"/>
                </a:solidFill>
                <a:latin typeface="Consolas"/>
              </a:rPr>
              <a:t>L3 钻石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10896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1A1D29"/>
                </a:solidFill>
                <a:latin typeface="Microsoft YaHei"/>
              </a:rPr>
              <a:t>核心干预与 1V1 辅导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03320" y="2926080"/>
            <a:ext cx="1005840" cy="320040"/>
          </a:xfrm>
          <a:prstGeom prst="roundRect">
            <a:avLst>
              <a:gd name="adj" fmla="val 30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03320" y="2926080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1" i="0">
                <a:solidFill>
                  <a:srgbClr val="6B7280"/>
                </a:solidFill>
                <a:latin typeface="Consolas"/>
              </a:rPr>
              <a:t>165 min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983480" y="2926080"/>
            <a:ext cx="1005840" cy="320040"/>
          </a:xfrm>
          <a:prstGeom prst="roundRect">
            <a:avLst>
              <a:gd name="adj" fmla="val 30000"/>
            </a:avLst>
          </a:prstGeom>
          <a:solidFill>
            <a:srgbClr val="FD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83480" y="2926080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1" i="0">
                <a:solidFill>
                  <a:srgbClr val="C95A0F"/>
                </a:solidFill>
                <a:latin typeface="Consolas"/>
              </a:rPr>
              <a:t>310 min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2651760"/>
            <a:ext cx="109728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1F9D55"/>
                </a:solidFill>
                <a:latin typeface="Consolas"/>
              </a:rPr>
              <a:t>▲ +87.8%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43800" y="2651760"/>
            <a:ext cx="384048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A1D29"/>
                </a:solidFill>
                <a:latin typeface="Microsoft YaHei"/>
              </a:rPr>
              <a:t>核心投向：从"泛泛谈心"跃升为"数据驱动的精准赋能"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3520440"/>
            <a:ext cx="1088136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22960" y="3657600"/>
            <a:ext cx="777240" cy="274320"/>
          </a:xfrm>
          <a:prstGeom prst="roundRect">
            <a:avLst>
              <a:gd name="adj" fmla="val 35000"/>
            </a:avLst>
          </a:prstGeom>
          <a:solidFill>
            <a:srgbClr val="F7F8FA"/>
          </a:solidFill>
          <a:ln w="6350">
            <a:solidFill>
              <a:srgbClr val="F5B1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3657600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900" b="1" i="0">
                <a:solidFill>
                  <a:srgbClr val="F5B12D"/>
                </a:solidFill>
                <a:latin typeface="Consolas"/>
              </a:rPr>
              <a:t>L2 中性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397764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1A1D29"/>
                </a:solidFill>
                <a:latin typeface="Microsoft YaHei"/>
              </a:rPr>
              <a:t>会议管理与组织协同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703320" y="3794760"/>
            <a:ext cx="1005840" cy="320040"/>
          </a:xfrm>
          <a:prstGeom prst="roundRect">
            <a:avLst>
              <a:gd name="adj" fmla="val 30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03320" y="3794760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1" i="0">
                <a:solidFill>
                  <a:srgbClr val="6B7280"/>
                </a:solidFill>
                <a:latin typeface="Consolas"/>
              </a:rPr>
              <a:t>235 min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983480" y="3794760"/>
            <a:ext cx="1005840" cy="320040"/>
          </a:xfrm>
          <a:prstGeom prst="roundRect">
            <a:avLst>
              <a:gd name="adj" fmla="val 30000"/>
            </a:avLst>
          </a:prstGeom>
          <a:solidFill>
            <a:srgbClr val="FD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983480" y="3794760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1" i="0">
                <a:solidFill>
                  <a:srgbClr val="C95A0F"/>
                </a:solidFill>
                <a:latin typeface="Consolas"/>
              </a:rPr>
              <a:t>235 min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0" y="3520440"/>
            <a:ext cx="109728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6B7280"/>
                </a:solidFill>
                <a:latin typeface="Consolas"/>
              </a:rPr>
              <a:t>— 持平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43800" y="3520440"/>
            <a:ext cx="384048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6B7280"/>
                </a:solidFill>
                <a:latin typeface="Microsoft YaHei"/>
              </a:rPr>
              <a:t>时长不变，但决策依据从"凭经验拍板"升级为"AI 情报+实时看板"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4389120"/>
            <a:ext cx="1088136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22960" y="4526280"/>
            <a:ext cx="777240" cy="274320"/>
          </a:xfrm>
          <a:prstGeom prst="roundRect">
            <a:avLst>
              <a:gd name="adj" fmla="val 35000"/>
            </a:avLst>
          </a:prstGeom>
          <a:solidFill>
            <a:srgbClr val="F7F8FA"/>
          </a:solidFill>
          <a:ln w="6350">
            <a:solidFill>
              <a:srgbClr val="9AA0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2960" y="4526280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900" b="1" i="0">
                <a:solidFill>
                  <a:srgbClr val="9AA0AC"/>
                </a:solidFill>
                <a:latin typeface="Consolas"/>
              </a:rPr>
              <a:t>L1 机械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" y="484632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1A1D29"/>
                </a:solidFill>
                <a:latin typeface="Microsoft YaHei"/>
              </a:rPr>
              <a:t>数据盘点与材料准备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703320" y="4663440"/>
            <a:ext cx="1005840" cy="320040"/>
          </a:xfrm>
          <a:prstGeom prst="roundRect">
            <a:avLst>
              <a:gd name="adj" fmla="val 30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703320" y="4663440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1" i="0">
                <a:solidFill>
                  <a:srgbClr val="6B7280"/>
                </a:solidFill>
                <a:latin typeface="Consolas"/>
              </a:rPr>
              <a:t>155 min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983480" y="4663440"/>
            <a:ext cx="1005840" cy="320040"/>
          </a:xfrm>
          <a:prstGeom prst="roundRect">
            <a:avLst>
              <a:gd name="adj" fmla="val 30000"/>
            </a:avLst>
          </a:prstGeom>
          <a:solidFill>
            <a:srgbClr val="FD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983480" y="4663440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1" i="0">
                <a:solidFill>
                  <a:srgbClr val="C95A0F"/>
                </a:solidFill>
                <a:latin typeface="Consolas"/>
              </a:rPr>
              <a:t>35 min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17920" y="4389120"/>
            <a:ext cx="109728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D9363E"/>
                </a:solidFill>
                <a:latin typeface="Consolas"/>
              </a:rPr>
              <a:t>▼ -77.4%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543800" y="4389120"/>
            <a:ext cx="384048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6B7280"/>
                </a:solidFill>
                <a:latin typeface="Microsoft YaHei"/>
              </a:rPr>
              <a:t>RPA + AIGC 一键生成早夕会与通报材料，释放机械体力活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0080" y="5257799"/>
            <a:ext cx="1088136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822960" y="5394959"/>
            <a:ext cx="777240" cy="274320"/>
          </a:xfrm>
          <a:prstGeom prst="roundRect">
            <a:avLst>
              <a:gd name="adj" fmla="val 35000"/>
            </a:avLst>
          </a:prstGeom>
          <a:solidFill>
            <a:srgbClr val="F7F8FA"/>
          </a:solidFill>
          <a:ln w="6350">
            <a:solidFill>
              <a:srgbClr val="9AA0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2960" y="5394959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900" b="1" i="0">
                <a:solidFill>
                  <a:srgbClr val="9AA0AC"/>
                </a:solidFill>
                <a:latin typeface="Consolas"/>
              </a:rPr>
              <a:t>L1 机械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2960" y="5714999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1A1D29"/>
                </a:solidFill>
                <a:latin typeface="Microsoft YaHei"/>
              </a:rPr>
              <a:t>碎片状态巡视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703320" y="5532119"/>
            <a:ext cx="1005840" cy="320040"/>
          </a:xfrm>
          <a:prstGeom prst="roundRect">
            <a:avLst>
              <a:gd name="adj" fmla="val 30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703320" y="5532119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1" i="0">
                <a:solidFill>
                  <a:srgbClr val="6B7280"/>
                </a:solidFill>
                <a:latin typeface="Consolas"/>
              </a:rPr>
              <a:t>30 min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983480" y="5532119"/>
            <a:ext cx="1005840" cy="320040"/>
          </a:xfrm>
          <a:prstGeom prst="roundRect">
            <a:avLst>
              <a:gd name="adj" fmla="val 30000"/>
            </a:avLst>
          </a:prstGeom>
          <a:solidFill>
            <a:srgbClr val="FD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983480" y="5532119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1" i="0">
                <a:solidFill>
                  <a:srgbClr val="C95A0F"/>
                </a:solidFill>
                <a:latin typeface="Consolas"/>
              </a:rPr>
              <a:t>5 min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17920" y="5257799"/>
            <a:ext cx="109728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D9363E"/>
                </a:solidFill>
                <a:latin typeface="Consolas"/>
              </a:rPr>
              <a:t>▼ -83.3%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543800" y="5257799"/>
            <a:ext cx="384048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6B7280"/>
                </a:solidFill>
                <a:latin typeface="Microsoft YaHei"/>
              </a:rPr>
              <a:t>消灭"人肉盯盘"，规则引擎自动识别异常并主动推单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40080" y="6510528"/>
            <a:ext cx="10881360" cy="9525"/>
          </a:xfrm>
          <a:prstGeom prst="rect">
            <a:avLst/>
          </a:prstGeom>
          <a:solidFill>
            <a:srgbClr val="E4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640080" y="6629400"/>
            <a:ext cx="109728" cy="109728"/>
          </a:xfrm>
          <a:prstGeom prst="ellipse">
            <a:avLst/>
          </a:prstGeom>
          <a:solidFill>
            <a:srgbClr val="EE7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22960" y="6601968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9AA0AC"/>
                </a:solidFill>
                <a:latin typeface="Consolas"/>
              </a:rPr>
              <a:t>PAONE · 服销现管数智化转型白皮书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601200" y="6601968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0" i="0">
                <a:solidFill>
                  <a:srgbClr val="9AA0AC"/>
                </a:solidFill>
                <a:latin typeface="Consolas"/>
              </a:rPr>
              <a:t>05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EE7723"/>
                </a:solidFill>
                <a:latin typeface="Consolas"/>
              </a:rPr>
              <a:t>03  /  WHO — 角色新范式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22960"/>
            <a:ext cx="502920" cy="38100"/>
          </a:xfrm>
          <a:prstGeom prst="rect">
            <a:avLst/>
          </a:prstGeom>
          <a:solidFill>
            <a:srgbClr val="EE7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1" i="0">
                <a:solidFill>
                  <a:srgbClr val="1A1D29"/>
                </a:solidFill>
                <a:latin typeface="Microsoft YaHei"/>
              </a:rPr>
              <a:t>组长不再是"监工"，而是"数智指挥官"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6B7280"/>
                </a:solidFill>
                <a:latin typeface="Microsoft YaHei"/>
              </a:rPr>
              <a:t>机械劳动被 PAone 接管 → 管理带宽被释放 → 岗位能力模型被重新定义。组长正在进化为三重新角色。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148840"/>
            <a:ext cx="2468880" cy="594360"/>
          </a:xfrm>
          <a:prstGeom prst="roundRect">
            <a:avLst>
              <a:gd name="adj" fmla="val 20000"/>
            </a:avLst>
          </a:prstGeom>
          <a:solidFill>
            <a:srgbClr val="F7F8FA"/>
          </a:solidFill>
          <a:ln w="9525">
            <a:solidFill>
              <a:srgbClr val="C9C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48840"/>
            <a:ext cx="2468880" cy="5943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1" strike="sngStrike">
                <a:solidFill>
                  <a:srgbClr val="6B7280"/>
                </a:solidFill>
                <a:latin typeface="Microsoft YaHei"/>
              </a:rPr>
              <a:t>盯流程的监工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2148840"/>
            <a:ext cx="64008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2200" b="0" i="0">
                <a:solidFill>
                  <a:srgbClr val="9AA0AC"/>
                </a:solidFill>
                <a:latin typeface="Microsoft YaHe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31920" y="2148840"/>
            <a:ext cx="2468880" cy="594360"/>
          </a:xfrm>
          <a:prstGeom prst="roundRect">
            <a:avLst>
              <a:gd name="adj" fmla="val 20000"/>
            </a:avLst>
          </a:prstGeom>
          <a:solidFill>
            <a:srgbClr val="F7F8FA"/>
          </a:solidFill>
          <a:ln w="9525">
            <a:solidFill>
              <a:srgbClr val="C9C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31920" y="2148840"/>
            <a:ext cx="2468880" cy="5943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1" strike="sngStrike">
                <a:solidFill>
                  <a:srgbClr val="6B7280"/>
                </a:solidFill>
                <a:latin typeface="Microsoft YaHei"/>
              </a:rPr>
              <a:t>救火的客诉员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148840"/>
            <a:ext cx="64008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2200" b="0" i="0">
                <a:solidFill>
                  <a:srgbClr val="EE7723"/>
                </a:solidFill>
                <a:latin typeface="Microsoft YaHe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40880" y="2148840"/>
            <a:ext cx="4480560" cy="594360"/>
          </a:xfrm>
          <a:prstGeom prst="roundRect">
            <a:avLst>
              <a:gd name="adj" fmla="val 20000"/>
            </a:avLst>
          </a:prstGeom>
          <a:solidFill>
            <a:srgbClr val="EE7723"/>
          </a:solidFill>
          <a:ln w="9525">
            <a:solidFill>
              <a:srgbClr val="EE77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0" y="2148840"/>
            <a:ext cx="4480560" cy="5943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数智指挥官 · 微型业务总经理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971800"/>
            <a:ext cx="3520440" cy="3383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2971800"/>
            <a:ext cx="1188720" cy="45720"/>
          </a:xfrm>
          <a:prstGeom prst="rect">
            <a:avLst/>
          </a:prstGeom>
          <a:solidFill>
            <a:srgbClr val="EE7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15468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 i="0">
                <a:solidFill>
                  <a:srgbClr val="EE7723"/>
                </a:solidFill>
                <a:latin typeface="Microsoft YaHei"/>
              </a:rPr>
              <a:t>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749040"/>
            <a:ext cx="2971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1" i="0">
                <a:solidFill>
                  <a:srgbClr val="EE7723"/>
                </a:solidFill>
                <a:latin typeface="Consolas"/>
              </a:rPr>
              <a:t>EMOTIONAL SHIELD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977640"/>
            <a:ext cx="2971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 i="0">
                <a:solidFill>
                  <a:srgbClr val="1A1D29"/>
                </a:solidFill>
                <a:latin typeface="Microsoft YaHei"/>
              </a:rPr>
              <a:t>情绪价值终极兜底人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4389120"/>
            <a:ext cx="548640" cy="19050"/>
          </a:xfrm>
          <a:prstGeom prst="rect">
            <a:avLst/>
          </a:prstGeom>
          <a:solidFill>
            <a:srgbClr val="EE7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526280"/>
            <a:ext cx="2971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 i="0">
                <a:solidFill>
                  <a:srgbClr val="EE7723"/>
                </a:solidFill>
                <a:latin typeface="Microsoft YaHei"/>
              </a:rPr>
              <a:t>▸ </a:t>
            </a:r>
            <a:r>
              <a:rPr sz="1000" b="1" i="0">
                <a:solidFill>
                  <a:srgbClr val="1A1D29"/>
                </a:solidFill>
                <a:latin typeface="Microsoft YaHei"/>
              </a:rPr>
              <a:t>不再纠结流程：</a:t>
            </a:r>
            <a:r>
              <a:rPr sz="1000" b="0" i="0">
                <a:solidFill>
                  <a:srgbClr val="6B7280"/>
                </a:solidFill>
                <a:latin typeface="Microsoft YaHei"/>
              </a:rPr>
              <a:t>AI 已秒级完成查单与核实，组长将精力 100% 投入高风险客户的情感挽回。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257800"/>
            <a:ext cx="2971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 i="0">
                <a:solidFill>
                  <a:srgbClr val="EE7723"/>
                </a:solidFill>
                <a:latin typeface="Microsoft YaHei"/>
              </a:rPr>
              <a:t>▸ </a:t>
            </a:r>
            <a:r>
              <a:rPr sz="1000" b="1" i="0">
                <a:solidFill>
                  <a:srgbClr val="1A1D29"/>
                </a:solidFill>
                <a:latin typeface="Microsoft YaHei"/>
              </a:rPr>
              <a:t>人性化防波堤：</a:t>
            </a:r>
            <a:r>
              <a:rPr sz="1000" b="0" i="0">
                <a:solidFill>
                  <a:srgbClr val="6B7280"/>
                </a:solidFill>
                <a:latin typeface="Microsoft YaHei"/>
              </a:rPr>
              <a:t>发挥人类共情力，处理 AI 逻辑之外的复杂客诉，守住服务品牌最后防线。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68680" y="5669280"/>
            <a:ext cx="3063240" cy="530352"/>
          </a:xfrm>
          <a:prstGeom prst="rect">
            <a:avLst/>
          </a:prstGeom>
          <a:solidFill>
            <a:srgbClr val="FD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68680" y="5669280"/>
            <a:ext cx="28575" cy="530352"/>
          </a:xfrm>
          <a:prstGeom prst="rect">
            <a:avLst/>
          </a:prstGeom>
          <a:solidFill>
            <a:srgbClr val="EE7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724144"/>
            <a:ext cx="2971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1" i="0">
                <a:solidFill>
                  <a:srgbClr val="C95A0F"/>
                </a:solidFill>
                <a:latin typeface="Consolas"/>
              </a:rPr>
              <a:t>KEY ACTION · 量化抓手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25312"/>
            <a:ext cx="2971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1A1D29"/>
                </a:solidFill>
                <a:latin typeface="Microsoft YaHei"/>
              </a:rPr>
              <a:t>每周亲自挽回 ≥ 3 例 高风险客户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89120" y="2971800"/>
            <a:ext cx="3520440" cy="3383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89120" y="2971800"/>
            <a:ext cx="1188720" cy="45720"/>
          </a:xfrm>
          <a:prstGeom prst="rect">
            <a:avLst/>
          </a:prstGeom>
          <a:solidFill>
            <a:srgbClr val="EE7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63440" y="315468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 i="0">
                <a:solidFill>
                  <a:srgbClr val="EE7723"/>
                </a:solidFill>
                <a:latin typeface="Microsoft YaHei"/>
              </a:rPr>
              <a:t>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63440" y="3749040"/>
            <a:ext cx="2971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1" i="0">
                <a:solidFill>
                  <a:srgbClr val="EE7723"/>
                </a:solidFill>
                <a:latin typeface="Consolas"/>
              </a:rPr>
              <a:t>STRATEGIC ANALYST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63440" y="3977640"/>
            <a:ext cx="2971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 i="0">
                <a:solidFill>
                  <a:srgbClr val="1A1D29"/>
                </a:solidFill>
                <a:latin typeface="Microsoft YaHei"/>
              </a:rPr>
              <a:t>业务策略前线情报官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663440" y="4389120"/>
            <a:ext cx="548640" cy="19050"/>
          </a:xfrm>
          <a:prstGeom prst="rect">
            <a:avLst/>
          </a:prstGeom>
          <a:solidFill>
            <a:srgbClr val="EE7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63440" y="4526280"/>
            <a:ext cx="2971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 i="0">
                <a:solidFill>
                  <a:srgbClr val="EE7723"/>
                </a:solidFill>
                <a:latin typeface="Microsoft YaHei"/>
              </a:rPr>
              <a:t>▸ </a:t>
            </a:r>
            <a:r>
              <a:rPr sz="1000" b="1" i="0">
                <a:solidFill>
                  <a:srgbClr val="1A1D29"/>
                </a:solidFill>
                <a:latin typeface="Microsoft YaHei"/>
              </a:rPr>
              <a:t>销冠话术萃取：</a:t>
            </a:r>
            <a:r>
              <a:rPr sz="1000" b="0" i="0">
                <a:solidFill>
                  <a:srgbClr val="6B7280"/>
                </a:solidFill>
                <a:latin typeface="Microsoft YaHei"/>
              </a:rPr>
              <a:t>从 AI 初筛的优质录音中提炼"一枪打透"的实战话术，而非盲目打气。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63440" y="5257800"/>
            <a:ext cx="2971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 i="0">
                <a:solidFill>
                  <a:srgbClr val="EE7723"/>
                </a:solidFill>
                <a:latin typeface="Microsoft YaHei"/>
              </a:rPr>
              <a:t>▸ </a:t>
            </a:r>
            <a:r>
              <a:rPr sz="1000" b="1" i="0">
                <a:solidFill>
                  <a:srgbClr val="1A1D29"/>
                </a:solidFill>
                <a:latin typeface="Microsoft YaHei"/>
              </a:rPr>
              <a:t>战术反馈中枢：</a:t>
            </a:r>
            <a:r>
              <a:rPr sz="1000" b="0" i="0">
                <a:solidFill>
                  <a:srgbClr val="6B7280"/>
                </a:solidFill>
                <a:latin typeface="Microsoft YaHei"/>
              </a:rPr>
              <a:t>分析业绩跳水深层根因，向产品线输送基于 AI 语料洞察的前线情报。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617720" y="5669280"/>
            <a:ext cx="3063240" cy="530352"/>
          </a:xfrm>
          <a:prstGeom prst="rect">
            <a:avLst/>
          </a:prstGeom>
          <a:solidFill>
            <a:srgbClr val="FD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617720" y="5669280"/>
            <a:ext cx="28575" cy="530352"/>
          </a:xfrm>
          <a:prstGeom prst="rect">
            <a:avLst/>
          </a:prstGeom>
          <a:solidFill>
            <a:srgbClr val="EE7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54880" y="5724144"/>
            <a:ext cx="2971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1" i="0">
                <a:solidFill>
                  <a:srgbClr val="C95A0F"/>
                </a:solidFill>
                <a:latin typeface="Consolas"/>
              </a:rPr>
              <a:t>KEY ACTION · 量化抓手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54880" y="5925312"/>
            <a:ext cx="2971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1A1D29"/>
                </a:solidFill>
                <a:latin typeface="Microsoft YaHei"/>
              </a:rPr>
              <a:t>每月输出 ≥ 1 份 话术萃取 / 市场情报简报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138159" y="2971800"/>
            <a:ext cx="3520440" cy="3383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138159" y="2971800"/>
            <a:ext cx="1188720" cy="45720"/>
          </a:xfrm>
          <a:prstGeom prst="rect">
            <a:avLst/>
          </a:prstGeom>
          <a:solidFill>
            <a:srgbClr val="EE7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412479" y="315468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 i="0">
                <a:solidFill>
                  <a:srgbClr val="EE7723"/>
                </a:solidFill>
                <a:latin typeface="Microsoft YaHei"/>
              </a:rPr>
              <a:t>⚡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12479" y="3749040"/>
            <a:ext cx="2971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1" i="0">
                <a:solidFill>
                  <a:srgbClr val="EE7723"/>
                </a:solidFill>
                <a:latin typeface="Consolas"/>
              </a:rPr>
              <a:t>AI TRAINER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12479" y="3977640"/>
            <a:ext cx="2971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 i="0">
                <a:solidFill>
                  <a:srgbClr val="1A1D29"/>
                </a:solidFill>
                <a:latin typeface="Microsoft YaHei"/>
              </a:rPr>
              <a:t>智能工具首席语料师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412479" y="4389120"/>
            <a:ext cx="548640" cy="19050"/>
          </a:xfrm>
          <a:prstGeom prst="rect">
            <a:avLst/>
          </a:prstGeom>
          <a:solidFill>
            <a:srgbClr val="EE7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412479" y="4526280"/>
            <a:ext cx="2971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 i="0">
                <a:solidFill>
                  <a:srgbClr val="EE7723"/>
                </a:solidFill>
                <a:latin typeface="Microsoft YaHei"/>
              </a:rPr>
              <a:t>▸ </a:t>
            </a:r>
            <a:r>
              <a:rPr sz="1000" b="1" i="0">
                <a:solidFill>
                  <a:srgbClr val="1A1D29"/>
                </a:solidFill>
                <a:latin typeface="Microsoft YaHei"/>
              </a:rPr>
              <a:t>喂养 AI 大脑：</a:t>
            </a:r>
            <a:r>
              <a:rPr sz="1000" b="0" i="0">
                <a:solidFill>
                  <a:srgbClr val="6B7280"/>
                </a:solidFill>
                <a:latin typeface="Microsoft YaHei"/>
              </a:rPr>
              <a:t>将实战中的优秀案例与复杂逻辑打标签，训练 PAone 真正"懂业务"。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12479" y="5257800"/>
            <a:ext cx="2971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 i="0">
                <a:solidFill>
                  <a:srgbClr val="EE7723"/>
                </a:solidFill>
                <a:latin typeface="Microsoft YaHei"/>
              </a:rPr>
              <a:t>▸ </a:t>
            </a:r>
            <a:r>
              <a:rPr sz="1000" b="1" i="0">
                <a:solidFill>
                  <a:srgbClr val="1A1D29"/>
                </a:solidFill>
                <a:latin typeface="Microsoft YaHei"/>
              </a:rPr>
              <a:t>人机协同进化：</a:t>
            </a:r>
            <a:r>
              <a:rPr sz="1000" b="0" i="0">
                <a:solidFill>
                  <a:srgbClr val="6B7280"/>
                </a:solidFill>
                <a:latin typeface="Microsoft YaHei"/>
              </a:rPr>
              <a:t>组长是 AI 的教练，通过纠偏与反哺，让工具具备部门专属的管理灵魂。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366759" y="5669280"/>
            <a:ext cx="3063240" cy="530352"/>
          </a:xfrm>
          <a:prstGeom prst="rect">
            <a:avLst/>
          </a:prstGeom>
          <a:solidFill>
            <a:srgbClr val="FD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366759" y="5669280"/>
            <a:ext cx="28575" cy="530352"/>
          </a:xfrm>
          <a:prstGeom prst="rect">
            <a:avLst/>
          </a:prstGeom>
          <a:solidFill>
            <a:srgbClr val="EE7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503919" y="5724144"/>
            <a:ext cx="2971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1" i="0">
                <a:solidFill>
                  <a:srgbClr val="C95A0F"/>
                </a:solidFill>
                <a:latin typeface="Consolas"/>
              </a:rPr>
              <a:t>KEY ACTION · 量化抓手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503919" y="5925312"/>
            <a:ext cx="2971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1A1D29"/>
                </a:solidFill>
                <a:latin typeface="Microsoft YaHei"/>
              </a:rPr>
              <a:t>每周向 PAone 标注 ≥ 10 条 优质案例 / 纠偏反馈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40080" y="6510528"/>
            <a:ext cx="10881360" cy="9525"/>
          </a:xfrm>
          <a:prstGeom prst="rect">
            <a:avLst/>
          </a:prstGeom>
          <a:solidFill>
            <a:srgbClr val="E4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40080" y="6629400"/>
            <a:ext cx="109728" cy="109728"/>
          </a:xfrm>
          <a:prstGeom prst="ellipse">
            <a:avLst/>
          </a:prstGeom>
          <a:solidFill>
            <a:srgbClr val="EE7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22960" y="6601968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9AA0AC"/>
                </a:solidFill>
                <a:latin typeface="Consolas"/>
              </a:rPr>
              <a:t>PAONE · 服销现管数智化转型白皮书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601200" y="6601968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0" i="0">
                <a:solidFill>
                  <a:srgbClr val="9AA0AC"/>
                </a:solidFill>
                <a:latin typeface="Consolas"/>
              </a:rPr>
              <a:t>06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EE7723"/>
                </a:solidFill>
                <a:latin typeface="Consolas"/>
              </a:rPr>
              <a:t>04  /  PLAYBOOK — 销冠话术萃取实战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22960"/>
            <a:ext cx="502920" cy="38100"/>
          </a:xfrm>
          <a:prstGeom prst="rect">
            <a:avLst/>
          </a:prstGeom>
          <a:solidFill>
            <a:srgbClr val="EE7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1" i="0">
                <a:solidFill>
                  <a:srgbClr val="1A1D29"/>
                </a:solidFill>
                <a:latin typeface="Microsoft YaHei"/>
              </a:rPr>
              <a:t>拆解一次真实萃取：从"客户说再考虑一下"看组长的情报官价值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6B7280"/>
                </a:solidFill>
                <a:latin typeface="Microsoft YaHei"/>
              </a:rPr>
              <a:t>角色定义是虚的，样本才是实的。组长作为情报官每月从 AI 初筛的优质录音中萃取话术，反哺团队训练库。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148840"/>
            <a:ext cx="10881360" cy="548640"/>
          </a:xfrm>
          <a:prstGeom prst="roundRect">
            <a:avLst>
              <a:gd name="adj" fmla="val 20000"/>
            </a:avLst>
          </a:prstGeom>
          <a:solidFill>
            <a:srgbClr val="F7F8FA"/>
          </a:solidFill>
          <a:ln w="635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2258568"/>
            <a:ext cx="822960" cy="329184"/>
          </a:xfrm>
          <a:prstGeom prst="roundRect">
            <a:avLst>
              <a:gd name="adj" fmla="val 50000"/>
            </a:avLst>
          </a:prstGeom>
          <a:solidFill>
            <a:srgbClr val="EE7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58568"/>
            <a:ext cx="8229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1" i="0">
                <a:solidFill>
                  <a:srgbClr val="FFFFFF"/>
                </a:solidFill>
                <a:latin typeface="Microsoft YaHei"/>
              </a:rPr>
              <a:t>SCENE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148840"/>
            <a:ext cx="6858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 i="0">
                <a:solidFill>
                  <a:srgbClr val="1A1D29"/>
                </a:solidFill>
                <a:latin typeface="Microsoft YaHei"/>
              </a:rPr>
              <a:t>客户反馈："我再考虑一下，暂时不太需要"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2148840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0" i="0">
                <a:solidFill>
                  <a:srgbClr val="6B7280"/>
                </a:solidFill>
                <a:latin typeface="Microsoft YaHei"/>
              </a:rPr>
              <a:t>出现频次：</a:t>
            </a:r>
          </a:p>
          <a:p>
            <a:pPr algn="r">
              <a:lnSpc>
                <a:spcPct val="130000"/>
              </a:lnSpc>
            </a:pPr>
            <a:r>
              <a:rPr sz="1200" b="1" i="0">
                <a:solidFill>
                  <a:srgbClr val="EE7723"/>
                </a:solidFill>
                <a:latin typeface="Microsoft YaHei"/>
              </a:rPr>
              <a:t>日均 37 次</a:t>
            </a:r>
            <a:r>
              <a:rPr sz="1000" b="0" i="0">
                <a:solidFill>
                  <a:srgbClr val="6B7280"/>
                </a:solidFill>
                <a:latin typeface="Microsoft YaHei"/>
              </a:rPr>
              <a:t>  · 黑洞级高频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880360"/>
            <a:ext cx="5349240" cy="2514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F5C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68680" y="3063240"/>
            <a:ext cx="2011680" cy="320040"/>
          </a:xfrm>
          <a:prstGeom prst="roundRect">
            <a:avLst>
              <a:gd name="adj" fmla="val 40000"/>
            </a:avLst>
          </a:prstGeom>
          <a:solidFill>
            <a:srgbClr val="FCE8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063240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1" i="0">
                <a:solidFill>
                  <a:srgbClr val="D9363E"/>
                </a:solidFill>
                <a:latin typeface="Microsoft YaHei"/>
              </a:rPr>
              <a:t>❌ 普通坐席话术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566160"/>
            <a:ext cx="48920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100" b="0" i="1">
                <a:solidFill>
                  <a:srgbClr val="333847"/>
                </a:solidFill>
                <a:latin typeface="Microsoft YaHei"/>
              </a:rPr>
              <a:t>"好的王姐，那您有需要随时联系我哈~ 我们的产品真的很好，您可以再了解一下。祝您生活愉快！"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4800600"/>
            <a:ext cx="1508760" cy="320040"/>
          </a:xfrm>
          <a:prstGeom prst="roundRect">
            <a:avLst>
              <a:gd name="adj" fmla="val 35000"/>
            </a:avLst>
          </a:prstGeom>
          <a:solidFill>
            <a:srgbClr val="FCE8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800600"/>
            <a:ext cx="15087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900" b="1" i="0">
                <a:solidFill>
                  <a:srgbClr val="D9363E"/>
                </a:solidFill>
                <a:latin typeface="Consolas"/>
              </a:rPr>
              <a:t>二次触达 12%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468880" y="4800600"/>
            <a:ext cx="1508760" cy="320040"/>
          </a:xfrm>
          <a:prstGeom prst="roundRect">
            <a:avLst>
              <a:gd name="adj" fmla="val 35000"/>
            </a:avLst>
          </a:prstGeom>
          <a:solidFill>
            <a:srgbClr val="FCE8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468880" y="4800600"/>
            <a:ext cx="15087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900" b="1" i="0">
                <a:solidFill>
                  <a:srgbClr val="D9363E"/>
                </a:solidFill>
                <a:latin typeface="Consolas"/>
              </a:rPr>
              <a:t>流失率 78%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069080" y="4800600"/>
            <a:ext cx="1508760" cy="320040"/>
          </a:xfrm>
          <a:prstGeom prst="roundRect">
            <a:avLst>
              <a:gd name="adj" fmla="val 35000"/>
            </a:avLst>
          </a:prstGeom>
          <a:solidFill>
            <a:srgbClr val="FCE8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69080" y="4800600"/>
            <a:ext cx="15087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900" b="1" i="0">
                <a:solidFill>
                  <a:srgbClr val="D9363E"/>
                </a:solidFill>
                <a:latin typeface="Consolas"/>
              </a:rPr>
              <a:t>挽回 &gt;14 天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2880360"/>
            <a:ext cx="5349240" cy="2514600"/>
          </a:xfrm>
          <a:prstGeom prst="roundRect">
            <a:avLst>
              <a:gd name="adj" fmla="val 6000"/>
            </a:avLst>
          </a:prstGeom>
          <a:solidFill>
            <a:srgbClr val="FDF3EA"/>
          </a:solidFill>
          <a:ln w="12700">
            <a:solidFill>
              <a:srgbClr val="EE77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00800" y="3063240"/>
            <a:ext cx="3200400" cy="320040"/>
          </a:xfrm>
          <a:prstGeom prst="roundRect">
            <a:avLst>
              <a:gd name="adj" fmla="val 40000"/>
            </a:avLst>
          </a:prstGeom>
          <a:solidFill>
            <a:srgbClr val="EE7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306324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1" i="0">
                <a:solidFill>
                  <a:srgbClr val="FFFFFF"/>
                </a:solidFill>
                <a:latin typeface="Microsoft YaHei"/>
              </a:rPr>
              <a:t>✓ 销冠话术（AI 萃取后沉淀）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566160"/>
            <a:ext cx="48920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050" b="0" i="1">
                <a:solidFill>
                  <a:srgbClr val="333847"/>
                </a:solidFill>
                <a:latin typeface="Microsoft YaHei"/>
              </a:rPr>
              <a:t>"王姐，特别理解您这个感受。其实您刚说的'再考虑'，我经手的客户里 90% 最后真正的顾虑都在三件事上 —— </a:t>
            </a:r>
            <a:r>
              <a:rPr sz="1050" b="1" i="1">
                <a:solidFill>
                  <a:srgbClr val="C95A0F"/>
                </a:solidFill>
                <a:latin typeface="Microsoft YaHei"/>
              </a:rPr>
              <a:t>价格、理赔流程、或保障范围</a:t>
            </a:r>
            <a:r>
              <a:rPr sz="1050" b="0" i="1">
                <a:solidFill>
                  <a:srgbClr val="333847"/>
                </a:solidFill>
                <a:latin typeface="Microsoft YaHei"/>
              </a:rPr>
              <a:t>。我这边有个不占用您太多时间的办法：我直接用您家庭情况帮您模拟三种方案的差别，</a:t>
            </a:r>
            <a:r>
              <a:rPr sz="1050" b="1" i="1">
                <a:solidFill>
                  <a:srgbClr val="C95A0F"/>
                </a:solidFill>
                <a:latin typeface="Microsoft YaHei"/>
              </a:rPr>
              <a:t>看完没兴趣这事就过去</a:t>
            </a:r>
            <a:r>
              <a:rPr sz="1050" b="0" i="1">
                <a:solidFill>
                  <a:srgbClr val="333847"/>
                </a:solidFill>
                <a:latin typeface="Microsoft YaHei"/>
              </a:rPr>
              <a:t>，行吗？"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4800600"/>
            <a:ext cx="1508760" cy="320040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6350">
            <a:solidFill>
              <a:srgbClr val="EE77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4800600"/>
            <a:ext cx="15087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900" b="1" i="0">
                <a:solidFill>
                  <a:srgbClr val="C95A0F"/>
                </a:solidFill>
                <a:latin typeface="Consolas"/>
              </a:rPr>
              <a:t>二次触达 46%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01000" y="4800600"/>
            <a:ext cx="1508760" cy="320040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6350">
            <a:solidFill>
              <a:srgbClr val="EE77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01000" y="4800600"/>
            <a:ext cx="15087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900" b="1" i="0">
                <a:solidFill>
                  <a:srgbClr val="C95A0F"/>
                </a:solidFill>
                <a:latin typeface="Consolas"/>
              </a:rPr>
              <a:t>转化率 34%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601200" y="4800600"/>
            <a:ext cx="1508760" cy="320040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6350">
            <a:solidFill>
              <a:srgbClr val="EE77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01200" y="4800600"/>
            <a:ext cx="15087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900" b="1" i="0">
                <a:solidFill>
                  <a:srgbClr val="C95A0F"/>
                </a:solidFill>
                <a:latin typeface="Consolas"/>
              </a:rPr>
              <a:t>挽回 3 天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" y="5532120"/>
            <a:ext cx="10881360" cy="868680"/>
          </a:xfrm>
          <a:prstGeom prst="roundRect">
            <a:avLst>
              <a:gd name="adj" fmla="val 6000"/>
            </a:avLst>
          </a:prstGeom>
          <a:solidFill>
            <a:srgbClr val="FD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40080" y="5532120"/>
            <a:ext cx="38100" cy="868680"/>
          </a:xfrm>
          <a:prstGeom prst="rect">
            <a:avLst/>
          </a:prstGeom>
          <a:solidFill>
            <a:srgbClr val="EE7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5669280"/>
            <a:ext cx="104241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1" i="0">
                <a:solidFill>
                  <a:srgbClr val="C95A0F"/>
                </a:solidFill>
                <a:latin typeface="Microsoft YaHei"/>
              </a:rPr>
              <a:t>📐 萃取心法（组长的情报官产出范式）：</a:t>
            </a:r>
          </a:p>
          <a:p>
            <a:pPr algn="l">
              <a:lnSpc>
                <a:spcPct val="145000"/>
              </a:lnSpc>
            </a:pPr>
            <a:r>
              <a:rPr sz="1100" b="0" i="0">
                <a:solidFill>
                  <a:srgbClr val="333847"/>
                </a:solidFill>
                <a:latin typeface="Microsoft YaHei"/>
              </a:rPr>
              <a:t>这段话术能复用，不是因为嘴甜，而是拆解出了可迁移的三段结构 —— </a:t>
            </a:r>
            <a:r>
              <a:rPr sz="1100" b="1" i="0">
                <a:solidFill>
                  <a:srgbClr val="1A1D29"/>
                </a:solidFill>
                <a:latin typeface="Microsoft YaHei"/>
              </a:rPr>
              <a:t>共情承接</a:t>
            </a:r>
            <a:r>
              <a:rPr sz="1100" b="0" i="0">
                <a:solidFill>
                  <a:srgbClr val="6B7280"/>
                </a:solidFill>
                <a:latin typeface="Microsoft YaHei"/>
              </a:rPr>
              <a:t> + </a:t>
            </a:r>
            <a:r>
              <a:rPr sz="1100" b="1" i="0">
                <a:solidFill>
                  <a:srgbClr val="1A1D29"/>
                </a:solidFill>
                <a:latin typeface="Microsoft YaHei"/>
              </a:rPr>
              <a:t>行业数据锚定</a:t>
            </a:r>
            <a:r>
              <a:rPr sz="1100" b="0" i="0">
                <a:solidFill>
                  <a:srgbClr val="6B7280"/>
                </a:solidFill>
                <a:latin typeface="Microsoft YaHei"/>
              </a:rPr>
              <a:t> + </a:t>
            </a:r>
            <a:r>
              <a:rPr sz="1100" b="1" i="0">
                <a:solidFill>
                  <a:srgbClr val="1A1D29"/>
                </a:solidFill>
                <a:latin typeface="Microsoft YaHei"/>
              </a:rPr>
              <a:t>零压力退出承诺</a:t>
            </a:r>
            <a:r>
              <a:rPr sz="1100" b="0" i="0">
                <a:solidFill>
                  <a:srgbClr val="333847"/>
                </a:solidFill>
                <a:latin typeface="Microsoft YaHei"/>
              </a:rPr>
              <a:t>。组长要做的就是把"结构"从销冠身上拆出来，变成全团队可套用的模板。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6510528"/>
            <a:ext cx="10881360" cy="9525"/>
          </a:xfrm>
          <a:prstGeom prst="rect">
            <a:avLst/>
          </a:prstGeom>
          <a:solidFill>
            <a:srgbClr val="E4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40080" y="6629400"/>
            <a:ext cx="109728" cy="109728"/>
          </a:xfrm>
          <a:prstGeom prst="ellipse">
            <a:avLst/>
          </a:prstGeom>
          <a:solidFill>
            <a:srgbClr val="EE7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2960" y="6601968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9AA0AC"/>
                </a:solidFill>
                <a:latin typeface="Consolas"/>
              </a:rPr>
              <a:t>PAONE · 服销现管数智化转型白皮书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0" y="6601968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0" i="0">
                <a:solidFill>
                  <a:srgbClr val="9AA0AC"/>
                </a:solidFill>
                <a:latin typeface="Consolas"/>
              </a:rPr>
              <a:t>07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EE7723"/>
                </a:solidFill>
                <a:latin typeface="Consolas"/>
              </a:rPr>
              <a:t>05  /  CASE — 真实挽回案例时间轴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22960"/>
            <a:ext cx="502920" cy="38100"/>
          </a:xfrm>
          <a:prstGeom prst="rect">
            <a:avLst/>
          </a:prstGeom>
          <a:solidFill>
            <a:srgbClr val="EE7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1" i="0">
                <a:solidFill>
                  <a:srgbClr val="1A1D29"/>
                </a:solidFill>
                <a:latin typeface="Microsoft YaHei"/>
              </a:rPr>
              <a:t>一个 6 天的故事：AI 预警 × 组长介入 × 200 万续保逆转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6B7280"/>
                </a:solidFill>
                <a:latin typeface="Microsoft YaHei"/>
              </a:rPr>
              <a:t>⚠ 下方案例为原销售场景示意，银卡客服组长场景需替换为真实脱敏数据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057400"/>
            <a:ext cx="10881360" cy="685800"/>
          </a:xfrm>
          <a:prstGeom prst="roundRect">
            <a:avLst>
              <a:gd name="adj" fmla="val 6000"/>
            </a:avLst>
          </a:prstGeom>
          <a:solidFill>
            <a:srgbClr val="FDF3EA"/>
          </a:solidFill>
          <a:ln w="9525">
            <a:solidFill>
              <a:srgbClr val="EE77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488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EE7723"/>
                </a:solidFill>
                <a:latin typeface="Consolas"/>
              </a:rPr>
              <a:t>CASE · </a:t>
            </a:r>
            <a:r>
              <a:rPr sz="1500" b="1" i="0">
                <a:solidFill>
                  <a:srgbClr val="1A1D29"/>
                </a:solidFill>
                <a:latin typeface="Microsoft YaHei"/>
              </a:rPr>
              <a:t>李女士续保危机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44144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6B7280"/>
                </a:solidFill>
                <a:latin typeface="Microsoft YaHei"/>
              </a:rPr>
              <a:t>45 岁 · 高净值客户 · 重疾险即将到期 · 家庭 200 万保额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95360" y="2194560"/>
            <a:ext cx="2834640" cy="457200"/>
          </a:xfrm>
          <a:prstGeom prst="roundRect">
            <a:avLst>
              <a:gd name="adj" fmla="val 20000"/>
            </a:avLst>
          </a:prstGeom>
          <a:solidFill>
            <a:srgbClr val="EE7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0" y="2194560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1" i="0">
                <a:solidFill>
                  <a:srgbClr val="FFFFFF"/>
                </a:solidFill>
                <a:latin typeface="Microsoft YaHei"/>
              </a:rPr>
              <a:t>挽回结果：续保+加保 340 万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08760" y="3017520"/>
            <a:ext cx="19050" cy="3063240"/>
          </a:xfrm>
          <a:prstGeom prst="rect">
            <a:avLst/>
          </a:prstGeom>
          <a:solidFill>
            <a:srgbClr val="EE7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990088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1" i="0">
                <a:solidFill>
                  <a:srgbClr val="F7A85E"/>
                </a:solidFill>
                <a:latin typeface="Consolas"/>
              </a:rPr>
              <a:t>T-3 天</a:t>
            </a:r>
          </a:p>
        </p:txBody>
      </p:sp>
      <p:sp>
        <p:nvSpPr>
          <p:cNvPr id="14" name="Oval 13"/>
          <p:cNvSpPr/>
          <p:nvPr/>
        </p:nvSpPr>
        <p:spPr>
          <a:xfrm>
            <a:off x="1444752" y="3035808"/>
            <a:ext cx="182880" cy="182880"/>
          </a:xfrm>
          <a:prstGeom prst="ellipse">
            <a:avLst/>
          </a:prstGeom>
          <a:solidFill>
            <a:srgbClr val="F7A85E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783080" y="2926080"/>
            <a:ext cx="9784080" cy="438912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 w="9525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965960" y="2953512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1" i="0">
                <a:solidFill>
                  <a:srgbClr val="F7A85E"/>
                </a:solidFill>
                <a:latin typeface="Consolas"/>
              </a:rPr>
              <a:t>PAONE · 行为监测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3099816"/>
            <a:ext cx="9509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333847"/>
                </a:solidFill>
                <a:latin typeface="Microsoft YaHei"/>
              </a:rPr>
              <a:t>监测到李女士 3 次登录官网保单页、停留 8 分 47 秒，但未发起操作。同时竞品官网 cookie 出现在同设备。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493008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1" i="0">
                <a:solidFill>
                  <a:srgbClr val="F7A85E"/>
                </a:solidFill>
                <a:latin typeface="Consolas"/>
              </a:rPr>
              <a:t>T-2 天</a:t>
            </a:r>
          </a:p>
        </p:txBody>
      </p:sp>
      <p:sp>
        <p:nvSpPr>
          <p:cNvPr id="19" name="Oval 18"/>
          <p:cNvSpPr/>
          <p:nvPr/>
        </p:nvSpPr>
        <p:spPr>
          <a:xfrm>
            <a:off x="1444752" y="3538728"/>
            <a:ext cx="182880" cy="182880"/>
          </a:xfrm>
          <a:prstGeom prst="ellipse">
            <a:avLst/>
          </a:prstGeom>
          <a:solidFill>
            <a:srgbClr val="F7A85E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783080" y="3429000"/>
            <a:ext cx="9784080" cy="438912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 w="9525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965960" y="3456432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1" i="0">
                <a:solidFill>
                  <a:srgbClr val="F7A85E"/>
                </a:solidFill>
                <a:latin typeface="Consolas"/>
              </a:rPr>
              <a:t>PAONE · 规则引擎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65960" y="3602736"/>
            <a:ext cx="9509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333847"/>
                </a:solidFill>
                <a:latin typeface="Microsoft YaHei"/>
              </a:rPr>
              <a:t>自动打标「流失高风险 · 紧急」，并推单至组长工作台（而非坐席）。系统备注："建议管理层亲自介入"。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3995928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1" i="0">
                <a:solidFill>
                  <a:srgbClr val="F7A85E"/>
                </a:solidFill>
                <a:latin typeface="Consolas"/>
              </a:rPr>
              <a:t>T-1 天</a:t>
            </a:r>
          </a:p>
        </p:txBody>
      </p:sp>
      <p:sp>
        <p:nvSpPr>
          <p:cNvPr id="24" name="Oval 23"/>
          <p:cNvSpPr/>
          <p:nvPr/>
        </p:nvSpPr>
        <p:spPr>
          <a:xfrm>
            <a:off x="1444752" y="4041648"/>
            <a:ext cx="182880" cy="182880"/>
          </a:xfrm>
          <a:prstGeom prst="ellipse">
            <a:avLst/>
          </a:prstGeom>
          <a:solidFill>
            <a:srgbClr val="F7A85E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783080" y="3931920"/>
            <a:ext cx="9784080" cy="438912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 w="9525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965960" y="3959352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1" i="0">
                <a:solidFill>
                  <a:srgbClr val="F7A85E"/>
                </a:solidFill>
                <a:latin typeface="Consolas"/>
              </a:rPr>
              <a:t>组长 · 情报准备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05656"/>
            <a:ext cx="9509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333847"/>
                </a:solidFill>
                <a:latin typeface="Microsoft YaHei"/>
              </a:rPr>
              <a:t>调阅客户画像，发现关键线索：3 个月前咨询过理赔但未闭环。判断真实顾虑是对理赔体验的不信任。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4498848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1" i="0">
                <a:solidFill>
                  <a:srgbClr val="EE7723"/>
                </a:solidFill>
                <a:latin typeface="Consolas"/>
              </a:rPr>
              <a:t>T 0</a:t>
            </a:r>
          </a:p>
        </p:txBody>
      </p:sp>
      <p:sp>
        <p:nvSpPr>
          <p:cNvPr id="29" name="Oval 28"/>
          <p:cNvSpPr/>
          <p:nvPr/>
        </p:nvSpPr>
        <p:spPr>
          <a:xfrm>
            <a:off x="1444752" y="4544568"/>
            <a:ext cx="182880" cy="182880"/>
          </a:xfrm>
          <a:prstGeom prst="ellipse">
            <a:avLst/>
          </a:prstGeom>
          <a:solidFill>
            <a:srgbClr val="EE7723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783080" y="4434840"/>
            <a:ext cx="9784080" cy="438912"/>
          </a:xfrm>
          <a:prstGeom prst="roundRect">
            <a:avLst>
              <a:gd name="adj" fmla="val 6000"/>
            </a:avLst>
          </a:prstGeom>
          <a:solidFill>
            <a:srgbClr val="FDF3EA"/>
          </a:solidFill>
          <a:ln w="9525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965960" y="4462272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1" i="0">
                <a:solidFill>
                  <a:srgbClr val="EE7723"/>
                </a:solidFill>
                <a:latin typeface="Consolas"/>
              </a:rPr>
              <a:t>组长 · 亲自致电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65960" y="4608576"/>
            <a:ext cx="9509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333847"/>
                </a:solidFill>
                <a:latin typeface="Microsoft YaHei"/>
              </a:rPr>
              <a:t>15 分钟通话，全程不提续费。只谈三件事：①回溯理赔咨询 ②解释流程卡点并道歉 ③承诺专属服务对接。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5001768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1" i="0">
                <a:solidFill>
                  <a:srgbClr val="1F9D55"/>
                </a:solidFill>
                <a:latin typeface="Consolas"/>
              </a:rPr>
              <a:t>T+2 天</a:t>
            </a:r>
          </a:p>
        </p:txBody>
      </p:sp>
      <p:sp>
        <p:nvSpPr>
          <p:cNvPr id="34" name="Oval 33"/>
          <p:cNvSpPr/>
          <p:nvPr/>
        </p:nvSpPr>
        <p:spPr>
          <a:xfrm>
            <a:off x="1444752" y="5047488"/>
            <a:ext cx="182880" cy="182880"/>
          </a:xfrm>
          <a:prstGeom prst="ellipse">
            <a:avLst/>
          </a:prstGeom>
          <a:solidFill>
            <a:srgbClr val="1F9D55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783080" y="4937760"/>
            <a:ext cx="9784080" cy="438912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 w="9525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965960" y="4965192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1" i="0">
                <a:solidFill>
                  <a:srgbClr val="1F9D55"/>
                </a:solidFill>
                <a:latin typeface="Consolas"/>
              </a:rPr>
              <a:t>客户 · 主动回访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111496"/>
            <a:ext cx="9509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333847"/>
                </a:solidFill>
                <a:latin typeface="Microsoft YaHei"/>
              </a:rPr>
              <a:t>李女士主动来电询问续保升级方案，并提出为丈夫加保。最终签单续保 200 万 + 加保 140 万 = 340 万。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5504688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1" i="0">
                <a:solidFill>
                  <a:srgbClr val="1F9D55"/>
                </a:solidFill>
                <a:latin typeface="Consolas"/>
              </a:rPr>
              <a:t>T+7 天</a:t>
            </a:r>
          </a:p>
        </p:txBody>
      </p:sp>
      <p:sp>
        <p:nvSpPr>
          <p:cNvPr id="39" name="Oval 38"/>
          <p:cNvSpPr/>
          <p:nvPr/>
        </p:nvSpPr>
        <p:spPr>
          <a:xfrm>
            <a:off x="1444752" y="5550408"/>
            <a:ext cx="182880" cy="182880"/>
          </a:xfrm>
          <a:prstGeom prst="ellipse">
            <a:avLst/>
          </a:prstGeom>
          <a:solidFill>
            <a:srgbClr val="1F9D55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1783080" y="5440680"/>
            <a:ext cx="9784080" cy="438912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 w="9525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965960" y="5468112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1" i="0">
                <a:solidFill>
                  <a:srgbClr val="1F9D55"/>
                </a:solidFill>
                <a:latin typeface="Consolas"/>
              </a:rPr>
              <a:t>组长 · AI 喂养闭环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965960" y="5614416"/>
            <a:ext cx="9509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333847"/>
                </a:solidFill>
                <a:latin typeface="Microsoft YaHei"/>
              </a:rPr>
              <a:t>案例打标「高净值 · 理赔体验型流失」喂给 PAone。同类客户将被自动识别并优先推单。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40080" y="6035040"/>
            <a:ext cx="5349240" cy="457200"/>
          </a:xfrm>
          <a:prstGeom prst="roundRect">
            <a:avLst>
              <a:gd name="adj" fmla="val 15000"/>
            </a:avLst>
          </a:prstGeom>
          <a:solidFill>
            <a:srgbClr val="FCE8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40080" y="6035040"/>
            <a:ext cx="28575" cy="457200"/>
          </a:xfrm>
          <a:prstGeom prst="rect">
            <a:avLst/>
          </a:prstGeom>
          <a:solidFill>
            <a:srgbClr val="D93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22960" y="6108192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D9363E"/>
                </a:solidFill>
                <a:latin typeface="Microsoft YaHei"/>
              </a:rPr>
              <a:t>❌ 旧模式：</a:t>
            </a:r>
            <a:r>
              <a:rPr sz="1000" b="0" i="0">
                <a:solidFill>
                  <a:srgbClr val="333847"/>
                </a:solidFill>
                <a:latin typeface="Microsoft YaHei"/>
              </a:rPr>
              <a:t>客户出现在夕会流失名单时已签他司，根因永远无法触达。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172200" y="6035040"/>
            <a:ext cx="5349240" cy="457200"/>
          </a:xfrm>
          <a:prstGeom prst="roundRect">
            <a:avLst>
              <a:gd name="adj" fmla="val 15000"/>
            </a:avLst>
          </a:prstGeom>
          <a:solidFill>
            <a:srgbClr val="FD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172200" y="6035040"/>
            <a:ext cx="28575" cy="457200"/>
          </a:xfrm>
          <a:prstGeom prst="rect">
            <a:avLst/>
          </a:prstGeom>
          <a:solidFill>
            <a:srgbClr val="EE7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55080" y="6108192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C95A0F"/>
                </a:solidFill>
                <a:latin typeface="Microsoft YaHei"/>
              </a:rPr>
              <a:t>✓ 数智指挥官：</a:t>
            </a:r>
            <a:r>
              <a:rPr sz="1000" b="0" i="0">
                <a:solidFill>
                  <a:srgbClr val="333847"/>
                </a:solidFill>
                <a:latin typeface="Microsoft YaHei"/>
              </a:rPr>
              <a:t>AI 提前 3 天预警 → 组长共情挽回 → 案例反向训练 AI。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0080" y="6510528"/>
            <a:ext cx="10881360" cy="9525"/>
          </a:xfrm>
          <a:prstGeom prst="rect">
            <a:avLst/>
          </a:prstGeom>
          <a:solidFill>
            <a:srgbClr val="E4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40080" y="6629400"/>
            <a:ext cx="109728" cy="109728"/>
          </a:xfrm>
          <a:prstGeom prst="ellipse">
            <a:avLst/>
          </a:prstGeom>
          <a:solidFill>
            <a:srgbClr val="EE7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22960" y="6601968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9AA0AC"/>
                </a:solidFill>
                <a:latin typeface="Consolas"/>
              </a:rPr>
              <a:t>PAONE · 服销现管数智化转型白皮书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601200" y="6601968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0" i="0">
                <a:solidFill>
                  <a:srgbClr val="9AA0AC"/>
                </a:solidFill>
                <a:latin typeface="Consolas"/>
              </a:rPr>
              <a:t>08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EE7723"/>
                </a:solidFill>
                <a:latin typeface="Consolas"/>
              </a:rPr>
              <a:t>06  /  HOW — 落地路径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22960"/>
            <a:ext cx="502920" cy="38100"/>
          </a:xfrm>
          <a:prstGeom prst="rect">
            <a:avLst/>
          </a:prstGeom>
          <a:solidFill>
            <a:srgbClr val="EE7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1" i="0">
                <a:solidFill>
                  <a:srgbClr val="1A1D29"/>
                </a:solidFill>
                <a:latin typeface="Microsoft YaHei"/>
              </a:rPr>
              <a:t>三阶段 90 天，从工具接入到能力升级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6B7280"/>
                </a:solidFill>
                <a:latin typeface="Microsoft YaHei"/>
              </a:rPr>
              <a:t>蓝图再美也要脚手架。三阶段路径让数智化转型从愿景变为可排期、可验收、可复盘的行动。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194560"/>
            <a:ext cx="10881360" cy="4114800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 w="9525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920240" y="2834640"/>
            <a:ext cx="8321040" cy="19050"/>
          </a:xfrm>
          <a:prstGeom prst="rect">
            <a:avLst/>
          </a:prstGeom>
          <a:solidFill>
            <a:srgbClr val="F7A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86000" y="2514600"/>
            <a:ext cx="640080" cy="640080"/>
          </a:xfrm>
          <a:prstGeom prst="ellipse">
            <a:avLst/>
          </a:prstGeom>
          <a:solidFill>
            <a:srgbClr val="F7A85E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0" y="251460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 i="0">
                <a:solidFill>
                  <a:srgbClr val="FFFFFF"/>
                </a:solidFill>
                <a:latin typeface="Consola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29184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700" b="1" i="0">
                <a:solidFill>
                  <a:srgbClr val="1A1D29"/>
                </a:solidFill>
                <a:latin typeface="Microsoft YaHei"/>
              </a:rPr>
              <a:t>工具接入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65760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1" i="0">
                <a:solidFill>
                  <a:srgbClr val="EE7723"/>
                </a:solidFill>
                <a:latin typeface="Consolas"/>
              </a:rPr>
              <a:t>WEEK 1 — 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120" y="4069080"/>
            <a:ext cx="329184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4206240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 i="0">
                <a:solidFill>
                  <a:srgbClr val="EE7723"/>
                </a:solidFill>
                <a:latin typeface="Microsoft YaHei"/>
              </a:rPr>
              <a:t>✓ </a:t>
            </a:r>
            <a:r>
              <a:rPr sz="1050" b="0" i="0">
                <a:solidFill>
                  <a:srgbClr val="333847"/>
                </a:solidFill>
                <a:latin typeface="Microsoft YaHei"/>
              </a:rPr>
              <a:t>PAone 账号与权限开通，接入团队数据源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4709160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 i="0">
                <a:solidFill>
                  <a:srgbClr val="EE7723"/>
                </a:solidFill>
                <a:latin typeface="Microsoft YaHei"/>
              </a:rPr>
              <a:t>✓ </a:t>
            </a:r>
            <a:r>
              <a:rPr sz="1050" b="0" i="0">
                <a:solidFill>
                  <a:srgbClr val="333847"/>
                </a:solidFill>
                <a:latin typeface="Microsoft YaHei"/>
              </a:rPr>
              <a:t>规则引擎配置：异常推单阈值 / 通报口径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5212080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 i="0">
                <a:solidFill>
                  <a:srgbClr val="EE7723"/>
                </a:solidFill>
                <a:latin typeface="Microsoft YaHei"/>
              </a:rPr>
              <a:t>✓ </a:t>
            </a:r>
            <a:r>
              <a:rPr sz="1050" b="0" i="0">
                <a:solidFill>
                  <a:srgbClr val="333847"/>
                </a:solidFill>
                <a:latin typeface="Microsoft YaHei"/>
              </a:rPr>
              <a:t>组长完成工具基础培训与首次诊断</a:t>
            </a:r>
          </a:p>
        </p:txBody>
      </p:sp>
      <p:sp>
        <p:nvSpPr>
          <p:cNvPr id="17" name="Oval 16"/>
          <p:cNvSpPr/>
          <p:nvPr/>
        </p:nvSpPr>
        <p:spPr>
          <a:xfrm>
            <a:off x="5989320" y="2514600"/>
            <a:ext cx="640080" cy="640080"/>
          </a:xfrm>
          <a:prstGeom prst="ellipse">
            <a:avLst/>
          </a:prstGeom>
          <a:solidFill>
            <a:srgbClr val="EE7723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89320" y="251460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 i="0">
                <a:solidFill>
                  <a:srgbClr val="FFFFFF"/>
                </a:solidFill>
                <a:latin typeface="Consolas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329184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700" b="1" i="0">
                <a:solidFill>
                  <a:srgbClr val="1A1D29"/>
                </a:solidFill>
                <a:latin typeface="Microsoft YaHei"/>
              </a:rPr>
              <a:t>流程重塑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365760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1" i="0">
                <a:solidFill>
                  <a:srgbClr val="EE7723"/>
                </a:solidFill>
                <a:latin typeface="Consolas"/>
              </a:rPr>
              <a:t>WEEK 3 — 8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63440" y="4069080"/>
            <a:ext cx="329184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46320" y="4206240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 i="0">
                <a:solidFill>
                  <a:srgbClr val="EE7723"/>
                </a:solidFill>
                <a:latin typeface="Microsoft YaHei"/>
              </a:rPr>
              <a:t>✓ </a:t>
            </a:r>
            <a:r>
              <a:rPr sz="1050" b="0" i="0">
                <a:solidFill>
                  <a:srgbClr val="333847"/>
                </a:solidFill>
                <a:latin typeface="Microsoft YaHei"/>
              </a:rPr>
              <a:t>废除人肉巡视、手工取数等旧 SOP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6320" y="4709160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 i="0">
                <a:solidFill>
                  <a:srgbClr val="EE7723"/>
                </a:solidFill>
                <a:latin typeface="Microsoft YaHei"/>
              </a:rPr>
              <a:t>✓ </a:t>
            </a:r>
            <a:r>
              <a:rPr sz="1050" b="0" i="0">
                <a:solidFill>
                  <a:srgbClr val="333847"/>
                </a:solidFill>
                <a:latin typeface="Microsoft YaHei"/>
              </a:rPr>
              <a:t>建立 AI 初筛 + 组长精辅导 的 1V1 新机制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0" y="5212080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 i="0">
                <a:solidFill>
                  <a:srgbClr val="EE7723"/>
                </a:solidFill>
                <a:latin typeface="Microsoft YaHei"/>
              </a:rPr>
              <a:t>✓ </a:t>
            </a:r>
            <a:r>
              <a:rPr sz="1050" b="0" i="0">
                <a:solidFill>
                  <a:srgbClr val="333847"/>
                </a:solidFill>
                <a:latin typeface="Microsoft YaHei"/>
              </a:rPr>
              <a:t>夕会改造：从汇报型转向数据驱动决策型</a:t>
            </a:r>
          </a:p>
        </p:txBody>
      </p:sp>
      <p:sp>
        <p:nvSpPr>
          <p:cNvPr id="25" name="Oval 24"/>
          <p:cNvSpPr/>
          <p:nvPr/>
        </p:nvSpPr>
        <p:spPr>
          <a:xfrm>
            <a:off x="9692640" y="2514600"/>
            <a:ext cx="640080" cy="640080"/>
          </a:xfrm>
          <a:prstGeom prst="ellipse">
            <a:avLst/>
          </a:prstGeom>
          <a:solidFill>
            <a:srgbClr val="C95A0F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92640" y="251460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 i="0">
                <a:solidFill>
                  <a:srgbClr val="FFFFFF"/>
                </a:solidFill>
                <a:latin typeface="Consolas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329184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700" b="1" i="0">
                <a:solidFill>
                  <a:srgbClr val="1A1D29"/>
                </a:solidFill>
                <a:latin typeface="Microsoft YaHei"/>
              </a:rPr>
              <a:t>能力升级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365760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1" i="0">
                <a:solidFill>
                  <a:srgbClr val="EE7723"/>
                </a:solidFill>
                <a:latin typeface="Consolas"/>
              </a:rPr>
              <a:t>WEEK 9 — 12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366760" y="4069080"/>
            <a:ext cx="329184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49640" y="4206240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 i="0">
                <a:solidFill>
                  <a:srgbClr val="EE7723"/>
                </a:solidFill>
                <a:latin typeface="Microsoft YaHei"/>
              </a:rPr>
              <a:t>✓ </a:t>
            </a:r>
            <a:r>
              <a:rPr sz="1050" b="0" i="0">
                <a:solidFill>
                  <a:srgbClr val="333847"/>
                </a:solidFill>
                <a:latin typeface="Microsoft YaHei"/>
              </a:rPr>
              <a:t>组长完成三种新角色能力认证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49640" y="4709160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 i="0">
                <a:solidFill>
                  <a:srgbClr val="EE7723"/>
                </a:solidFill>
                <a:latin typeface="Microsoft YaHei"/>
              </a:rPr>
              <a:t>✓ </a:t>
            </a:r>
            <a:r>
              <a:rPr sz="1050" b="0" i="0">
                <a:solidFill>
                  <a:srgbClr val="333847"/>
                </a:solidFill>
                <a:latin typeface="Microsoft YaHei"/>
              </a:rPr>
              <a:t>建立 AI 语料喂养日常机制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49640" y="5212080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 i="0">
                <a:solidFill>
                  <a:srgbClr val="EE7723"/>
                </a:solidFill>
                <a:latin typeface="Microsoft YaHei"/>
              </a:rPr>
              <a:t>✓ </a:t>
            </a:r>
            <a:r>
              <a:rPr sz="1050" b="0" i="0">
                <a:solidFill>
                  <a:srgbClr val="333847"/>
                </a:solidFill>
                <a:latin typeface="Microsoft YaHei"/>
              </a:rPr>
              <a:t>输出首份《团队数智化复盘报告》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" y="6510528"/>
            <a:ext cx="10881360" cy="9525"/>
          </a:xfrm>
          <a:prstGeom prst="rect">
            <a:avLst/>
          </a:prstGeom>
          <a:solidFill>
            <a:srgbClr val="E4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0080" y="6629400"/>
            <a:ext cx="109728" cy="109728"/>
          </a:xfrm>
          <a:prstGeom prst="ellipse">
            <a:avLst/>
          </a:prstGeom>
          <a:solidFill>
            <a:srgbClr val="EE7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" y="6601968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9AA0AC"/>
                </a:solidFill>
                <a:latin typeface="Consolas"/>
              </a:rPr>
              <a:t>PAONE · 服销现管数智化转型白皮书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01200" y="6601968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0" i="0">
                <a:solidFill>
                  <a:srgbClr val="9AA0AC"/>
                </a:solidFill>
                <a:latin typeface="Consolas"/>
              </a:rPr>
              <a:t>09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EE7723"/>
                </a:solidFill>
                <a:latin typeface="Consolas"/>
              </a:rPr>
              <a:t>07  /  RESULT — 预期业绩 + 行业对标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22960"/>
            <a:ext cx="502920" cy="38100"/>
          </a:xfrm>
          <a:prstGeom prst="rect">
            <a:avLst/>
          </a:prstGeom>
          <a:solidFill>
            <a:srgbClr val="EE7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1" i="0">
                <a:solidFill>
                  <a:srgbClr val="1A1D29"/>
                </a:solidFill>
                <a:latin typeface="Microsoft YaHei"/>
              </a:rPr>
              <a:t>不止是"改善"，而是站在行业前列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6B7280"/>
                </a:solidFill>
                <a:latin typeface="Microsoft YaHei"/>
              </a:rPr>
              <a:t>四个验收 KPI 配套行业基准，让每一个数字都经得起追问。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148840"/>
            <a:ext cx="265176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148840"/>
            <a:ext cx="2651760" cy="45720"/>
          </a:xfrm>
          <a:prstGeom prst="rect">
            <a:avLst/>
          </a:prstGeom>
          <a:solidFill>
            <a:srgbClr val="EE7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33172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0" i="0">
                <a:solidFill>
                  <a:srgbClr val="EE7723"/>
                </a:solidFill>
                <a:latin typeface="Microsoft YaHei"/>
              </a:rPr>
              <a:t>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51760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1" i="0">
                <a:solidFill>
                  <a:srgbClr val="1A1D29"/>
                </a:solidFill>
                <a:latin typeface="Microsoft YaHei"/>
              </a:rPr>
              <a:t>高价值时间占比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926080"/>
            <a:ext cx="2651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3200" b="1" i="0">
                <a:solidFill>
                  <a:srgbClr val="EE7723"/>
                </a:solidFill>
                <a:latin typeface="Microsoft YaHei"/>
              </a:rPr>
              <a:t>53</a:t>
            </a:r>
            <a:r>
              <a:rPr sz="1400" b="0" i="0">
                <a:solidFill>
                  <a:srgbClr val="F7A85E"/>
                </a:solidFill>
                <a:latin typeface="Microsoft YaHei"/>
              </a:rPr>
              <a:t>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447288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900" b="0" i="0">
                <a:solidFill>
                  <a:srgbClr val="6B7280"/>
                </a:solidFill>
                <a:latin typeface="Microsoft YaHei"/>
              </a:rPr>
              <a:t>从 28% 提升至 53%，带宽翻倍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83280" y="2148840"/>
            <a:ext cx="265176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83280" y="2148840"/>
            <a:ext cx="2651760" cy="45720"/>
          </a:xfrm>
          <a:prstGeom prst="rect">
            <a:avLst/>
          </a:prstGeom>
          <a:solidFill>
            <a:srgbClr val="EE7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83280" y="233172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0" i="0">
                <a:solidFill>
                  <a:srgbClr val="EE7723"/>
                </a:solidFill>
                <a:latin typeface="Microsoft YaHei"/>
              </a:rPr>
              <a:t>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2651760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1" i="0">
                <a:solidFill>
                  <a:srgbClr val="1A1D29"/>
                </a:solidFill>
                <a:latin typeface="Microsoft YaHei"/>
              </a:rPr>
              <a:t>高风险客户挽回率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2926080"/>
            <a:ext cx="2651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3200" b="1" i="0">
                <a:solidFill>
                  <a:srgbClr val="EE7723"/>
                </a:solidFill>
                <a:latin typeface="Microsoft YaHei"/>
              </a:rPr>
              <a:t>+25</a:t>
            </a:r>
            <a:r>
              <a:rPr sz="1400" b="0" i="0">
                <a:solidFill>
                  <a:srgbClr val="F7A85E"/>
                </a:solidFill>
                <a:latin typeface="Microsoft YaHei"/>
              </a:rPr>
              <a:t>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3447288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900" b="0" i="0">
                <a:solidFill>
                  <a:srgbClr val="6B7280"/>
                </a:solidFill>
                <a:latin typeface="Microsoft YaHei"/>
              </a:rPr>
              <a:t>组长介入 + AI 预警前置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2148840"/>
            <a:ext cx="265176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26480" y="2148840"/>
            <a:ext cx="2651760" cy="45720"/>
          </a:xfrm>
          <a:prstGeom prst="rect">
            <a:avLst/>
          </a:prstGeom>
          <a:solidFill>
            <a:srgbClr val="EE7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0" y="233172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0" i="0">
                <a:solidFill>
                  <a:srgbClr val="EE7723"/>
                </a:solidFill>
                <a:latin typeface="Microsoft YaHei"/>
              </a:rPr>
              <a:t>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2651760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1" i="0">
                <a:solidFill>
                  <a:srgbClr val="1A1D29"/>
                </a:solidFill>
                <a:latin typeface="Microsoft YaHei"/>
              </a:rPr>
              <a:t>销冠话术复用率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2926080"/>
            <a:ext cx="2651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3200" b="1" i="0">
                <a:solidFill>
                  <a:srgbClr val="EE7723"/>
                </a:solidFill>
                <a:latin typeface="Microsoft YaHei"/>
              </a:rPr>
              <a:t>+40</a:t>
            </a:r>
            <a:r>
              <a:rPr sz="1400" b="0" i="0">
                <a:solidFill>
                  <a:srgbClr val="F7A85E"/>
                </a:solidFill>
                <a:latin typeface="Microsoft YaHei"/>
              </a:rPr>
              <a:t>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3447288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900" b="0" i="0">
                <a:solidFill>
                  <a:srgbClr val="6B7280"/>
                </a:solidFill>
                <a:latin typeface="Microsoft YaHei"/>
              </a:rPr>
              <a:t>月度话术萃取入训练库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869680" y="2148840"/>
            <a:ext cx="265176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69680" y="2148840"/>
            <a:ext cx="2651760" cy="45720"/>
          </a:xfrm>
          <a:prstGeom prst="rect">
            <a:avLst/>
          </a:prstGeom>
          <a:solidFill>
            <a:srgbClr val="EE7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69680" y="233172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0" i="0">
                <a:solidFill>
                  <a:srgbClr val="EE7723"/>
                </a:solidFill>
                <a:latin typeface="Microsoft YaHei"/>
              </a:rPr>
              <a:t>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69680" y="2651760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1" i="0">
                <a:solidFill>
                  <a:srgbClr val="1A1D29"/>
                </a:solidFill>
                <a:latin typeface="Microsoft YaHei"/>
              </a:rPr>
              <a:t>异常响应时效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69680" y="2926080"/>
            <a:ext cx="2651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3200" b="1" i="0">
                <a:solidFill>
                  <a:srgbClr val="EE7723"/>
                </a:solidFill>
                <a:latin typeface="Microsoft YaHei"/>
              </a:rPr>
              <a:t>T+0</a:t>
            </a:r>
            <a:r>
              <a:rPr sz="1400" b="0" i="0">
                <a:solidFill>
                  <a:srgbClr val="F7A85E"/>
                </a:solidFill>
                <a:latin typeface="Microsoft YaHei"/>
              </a:rPr>
              <a:t/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3447288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900" b="0" i="0">
                <a:solidFill>
                  <a:srgbClr val="6B7280"/>
                </a:solidFill>
                <a:latin typeface="Microsoft YaHei"/>
              </a:rPr>
              <a:t>从 T+1 转为实时推单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3977639"/>
            <a:ext cx="10881360" cy="2514600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 w="9525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4160519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1A1D29"/>
                </a:solidFill>
                <a:latin typeface="Microsoft YaHei"/>
              </a:rPr>
              <a:t>📊 横向对标：我们相对行业的位置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" y="4434839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6B7280"/>
                </a:solidFill>
                <a:latin typeface="Microsoft YaHei"/>
              </a:rPr>
              <a:t>数据来源：金融保险业服销运营基准报告 · 行业平均为呼入/服销混合型团队中位数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" y="4754879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1A1D29"/>
                </a:solidFill>
                <a:latin typeface="Microsoft YaHei"/>
              </a:rPr>
              <a:t>高价值时间占比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" y="4754879"/>
            <a:ext cx="10424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1" i="0">
                <a:solidFill>
                  <a:srgbClr val="EE7723"/>
                </a:solidFill>
                <a:latin typeface="Microsoft YaHei"/>
              </a:rPr>
              <a:t>超出行业中位数 2.4 倍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" y="5029199"/>
            <a:ext cx="1645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850" b="0" i="0">
                <a:solidFill>
                  <a:srgbClr val="6B7280"/>
                </a:solidFill>
                <a:latin typeface="Microsoft YaHei"/>
              </a:rPr>
              <a:t>行业底部 25%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606040" y="5056631"/>
            <a:ext cx="5943600" cy="137160"/>
          </a:xfrm>
          <a:prstGeom prst="rect">
            <a:avLst/>
          </a:prstGeom>
          <a:solidFill>
            <a:srgbClr val="FFFFFF"/>
          </a:solidFill>
          <a:ln w="635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606040" y="5056631"/>
            <a:ext cx="1485900" cy="137160"/>
          </a:xfrm>
          <a:prstGeom prst="rect">
            <a:avLst/>
          </a:prstGeom>
          <a:solidFill>
            <a:srgbClr val="C9C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86800" y="5029199"/>
            <a:ext cx="8229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1" i="0">
                <a:solidFill>
                  <a:srgbClr val="333847"/>
                </a:solidFill>
                <a:latin typeface="Consolas"/>
              </a:rPr>
              <a:t>15%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8680" y="5184647"/>
            <a:ext cx="1645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850" b="0" i="0">
                <a:solidFill>
                  <a:srgbClr val="6B7280"/>
                </a:solidFill>
                <a:latin typeface="Microsoft YaHei"/>
              </a:rPr>
              <a:t>行业中位数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606040" y="5212079"/>
            <a:ext cx="5943600" cy="137160"/>
          </a:xfrm>
          <a:prstGeom prst="rect">
            <a:avLst/>
          </a:prstGeom>
          <a:solidFill>
            <a:srgbClr val="FFFFFF"/>
          </a:solidFill>
          <a:ln w="635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606040" y="5212079"/>
            <a:ext cx="2179320" cy="137160"/>
          </a:xfrm>
          <a:prstGeom prst="rect">
            <a:avLst/>
          </a:prstGeom>
          <a:solidFill>
            <a:srgbClr val="F7A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0" y="5184647"/>
            <a:ext cx="8229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1" i="0">
                <a:solidFill>
                  <a:srgbClr val="333847"/>
                </a:solidFill>
                <a:latin typeface="Consolas"/>
              </a:rPr>
              <a:t>22%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68680" y="5340095"/>
            <a:ext cx="1645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850" b="1" i="0">
                <a:solidFill>
                  <a:srgbClr val="C95A0F"/>
                </a:solidFill>
                <a:latin typeface="Microsoft YaHei"/>
              </a:rPr>
              <a:t>PAone 模式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606040" y="5367527"/>
            <a:ext cx="5943600" cy="137160"/>
          </a:xfrm>
          <a:prstGeom prst="rect">
            <a:avLst/>
          </a:prstGeom>
          <a:solidFill>
            <a:srgbClr val="FFFFFF"/>
          </a:solidFill>
          <a:ln w="635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606040" y="5367527"/>
            <a:ext cx="5250180" cy="137160"/>
          </a:xfrm>
          <a:prstGeom prst="rect">
            <a:avLst/>
          </a:prstGeom>
          <a:solidFill>
            <a:srgbClr val="C95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686800" y="5340095"/>
            <a:ext cx="8229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1" i="0">
                <a:solidFill>
                  <a:srgbClr val="C95A0F"/>
                </a:solidFill>
                <a:latin typeface="Consolas"/>
              </a:rPr>
              <a:t>53%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8680" y="5596127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1A1D29"/>
                </a:solidFill>
                <a:latin typeface="Microsoft YaHei"/>
              </a:rPr>
              <a:t>销冠话术复用率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68680" y="5596127"/>
            <a:ext cx="10424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1" i="0">
                <a:solidFill>
                  <a:srgbClr val="EE7723"/>
                </a:solidFill>
                <a:latin typeface="Microsoft YaHei"/>
              </a:rPr>
              <a:t>领先行业均值 3.3 倍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68680" y="5870447"/>
            <a:ext cx="1645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850" b="0" i="0">
                <a:solidFill>
                  <a:srgbClr val="6B7280"/>
                </a:solidFill>
                <a:latin typeface="Microsoft YaHei"/>
              </a:rPr>
              <a:t>行业底部 25%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606040" y="5897879"/>
            <a:ext cx="5943600" cy="137160"/>
          </a:xfrm>
          <a:prstGeom prst="rect">
            <a:avLst/>
          </a:prstGeom>
          <a:solidFill>
            <a:srgbClr val="FFFFFF"/>
          </a:solidFill>
          <a:ln w="635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2606040" y="5897879"/>
            <a:ext cx="495300" cy="137160"/>
          </a:xfrm>
          <a:prstGeom prst="rect">
            <a:avLst/>
          </a:prstGeom>
          <a:solidFill>
            <a:srgbClr val="C9C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686800" y="5870447"/>
            <a:ext cx="8229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1" i="0">
                <a:solidFill>
                  <a:srgbClr val="333847"/>
                </a:solidFill>
                <a:latin typeface="Consolas"/>
              </a:rPr>
              <a:t>5%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68680" y="6025895"/>
            <a:ext cx="1645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850" b="0" i="0">
                <a:solidFill>
                  <a:srgbClr val="6B7280"/>
                </a:solidFill>
                <a:latin typeface="Microsoft YaHei"/>
              </a:rPr>
              <a:t>行业中位数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606040" y="6053327"/>
            <a:ext cx="5943600" cy="137160"/>
          </a:xfrm>
          <a:prstGeom prst="rect">
            <a:avLst/>
          </a:prstGeom>
          <a:solidFill>
            <a:srgbClr val="FFFFFF"/>
          </a:solidFill>
          <a:ln w="635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2606040" y="6053327"/>
            <a:ext cx="1188720" cy="137160"/>
          </a:xfrm>
          <a:prstGeom prst="rect">
            <a:avLst/>
          </a:prstGeom>
          <a:solidFill>
            <a:srgbClr val="F7A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686800" y="6025895"/>
            <a:ext cx="8229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1" i="0">
                <a:solidFill>
                  <a:srgbClr val="333847"/>
                </a:solidFill>
                <a:latin typeface="Consolas"/>
              </a:rPr>
              <a:t>12%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68680" y="6181343"/>
            <a:ext cx="1645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850" b="1" i="0">
                <a:solidFill>
                  <a:srgbClr val="C95A0F"/>
                </a:solidFill>
                <a:latin typeface="Microsoft YaHei"/>
              </a:rPr>
              <a:t>PAone 模式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606040" y="6208775"/>
            <a:ext cx="5943600" cy="137160"/>
          </a:xfrm>
          <a:prstGeom prst="rect">
            <a:avLst/>
          </a:prstGeom>
          <a:solidFill>
            <a:srgbClr val="FFFFFF"/>
          </a:solidFill>
          <a:ln w="635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2606040" y="6208775"/>
            <a:ext cx="3962400" cy="137160"/>
          </a:xfrm>
          <a:prstGeom prst="rect">
            <a:avLst/>
          </a:prstGeom>
          <a:solidFill>
            <a:srgbClr val="C95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686800" y="6181343"/>
            <a:ext cx="8229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1" i="0">
                <a:solidFill>
                  <a:srgbClr val="C95A0F"/>
                </a:solidFill>
                <a:latin typeface="Consolas"/>
              </a:rPr>
              <a:t>40%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40080" y="6510528"/>
            <a:ext cx="10881360" cy="9525"/>
          </a:xfrm>
          <a:prstGeom prst="rect">
            <a:avLst/>
          </a:prstGeom>
          <a:solidFill>
            <a:srgbClr val="E4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640080" y="6629400"/>
            <a:ext cx="109728" cy="109728"/>
          </a:xfrm>
          <a:prstGeom prst="ellipse">
            <a:avLst/>
          </a:prstGeom>
          <a:solidFill>
            <a:srgbClr val="EE7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22960" y="6601968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9AA0AC"/>
                </a:solidFill>
                <a:latin typeface="Consolas"/>
              </a:rPr>
              <a:t>PAONE · 服销现管数智化转型白皮书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601200" y="6601968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0" i="0">
                <a:solidFill>
                  <a:srgbClr val="9AA0AC"/>
                </a:solidFill>
                <a:latin typeface="Consolas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EE7723"/>
                </a:solidFill>
                <a:latin typeface="Consolas"/>
              </a:rPr>
              <a:t>08  /  ROI — 投入产出账本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22960"/>
            <a:ext cx="502920" cy="38100"/>
          </a:xfrm>
          <a:prstGeom prst="rect">
            <a:avLst/>
          </a:prstGeom>
          <a:solidFill>
            <a:srgbClr val="EE7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1" i="0">
                <a:solidFill>
                  <a:srgbClr val="1A1D29"/>
                </a:solidFill>
                <a:latin typeface="Microsoft YaHei"/>
              </a:rPr>
              <a:t>6 个月回本，远快于行业 18 个月均值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6B7280"/>
                </a:solidFill>
                <a:latin typeface="Microsoft YaHei"/>
              </a:rPr>
              <a:t>标准中等规模团队（20 坐席 + 1 组长）的 12 个月 ROI 测算。数字为示意，需用真实数据替换。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194560"/>
            <a:ext cx="5029200" cy="4160520"/>
          </a:xfrm>
          <a:prstGeom prst="roundRect">
            <a:avLst>
              <a:gd name="adj" fmla="val 6000"/>
            </a:avLst>
          </a:prstGeom>
          <a:solidFill>
            <a:srgbClr val="EE7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651760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FFFFFF"/>
                </a:solidFill>
                <a:latin typeface="Consolas"/>
              </a:rPr>
              <a:t>12 个月净收益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108960"/>
            <a:ext cx="429768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5600" b="1" i="0">
                <a:solidFill>
                  <a:srgbClr val="FFFFFF"/>
                </a:solidFill>
                <a:latin typeface="Microsoft YaHei"/>
              </a:rPr>
              <a:t>+</a:t>
            </a:r>
            <a:r>
              <a:rPr sz="8000" b="1" i="0">
                <a:solidFill>
                  <a:srgbClr val="FFFFFF"/>
                </a:solidFill>
                <a:latin typeface="Microsoft YaHei"/>
              </a:rPr>
              <a:t>312</a:t>
            </a:r>
            <a:r>
              <a:rPr sz="3200" b="1" i="0">
                <a:solidFill>
                  <a:srgbClr val="FFFFFF"/>
                </a:solidFill>
                <a:latin typeface="Microsoft YaHei"/>
              </a:rPr>
              <a:t> 万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05840" y="4663440"/>
            <a:ext cx="548640" cy="19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892040"/>
            <a:ext cx="429768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5000"/>
              </a:lnSpc>
            </a:pPr>
            <a:r>
              <a:rPr sz="1200" b="0" i="0">
                <a:solidFill>
                  <a:srgbClr val="FFFFFF"/>
                </a:solidFill>
                <a:latin typeface="Microsoft YaHei"/>
              </a:rPr>
              <a:t>对比传统数智化项目 </a:t>
            </a:r>
            <a:r>
              <a:rPr sz="1200" b="1" i="0">
                <a:solidFill>
                  <a:srgbClr val="FFFFFF"/>
                </a:solidFill>
                <a:latin typeface="Microsoft YaHei"/>
              </a:rPr>
              <a:t>18 个月回本周期</a:t>
            </a:r>
            <a:r>
              <a:rPr sz="1200" b="0" i="0">
                <a:solidFill>
                  <a:srgbClr val="FFFFFF"/>
                </a:solidFill>
                <a:latin typeface="Microsoft YaHei"/>
              </a:rPr>
              <a:t>，PAone 模式凭借低部署成本与即时业绩放大效应，</a:t>
            </a:r>
            <a:r>
              <a:rPr sz="1400" b="1" i="0">
                <a:solidFill>
                  <a:srgbClr val="FFFFFF"/>
                </a:solidFill>
                <a:latin typeface="Microsoft YaHei"/>
              </a:rPr>
              <a:t>6 个月即可回本</a:t>
            </a:r>
            <a:r>
              <a:rPr sz="1200" b="0" i="0">
                <a:solidFill>
                  <a:srgbClr val="FFFFFF"/>
                </a:solidFill>
                <a:latin typeface="Microsoft YaHei"/>
              </a:rPr>
              <a:t>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52160" y="2194560"/>
            <a:ext cx="5669280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80760" y="2468880"/>
            <a:ext cx="5212080" cy="475488"/>
          </a:xfrm>
          <a:prstGeom prst="roundRect">
            <a:avLst>
              <a:gd name="adj" fmla="val 15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2468880"/>
            <a:ext cx="33832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333847"/>
                </a:solidFill>
                <a:latin typeface="Microsoft YaHei"/>
              </a:rPr>
              <a:t>工具部署 + 年订阅费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2468880"/>
            <a:ext cx="50749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30000"/>
              </a:lnSpc>
            </a:pPr>
            <a:r>
              <a:rPr sz="1300" b="1" i="0">
                <a:solidFill>
                  <a:srgbClr val="6B7280"/>
                </a:solidFill>
                <a:latin typeface="Consolas"/>
              </a:rPr>
              <a:t>- 48 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80760" y="2980944"/>
            <a:ext cx="5212080" cy="475488"/>
          </a:xfrm>
          <a:prstGeom prst="roundRect">
            <a:avLst>
              <a:gd name="adj" fmla="val 15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2980944"/>
            <a:ext cx="33832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333847"/>
                </a:solidFill>
                <a:latin typeface="Microsoft YaHei"/>
              </a:rPr>
              <a:t>组长 + 坐席培训成本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0760" y="2980944"/>
            <a:ext cx="50749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30000"/>
              </a:lnSpc>
            </a:pPr>
            <a:r>
              <a:rPr sz="1300" b="1" i="0">
                <a:solidFill>
                  <a:srgbClr val="6B7280"/>
                </a:solidFill>
                <a:latin typeface="Consolas"/>
              </a:rPr>
              <a:t>- 15 万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80760" y="3493008"/>
            <a:ext cx="5212080" cy="475488"/>
          </a:xfrm>
          <a:prstGeom prst="roundRect">
            <a:avLst>
              <a:gd name="adj" fmla="val 15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3493008"/>
            <a:ext cx="33832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333847"/>
                </a:solidFill>
                <a:latin typeface="Microsoft YaHei"/>
              </a:rPr>
              <a:t>高风险客户挽回增量（+25%）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80760" y="3493008"/>
            <a:ext cx="50749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30000"/>
              </a:lnSpc>
            </a:pPr>
            <a:r>
              <a:rPr sz="1300" b="1" i="0">
                <a:solidFill>
                  <a:srgbClr val="EE7723"/>
                </a:solidFill>
                <a:latin typeface="Consolas"/>
              </a:rPr>
              <a:t>+ 180 万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80760" y="4005072"/>
            <a:ext cx="5212080" cy="475488"/>
          </a:xfrm>
          <a:prstGeom prst="roundRect">
            <a:avLst>
              <a:gd name="adj" fmla="val 15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4005072"/>
            <a:ext cx="33832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333847"/>
                </a:solidFill>
                <a:latin typeface="Microsoft YaHei"/>
              </a:rPr>
              <a:t>话术复用带来转化率提升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80760" y="4005072"/>
            <a:ext cx="50749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30000"/>
              </a:lnSpc>
            </a:pPr>
            <a:r>
              <a:rPr sz="1300" b="1" i="0">
                <a:solidFill>
                  <a:srgbClr val="EE7723"/>
                </a:solidFill>
                <a:latin typeface="Consolas"/>
              </a:rPr>
              <a:t>+ 125 万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80760" y="4517136"/>
            <a:ext cx="5212080" cy="475488"/>
          </a:xfrm>
          <a:prstGeom prst="roundRect">
            <a:avLst>
              <a:gd name="adj" fmla="val 15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0" y="4517136"/>
            <a:ext cx="33832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333847"/>
                </a:solidFill>
                <a:latin typeface="Microsoft YaHei"/>
              </a:rPr>
              <a:t>组长带宽释放（机会成本）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80760" y="4517136"/>
            <a:ext cx="50749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30000"/>
              </a:lnSpc>
            </a:pPr>
            <a:r>
              <a:rPr sz="1300" b="1" i="0">
                <a:solidFill>
                  <a:srgbClr val="EE7723"/>
                </a:solidFill>
                <a:latin typeface="Consolas"/>
              </a:rPr>
              <a:t>+ 70 万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080760" y="5029200"/>
            <a:ext cx="5212080" cy="621792"/>
          </a:xfrm>
          <a:prstGeom prst="roundRect">
            <a:avLst>
              <a:gd name="adj" fmla="val 15000"/>
            </a:avLst>
          </a:prstGeom>
          <a:solidFill>
            <a:srgbClr val="FDF3EA"/>
          </a:solidFill>
          <a:ln w="12700">
            <a:solidFill>
              <a:srgbClr val="EE77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09360" y="5029200"/>
            <a:ext cx="338328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1A1D29"/>
                </a:solidFill>
                <a:latin typeface="Microsoft YaHei"/>
              </a:rPr>
              <a:t>12 个月净收益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80760" y="5029200"/>
            <a:ext cx="507492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30000"/>
              </a:lnSpc>
            </a:pPr>
            <a:r>
              <a:rPr sz="1600" b="1" i="0">
                <a:solidFill>
                  <a:srgbClr val="C95A0F"/>
                </a:solidFill>
                <a:latin typeface="Consolas"/>
              </a:rPr>
              <a:t>+ 312 万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6510528"/>
            <a:ext cx="10881360" cy="9525"/>
          </a:xfrm>
          <a:prstGeom prst="rect">
            <a:avLst/>
          </a:prstGeom>
          <a:solidFill>
            <a:srgbClr val="E4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40080" y="6629400"/>
            <a:ext cx="109728" cy="109728"/>
          </a:xfrm>
          <a:prstGeom prst="ellipse">
            <a:avLst/>
          </a:prstGeom>
          <a:solidFill>
            <a:srgbClr val="EE7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" y="6601968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9AA0AC"/>
                </a:solidFill>
                <a:latin typeface="Consolas"/>
              </a:rPr>
              <a:t>PAONE · 服销现管数智化转型白皮书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0" y="6601968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0" i="0">
                <a:solidFill>
                  <a:srgbClr val="9AA0AC"/>
                </a:solidFill>
                <a:latin typeface="Consolas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E7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EE7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471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0" b="1" i="0">
                <a:solidFill>
                  <a:srgbClr val="EE7723"/>
                </a:solidFill>
                <a:latin typeface="Microsoft YaHei"/>
              </a:rPr>
              <a:t>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1033272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70000"/>
              </a:lnSpc>
            </a:pPr>
            <a:r>
              <a:rPr sz="2400" b="0" i="0">
                <a:solidFill>
                  <a:srgbClr val="1A1D29"/>
                </a:solidFill>
                <a:latin typeface="Microsoft YaHei"/>
              </a:rPr>
              <a:t>引入 PAone 之后，现管岗位不仅是减负，</a:t>
            </a:r>
          </a:p>
          <a:p>
            <a:pPr algn="ctr">
              <a:lnSpc>
                <a:spcPct val="170000"/>
              </a:lnSpc>
            </a:pPr>
            <a:r>
              <a:rPr sz="2400" b="0" i="0">
                <a:solidFill>
                  <a:srgbClr val="1A1D29"/>
                </a:solidFill>
                <a:latin typeface="Microsoft YaHei"/>
              </a:rPr>
              <a:t>更是 </a:t>
            </a:r>
            <a:r>
              <a:rPr sz="2600" b="1" i="0">
                <a:solidFill>
                  <a:srgbClr val="EE7723"/>
                </a:solidFill>
                <a:latin typeface="Microsoft YaHei"/>
              </a:rPr>
              <a:t>从"管事"向"理人"的质变</a:t>
            </a:r>
            <a:r>
              <a:rPr sz="2400" b="0" i="0">
                <a:solidFill>
                  <a:srgbClr val="1A1D29"/>
                </a:solidFill>
                <a:latin typeface="Microsoft YaHei"/>
              </a:rPr>
              <a:t>。</a:t>
            </a:r>
          </a:p>
          <a:p>
            <a:pPr algn="ctr">
              <a:lnSpc>
                <a:spcPct val="170000"/>
              </a:lnSpc>
            </a:pPr>
          </a:p>
          <a:p>
            <a:pPr algn="ctr">
              <a:lnSpc>
                <a:spcPct val="170000"/>
              </a:lnSpc>
            </a:pPr>
            <a:r>
              <a:rPr sz="2000" b="0" i="0">
                <a:solidFill>
                  <a:srgbClr val="333847"/>
                </a:solidFill>
                <a:latin typeface="Microsoft YaHei"/>
              </a:rPr>
              <a:t>组长不再是"管 10 个人的监工"，</a:t>
            </a:r>
          </a:p>
          <a:p>
            <a:pPr algn="ctr">
              <a:lnSpc>
                <a:spcPct val="170000"/>
              </a:lnSpc>
            </a:pPr>
            <a:r>
              <a:rPr sz="2000" b="0" i="0">
                <a:solidFill>
                  <a:srgbClr val="333847"/>
                </a:solidFill>
                <a:latin typeface="Microsoft YaHei"/>
              </a:rPr>
              <a:t>而是 </a:t>
            </a:r>
            <a:r>
              <a:rPr sz="2200" b="1" i="0">
                <a:solidFill>
                  <a:srgbClr val="C95A0F"/>
                </a:solidFill>
                <a:latin typeface="Microsoft YaHei"/>
              </a:rPr>
              <a:t>指挥 10 人 + 1 个 AI 军团</a:t>
            </a:r>
            <a:r>
              <a:rPr sz="2000" b="0" i="0">
                <a:solidFill>
                  <a:srgbClr val="333847"/>
                </a:solidFill>
                <a:latin typeface="Microsoft YaHei"/>
              </a:rPr>
              <a:t> 的 </a:t>
            </a:r>
            <a:r>
              <a:rPr sz="2200" b="1" i="0">
                <a:solidFill>
                  <a:srgbClr val="EE7723"/>
                </a:solidFill>
                <a:latin typeface="Microsoft YaHei"/>
              </a:rPr>
              <a:t>微型业务总经理</a:t>
            </a:r>
            <a:r>
              <a:rPr sz="2000" b="0" i="0">
                <a:solidFill>
                  <a:srgbClr val="333847"/>
                </a:solidFill>
                <a:latin typeface="Microsoft YaHei"/>
              </a:rPr>
              <a:t>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0" y="5760720"/>
            <a:ext cx="2103120" cy="19050"/>
          </a:xfrm>
          <a:prstGeom prst="rect">
            <a:avLst/>
          </a:prstGeom>
          <a:solidFill>
            <a:srgbClr val="EE7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6B7280"/>
                </a:solidFill>
                <a:latin typeface="Consolas"/>
              </a:rPr>
              <a:t>— THE NEW PARADIGM OF SALES-SERVICE MANAGEMENT 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26364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1" i="0">
                <a:solidFill>
                  <a:srgbClr val="EE7723"/>
                </a:solidFill>
                <a:latin typeface="Consolas"/>
              </a:rPr>
              <a:t>END / 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