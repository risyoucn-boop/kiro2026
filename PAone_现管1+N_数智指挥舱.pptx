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3152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00" cy="8229600"/>
          </a:xfrm>
          <a:prstGeom prst="rect">
            <a:avLst/>
          </a:prstGeom>
          <a:solidFill>
            <a:srgbClr val="050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00" cy="2468880"/>
          </a:xfrm>
          <a:prstGeom prst="rect">
            <a:avLst/>
          </a:prstGeom>
          <a:solidFill>
            <a:srgbClr val="0B16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0" y="514350"/>
            <a:ext cx="7315200" cy="0"/>
          </a:xfrm>
          <a:prstGeom prst="line">
            <a:avLst/>
          </a:prstGeom>
          <a:ln w="6350">
            <a:solidFill>
              <a:srgbClr val="1222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0" y="1028700"/>
            <a:ext cx="7315200" cy="0"/>
          </a:xfrm>
          <a:prstGeom prst="line">
            <a:avLst/>
          </a:prstGeom>
          <a:ln w="6350">
            <a:solidFill>
              <a:srgbClr val="1222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0" y="1543050"/>
            <a:ext cx="7315200" cy="0"/>
          </a:xfrm>
          <a:prstGeom prst="line">
            <a:avLst/>
          </a:prstGeom>
          <a:ln w="6350">
            <a:solidFill>
              <a:srgbClr val="1222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0" y="2057400"/>
            <a:ext cx="7315200" cy="0"/>
          </a:xfrm>
          <a:prstGeom prst="line">
            <a:avLst/>
          </a:prstGeom>
          <a:ln w="6350">
            <a:solidFill>
              <a:srgbClr val="1222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0" y="2571750"/>
            <a:ext cx="7315200" cy="0"/>
          </a:xfrm>
          <a:prstGeom prst="line">
            <a:avLst/>
          </a:prstGeom>
          <a:ln w="6350">
            <a:solidFill>
              <a:srgbClr val="1222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0" y="3086100"/>
            <a:ext cx="7315200" cy="0"/>
          </a:xfrm>
          <a:prstGeom prst="line">
            <a:avLst/>
          </a:prstGeom>
          <a:ln w="6350">
            <a:solidFill>
              <a:srgbClr val="1222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0" y="3600450"/>
            <a:ext cx="7315200" cy="0"/>
          </a:xfrm>
          <a:prstGeom prst="line">
            <a:avLst/>
          </a:prstGeom>
          <a:ln w="6350">
            <a:solidFill>
              <a:srgbClr val="1222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0" y="4114800"/>
            <a:ext cx="7315200" cy="0"/>
          </a:xfrm>
          <a:prstGeom prst="line">
            <a:avLst/>
          </a:prstGeom>
          <a:ln w="6350">
            <a:solidFill>
              <a:srgbClr val="1222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0" y="4629150"/>
            <a:ext cx="7315200" cy="0"/>
          </a:xfrm>
          <a:prstGeom prst="line">
            <a:avLst/>
          </a:prstGeom>
          <a:ln w="6350">
            <a:solidFill>
              <a:srgbClr val="1222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0" y="5143500"/>
            <a:ext cx="7315200" cy="0"/>
          </a:xfrm>
          <a:prstGeom prst="line">
            <a:avLst/>
          </a:prstGeom>
          <a:ln w="6350">
            <a:solidFill>
              <a:srgbClr val="1222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0" y="5657850"/>
            <a:ext cx="7315200" cy="0"/>
          </a:xfrm>
          <a:prstGeom prst="line">
            <a:avLst/>
          </a:prstGeom>
          <a:ln w="6350">
            <a:solidFill>
              <a:srgbClr val="1222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0" y="6172200"/>
            <a:ext cx="7315200" cy="0"/>
          </a:xfrm>
          <a:prstGeom prst="line">
            <a:avLst/>
          </a:prstGeom>
          <a:ln w="6350">
            <a:solidFill>
              <a:srgbClr val="1222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0" y="6686550"/>
            <a:ext cx="7315200" cy="0"/>
          </a:xfrm>
          <a:prstGeom prst="line">
            <a:avLst/>
          </a:prstGeom>
          <a:ln w="6350">
            <a:solidFill>
              <a:srgbClr val="1222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0" y="7200900"/>
            <a:ext cx="7315200" cy="0"/>
          </a:xfrm>
          <a:prstGeom prst="line">
            <a:avLst/>
          </a:prstGeom>
          <a:ln w="6350">
            <a:solidFill>
              <a:srgbClr val="1222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0" y="7715250"/>
            <a:ext cx="7315200" cy="0"/>
          </a:xfrm>
          <a:prstGeom prst="line">
            <a:avLst/>
          </a:prstGeom>
          <a:ln w="6350">
            <a:solidFill>
              <a:srgbClr val="1222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09600" y="0"/>
            <a:ext cx="0" cy="8229600"/>
          </a:xfrm>
          <a:prstGeom prst="line">
            <a:avLst/>
          </a:prstGeom>
          <a:ln w="6350">
            <a:solidFill>
              <a:srgbClr val="1222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219200" y="0"/>
            <a:ext cx="0" cy="8229600"/>
          </a:xfrm>
          <a:prstGeom prst="line">
            <a:avLst/>
          </a:prstGeom>
          <a:ln w="6350">
            <a:solidFill>
              <a:srgbClr val="1222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828800" y="0"/>
            <a:ext cx="0" cy="8229600"/>
          </a:xfrm>
          <a:prstGeom prst="line">
            <a:avLst/>
          </a:prstGeom>
          <a:ln w="6350">
            <a:solidFill>
              <a:srgbClr val="1222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2438400" y="0"/>
            <a:ext cx="0" cy="8229600"/>
          </a:xfrm>
          <a:prstGeom prst="line">
            <a:avLst/>
          </a:prstGeom>
          <a:ln w="6350">
            <a:solidFill>
              <a:srgbClr val="1222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3048000" y="0"/>
            <a:ext cx="0" cy="8229600"/>
          </a:xfrm>
          <a:prstGeom prst="line">
            <a:avLst/>
          </a:prstGeom>
          <a:ln w="6350">
            <a:solidFill>
              <a:srgbClr val="1222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3657600" y="0"/>
            <a:ext cx="0" cy="8229600"/>
          </a:xfrm>
          <a:prstGeom prst="line">
            <a:avLst/>
          </a:prstGeom>
          <a:ln w="6350">
            <a:solidFill>
              <a:srgbClr val="1222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4267200" y="0"/>
            <a:ext cx="0" cy="8229600"/>
          </a:xfrm>
          <a:prstGeom prst="line">
            <a:avLst/>
          </a:prstGeom>
          <a:ln w="6350">
            <a:solidFill>
              <a:srgbClr val="1222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4876800" y="0"/>
            <a:ext cx="0" cy="8229600"/>
          </a:xfrm>
          <a:prstGeom prst="line">
            <a:avLst/>
          </a:prstGeom>
          <a:ln w="6350">
            <a:solidFill>
              <a:srgbClr val="1222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5486400" y="0"/>
            <a:ext cx="0" cy="8229600"/>
          </a:xfrm>
          <a:prstGeom prst="line">
            <a:avLst/>
          </a:prstGeom>
          <a:ln w="6350">
            <a:solidFill>
              <a:srgbClr val="1222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6096000" y="0"/>
            <a:ext cx="0" cy="8229600"/>
          </a:xfrm>
          <a:prstGeom prst="line">
            <a:avLst/>
          </a:prstGeom>
          <a:ln w="6350">
            <a:solidFill>
              <a:srgbClr val="1222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6705600" y="0"/>
            <a:ext cx="0" cy="8229600"/>
          </a:xfrm>
          <a:prstGeom prst="line">
            <a:avLst/>
          </a:prstGeom>
          <a:ln w="6350">
            <a:solidFill>
              <a:srgbClr val="1222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64592" y="164592"/>
            <a:ext cx="320040" cy="0"/>
          </a:xfrm>
          <a:prstGeom prst="line">
            <a:avLst/>
          </a:prstGeom>
          <a:ln w="19050">
            <a:solidFill>
              <a:srgbClr val="33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64592" y="164592"/>
            <a:ext cx="0" cy="320040"/>
          </a:xfrm>
          <a:prstGeom prst="line">
            <a:avLst/>
          </a:prstGeom>
          <a:ln w="19050">
            <a:solidFill>
              <a:srgbClr val="33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H="1">
            <a:off x="6830568" y="164592"/>
            <a:ext cx="320040" cy="0"/>
          </a:xfrm>
          <a:prstGeom prst="line">
            <a:avLst/>
          </a:prstGeom>
          <a:ln w="19050">
            <a:solidFill>
              <a:srgbClr val="33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7150608" y="164592"/>
            <a:ext cx="0" cy="320040"/>
          </a:xfrm>
          <a:prstGeom prst="line">
            <a:avLst/>
          </a:prstGeom>
          <a:ln w="19050">
            <a:solidFill>
              <a:srgbClr val="33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164592" y="8065008"/>
            <a:ext cx="320040" cy="0"/>
          </a:xfrm>
          <a:prstGeom prst="line">
            <a:avLst/>
          </a:prstGeom>
          <a:ln w="19050">
            <a:solidFill>
              <a:srgbClr val="33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164592" y="7744968"/>
            <a:ext cx="0" cy="320040"/>
          </a:xfrm>
          <a:prstGeom prst="line">
            <a:avLst/>
          </a:prstGeom>
          <a:ln w="19050">
            <a:solidFill>
              <a:srgbClr val="33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H="1">
            <a:off x="6830568" y="8065008"/>
            <a:ext cx="320040" cy="0"/>
          </a:xfrm>
          <a:prstGeom prst="line">
            <a:avLst/>
          </a:prstGeom>
          <a:ln w="19050">
            <a:solidFill>
              <a:srgbClr val="33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7150608" y="7744968"/>
            <a:ext cx="0" cy="320040"/>
          </a:xfrm>
          <a:prstGeom prst="line">
            <a:avLst/>
          </a:prstGeom>
          <a:ln w="19050">
            <a:solidFill>
              <a:srgbClr val="33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/>
        </p:nvSpPr>
        <p:spPr>
          <a:xfrm>
            <a:off x="365760" y="292608"/>
            <a:ext cx="1417320" cy="256032"/>
          </a:xfrm>
          <a:prstGeom prst="rect">
            <a:avLst/>
          </a:prstGeom>
          <a:noFill/>
          <a:ln w="9525">
            <a:solidFill>
              <a:srgbClr val="33C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65760" y="292608"/>
            <a:ext cx="14173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66F0FF"/>
                </a:solidFill>
                <a:latin typeface="Microsoft YaHei"/>
              </a:rPr>
              <a:t>科技创新 · 4 / 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120640" y="292608"/>
            <a:ext cx="201168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A9B4CC"/>
                </a:solidFill>
                <a:latin typeface="Microsoft YaHei"/>
              </a:rPr>
              <a:t>PAone × 银卡服销 · 现管 1+N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65760" y="640080"/>
            <a:ext cx="6583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</a:rPr>
              <a:t>银卡服销现管岗位 1+N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5760" y="1097280"/>
            <a:ext cx="6583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F9D3D"/>
                </a:solidFill>
                <a:latin typeface="Microsoft YaHei"/>
              </a:rPr>
              <a:t>构建人机协同 · 数智指挥舱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365760" y="1627632"/>
            <a:ext cx="6583680" cy="0"/>
          </a:xfrm>
          <a:prstGeom prst="line">
            <a:avLst/>
          </a:prstGeom>
          <a:ln w="15240">
            <a:solidFill>
              <a:srgbClr val="33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Oval 43"/>
          <p:cNvSpPr/>
          <p:nvPr/>
        </p:nvSpPr>
        <p:spPr>
          <a:xfrm>
            <a:off x="310896" y="1572768"/>
            <a:ext cx="109728" cy="109728"/>
          </a:xfrm>
          <a:prstGeom prst="ellipse">
            <a:avLst/>
          </a:prstGeom>
          <a:solidFill>
            <a:srgbClr val="FF9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65760" y="1691640"/>
            <a:ext cx="6583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A9B4CC"/>
                </a:solidFill>
                <a:latin typeface="Microsoft YaHei"/>
              </a:rPr>
              <a:t>PAone 接管数据巡场 · 异常预警 · 话术萃取 · 复盘生成    |    组长聚焦高价值干预与团队能力复制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65760" y="2148840"/>
            <a:ext cx="6583680" cy="713232"/>
          </a:xfrm>
          <a:prstGeom prst="rect">
            <a:avLst/>
          </a:prstGeom>
          <a:solidFill>
            <a:srgbClr val="182036"/>
          </a:solidFill>
          <a:ln w="6350">
            <a:solidFill>
              <a:srgbClr val="5560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365760" y="2148840"/>
            <a:ext cx="1417320" cy="713232"/>
          </a:xfrm>
          <a:prstGeom prst="rect">
            <a:avLst/>
          </a:prstGeom>
          <a:solidFill>
            <a:srgbClr val="222C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2148840"/>
            <a:ext cx="141732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E6EEFA"/>
                </a:solidFill>
                <a:latin typeface="Microsoft YaHei"/>
              </a:rPr>
              <a:t>传统现管</a:t>
            </a:r>
          </a:p>
          <a:p>
            <a:pPr algn="ctr"/>
            <a:r>
              <a:rPr sz="1000" b="1">
                <a:solidFill>
                  <a:srgbClr val="E6EEFA"/>
                </a:solidFill>
                <a:latin typeface="Microsoft YaHei"/>
              </a:rPr>
              <a:t>人肉盯盘模式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874519" y="2240280"/>
            <a:ext cx="868680" cy="320040"/>
          </a:xfrm>
          <a:prstGeom prst="roundRect">
            <a:avLst/>
          </a:prstGeom>
          <a:noFill/>
          <a:ln w="7620">
            <a:solidFill>
              <a:srgbClr val="5560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874519" y="2240280"/>
            <a:ext cx="86868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A9B4CC"/>
                </a:solidFill>
                <a:latin typeface="Microsoft YaHei"/>
              </a:rPr>
              <a:t>手工查数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2834639" y="2240280"/>
            <a:ext cx="868680" cy="320040"/>
          </a:xfrm>
          <a:prstGeom prst="roundRect">
            <a:avLst/>
          </a:prstGeom>
          <a:noFill/>
          <a:ln w="7620">
            <a:solidFill>
              <a:srgbClr val="5560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834639" y="2240280"/>
            <a:ext cx="86868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A9B4CC"/>
                </a:solidFill>
                <a:latin typeface="Microsoft YaHei"/>
              </a:rPr>
              <a:t>事后复盘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3794760" y="2240280"/>
            <a:ext cx="868680" cy="320040"/>
          </a:xfrm>
          <a:prstGeom prst="roundRect">
            <a:avLst/>
          </a:prstGeom>
          <a:noFill/>
          <a:ln w="7620">
            <a:solidFill>
              <a:srgbClr val="5560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794760" y="2240280"/>
            <a:ext cx="86868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A9B4CC"/>
                </a:solidFill>
                <a:latin typeface="Microsoft YaHei"/>
              </a:rPr>
              <a:t>泛化辅导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4754880" y="2240280"/>
            <a:ext cx="868680" cy="320040"/>
          </a:xfrm>
          <a:prstGeom prst="roundRect">
            <a:avLst/>
          </a:prstGeom>
          <a:noFill/>
          <a:ln w="7620">
            <a:solidFill>
              <a:srgbClr val="5560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754880" y="2240280"/>
            <a:ext cx="86868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A9B4CC"/>
                </a:solidFill>
                <a:latin typeface="Microsoft YaHei"/>
              </a:rPr>
              <a:t>现场催办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874519" y="2569464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FF9D3D"/>
                </a:solidFill>
                <a:latin typeface="Microsoft YaHei"/>
              </a:rPr>
              <a:t>忙在动作上   ·   慢在判断上   ·   弱在复制上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3657600" y="2862072"/>
            <a:ext cx="0" cy="182880"/>
          </a:xfrm>
          <a:prstGeom prst="line">
            <a:avLst/>
          </a:prstGeom>
          <a:ln w="15240">
            <a:solidFill>
              <a:srgbClr val="33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Down Arrow 58"/>
          <p:cNvSpPr/>
          <p:nvPr/>
        </p:nvSpPr>
        <p:spPr>
          <a:xfrm>
            <a:off x="3584448" y="3026664"/>
            <a:ext cx="146304" cy="164592"/>
          </a:xfrm>
          <a:prstGeom prst="downArrow">
            <a:avLst/>
          </a:prstGeom>
          <a:solidFill>
            <a:srgbClr val="33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2423160" y="2724912"/>
            <a:ext cx="2468880" cy="2468880"/>
          </a:xfrm>
          <a:prstGeom prst="ellipse">
            <a:avLst/>
          </a:prstGeom>
          <a:noFill/>
          <a:ln w="12700">
            <a:solidFill>
              <a:srgbClr val="14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2651760" y="2953512"/>
            <a:ext cx="2011680" cy="2011680"/>
          </a:xfrm>
          <a:prstGeom prst="ellipse">
            <a:avLst/>
          </a:prstGeom>
          <a:noFill/>
          <a:ln w="12700">
            <a:solidFill>
              <a:srgbClr val="1C5599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2852928" y="3154680"/>
            <a:ext cx="1609344" cy="1609344"/>
          </a:xfrm>
          <a:prstGeom prst="ellipse">
            <a:avLst/>
          </a:prstGeom>
          <a:noFill/>
          <a:ln w="19050">
            <a:solidFill>
              <a:srgbClr val="4E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2999232" y="3300984"/>
            <a:ext cx="1316736" cy="1316736"/>
          </a:xfrm>
          <a:prstGeom prst="ellipse">
            <a:avLst/>
          </a:prstGeom>
          <a:solidFill>
            <a:srgbClr val="0F2B55"/>
          </a:solidFill>
          <a:ln w="25400">
            <a:solidFill>
              <a:srgbClr val="6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743200" y="3575304"/>
            <a:ext cx="18288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PAone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743200" y="3886200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>
                <a:solidFill>
                  <a:srgbClr val="66F0FF"/>
                </a:solidFill>
                <a:latin typeface="Microsoft YaHei"/>
              </a:rPr>
              <a:t>服销现管 · 数智指挥舱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743200" y="4123944"/>
            <a:ext cx="18288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E6EEFA"/>
                </a:solidFill>
                <a:latin typeface="Microsoft YaHei"/>
              </a:rPr>
              <a:t>1 名组长  +  N 个 AI 能力单元</a:t>
            </a:r>
          </a:p>
        </p:txBody>
      </p:sp>
      <p:sp>
        <p:nvSpPr>
          <p:cNvPr id="67" name="Oval 66"/>
          <p:cNvSpPr/>
          <p:nvPr/>
        </p:nvSpPr>
        <p:spPr>
          <a:xfrm>
            <a:off x="4528052" y="4343290"/>
            <a:ext cx="82296" cy="82296"/>
          </a:xfrm>
          <a:prstGeom prst="ellipse">
            <a:avLst/>
          </a:prstGeom>
          <a:solidFill>
            <a:srgbClr val="FF9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3528788" y="4920216"/>
            <a:ext cx="82296" cy="82296"/>
          </a:xfrm>
          <a:prstGeom prst="ellipse">
            <a:avLst/>
          </a:prstGeom>
          <a:solidFill>
            <a:srgbClr val="FF9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2704852" y="4343290"/>
            <a:ext cx="82296" cy="82296"/>
          </a:xfrm>
          <a:prstGeom prst="ellipse">
            <a:avLst/>
          </a:prstGeom>
          <a:solidFill>
            <a:srgbClr val="FF9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2792517" y="3341278"/>
            <a:ext cx="82296" cy="82296"/>
          </a:xfrm>
          <a:prstGeom prst="ellipse">
            <a:avLst/>
          </a:prstGeom>
          <a:solidFill>
            <a:srgbClr val="FF9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3704116" y="2916192"/>
            <a:ext cx="82296" cy="82296"/>
          </a:xfrm>
          <a:prstGeom prst="ellipse">
            <a:avLst/>
          </a:prstGeom>
          <a:solidFill>
            <a:srgbClr val="FF9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4528052" y="3493118"/>
            <a:ext cx="82296" cy="82296"/>
          </a:xfrm>
          <a:prstGeom prst="ellipse">
            <a:avLst/>
          </a:prstGeom>
          <a:solidFill>
            <a:srgbClr val="FF9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365760" y="374904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>
                <a:solidFill>
                  <a:srgbClr val="A9B4CC"/>
                </a:solidFill>
                <a:latin typeface="Microsoft YaHei"/>
              </a:rPr>
              <a:t>← 旧模式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852160" y="374904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50" b="1">
                <a:solidFill>
                  <a:srgbClr val="66F0FF"/>
                </a:solidFill>
                <a:latin typeface="Microsoft YaHei"/>
              </a:rPr>
              <a:t>AI 能力矩阵 →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365760" y="3291840"/>
            <a:ext cx="1417320" cy="1325880"/>
          </a:xfrm>
          <a:prstGeom prst="roundRect">
            <a:avLst/>
          </a:prstGeom>
          <a:solidFill>
            <a:srgbClr val="121A30"/>
          </a:solidFill>
          <a:ln w="6350">
            <a:solidFill>
              <a:srgbClr val="5560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365760" y="3337560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A9B4CC"/>
                </a:solidFill>
                <a:latin typeface="Microsoft YaHei"/>
              </a:rPr>
              <a:t>组长动作（旧）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11480" y="3630168"/>
            <a:ext cx="132588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E6EEFA"/>
                </a:solidFill>
                <a:latin typeface="Microsoft YaHei"/>
              </a:rPr>
              <a:t>·  查数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11480" y="3849623"/>
            <a:ext cx="132588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E6EEFA"/>
                </a:solidFill>
                <a:latin typeface="Microsoft YaHei"/>
              </a:rPr>
              <a:t>·  催办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11480" y="4069079"/>
            <a:ext cx="132588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E6EEFA"/>
                </a:solidFill>
                <a:latin typeface="Microsoft YaHei"/>
              </a:rPr>
              <a:t>·  救火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11480" y="4288535"/>
            <a:ext cx="132588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E6EEFA"/>
                </a:solidFill>
                <a:latin typeface="Microsoft YaHei"/>
              </a:rPr>
              <a:t>·  盯进度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5532120" y="3291840"/>
            <a:ext cx="1417320" cy="1325880"/>
          </a:xfrm>
          <a:prstGeom prst="roundRect">
            <a:avLst/>
          </a:prstGeom>
          <a:solidFill>
            <a:srgbClr val="10244A"/>
          </a:solidFill>
          <a:ln w="9525">
            <a:solidFill>
              <a:srgbClr val="4EA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5532120" y="3337560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66F0FF"/>
                </a:solidFill>
                <a:latin typeface="Microsoft YaHei"/>
              </a:rPr>
              <a:t>组长动作（新）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577840" y="3630168"/>
            <a:ext cx="132588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Microsoft YaHei"/>
              </a:rPr>
              <a:t>▸  识别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577840" y="3849623"/>
            <a:ext cx="132588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Microsoft YaHei"/>
              </a:rPr>
              <a:t>▸  干预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577840" y="4069079"/>
            <a:ext cx="132588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Microsoft YaHei"/>
              </a:rPr>
              <a:t>▸  辅导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5577840" y="4288535"/>
            <a:ext cx="132588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Microsoft YaHei"/>
              </a:rPr>
              <a:t>▸  复制 · 训练AI</a:t>
            </a:r>
          </a:p>
        </p:txBody>
      </p:sp>
      <p:cxnSp>
        <p:nvCxnSpPr>
          <p:cNvPr id="87" name="Connector 86"/>
          <p:cNvCxnSpPr/>
          <p:nvPr/>
        </p:nvCxnSpPr>
        <p:spPr>
          <a:xfrm flipH="1">
            <a:off x="1783080" y="3959352"/>
            <a:ext cx="1216152" cy="0"/>
          </a:xfrm>
          <a:prstGeom prst="line">
            <a:avLst/>
          </a:prstGeom>
          <a:ln w="11430">
            <a:solidFill>
              <a:srgbClr val="5560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4315968" y="3959352"/>
            <a:ext cx="1216152" cy="0"/>
          </a:xfrm>
          <a:prstGeom prst="line">
            <a:avLst/>
          </a:prstGeom>
          <a:ln w="13970">
            <a:solidFill>
              <a:srgbClr val="33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Rounded Rectangle 88"/>
          <p:cNvSpPr/>
          <p:nvPr/>
        </p:nvSpPr>
        <p:spPr>
          <a:xfrm>
            <a:off x="365760" y="4800600"/>
            <a:ext cx="2121408" cy="960120"/>
          </a:xfrm>
          <a:prstGeom prst="roundRect">
            <a:avLst/>
          </a:prstGeom>
          <a:solidFill>
            <a:srgbClr val="0E1C3E"/>
          </a:solidFill>
          <a:ln w="9525">
            <a:solidFill>
              <a:srgbClr val="4EA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365760" y="4800600"/>
            <a:ext cx="64008" cy="960120"/>
          </a:xfrm>
          <a:prstGeom prst="rect">
            <a:avLst/>
          </a:prstGeom>
          <a:solidFill>
            <a:srgbClr val="33C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530352" y="4873752"/>
            <a:ext cx="4572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FF9D3D"/>
                </a:solidFill>
                <a:latin typeface="Microsoft YaHei"/>
              </a:rPr>
              <a:t>01</a:t>
            </a:r>
          </a:p>
        </p:txBody>
      </p:sp>
      <p:sp>
        <p:nvSpPr>
          <p:cNvPr id="92" name="Oval 91"/>
          <p:cNvSpPr/>
          <p:nvPr/>
        </p:nvSpPr>
        <p:spPr>
          <a:xfrm>
            <a:off x="2286000" y="4919472"/>
            <a:ext cx="73152" cy="73152"/>
          </a:xfrm>
          <a:prstGeom prst="ellipse">
            <a:avLst/>
          </a:prstGeom>
          <a:solidFill>
            <a:srgbClr val="6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868680" y="4873752"/>
            <a:ext cx="148132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FFFFFF"/>
                </a:solidFill>
                <a:latin typeface="Microsoft YaHei"/>
              </a:rPr>
              <a:t>数据巡场引擎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530352" y="5184648"/>
            <a:ext cx="184708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A9B4CC"/>
                </a:solidFill>
                <a:latin typeface="Microsoft YaHei"/>
              </a:rPr>
              <a:t>自动抓取大盘 / 员工 / 时段 / 名单 / 成交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2596896" y="4800600"/>
            <a:ext cx="2121408" cy="960120"/>
          </a:xfrm>
          <a:prstGeom prst="roundRect">
            <a:avLst/>
          </a:prstGeom>
          <a:solidFill>
            <a:srgbClr val="0E1C3E"/>
          </a:solidFill>
          <a:ln w="9525">
            <a:solidFill>
              <a:srgbClr val="4EA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2596896" y="4800600"/>
            <a:ext cx="64008" cy="960120"/>
          </a:xfrm>
          <a:prstGeom prst="rect">
            <a:avLst/>
          </a:prstGeom>
          <a:solidFill>
            <a:srgbClr val="FF9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2761488" y="4873752"/>
            <a:ext cx="4572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FF9D3D"/>
                </a:solidFill>
                <a:latin typeface="Microsoft YaHei"/>
              </a:rPr>
              <a:t>02</a:t>
            </a:r>
          </a:p>
        </p:txBody>
      </p:sp>
      <p:sp>
        <p:nvSpPr>
          <p:cNvPr id="98" name="Oval 97"/>
          <p:cNvSpPr/>
          <p:nvPr/>
        </p:nvSpPr>
        <p:spPr>
          <a:xfrm>
            <a:off x="4517136" y="4919472"/>
            <a:ext cx="73152" cy="73152"/>
          </a:xfrm>
          <a:prstGeom prst="ellipse">
            <a:avLst/>
          </a:prstGeom>
          <a:solidFill>
            <a:srgbClr val="6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3099816" y="4873752"/>
            <a:ext cx="148132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FFFFFF"/>
                </a:solidFill>
                <a:latin typeface="Microsoft YaHei"/>
              </a:rPr>
              <a:t>异常预警引擎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2761488" y="5184648"/>
            <a:ext cx="184708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A9B4CC"/>
                </a:solidFill>
                <a:latin typeface="Microsoft YaHei"/>
              </a:rPr>
              <a:t>低产 · 掉速 · 名单浪费 · 通时不足 · 情绪波动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4828032" y="4800600"/>
            <a:ext cx="2121408" cy="960120"/>
          </a:xfrm>
          <a:prstGeom prst="roundRect">
            <a:avLst/>
          </a:prstGeom>
          <a:solidFill>
            <a:srgbClr val="0E1C3E"/>
          </a:solidFill>
          <a:ln w="9525">
            <a:solidFill>
              <a:srgbClr val="4EA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4828032" y="4800600"/>
            <a:ext cx="64008" cy="960120"/>
          </a:xfrm>
          <a:prstGeom prst="rect">
            <a:avLst/>
          </a:prstGeom>
          <a:solidFill>
            <a:srgbClr val="33C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4992624" y="4873752"/>
            <a:ext cx="4572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FF9D3D"/>
                </a:solidFill>
                <a:latin typeface="Microsoft YaHei"/>
              </a:rPr>
              <a:t>03</a:t>
            </a:r>
          </a:p>
        </p:txBody>
      </p:sp>
      <p:sp>
        <p:nvSpPr>
          <p:cNvPr id="104" name="Oval 103"/>
          <p:cNvSpPr/>
          <p:nvPr/>
        </p:nvSpPr>
        <p:spPr>
          <a:xfrm>
            <a:off x="6748272" y="4919472"/>
            <a:ext cx="73152" cy="73152"/>
          </a:xfrm>
          <a:prstGeom prst="ellipse">
            <a:avLst/>
          </a:prstGeom>
          <a:solidFill>
            <a:srgbClr val="6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5330952" y="4873752"/>
            <a:ext cx="148132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FFFFFF"/>
                </a:solidFill>
                <a:latin typeface="Microsoft YaHei"/>
              </a:rPr>
              <a:t>话术萃取引擎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4992624" y="5184648"/>
            <a:ext cx="184708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A9B4CC"/>
                </a:solidFill>
                <a:latin typeface="Microsoft YaHei"/>
              </a:rPr>
              <a:t>拆解销冠录音与成交结构，沉淀可复制模板</a:t>
            </a:r>
          </a:p>
        </p:txBody>
      </p:sp>
      <p:sp>
        <p:nvSpPr>
          <p:cNvPr id="107" name="Rounded Rectangle 106"/>
          <p:cNvSpPr/>
          <p:nvPr/>
        </p:nvSpPr>
        <p:spPr>
          <a:xfrm>
            <a:off x="365760" y="5852160"/>
            <a:ext cx="2121408" cy="960120"/>
          </a:xfrm>
          <a:prstGeom prst="roundRect">
            <a:avLst/>
          </a:prstGeom>
          <a:solidFill>
            <a:srgbClr val="0E1C3E"/>
          </a:solidFill>
          <a:ln w="9525">
            <a:solidFill>
              <a:srgbClr val="4EA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365760" y="5852160"/>
            <a:ext cx="64008" cy="960120"/>
          </a:xfrm>
          <a:prstGeom prst="rect">
            <a:avLst/>
          </a:prstGeom>
          <a:solidFill>
            <a:srgbClr val="33C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530352" y="5925312"/>
            <a:ext cx="4572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FF9D3D"/>
                </a:solidFill>
                <a:latin typeface="Microsoft YaHei"/>
              </a:rPr>
              <a:t>04</a:t>
            </a:r>
          </a:p>
        </p:txBody>
      </p:sp>
      <p:sp>
        <p:nvSpPr>
          <p:cNvPr id="110" name="Oval 109"/>
          <p:cNvSpPr/>
          <p:nvPr/>
        </p:nvSpPr>
        <p:spPr>
          <a:xfrm>
            <a:off x="2286000" y="5971032"/>
            <a:ext cx="73152" cy="73152"/>
          </a:xfrm>
          <a:prstGeom prst="ellipse">
            <a:avLst/>
          </a:prstGeom>
          <a:solidFill>
            <a:srgbClr val="6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868680" y="5925312"/>
            <a:ext cx="148132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FFFFFF"/>
                </a:solidFill>
                <a:latin typeface="Microsoft YaHei"/>
              </a:rPr>
              <a:t>精准辅导引擎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530352" y="6236208"/>
            <a:ext cx="184708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A9B4CC"/>
                </a:solidFill>
                <a:latin typeface="Microsoft YaHei"/>
              </a:rPr>
              <a:t>按个人短板推送辅导重点，辅导从经验变数据</a:t>
            </a:r>
          </a:p>
        </p:txBody>
      </p:sp>
      <p:sp>
        <p:nvSpPr>
          <p:cNvPr id="113" name="Rounded Rectangle 112"/>
          <p:cNvSpPr/>
          <p:nvPr/>
        </p:nvSpPr>
        <p:spPr>
          <a:xfrm>
            <a:off x="2596896" y="5852160"/>
            <a:ext cx="2121408" cy="960120"/>
          </a:xfrm>
          <a:prstGeom prst="roundRect">
            <a:avLst/>
          </a:prstGeom>
          <a:solidFill>
            <a:srgbClr val="0E1C3E"/>
          </a:solidFill>
          <a:ln w="9525">
            <a:solidFill>
              <a:srgbClr val="4EA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2596896" y="5852160"/>
            <a:ext cx="64008" cy="960120"/>
          </a:xfrm>
          <a:prstGeom prst="rect">
            <a:avLst/>
          </a:prstGeom>
          <a:solidFill>
            <a:srgbClr val="33C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2761488" y="5925312"/>
            <a:ext cx="4572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FF9D3D"/>
                </a:solidFill>
                <a:latin typeface="Microsoft YaHei"/>
              </a:rPr>
              <a:t>05</a:t>
            </a:r>
          </a:p>
        </p:txBody>
      </p:sp>
      <p:sp>
        <p:nvSpPr>
          <p:cNvPr id="116" name="Oval 115"/>
          <p:cNvSpPr/>
          <p:nvPr/>
        </p:nvSpPr>
        <p:spPr>
          <a:xfrm>
            <a:off x="4517136" y="5971032"/>
            <a:ext cx="73152" cy="73152"/>
          </a:xfrm>
          <a:prstGeom prst="ellipse">
            <a:avLst/>
          </a:prstGeom>
          <a:solidFill>
            <a:srgbClr val="6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3099816" y="5925312"/>
            <a:ext cx="148132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FFFFFF"/>
                </a:solidFill>
                <a:latin typeface="Microsoft YaHei"/>
              </a:rPr>
              <a:t>复盘生成引擎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2761488" y="6236208"/>
            <a:ext cx="184708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A9B4CC"/>
                </a:solidFill>
                <a:latin typeface="Microsoft YaHei"/>
              </a:rPr>
              <a:t>自动生成早会 / 夕会 / 通报 / 跟进清单</a:t>
            </a:r>
          </a:p>
        </p:txBody>
      </p:sp>
      <p:sp>
        <p:nvSpPr>
          <p:cNvPr id="119" name="Rounded Rectangle 118"/>
          <p:cNvSpPr/>
          <p:nvPr/>
        </p:nvSpPr>
        <p:spPr>
          <a:xfrm>
            <a:off x="4828032" y="5852160"/>
            <a:ext cx="2121408" cy="960120"/>
          </a:xfrm>
          <a:prstGeom prst="roundRect">
            <a:avLst/>
          </a:prstGeom>
          <a:solidFill>
            <a:srgbClr val="0E1C3E"/>
          </a:solidFill>
          <a:ln w="9525">
            <a:solidFill>
              <a:srgbClr val="4EA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4828032" y="5852160"/>
            <a:ext cx="64008" cy="960120"/>
          </a:xfrm>
          <a:prstGeom prst="rect">
            <a:avLst/>
          </a:prstGeom>
          <a:solidFill>
            <a:srgbClr val="FF9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4992624" y="5925312"/>
            <a:ext cx="4572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FF9D3D"/>
                </a:solidFill>
                <a:latin typeface="Microsoft YaHei"/>
              </a:rPr>
              <a:t>06</a:t>
            </a:r>
          </a:p>
        </p:txBody>
      </p:sp>
      <p:sp>
        <p:nvSpPr>
          <p:cNvPr id="122" name="Oval 121"/>
          <p:cNvSpPr/>
          <p:nvPr/>
        </p:nvSpPr>
        <p:spPr>
          <a:xfrm>
            <a:off x="6748272" y="5971032"/>
            <a:ext cx="73152" cy="73152"/>
          </a:xfrm>
          <a:prstGeom prst="ellipse">
            <a:avLst/>
          </a:prstGeom>
          <a:solidFill>
            <a:srgbClr val="6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5330952" y="5925312"/>
            <a:ext cx="148132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FFFFFF"/>
                </a:solidFill>
                <a:latin typeface="Microsoft YaHei"/>
              </a:rPr>
              <a:t>语料进化引擎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4992624" y="6236208"/>
            <a:ext cx="184708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A9B4CC"/>
                </a:solidFill>
                <a:latin typeface="Microsoft YaHei"/>
              </a:rPr>
              <a:t>组长标注案例反向训练，PAone 越用越懂业务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365760" y="6858000"/>
            <a:ext cx="6583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66F0FF"/>
                </a:solidFill>
                <a:latin typeface="Microsoft YaHei"/>
              </a:rPr>
              <a:t>数据闭环  /  CLOSED-LOOP PIPELINE</a:t>
            </a:r>
          </a:p>
        </p:txBody>
      </p:sp>
      <p:sp>
        <p:nvSpPr>
          <p:cNvPr id="126" name="Pentagon 125"/>
          <p:cNvSpPr/>
          <p:nvPr/>
        </p:nvSpPr>
        <p:spPr>
          <a:xfrm>
            <a:off x="365760" y="7178040"/>
            <a:ext cx="1005840" cy="384048"/>
          </a:xfrm>
          <a:prstGeom prst="homePlate">
            <a:avLst/>
          </a:prstGeom>
          <a:solidFill>
            <a:srgbClr val="123260"/>
          </a:solidFill>
          <a:ln w="7620">
            <a:solidFill>
              <a:srgbClr val="33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950" b="1">
                <a:solidFill>
                  <a:srgbClr val="FFFFFF"/>
                </a:solidFill>
                <a:latin typeface="Microsoft YaHei"/>
              </a:rPr>
              <a:t>数据采集</a:t>
            </a:r>
          </a:p>
        </p:txBody>
      </p:sp>
      <p:sp>
        <p:nvSpPr>
          <p:cNvPr id="127" name="Pentagon 126"/>
          <p:cNvSpPr/>
          <p:nvPr/>
        </p:nvSpPr>
        <p:spPr>
          <a:xfrm>
            <a:off x="1481328" y="7178040"/>
            <a:ext cx="1005840" cy="384048"/>
          </a:xfrm>
          <a:prstGeom prst="homePlate">
            <a:avLst/>
          </a:prstGeom>
          <a:solidFill>
            <a:srgbClr val="1A386A"/>
          </a:solidFill>
          <a:ln w="7620">
            <a:solidFill>
              <a:srgbClr val="33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950" b="1">
                <a:solidFill>
                  <a:srgbClr val="FFFFFF"/>
                </a:solidFill>
                <a:latin typeface="Microsoft YaHei"/>
              </a:rPr>
              <a:t>AI识别</a:t>
            </a:r>
          </a:p>
        </p:txBody>
      </p:sp>
      <p:sp>
        <p:nvSpPr>
          <p:cNvPr id="128" name="Pentagon 127"/>
          <p:cNvSpPr/>
          <p:nvPr/>
        </p:nvSpPr>
        <p:spPr>
          <a:xfrm>
            <a:off x="2596896" y="7178040"/>
            <a:ext cx="1005840" cy="384048"/>
          </a:xfrm>
          <a:prstGeom prst="homePlate">
            <a:avLst/>
          </a:prstGeom>
          <a:solidFill>
            <a:srgbClr val="223E74"/>
          </a:solidFill>
          <a:ln w="7620">
            <a:solidFill>
              <a:srgbClr val="33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950" b="1">
                <a:solidFill>
                  <a:srgbClr val="FFFFFF"/>
                </a:solidFill>
                <a:latin typeface="Microsoft YaHei"/>
              </a:rPr>
              <a:t>组长干预</a:t>
            </a:r>
          </a:p>
        </p:txBody>
      </p:sp>
      <p:sp>
        <p:nvSpPr>
          <p:cNvPr id="129" name="Pentagon 128"/>
          <p:cNvSpPr/>
          <p:nvPr/>
        </p:nvSpPr>
        <p:spPr>
          <a:xfrm>
            <a:off x="3712464" y="7178040"/>
            <a:ext cx="1005840" cy="384048"/>
          </a:xfrm>
          <a:prstGeom prst="homePlate">
            <a:avLst/>
          </a:prstGeom>
          <a:solidFill>
            <a:srgbClr val="2A447E"/>
          </a:solidFill>
          <a:ln w="7620">
            <a:solidFill>
              <a:srgbClr val="33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950" b="1">
                <a:solidFill>
                  <a:srgbClr val="FFFFFF"/>
                </a:solidFill>
                <a:latin typeface="Microsoft YaHei"/>
              </a:rPr>
              <a:t>话术沉淀</a:t>
            </a:r>
          </a:p>
        </p:txBody>
      </p:sp>
      <p:sp>
        <p:nvSpPr>
          <p:cNvPr id="130" name="Pentagon 129"/>
          <p:cNvSpPr/>
          <p:nvPr/>
        </p:nvSpPr>
        <p:spPr>
          <a:xfrm>
            <a:off x="4828032" y="7178040"/>
            <a:ext cx="1005840" cy="384048"/>
          </a:xfrm>
          <a:prstGeom prst="homePlate">
            <a:avLst/>
          </a:prstGeom>
          <a:solidFill>
            <a:srgbClr val="324A88"/>
          </a:solidFill>
          <a:ln w="7620">
            <a:solidFill>
              <a:srgbClr val="33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950" b="1">
                <a:solidFill>
                  <a:srgbClr val="FFFFFF"/>
                </a:solidFill>
                <a:latin typeface="Microsoft YaHei"/>
              </a:rPr>
              <a:t>团队复制</a:t>
            </a:r>
          </a:p>
        </p:txBody>
      </p:sp>
      <p:sp>
        <p:nvSpPr>
          <p:cNvPr id="131" name="Pentagon 130"/>
          <p:cNvSpPr/>
          <p:nvPr/>
        </p:nvSpPr>
        <p:spPr>
          <a:xfrm>
            <a:off x="5943600" y="7178040"/>
            <a:ext cx="1005840" cy="384048"/>
          </a:xfrm>
          <a:prstGeom prst="homePlate">
            <a:avLst/>
          </a:prstGeom>
          <a:solidFill>
            <a:srgbClr val="FF6A1A"/>
          </a:solidFill>
          <a:ln w="7620">
            <a:solidFill>
              <a:srgbClr val="33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950" b="1">
                <a:solidFill>
                  <a:srgbClr val="FFFFFF"/>
                </a:solidFill>
                <a:latin typeface="Microsoft YaHei"/>
              </a:rPr>
              <a:t>模型进化</a:t>
            </a:r>
          </a:p>
        </p:txBody>
      </p:sp>
      <p:sp>
        <p:nvSpPr>
          <p:cNvPr id="132" name="Rounded Rectangle 131"/>
          <p:cNvSpPr/>
          <p:nvPr/>
        </p:nvSpPr>
        <p:spPr>
          <a:xfrm>
            <a:off x="365760" y="7498079"/>
            <a:ext cx="6583680" cy="566928"/>
          </a:xfrm>
          <a:prstGeom prst="roundRect">
            <a:avLst/>
          </a:prstGeom>
          <a:solidFill>
            <a:srgbClr val="0C1A36"/>
          </a:solidFill>
          <a:ln w="12700">
            <a:solidFill>
              <a:srgbClr val="FF9D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365760" y="7498079"/>
            <a:ext cx="164592" cy="566928"/>
          </a:xfrm>
          <a:prstGeom prst="rect">
            <a:avLst/>
          </a:prstGeom>
          <a:solidFill>
            <a:srgbClr val="FF9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640080" y="7516367"/>
            <a:ext cx="62179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Microsoft YaHei"/>
              </a:rPr>
              <a:t>现管 1+N，不是减负工具，而是现场管理操作系统。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640080" y="7790687"/>
            <a:ext cx="62179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66F0FF"/>
                </a:solidFill>
                <a:latin typeface="Microsoft YaHei"/>
              </a:rPr>
              <a:t>PAone 实时感知   ·   组长精准干预   ·   团队能力复制   ·   AI 持续进化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4937760" y="8092440"/>
            <a:ext cx="201168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>
                <a:solidFill>
                  <a:srgbClr val="55607A"/>
                </a:solidFill>
                <a:latin typeface="Microsoft YaHei"/>
              </a:rPr>
              <a:t>© PAone Smart Ops · v2026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