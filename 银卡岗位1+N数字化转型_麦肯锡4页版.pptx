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54864" cy="20116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828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PAGE  1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41414"/>
                </a:solidFill>
                <a:latin typeface="Microsoft YaHei"/>
                <a:ea typeface="Microsoft YaHei"/>
              </a:rPr>
              <a:t>银卡岗位 1+N 数字化三大目标：组织有影响 · 项目有成果 · 现场有改善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8550E"/>
                </a:solidFill>
                <a:latin typeface="Microsoft YaHei"/>
                <a:ea typeface="Microsoft YaHei"/>
              </a:rPr>
              <a:t>不是为了数字化而数字化 — 让银卡数字化既能被组织看见，又能形成标杆成果，最终真正改善现场管理与一线作业效率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481328"/>
            <a:ext cx="10881360" cy="10972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1188720" cy="5486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691640"/>
            <a:ext cx="2514600" cy="5486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16916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组织价值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1414"/>
                </a:solidFill>
                <a:latin typeface="Microsoft YaHei"/>
                <a:ea typeface="Microsoft YaHei"/>
              </a:rPr>
              <a:t>组织有影响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有节奏  ·  有露出  ·  有辨识度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3337560" cy="18288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汇报口径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0215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41414"/>
                </a:solidFill>
                <a:latin typeface="Microsoft YaHei"/>
                <a:ea typeface="Microsoft YaHei"/>
              </a:rPr>
              <a:t>提升银卡在总部 / 分公司数字化转型中的战略可见度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具体落点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79392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形成季度化成果输出节奏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主动对接卢总会、分公司会、总部数字化条线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把银卡从「项目执行队伍」升级为「数字化样板队伍」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在数字化舞台持续被看见、形成银卡品牌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68112"/>
            <a:ext cx="3337560" cy="29260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6811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E3B06"/>
                </a:solidFill>
                <a:latin typeface="Microsoft YaHei"/>
                <a:ea typeface="Microsoft YaHei"/>
              </a:rPr>
              <a:t>衡量指标   季度上会次数 / 总部数字化条线露出频次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169164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1691640"/>
            <a:ext cx="1188720" cy="5486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2" y="16916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8112" y="1691640"/>
            <a:ext cx="2514600" cy="5486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9552" y="16916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23774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1414"/>
                </a:solidFill>
                <a:latin typeface="Microsoft YaHei"/>
                <a:ea typeface="Microsoft YaHei"/>
              </a:rPr>
              <a:t>项目有成果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28803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可申报  ·  可获奖  ·  可复制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2272" y="3200400"/>
            <a:ext cx="3337560" cy="18288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29184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汇报口径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350215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41414"/>
                </a:solidFill>
                <a:latin typeface="Microsoft YaHei"/>
                <a:ea typeface="Microsoft YaHei"/>
              </a:rPr>
              <a:t>打造可申报、可评奖、可复制的标杆案例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06908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具体落点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4279392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重点项目优先打穿，不平均铺开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数据 / 案例 / 工具 / 机制同步沉淀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Q2 冲奖：中台教练、服销现管、知识拆解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形成岗位 1+N 方法论，向更多队伍复制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62272" y="5468112"/>
            <a:ext cx="3337560" cy="29260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546811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E3B06"/>
                </a:solidFill>
                <a:latin typeface="Microsoft YaHei"/>
                <a:ea typeface="Microsoft YaHei"/>
              </a:rPr>
              <a:t>衡量指标   可申报案例数 / 获奖项目数 / 复制覆盖队伍数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1584" y="169164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1584" y="1691640"/>
            <a:ext cx="1188720" cy="5486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916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90304" y="1691640"/>
            <a:ext cx="2514600" cy="54864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1744" y="16916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现场价值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4464" y="23774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1414"/>
                </a:solidFill>
                <a:latin typeface="Microsoft YaHei"/>
                <a:ea typeface="Microsoft YaHei"/>
              </a:rPr>
              <a:t>现场有改善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28803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减重复  ·  提质量  ·  促经营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84464" y="3200400"/>
            <a:ext cx="3337560" cy="18288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29184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汇报口径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50215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41414"/>
                </a:solidFill>
                <a:latin typeface="Microsoft YaHei"/>
                <a:ea typeface="Microsoft YaHei"/>
              </a:rPr>
              <a:t>回到一线真实场景，真正推动提质增效与队伍减负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406908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具体落点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4279392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减少主管重复兜底、重复拉数、重复解释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提升坐席训练效率与新人独立作战速度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稳定服务、经营与高客承载结果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■ 把个人经验转成组织能力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84464" y="5468112"/>
            <a:ext cx="3337560" cy="292608"/>
          </a:xfrm>
          <a:prstGeom prst="rect">
            <a:avLst/>
          </a:prstGeom>
          <a:solidFill>
            <a:srgbClr val="F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546811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E3B06"/>
                </a:solidFill>
                <a:latin typeface="Microsoft YaHei"/>
                <a:ea typeface="Microsoft YaHei"/>
              </a:rPr>
              <a:t>衡量指标   主管单日重复动作时长 / 新人独立上岗周期 / 高客承载客户数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FFF5EB"/>
          </a:solidFill>
          <a:ln w="1587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989320"/>
            <a:ext cx="73152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035040"/>
            <a:ext cx="11000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FINAL TAKEAWAY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281928"/>
            <a:ext cx="110002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41414"/>
                </a:solidFill>
                <a:latin typeface="Microsoft YaHei"/>
                <a:ea typeface="Microsoft YaHei"/>
              </a:rPr>
              <a:t>三大目标互为支撑：组织影响是「场」、项目成果是「品」、现场改善是「本」；缺一项，数字化转型都难持续。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565392"/>
            <a:ext cx="11430000" cy="10972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 / Source：银卡岗位 1+N 项目组（李祥） · 卢总会 4月数字化实践材料 · 内部访谈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66019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· 银卡客服中心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54864" cy="20116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828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PAGE  2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41414"/>
                </a:solidFill>
                <a:latin typeface="Microsoft YaHei"/>
                <a:ea typeface="Microsoft YaHei"/>
              </a:rPr>
              <a:t>项目池重构：12 个岗位 1+N 分层排序，6 个重点项目优先打穿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8550E"/>
                </a:solidFill>
                <a:latin typeface="Microsoft YaHei"/>
                <a:ea typeface="Microsoft YaHei"/>
              </a:rPr>
              <a:t>排序不按谁先报，而按四标准 — 成熟度 · 痛点强度 · 可复制性 · 上会与获奖潜力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481328"/>
            <a:ext cx="10881360" cy="10972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73152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54480"/>
            <a:ext cx="2624328" cy="38404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① 成熟度   材料/数据已沉淀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54480"/>
            <a:ext cx="73152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552" y="1554480"/>
            <a:ext cx="2624328" cy="38404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554480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② 痛点强度   现场真痛、高频耗时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554480"/>
            <a:ext cx="73152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16752" y="1554480"/>
            <a:ext cx="2624328" cy="38404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554480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③ 可复制性   可向更多队伍复制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554480"/>
            <a:ext cx="73152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1554480"/>
            <a:ext cx="2624328" cy="38404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1554480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④ 上会/获奖潜力   可申报、可评奖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057400"/>
          <a:ext cx="1127455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"/>
                <a:gridCol w="1597228"/>
                <a:gridCol w="1409319"/>
                <a:gridCol w="657682"/>
                <a:gridCol w="4134002"/>
                <a:gridCol w="2630728"/>
                <a:gridCol w="469773"/>
              </a:tblGrid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负责人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重要性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排序原因（精要）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历史提报 / 材料基础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供稿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服销现管 1+N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叶爱娣 / 王凯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直接对应服销经营结果，解决盯盘/筛人/辅导/闭环耗时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已形成 4 月卢总会数字化实践材料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中台/教练岗 1+N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黄敏 等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教练辅导从经验型 → 数据识别+训练匹配+效果追踪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已有阶段成果，可包装为 Q2 上奖项目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知识拆解岗 1+N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王晶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对应智能客服知识生产效率，标准化样板可复制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已形成 3 月卢总会数字化实践材料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投诉化解能力提升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张卫平、文京洛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服务现管真实痛点强，资深主管经验组织化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最近重点研究讨论，新增爆点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新人育成 1+N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待调研确定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新人上手慢、知识会背不会用、主管带教耗时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需先完成主管端、新人端调研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安心秘书 1+N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陈小娟 等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银卡高客招牌，支撑服务升级、价值经营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已提报安秘相关数字化实践材料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E8D2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顶私坐席 1+N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张旭宏、赵书英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基于平安One系统能力，支撑顶私客户经营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已有平安One 客户分析材料基础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结清挽留坐席 1+N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蔡丽莉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挽留场景有经营转化价值，需沉淀策略模型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待形成案例化成果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私财坐席 1+N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鲁晓晓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可沉淀私财客户服务/触达/经营动作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待孵化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GVIP 坐席 1+N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周梦莎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高端客户服务有价值，需先形成标准化样板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待孵化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</a:tr>
              <a:tr h="281353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信 SBO 坐席 1+N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文京洛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中低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专业业务有空间，成果颗粒度需进一步验证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待孵化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813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对公坐席 1+N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王秋梅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中低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银行端目标不够清晰，暂不作为主战场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待观察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182880" y="2377440"/>
            <a:ext cx="164592" cy="16916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" y="2377440"/>
            <a:ext cx="201168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重
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114800"/>
            <a:ext cx="164592" cy="160020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" y="4114800"/>
            <a:ext cx="201168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储
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06440"/>
            <a:ext cx="3712463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777240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8064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Q2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85216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冲奖样板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6099048"/>
            <a:ext cx="2798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33333"/>
                </a:solidFill>
                <a:latin typeface="Microsoft YaHei"/>
                <a:ea typeface="Microsoft YaHei"/>
              </a:rPr>
              <a:t>中台教练 · 服销现管 · 知识拆解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42815" y="5806440"/>
            <a:ext cx="3712463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55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42815" y="5806440"/>
            <a:ext cx="777240" cy="640080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2815" y="58064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Q3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1495" y="585216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新增爆点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1495" y="6099048"/>
            <a:ext cx="2798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33333"/>
                </a:solidFill>
                <a:latin typeface="Microsoft YaHei"/>
                <a:ea typeface="Microsoft YaHei"/>
              </a:rPr>
              <a:t>投诉化解 · 新人育成 · 安心秘书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0" y="5806440"/>
            <a:ext cx="3712463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8E3B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0" y="5806440"/>
            <a:ext cx="777240" cy="640080"/>
          </a:xfrm>
          <a:prstGeom prst="rect">
            <a:avLst/>
          </a:prstGeom>
          <a:solidFill>
            <a:srgbClr val="8E3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28430" y="58064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Q4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7110" y="585216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E3B06"/>
                </a:solidFill>
                <a:latin typeface="Microsoft YaHei"/>
                <a:ea typeface="Microsoft YaHei"/>
              </a:rPr>
              <a:t>盘点升级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0" y="6099048"/>
            <a:ext cx="2798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33333"/>
                </a:solidFill>
                <a:latin typeface="Microsoft YaHei"/>
                <a:ea typeface="Microsoft YaHei"/>
              </a:rPr>
              <a:t>顶私 · 私财 · GVIP · 结清挽留 · 信 SBO · 对公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565392"/>
            <a:ext cx="11430000" cy="10972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 / Source：银卡岗位 1+N 项目组（李祥） · 卢总会 4月数字化实践材料 · 内部访谈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66019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· 银卡客服中心 ·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54864" cy="20116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828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PAGE  3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41414"/>
                </a:solidFill>
                <a:latin typeface="Microsoft YaHei"/>
                <a:ea typeface="Microsoft YaHei"/>
              </a:rPr>
              <a:t>推进机制：李祥控总盘 · 责任人交付成果 · 按季度形成上会与获奖节奏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8550E"/>
                </a:solidFill>
                <a:latin typeface="Microsoft YaHei"/>
                <a:ea typeface="Microsoft YaHei"/>
              </a:rPr>
              <a:t>不靠临时催材料 — 建立「总盘统筹 + 项目主责 + 月度复盘 + 季度交付」的常态化机制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481328"/>
            <a:ext cx="10881360" cy="10972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6327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5632704" cy="38404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91640"/>
            <a:ext cx="54864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9164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WHO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691640"/>
            <a:ext cx="4261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责任体系（统筹 + 主责 + 兜底）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2148840"/>
          <a:ext cx="535838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966"/>
                <a:gridCol w="3827417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角色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职责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李祥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控总盘 · 定节奏 · 抓材料 · 对接业管/总部数字化/获奖机会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李琦、花蕊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分工介入项目推进 · 解决主管卡点 · 推动过程落地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管总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关键项目兜底 · 资源协调 · 方向把关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项目责任人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提供真实场景 · 推动一线试点 · 沉淀案例与数据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骨干 / 坐席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参与试用 · 反馈场景 · 验证工具是否真正有用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245352" y="1691640"/>
            <a:ext cx="5486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1691640"/>
            <a:ext cx="5486400" cy="38404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691640"/>
            <a:ext cx="54864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69164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169164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推进节奏（周 → 月 → 季 → 年）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382512" y="2148840"/>
          <a:ext cx="521207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506"/>
                <a:gridCol w="1944805"/>
                <a:gridCol w="2333767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动作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输出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每周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项目轻量跟进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进展 / 卡点 / 下周动作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每月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A 类项目复盘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阶段成果 / 数据变化 / 试点反馈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每季度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项目成果输出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上会材料 / 获奖材料 / 案例沉淀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年底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项目总评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复制 / 升级 / 淘汰决策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4160520"/>
            <a:ext cx="563270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632704" cy="38404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54864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1605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WHAT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160520"/>
            <a:ext cx="4261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每个项目必须交付的 5 类东西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94360" y="4617720"/>
          <a:ext cx="5358383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966"/>
                <a:gridCol w="3827417"/>
              </a:tblGrid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交付物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场景清单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高频 / 耗时 / 痛苦动作清单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工具 / 模板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看板 · 话术库 · 训练助手 · 知识拆解模板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试点记录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谁在用 · 怎么用 · 用了几次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效果数据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节省时间 · 质量 · 经营 · 风险变化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汇报材料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卢总会 / 分公司会 / 总部数字化 / 奖项申报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6245352" y="4160520"/>
            <a:ext cx="5486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5352" y="4160520"/>
            <a:ext cx="5486400" cy="38404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5352" y="4160520"/>
            <a:ext cx="54864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41605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41605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季度主攻与目标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382512" y="4617720"/>
          <a:ext cx="52120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"/>
                <a:gridCol w="2084832"/>
                <a:gridCol w="2432304"/>
              </a:tblGrid>
              <a:tr h="44577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季度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主攻项目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目标 / 核心交付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中台教练 · 服销现管 · 知识拆解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上奖台 — 三套数字化实践材料 + 数据佐证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投诉化解 · 新人育成 · 安心秘书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新增亮点 — 服务提效 / 育成提速 / 高客产能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顶私 · 私财 · GVIP · 结清挽留 · 信 SBO · 对公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专业坐席项目盘点 — 升级 / 降级 / 收口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457200" y="6062472"/>
            <a:ext cx="11274552" cy="411480"/>
          </a:xfrm>
          <a:prstGeom prst="rect">
            <a:avLst/>
          </a:prstGeom>
          <a:solidFill>
            <a:srgbClr val="FFF5EB"/>
          </a:solidFill>
          <a:ln w="1587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6062472"/>
            <a:ext cx="73152" cy="4114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108192"/>
            <a:ext cx="11000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GOVERNANCE 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1000232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41414"/>
                </a:solidFill>
                <a:latin typeface="Microsoft YaHei"/>
                <a:ea typeface="Microsoft YaHei"/>
              </a:rPr>
              <a:t>每个重点项目都有责任人 · 有交付物 · 有节奏 · 有验证指标 — 数字化推进从「靠催」走向「靠机制」。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565392"/>
            <a:ext cx="11430000" cy="10972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 / Source：银卡岗位 1+N 项目组（李祥） · 卢总会 4月数字化实践材料 · 内部访谈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66019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· 银卡客服中心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54864" cy="20116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Microsoft YaHei"/>
                <a:ea typeface="Microsoft YaHei"/>
              </a:rPr>
              <a:t>银卡岗位 1+N 数字化转型 · 董事长汇报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1828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C6F1C"/>
                </a:solidFill>
                <a:latin typeface="Microsoft YaHei"/>
                <a:ea typeface="Microsoft YaHei"/>
              </a:rPr>
              <a:t>PAGE  4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41414"/>
                </a:solidFill>
                <a:latin typeface="Microsoft YaHei"/>
                <a:ea typeface="Microsoft YaHei"/>
              </a:rPr>
              <a:t>最新突破：投诉化解能力数字化 — 推动服务现管从「个人兜底」走向「组织化化解」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8550E"/>
                </a:solidFill>
                <a:latin typeface="Microsoft YaHei"/>
                <a:ea typeface="Microsoft YaHei"/>
              </a:rPr>
              <a:t>不是再做一个话术库 — 把张卫平等资深主管的隐性经验，拆解为场景 · 风险 · 话术 · 案例 · 训练 · 复盘的可复制能力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481328"/>
            <a:ext cx="10881360" cy="10972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640080" cy="9601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176479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场景分类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0391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账单 / 态度 / 承诺 / 产品误解 / 重复来电…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008" y="2386584"/>
            <a:ext cx="2880360" cy="20116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2386584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交付  投诉场景清单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69164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1691640"/>
            <a:ext cx="640080" cy="9601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169164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76479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风险识别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0391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普通不满 / 升级 / 监管 / 舆情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386584"/>
            <a:ext cx="2880360" cy="20116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386584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交付  风险分级表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1584" y="169164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4" y="1691640"/>
            <a:ext cx="640080" cy="9601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4" y="169164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176479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化解话术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0391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情绪承接 → 事实确认 → 方案 → 收口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51392" y="2386584"/>
            <a:ext cx="2880360" cy="20116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2832" y="2386584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交付  主管话术库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74320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743200"/>
            <a:ext cx="640080" cy="9601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74320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281635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案例沉淀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30906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典型案例 / 错误动作 / 正确处理 / 要点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7008" y="3438144"/>
            <a:ext cx="2880360" cy="20116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98448" y="3438144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交付  案例库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9392" y="274320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9392" y="2743200"/>
            <a:ext cx="640080" cy="9601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9392" y="274320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281635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员工训练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0906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人机对练 / 情景判断 / 禁忌识别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3438144"/>
            <a:ext cx="2880360" cy="20116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3438144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交付  训练题库 + 陪练脚本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1584" y="274320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01584" y="2743200"/>
            <a:ext cx="640080" cy="9601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01584" y="2743200"/>
            <a:ext cx="640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1392" y="281635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复盘闭环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1392" y="30906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处理结果 / 风险原因 / 是否可预防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51392" y="3438144"/>
            <a:ext cx="2880360" cy="201168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42832" y="3438144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交付  复盘模板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457200" y="3886200"/>
          <a:ext cx="763523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557"/>
                <a:gridCol w="2632841"/>
                <a:gridCol w="2632841"/>
              </a:tblGrid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原来（FROM）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数字化后（TO）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对谁产生价值</a:t>
                      </a:r>
                    </a:p>
                  </a:txBody>
                  <a:tcPr marL="54864" marR="54864" marT="27432" marB="27432" anchor="ctr">
                    <a:solidFill>
                      <a:srgbClr val="EC6F1C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投诉靠主管现场判断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场景分类库 + 风险识别规则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新主管 / 坐席能先判断风险等级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张卫平个人经验口口相传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话术库 / 案例库 / 处理路径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个人能力 → 组织能力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员工一遇投诉就升级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训练工具学习常见场景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减少低价值主管兜底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事后口头提醒式复盘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标准复盘模板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同类问题可沉淀、可预防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培训只讲原则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真实投诉案例 + 人机演练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员工从「知道」到「会说会判断」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67791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主管反复解释同类问题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AI 助手先给处理建议与话术框架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节省主管重复沟通时间</a:t>
                      </a:r>
                    </a:p>
                  </a:txBody>
                  <a:tcPr marL="54864" marR="54864" marT="22860" marB="22860" anchor="ctr"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457200" y="3593592"/>
            <a:ext cx="7635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▍ FROM → TO   |   关键变化与价值落点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3593592"/>
            <a:ext cx="3547872" cy="29260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3593592"/>
            <a:ext cx="35478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▍ 四类受益方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79" y="3886200"/>
            <a:ext cx="3547872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83879" y="3886200"/>
            <a:ext cx="54864" cy="44805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39" y="3886200"/>
            <a:ext cx="1005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服务现管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599" y="3886200"/>
            <a:ext cx="233172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重复兜底下降 · 转向「训练团队」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4334256"/>
            <a:ext cx="3547872" cy="448056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83879" y="4334256"/>
            <a:ext cx="54864" cy="44805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39" y="4334256"/>
            <a:ext cx="1005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一线员工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599" y="4334256"/>
            <a:ext cx="233172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投诉敏感度↑ · 不再一遇就升级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4782312"/>
            <a:ext cx="3547872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83879" y="4782312"/>
            <a:ext cx="54864" cy="44805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39" y="4782312"/>
            <a:ext cx="1005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客  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599" y="4782312"/>
            <a:ext cx="233172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二次升级↓ · 被重视感↑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83879" y="5230368"/>
            <a:ext cx="3547872" cy="448056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83879" y="5230368"/>
            <a:ext cx="54864" cy="44805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21039" y="5230368"/>
            <a:ext cx="1005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550E"/>
                </a:solidFill>
                <a:latin typeface="Microsoft YaHei"/>
                <a:ea typeface="Microsoft YaHei"/>
              </a:rPr>
              <a:t>组  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72599" y="5230368"/>
            <a:ext cx="233172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经验复制 · 风险识别 · 方法推广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FF5EB"/>
          </a:solidFill>
          <a:ln w="1587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5943600"/>
            <a:ext cx="73152" cy="5486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989320"/>
            <a:ext cx="11000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STRATEGIC TAKEAWAY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6236208"/>
            <a:ext cx="11000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41414"/>
                </a:solidFill>
                <a:latin typeface="Microsoft YaHei"/>
                <a:ea typeface="Microsoft YaHei"/>
              </a:rPr>
              <a:t>投诉化解项目的真正价值不在「话术」 — 而在把资深主管的隐性经验组织化，提升整个服务现场的风险识别与问题化解能力。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6565392"/>
            <a:ext cx="11430000" cy="10972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E9E9E"/>
                </a:solidFill>
                <a:latin typeface="Microsoft YaHei"/>
                <a:ea typeface="Microsoft YaHei"/>
              </a:rPr>
              <a:t>资料来源 / Source：银卡岗位 1+N 项目组（李祥） · 卢总会 4月数字化实践材料 · 内部访谈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80960" y="66019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PING AN · 银卡客服中心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