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94709"/>
                </a:solidFill>
                <a:latin typeface="Arial"/>
              </a:rPr>
              <a:t>PINGAN</a:t>
            </a:r>
            <a:r>
              <a:rPr sz="850" b="1" i="0">
                <a:solidFill>
                  <a:srgbClr val="333A47"/>
                </a:solidFill>
                <a:latin typeface="Microsoft YaHei"/>
              </a:rPr>
              <a:t>  |  PAone × 银卡服销 · 现管 1+N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8A95A5"/>
                </a:solidFill>
                <a:latin typeface="Arial"/>
              </a:rPr>
              <a:t>EXHIBIT 4 OF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420624"/>
            <a:ext cx="6583680" cy="0"/>
          </a:xfrm>
          <a:prstGeom prst="line">
            <a:avLst/>
          </a:prstGeom>
          <a:ln w="19050">
            <a:solidFill>
              <a:srgbClr val="E947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530352"/>
            <a:ext cx="6583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Microsoft YaHei"/>
              </a:rPr>
              <a:t>PAone 1+N 释放 </a:t>
            </a:r>
            <a:r>
              <a:rPr sz="1900" b="1" i="0">
                <a:solidFill>
                  <a:srgbClr val="E94709"/>
                </a:solidFill>
                <a:latin typeface="Microsoft YaHei"/>
              </a:rPr>
              <a:t>~70%</a:t>
            </a:r>
            <a:r>
              <a:rPr sz="1700" b="1" i="0">
                <a:solidFill>
                  <a:srgbClr val="1A1A1A"/>
                </a:solidFill>
                <a:latin typeface="Microsoft YaHei"/>
              </a:rPr>
              <a:t> 现管组长的标准化数据动作时间，</a:t>
            </a:r>
          </a:p>
          <a:p>
            <a:pPr algn="l"/>
            <a:r>
              <a:rPr sz="1700" b="1" i="0">
                <a:solidFill>
                  <a:srgbClr val="1A1A1A"/>
                </a:solidFill>
                <a:latin typeface="Microsoft YaHei"/>
              </a:rPr>
              <a:t>重投到识别 / 干预 / 辅导 / 复制 / 训练 AI 等不可替代的高价值动作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Microsoft YaHei"/>
              </a:rPr>
              <a:t>6 个 AI 能力单元接管查数 / 催办 / 救火 / 材料拼接，</a:t>
            </a:r>
            <a:r>
              <a:rPr sz="950" b="0" i="1">
                <a:solidFill>
                  <a:srgbClr val="4A5568"/>
                </a:solidFill>
                <a:latin typeface="Microsoft YaHei"/>
              </a:rPr>
              <a:t>组长有效管理半径预计提升 2 ~ 3 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874519"/>
            <a:ext cx="6583680" cy="0"/>
          </a:xfrm>
          <a:prstGeom prst="line">
            <a:avLst/>
          </a:prstGeom>
          <a:ln w="635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1993392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EXHIBIT  </a:t>
            </a:r>
            <a:r>
              <a:rPr sz="900" b="1" i="0">
                <a:solidFill>
                  <a:srgbClr val="B83505"/>
                </a:solidFill>
                <a:latin typeface="Microsoft YaHei"/>
              </a:rPr>
              <a:t>现管组长每日工作时间分配</a:t>
            </a:r>
            <a:r>
              <a:rPr sz="800" b="0" i="1">
                <a:solidFill>
                  <a:srgbClr val="8A95A5"/>
                </a:solidFill>
                <a:latin typeface="Arial"/>
              </a:rPr>
              <a:t>    % of working hours - illustrative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04288"/>
            <a:ext cx="146304" cy="109728"/>
          </a:xfrm>
          <a:prstGeom prst="rect">
            <a:avLst/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Microsoft YaHei"/>
              </a:rPr>
              <a:t>数据 / 材料动作（低价值）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304288"/>
            <a:ext cx="146304" cy="109728"/>
          </a:xfrm>
          <a:prstGeom prst="rect">
            <a:avLst/>
          </a:prstGeom>
          <a:solidFill>
            <a:srgbClr val="FF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26771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Microsoft YaHei"/>
              </a:rPr>
              <a:t>辅导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304288"/>
            <a:ext cx="146304" cy="109728"/>
          </a:xfrm>
          <a:prstGeom prst="rect">
            <a:avLst/>
          </a:prstGeom>
          <a:solidFill>
            <a:srgbClr val="B83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26771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Microsoft YaHei"/>
              </a:rPr>
              <a:t>干预 · 复制 · 训练 AI（高价值）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23744"/>
            <a:ext cx="8686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A5568"/>
                </a:solidFill>
                <a:latin typeface="Microsoft YaHei"/>
              </a:rPr>
              <a:t>Before · 传统现管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542032"/>
            <a:ext cx="3992727" cy="420624"/>
          </a:xfrm>
          <a:prstGeom prst="rect">
            <a:avLst/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542032"/>
            <a:ext cx="39927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71%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607" y="2542032"/>
            <a:ext cx="674827" cy="420624"/>
          </a:xfrm>
          <a:prstGeom prst="rect">
            <a:avLst/>
          </a:prstGeom>
          <a:solidFill>
            <a:srgbClr val="FF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8607" y="2542032"/>
            <a:ext cx="6748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7E2402"/>
                </a:solidFill>
                <a:latin typeface="Arial"/>
              </a:rPr>
              <a:t>12%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93434" y="2542032"/>
            <a:ext cx="956005" cy="420624"/>
          </a:xfrm>
          <a:prstGeom prst="rect">
            <a:avLst/>
          </a:prstGeom>
          <a:solidFill>
            <a:srgbClr val="B83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3434" y="2542032"/>
            <a:ext cx="95600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42032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27248"/>
            <a:ext cx="8686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505"/>
                </a:solidFill>
                <a:latin typeface="Microsoft YaHei"/>
              </a:rPr>
              <a:t>After · PAone 1+N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3145536"/>
            <a:ext cx="674827" cy="420624"/>
          </a:xfrm>
          <a:prstGeom prst="rect">
            <a:avLst/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145536"/>
            <a:ext cx="6748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12%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00707" y="3145536"/>
            <a:ext cx="1237183" cy="420624"/>
          </a:xfrm>
          <a:prstGeom prst="rect">
            <a:avLst/>
          </a:prstGeom>
          <a:solidFill>
            <a:srgbClr val="FF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00707" y="3145536"/>
            <a:ext cx="123718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7E2402"/>
                </a:solidFill>
                <a:latin typeface="Arial"/>
              </a:rPr>
              <a:t>22%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37890" y="3145536"/>
            <a:ext cx="3711549" cy="420624"/>
          </a:xfrm>
          <a:prstGeom prst="rect">
            <a:avLst/>
          </a:prstGeom>
          <a:solidFill>
            <a:srgbClr val="B83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37890" y="3145536"/>
            <a:ext cx="371154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14553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2962656"/>
            <a:ext cx="5669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94709"/>
                </a:solidFill>
                <a:latin typeface="Arial"/>
              </a:rPr>
              <a:t>▲ </a:t>
            </a:r>
            <a:r>
              <a:rPr sz="850" b="1" i="0">
                <a:solidFill>
                  <a:srgbClr val="B83505"/>
                </a:solidFill>
                <a:latin typeface="Microsoft YaHei"/>
              </a:rPr>
              <a:t>高价值动作占比 17% → 66%，</a:t>
            </a:r>
            <a:r>
              <a:rPr sz="900" b="1" i="0">
                <a:solidFill>
                  <a:srgbClr val="E94709"/>
                </a:solidFill>
                <a:latin typeface="Arial"/>
              </a:rPr>
              <a:t>+49 pp</a:t>
            </a:r>
            <a:r>
              <a:rPr sz="850" b="0" i="0">
                <a:solidFill>
                  <a:srgbClr val="4A5568"/>
                </a:solidFill>
                <a:latin typeface="Microsoft YaHei"/>
              </a:rPr>
              <a:t>（数据 / 材料动作 71% → 12%）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5760" y="3657600"/>
            <a:ext cx="6583680" cy="0"/>
          </a:xfrm>
          <a:prstGeom prst="line">
            <a:avLst/>
          </a:prstGeom>
          <a:ln w="635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760" y="3794760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MECHANISM   </a:t>
            </a:r>
            <a:r>
              <a:rPr sz="900" b="1" i="0">
                <a:solidFill>
                  <a:srgbClr val="B83505"/>
                </a:solidFill>
                <a:latin typeface="Microsoft YaHei"/>
              </a:rPr>
              <a:t>6 个 AI 能力单元 — 数智指挥舱（</a:t>
            </a:r>
            <a:r>
              <a:rPr sz="900" b="1" i="0">
                <a:solidFill>
                  <a:srgbClr val="B83505"/>
                </a:solidFill>
                <a:latin typeface="Arial"/>
              </a:rPr>
              <a:t>PAone</a:t>
            </a:r>
            <a:r>
              <a:rPr sz="900" b="1" i="0">
                <a:solidFill>
                  <a:srgbClr val="B83505"/>
                </a:solidFill>
                <a:latin typeface="Microsoft YaHei"/>
              </a:rPr>
              <a:t>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050792"/>
            <a:ext cx="54864" cy="50292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" y="4050792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050792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B83505"/>
                </a:solidFill>
                <a:latin typeface="Arial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087368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Microsoft YaHei"/>
              </a:rPr>
              <a:t>数据巡场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306824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替代人工查数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96896" y="4050792"/>
            <a:ext cx="54864" cy="50292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51760" y="4050792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4050792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B83505"/>
                </a:solidFill>
                <a:latin typeface="Arial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816" y="4087368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Microsoft YaHei"/>
              </a:rPr>
              <a:t>异常预警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99816" y="4306824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提前锁风险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28032" y="4050792"/>
            <a:ext cx="54864" cy="50292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82896" y="4050792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4336" y="4050792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B83505"/>
                </a:solidFill>
                <a:latin typeface="Arial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0952" y="4087368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Microsoft YaHei"/>
              </a:rPr>
              <a:t>话术萃取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0952" y="4306824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复制销冠打法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645152"/>
            <a:ext cx="54864" cy="50292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4645152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" y="4645152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B83505"/>
                </a:solidFill>
                <a:latin typeface="Arial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4681728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Microsoft YaHei"/>
              </a:rPr>
              <a:t>精准辅导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4901184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辅导经验数据化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96896" y="4645152"/>
            <a:ext cx="54864" cy="50292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51760" y="4645152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4645152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B83505"/>
                </a:solidFill>
                <a:latin typeface="Arial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99816" y="4681728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Microsoft YaHei"/>
              </a:rPr>
              <a:t>复盘生成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99816" y="4901184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材料一键产出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4645152"/>
            <a:ext cx="54864" cy="50292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82896" y="4645152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74336" y="4645152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B83505"/>
                </a:solidFill>
                <a:latin typeface="Arial"/>
              </a:rP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0952" y="4681728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Microsoft YaHei"/>
              </a:rPr>
              <a:t>语料进化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0952" y="4901184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反向训练 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40410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PRO-FORMA IMPACT   </a:t>
            </a:r>
            <a:r>
              <a:rPr sz="850" b="0" i="1">
                <a:solidFill>
                  <a:srgbClr val="4A5568"/>
                </a:solidFill>
                <a:latin typeface="Microsoft YaHei"/>
              </a:rPr>
              <a:t>试点目标值（直觉测算，待实测校准）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660136"/>
            <a:ext cx="2133600" cy="713232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5660136"/>
            <a:ext cx="54864" cy="713232"/>
          </a:xfrm>
          <a:prstGeom prst="rect">
            <a:avLst/>
          </a:prstGeom>
          <a:solidFill>
            <a:srgbClr val="B83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" y="5696712"/>
            <a:ext cx="1905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83505"/>
                </a:solidFill>
                <a:latin typeface="Arial"/>
              </a:rPr>
              <a:t>~70%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" y="6080760"/>
            <a:ext cx="190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Microsoft YaHei"/>
              </a:rPr>
              <a:t>数据/材料动作时间被 AI 接管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90800" y="5660136"/>
            <a:ext cx="2133600" cy="713232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90800" y="5660136"/>
            <a:ext cx="54864" cy="713232"/>
          </a:xfrm>
          <a:prstGeom prst="rect">
            <a:avLst/>
          </a:prstGeom>
          <a:solidFill>
            <a:srgbClr val="B83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55392" y="5696712"/>
            <a:ext cx="1905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83505"/>
                </a:solidFill>
                <a:latin typeface="Arial"/>
              </a:rPr>
              <a:t>2-3x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55392" y="6080760"/>
            <a:ext cx="190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Microsoft YaHei"/>
              </a:rPr>
              <a:t>组长有效管理半径放大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15840" y="5660136"/>
            <a:ext cx="2133600" cy="713232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815840" y="5660136"/>
            <a:ext cx="54864" cy="713232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80432" y="5696712"/>
            <a:ext cx="1905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94709"/>
                </a:solidFill>
                <a:latin typeface="Arial"/>
              </a:rPr>
              <a:t>+49pp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80432" y="6080760"/>
            <a:ext cx="190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Microsoft YaHei"/>
              </a:rPr>
              <a:t>高价值动作占比提升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537960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CLOSED LOOP   </a:t>
            </a:r>
            <a:r>
              <a:rPr sz="900" b="1" i="0">
                <a:solidFill>
                  <a:srgbClr val="B83505"/>
                </a:solidFill>
                <a:latin typeface="Microsoft YaHei"/>
              </a:rPr>
              <a:t>数据采集 → AI 识别 → 组长干预 → 话术沉淀 → 团队复制 → 模型进化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775704"/>
            <a:ext cx="1097280" cy="146304"/>
          </a:xfrm>
          <a:prstGeom prst="rect">
            <a:avLst/>
          </a:prstGeom>
          <a:solidFill>
            <a:srgbClr val="FFF1E6"/>
          </a:solidFill>
          <a:ln w="6350">
            <a:solidFill>
              <a:srgbClr val="E94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77570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B83505"/>
                </a:solidFill>
                <a:latin typeface="Microsoft YaHei"/>
              </a:rPr>
              <a:t>采集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63040" y="6775704"/>
            <a:ext cx="109728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94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63040" y="677570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B83505"/>
                </a:solidFill>
                <a:latin typeface="Microsoft YaHei"/>
              </a:rPr>
              <a:t>识别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0" y="6775704"/>
            <a:ext cx="1097280" cy="146304"/>
          </a:xfrm>
          <a:prstGeom prst="rect">
            <a:avLst/>
          </a:prstGeom>
          <a:solidFill>
            <a:srgbClr val="FFF1E6"/>
          </a:solidFill>
          <a:ln w="6350">
            <a:solidFill>
              <a:srgbClr val="E94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60320" y="677570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B83505"/>
                </a:solidFill>
                <a:latin typeface="Microsoft YaHei"/>
              </a:rPr>
              <a:t>干预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0" y="6775704"/>
            <a:ext cx="109728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94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0" y="677570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B83505"/>
                </a:solidFill>
                <a:latin typeface="Microsoft YaHei"/>
              </a:rPr>
              <a:t>沉淀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6775704"/>
            <a:ext cx="1097280" cy="146304"/>
          </a:xfrm>
          <a:prstGeom prst="rect">
            <a:avLst/>
          </a:prstGeom>
          <a:solidFill>
            <a:srgbClr val="FFF1E6"/>
          </a:solidFill>
          <a:ln w="6350">
            <a:solidFill>
              <a:srgbClr val="E94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0" y="677570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B83505"/>
                </a:solidFill>
                <a:latin typeface="Microsoft YaHei"/>
              </a:rPr>
              <a:t>复制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52160" y="6775704"/>
            <a:ext cx="1097280" cy="146304"/>
          </a:xfrm>
          <a:prstGeom prst="rect">
            <a:avLst/>
          </a:prstGeom>
          <a:solidFill>
            <a:srgbClr val="E94709"/>
          </a:solidFill>
          <a:ln w="6350">
            <a:solidFill>
              <a:srgbClr val="E947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52160" y="677570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YaHei"/>
              </a:rPr>
              <a:t>进化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7086600"/>
            <a:ext cx="6583680" cy="50292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760" y="7086600"/>
            <a:ext cx="91440" cy="502920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6928" y="712317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B83505"/>
                </a:solidFill>
                <a:latin typeface="Arial"/>
              </a:rPr>
              <a:t>KEY TAKEAWAY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7269480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Microsoft YaHei"/>
              </a:rPr>
              <a:t>现管 1+N 不是减负工具，而是</a:t>
            </a:r>
            <a:r>
              <a:rPr sz="1050" b="1" i="0">
                <a:solidFill>
                  <a:srgbClr val="E94709"/>
                </a:solidFill>
                <a:latin typeface="Microsoft YaHei"/>
              </a:rPr>
              <a:t>现场管理操作系统</a:t>
            </a:r>
            <a:r>
              <a:rPr sz="1050" b="1" i="0">
                <a:solidFill>
                  <a:srgbClr val="1A1A1A"/>
                </a:solidFill>
                <a:latin typeface="Microsoft YaHei"/>
              </a:rPr>
              <a:t> — 把组长从动作执行者升级为指挥官 + AI 训练师。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65760" y="7680960"/>
            <a:ext cx="6583680" cy="0"/>
          </a:xfrm>
          <a:prstGeom prst="line">
            <a:avLst/>
          </a:prstGeom>
          <a:ln w="508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65760" y="77175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8A95A5"/>
                </a:solidFill>
                <a:latin typeface="Arial"/>
              </a:rPr>
              <a:t>Source: </a:t>
            </a:r>
            <a:r>
              <a:rPr sz="700" b="0" i="0">
                <a:solidFill>
                  <a:srgbClr val="8A95A5"/>
                </a:solidFill>
                <a:latin typeface="Microsoft YaHei"/>
              </a:rPr>
              <a:t>银卡服销现场管理诊断 2025Q4 抽样调研 (N=87)；PAone 1+N 产品规划 v2026.05；</a:t>
            </a:r>
          </a:p>
          <a:p>
            <a:pPr algn="l"/>
            <a:r>
              <a:rPr sz="700" b="0" i="1">
                <a:solidFill>
                  <a:srgbClr val="8A95A5"/>
                </a:solidFill>
                <a:latin typeface="Microsoft YaHei"/>
              </a:rPr>
              <a:t>Note: 时间分配为示意目标值，实际比例视分行 / 团队差异；'+49 pp' 为目标态相对当前态的预计提升。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52160" y="77175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>
                <a:solidFill>
                  <a:srgbClr val="8A95A5"/>
                </a:solidFill>
                <a:latin typeface="Arial"/>
              </a:rPr>
              <a:t>Page  1 / 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8174736"/>
            <a:ext cx="7315200" cy="54864"/>
          </a:xfrm>
          <a:prstGeom prst="rect">
            <a:avLst/>
          </a:prstGeom>
          <a:solidFill>
            <a:srgbClr val="E947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