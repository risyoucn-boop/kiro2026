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457200" cy="6784848"/>
          </a:xfrm>
          <a:prstGeom prst="rect">
            <a:avLst/>
          </a:prstGeom>
          <a:solidFill>
            <a:srgbClr val="FF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EC6F1C"/>
                </a:solidFill>
                <a:latin typeface="Microsoft YaHei"/>
                <a:ea typeface="Microsoft YaHei"/>
              </a:rPr>
              <a:t>OPENCLAW · 小龙虾 AI 助手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4572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1" i="0">
                <a:solidFill>
                  <a:srgbClr val="6E6E6E"/>
                </a:solidFill>
                <a:latin typeface="Microsoft YaHei"/>
                <a:ea typeface="Microsoft YaHei"/>
              </a:rPr>
              <a:t>新人课件 · v1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88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C8550E"/>
                </a:solidFill>
                <a:latin typeface="Microsoft YaHei"/>
                <a:ea typeface="Microsoft YaHei"/>
              </a:rPr>
              <a:t>AI ONBOARDING   ·   新人 AI 助手第一堂上手课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141414"/>
                </a:solidFill>
                <a:latin typeface="Microsoft YaHei"/>
                <a:ea typeface="Microsoft YaHei"/>
              </a:rPr>
              <a:t>认识小龙虾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C8550E"/>
                </a:solidFill>
                <a:latin typeface="Microsoft YaHei"/>
                <a:ea typeface="Microsoft YaHei"/>
              </a:rPr>
              <a:t>从「会打开账号」 → 到「会用它完成工作」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60520"/>
            <a:ext cx="731520" cy="54864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3891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6E6E6E"/>
                </a:solidFill>
                <a:latin typeface="Microsoft YaHei"/>
                <a:ea typeface="Microsoft YaHei"/>
              </a:rPr>
              <a:t>学完后你能做到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828032"/>
            <a:ext cx="384048" cy="384048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82803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84632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41414"/>
                </a:solidFill>
                <a:latin typeface="Microsoft YaHei"/>
                <a:ea typeface="Microsoft YaHei"/>
              </a:rPr>
              <a:t>知道小龙虾是什么、能做什么、不能做什么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330952"/>
            <a:ext cx="384048" cy="384048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33095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34924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41414"/>
                </a:solidFill>
                <a:latin typeface="Microsoft YaHei"/>
                <a:ea typeface="Microsoft YaHei"/>
              </a:rPr>
              <a:t>会用「角色 + 任务 + 背景 + 要求 + 输出格式」写提示词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833872"/>
            <a:ext cx="384048" cy="384048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83387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85216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41414"/>
                </a:solidFill>
                <a:latin typeface="Microsoft YaHei"/>
                <a:ea typeface="Microsoft YaHei"/>
              </a:rPr>
              <a:t>能让小龙虾帮你写通知、整理纪要、拆解知识 — 今天就能用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601968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E6E6E"/>
                </a:solidFill>
                <a:latin typeface="Microsoft YaHei"/>
                <a:ea typeface="Microsoft YaHei"/>
              </a:rPr>
              <a:t>银卡客服中心 · 数字化训练   ·   今天不教 AI 原理 — 今天教你怎么把这封邮件少写 20 分钟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EC6F1C"/>
                </a:solidFill>
                <a:latin typeface="Microsoft YaHei"/>
                <a:ea typeface="Microsoft YaHei"/>
              </a:rPr>
              <a:t>WHY   ·   为什么要认识小龙虾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0116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1" i="0">
                <a:solidFill>
                  <a:srgbClr val="6E6E6E"/>
                </a:solidFill>
                <a:latin typeface="Microsoft YaHei"/>
                <a:ea typeface="Microsoft YaHei"/>
              </a:rPr>
              <a:t>1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41414"/>
                </a:solidFill>
                <a:latin typeface="Microsoft YaHei"/>
                <a:ea typeface="Microsoft YaHei"/>
              </a:rPr>
              <a:t>小龙虾不是新工具 — 它是新的工作助手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E6E6E"/>
                </a:solidFill>
                <a:latin typeface="Microsoft YaHei"/>
                <a:ea typeface="Microsoft YaHei"/>
              </a:rPr>
              <a:t>以后遇到「重复写、反复改、难下笔、没思路」的工作 — 让小龙虾先打一版底稿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457200" cy="36576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704441"/>
            <a:ext cx="10817352" cy="1097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5486400" cy="457200"/>
          </a:xfrm>
          <a:prstGeom prst="rect">
            <a:avLst/>
          </a:prstGeom>
          <a:solidFill>
            <a:srgbClr val="F7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6E6E6E"/>
                </a:solidFill>
                <a:latin typeface="Microsoft YaHei"/>
                <a:ea typeface="Microsoft YaHei"/>
              </a:rPr>
              <a:t>▍ 原来   全部靠人手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68880"/>
            <a:ext cx="2606040" cy="502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" y="2670048"/>
            <a:ext cx="109728" cy="109728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46888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写邮件 / 通知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2468880"/>
            <a:ext cx="2606040" cy="502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9272" y="2670048"/>
            <a:ext cx="109728" cy="109728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46888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整理会议纪要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063240"/>
            <a:ext cx="2606040" cy="502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" y="3264408"/>
            <a:ext cx="109728" cy="109728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06324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写培训小结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54680" y="3063240"/>
            <a:ext cx="2606040" cy="502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19272" y="3264408"/>
            <a:ext cx="109728" cy="109728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40" y="306324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做材料初稿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657600"/>
            <a:ext cx="2606040" cy="502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" y="3858768"/>
            <a:ext cx="109728" cy="109728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65760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拆解业务知识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54680" y="3657600"/>
            <a:ext cx="2606040" cy="502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19272" y="3858768"/>
            <a:ext cx="109728" cy="109728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365760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优化话术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251960"/>
            <a:ext cx="2606040" cy="502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" y="4453128"/>
            <a:ext cx="109728" cy="109728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25196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总结案例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54680" y="4251960"/>
            <a:ext cx="2606040" cy="502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319272" y="4453128"/>
            <a:ext cx="109728" cy="109728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20440" y="425196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生成表格框架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2468880"/>
            <a:ext cx="365760" cy="274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4400" b="1" i="0">
                <a:solidFill>
                  <a:srgbClr val="EC6F1C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1920240"/>
            <a:ext cx="5349240" cy="45720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19202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▍ 现在   小龙虾帮你做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2468880"/>
            <a:ext cx="2606040" cy="502920"/>
          </a:xfrm>
          <a:prstGeom prst="roundRect">
            <a:avLst>
              <a:gd name="adj" fmla="val 15000"/>
            </a:avLst>
          </a:prstGeom>
          <a:solidFill>
            <a:srgbClr val="FFF7EF"/>
          </a:solidFill>
          <a:ln w="9525">
            <a:solidFill>
              <a:srgbClr val="EC6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37960" y="2633472"/>
            <a:ext cx="164592" cy="164592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12280" y="2523744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41414"/>
                </a:solidFill>
                <a:latin typeface="Microsoft YaHei"/>
                <a:ea typeface="Microsoft YaHei"/>
              </a:rPr>
              <a:t>起草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2280" y="274320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C8550E"/>
                </a:solidFill>
                <a:latin typeface="Calibri"/>
                <a:ea typeface="Microsoft YaHei"/>
              </a:rPr>
              <a:t>Draft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98280" y="2468880"/>
            <a:ext cx="2606040" cy="502920"/>
          </a:xfrm>
          <a:prstGeom prst="roundRect">
            <a:avLst>
              <a:gd name="adj" fmla="val 15000"/>
            </a:avLst>
          </a:prstGeom>
          <a:solidFill>
            <a:srgbClr val="FFF7EF"/>
          </a:solidFill>
          <a:ln w="9525">
            <a:solidFill>
              <a:srgbClr val="EC6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235440" y="2633472"/>
            <a:ext cx="164592" cy="164592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60" y="2523744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41414"/>
                </a:solidFill>
                <a:latin typeface="Microsoft YaHei"/>
                <a:ea typeface="Microsoft YaHei"/>
              </a:rPr>
              <a:t>整理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9760" y="274320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C8550E"/>
                </a:solidFill>
                <a:latin typeface="Calibri"/>
                <a:ea typeface="Microsoft YaHei"/>
              </a:rPr>
              <a:t>Organize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0" y="3063240"/>
            <a:ext cx="2606040" cy="502920"/>
          </a:xfrm>
          <a:prstGeom prst="roundRect">
            <a:avLst>
              <a:gd name="adj" fmla="val 15000"/>
            </a:avLst>
          </a:prstGeom>
          <a:solidFill>
            <a:srgbClr val="FFF7EF"/>
          </a:solidFill>
          <a:ln w="9525">
            <a:solidFill>
              <a:srgbClr val="EC6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37960" y="3227832"/>
            <a:ext cx="164592" cy="164592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12280" y="3118104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41414"/>
                </a:solidFill>
                <a:latin typeface="Microsoft YaHei"/>
                <a:ea typeface="Microsoft YaHei"/>
              </a:rPr>
              <a:t>拆解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12280" y="333756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C8550E"/>
                </a:solidFill>
                <a:latin typeface="Calibri"/>
                <a:ea typeface="Microsoft YaHei"/>
              </a:rPr>
              <a:t>Break-down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098280" y="3063240"/>
            <a:ext cx="2606040" cy="502920"/>
          </a:xfrm>
          <a:prstGeom prst="roundRect">
            <a:avLst>
              <a:gd name="adj" fmla="val 15000"/>
            </a:avLst>
          </a:prstGeom>
          <a:solidFill>
            <a:srgbClr val="FFF7EF"/>
          </a:solidFill>
          <a:ln w="9525">
            <a:solidFill>
              <a:srgbClr val="EC6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235440" y="3227832"/>
            <a:ext cx="164592" cy="164592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09760" y="3118104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41414"/>
                </a:solidFill>
                <a:latin typeface="Microsoft YaHei"/>
                <a:ea typeface="Microsoft YaHei"/>
              </a:rPr>
              <a:t>归纳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09760" y="333756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C8550E"/>
                </a:solidFill>
                <a:latin typeface="Calibri"/>
                <a:ea typeface="Microsoft YaHei"/>
              </a:rPr>
              <a:t>Summarize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0" y="3657600"/>
            <a:ext cx="2606040" cy="502920"/>
          </a:xfrm>
          <a:prstGeom prst="roundRect">
            <a:avLst>
              <a:gd name="adj" fmla="val 15000"/>
            </a:avLst>
          </a:prstGeom>
          <a:solidFill>
            <a:srgbClr val="FFF7EF"/>
          </a:solidFill>
          <a:ln w="9525">
            <a:solidFill>
              <a:srgbClr val="EC6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537960" y="3822192"/>
            <a:ext cx="164592" cy="164592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12280" y="3712464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41414"/>
                </a:solidFill>
                <a:latin typeface="Microsoft YaHei"/>
                <a:ea typeface="Microsoft YaHei"/>
              </a:rPr>
              <a:t>优化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12280" y="393192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C8550E"/>
                </a:solidFill>
                <a:latin typeface="Calibri"/>
                <a:ea typeface="Microsoft YaHei"/>
              </a:rPr>
              <a:t>Polish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098280" y="3657600"/>
            <a:ext cx="2606040" cy="502920"/>
          </a:xfrm>
          <a:prstGeom prst="roundRect">
            <a:avLst>
              <a:gd name="adj" fmla="val 15000"/>
            </a:avLst>
          </a:prstGeom>
          <a:solidFill>
            <a:srgbClr val="FFF7EF"/>
          </a:solidFill>
          <a:ln w="9525">
            <a:solidFill>
              <a:srgbClr val="EC6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235440" y="3822192"/>
            <a:ext cx="164592" cy="164592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509760" y="3712464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41414"/>
                </a:solidFill>
                <a:latin typeface="Microsoft YaHei"/>
                <a:ea typeface="Microsoft YaHei"/>
              </a:rPr>
              <a:t>改写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09760" y="393192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C8550E"/>
                </a:solidFill>
                <a:latin typeface="Calibri"/>
                <a:ea typeface="Microsoft YaHei"/>
              </a:rPr>
              <a:t>Rewrite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0" y="4251960"/>
            <a:ext cx="2606040" cy="502920"/>
          </a:xfrm>
          <a:prstGeom prst="roundRect">
            <a:avLst>
              <a:gd name="adj" fmla="val 15000"/>
            </a:avLst>
          </a:prstGeom>
          <a:solidFill>
            <a:srgbClr val="FFF7EF"/>
          </a:solidFill>
          <a:ln w="9525">
            <a:solidFill>
              <a:srgbClr val="EC6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537960" y="4416552"/>
            <a:ext cx="164592" cy="164592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12280" y="4306824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41414"/>
                </a:solidFill>
                <a:latin typeface="Microsoft YaHei"/>
                <a:ea typeface="Microsoft YaHei"/>
              </a:rPr>
              <a:t>总结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12280" y="452628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C8550E"/>
                </a:solidFill>
                <a:latin typeface="Calibri"/>
                <a:ea typeface="Microsoft YaHei"/>
              </a:rPr>
              <a:t>Conclude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098280" y="4251960"/>
            <a:ext cx="2606040" cy="502920"/>
          </a:xfrm>
          <a:prstGeom prst="roundRect">
            <a:avLst>
              <a:gd name="adj" fmla="val 15000"/>
            </a:avLst>
          </a:prstGeom>
          <a:solidFill>
            <a:srgbClr val="FFF7EF"/>
          </a:solidFill>
          <a:ln w="9525">
            <a:solidFill>
              <a:srgbClr val="EC6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235440" y="4416552"/>
            <a:ext cx="164592" cy="164592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509760" y="4306824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41414"/>
                </a:solidFill>
                <a:latin typeface="Microsoft YaHei"/>
                <a:ea typeface="Microsoft YaHei"/>
              </a:rPr>
              <a:t>生成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509760" y="452628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C8550E"/>
                </a:solidFill>
                <a:latin typeface="Calibri"/>
                <a:ea typeface="Microsoft YaHei"/>
              </a:rPr>
              <a:t>Generate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57200" y="5852160"/>
            <a:ext cx="11274552" cy="640080"/>
          </a:xfrm>
          <a:prstGeom prst="roundRect">
            <a:avLst>
              <a:gd name="adj" fmla="val 15000"/>
            </a:avLst>
          </a:prstGeom>
          <a:solidFill>
            <a:srgbClr val="FFF7EF"/>
          </a:solidFill>
          <a:ln w="12700">
            <a:solidFill>
              <a:srgbClr val="EC6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57200" y="5852160"/>
            <a:ext cx="73152" cy="64008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85800" y="5925312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8550E"/>
                </a:solidFill>
                <a:latin typeface="Microsoft YaHei"/>
                <a:ea typeface="Microsoft YaHei"/>
              </a:rPr>
              <a:t>TAKEAWAY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800" y="6236208"/>
            <a:ext cx="10908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141414"/>
                </a:solidFill>
                <a:latin typeface="Microsoft YaHei"/>
                <a:ea typeface="Microsoft YaHei"/>
              </a:rPr>
              <a:t>今天不是教大家一个复杂系统 — 而是让大家知道：动笔之前，先让小龙虾打一版底稿。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6565392"/>
            <a:ext cx="11274552" cy="1097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57200" y="660196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A0A0A0"/>
                </a:solidFill>
                <a:latin typeface="Microsoft YaHei"/>
                <a:ea typeface="Microsoft YaHei"/>
              </a:rPr>
              <a:t>小龙虾新人上手课   ·   银卡客服中心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772400" y="6601968"/>
            <a:ext cx="3959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>
                <a:solidFill>
                  <a:srgbClr val="EC6F1C"/>
                </a:solidFill>
                <a:latin typeface="Microsoft YaHei"/>
                <a:ea typeface="Microsoft YaHei"/>
              </a:rPr>
              <a:t>POWERED BY OPENCLAW    ·    PING 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EC6F1C"/>
                </a:solidFill>
                <a:latin typeface="Microsoft YaHei"/>
                <a:ea typeface="Microsoft YaHei"/>
              </a:rPr>
              <a:t>WHAT   ·   小龙虾是什么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0116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1" i="0">
                <a:solidFill>
                  <a:srgbClr val="6E6E6E"/>
                </a:solidFill>
                <a:latin typeface="Microsoft YaHei"/>
                <a:ea typeface="Microsoft YaHei"/>
              </a:rPr>
              <a:t>2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41414"/>
                </a:solidFill>
                <a:latin typeface="Microsoft YaHei"/>
                <a:ea typeface="Microsoft YaHei"/>
              </a:rPr>
              <a:t>一个能帮你「想、写、改、整理」的 AI 工作助手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E6E6E"/>
                </a:solidFill>
                <a:latin typeface="Microsoft YaHei"/>
                <a:ea typeface="Microsoft YaHei"/>
              </a:rPr>
              <a:t>不是搜索引擎，也不是简单问答机器人 — 它能根据你的任务和背景，生成、整理、拆解、优化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457200" cy="36576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704441"/>
            <a:ext cx="10817352" cy="1097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920240"/>
            <a:ext cx="11274552" cy="594360"/>
          </a:xfrm>
          <a:prstGeom prst="roundRect">
            <a:avLst>
              <a:gd name="adj" fmla="val 15000"/>
            </a:avLst>
          </a:prstGeom>
          <a:solidFill>
            <a:srgbClr val="FFF7EF"/>
          </a:solidFill>
          <a:ln w="12700">
            <a:solidFill>
              <a:srgbClr val="EC6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73152" cy="59436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99339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41414"/>
                </a:solidFill>
                <a:latin typeface="Microsoft YaHei"/>
                <a:ea typeface="Microsoft YaHei"/>
              </a:rPr>
              <a:t>小龙虾  =  基于大模型能力的 AI 工作助手   ·   能根据你的任务与背景，完成文字生成、内容整理、知识拆解、方案设计、话术优化、材料润色等工作。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97480"/>
            <a:ext cx="6858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C8550E"/>
                </a:solidFill>
                <a:latin typeface="Microsoft YaHei"/>
                <a:ea typeface="Microsoft YaHei"/>
              </a:rPr>
              <a:t>▍ 擅长什么   6 类能力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08960"/>
            <a:ext cx="2240280" cy="12344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E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108960"/>
            <a:ext cx="777240" cy="123444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108960"/>
            <a:ext cx="77724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3600" b="1" i="0">
                <a:solidFill>
                  <a:srgbClr val="FFFFFF"/>
                </a:solidFill>
                <a:latin typeface="Microsoft YaHei"/>
                <a:ea typeface="Microsoft YaHei"/>
              </a:rPr>
              <a:t>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73552"/>
            <a:ext cx="12344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333333"/>
                </a:solidFill>
                <a:latin typeface="Microsoft YaHei"/>
                <a:ea typeface="Microsoft YaHei"/>
              </a:rPr>
              <a:t>邮件 · 通知 · 总结 · 汇报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70632" y="3108960"/>
            <a:ext cx="2240280" cy="12344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E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70632" y="3108960"/>
            <a:ext cx="777240" cy="123444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70632" y="3108960"/>
            <a:ext cx="77724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3600" b="1" i="0">
                <a:solidFill>
                  <a:srgbClr val="FFFFFF"/>
                </a:solidFill>
                <a:latin typeface="Microsoft YaHei"/>
                <a:ea typeface="Microsoft YaHei"/>
              </a:rPr>
              <a:t>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85032" y="3273552"/>
            <a:ext cx="12344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333333"/>
                </a:solidFill>
                <a:latin typeface="Microsoft YaHei"/>
                <a:ea typeface="Microsoft YaHei"/>
              </a:rPr>
              <a:t>改语气 · 改结构 · 改表达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84064" y="3108960"/>
            <a:ext cx="2240280" cy="12344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E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84064" y="3108960"/>
            <a:ext cx="777240" cy="123444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84064" y="3108960"/>
            <a:ext cx="77724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3600" b="1" i="0">
                <a:solidFill>
                  <a:srgbClr val="FFFFFF"/>
                </a:solidFill>
                <a:latin typeface="Microsoft YaHei"/>
                <a:ea typeface="Microsoft YaHei"/>
              </a:rPr>
              <a:t>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98464" y="3273552"/>
            <a:ext cx="12344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333333"/>
                </a:solidFill>
                <a:latin typeface="Microsoft YaHei"/>
                <a:ea typeface="Microsoft YaHei"/>
              </a:rPr>
              <a:t>拆制度 · 拆流程 · 拆知识点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453128"/>
            <a:ext cx="2240280" cy="12344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E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453128"/>
            <a:ext cx="777240" cy="123444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453128"/>
            <a:ext cx="77724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3600" b="1" i="0">
                <a:solidFill>
                  <a:srgbClr val="FFFFFF"/>
                </a:solidFill>
                <a:latin typeface="Microsoft YaHei"/>
                <a:ea typeface="Microsoft YaHei"/>
              </a:rPr>
              <a:t>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617720"/>
            <a:ext cx="12344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333333"/>
                </a:solidFill>
                <a:latin typeface="Microsoft YaHei"/>
                <a:ea typeface="Microsoft YaHei"/>
              </a:rPr>
              <a:t>总结会议 · 材料 · 案例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70632" y="4453128"/>
            <a:ext cx="2240280" cy="12344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E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70632" y="4453128"/>
            <a:ext cx="777240" cy="123444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70632" y="4453128"/>
            <a:ext cx="77724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3600" b="1" i="0">
                <a:solidFill>
                  <a:srgbClr val="FFFFFF"/>
                </a:solidFill>
                <a:latin typeface="Microsoft YaHei"/>
                <a:ea typeface="Microsoft YaHei"/>
              </a:rPr>
              <a:t>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85032" y="4617720"/>
            <a:ext cx="12344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333333"/>
                </a:solidFill>
                <a:latin typeface="Microsoft YaHei"/>
                <a:ea typeface="Microsoft YaHei"/>
              </a:rPr>
              <a:t>提供思路 · 框架 · 方案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84064" y="4453128"/>
            <a:ext cx="2240280" cy="12344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E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84064" y="4453128"/>
            <a:ext cx="777240" cy="123444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84064" y="4453128"/>
            <a:ext cx="77724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3600" b="1" i="0">
                <a:solidFill>
                  <a:srgbClr val="FFFFFF"/>
                </a:solidFill>
                <a:latin typeface="Microsoft YaHei"/>
                <a:ea typeface="Microsoft YaHei"/>
              </a:rPr>
              <a:t>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98464" y="4617720"/>
            <a:ext cx="12344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333333"/>
                </a:solidFill>
                <a:latin typeface="Microsoft YaHei"/>
                <a:ea typeface="Microsoft YaHei"/>
              </a:rPr>
              <a:t>生成题目 · 话术 · 演练脚本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18120" y="2697480"/>
            <a:ext cx="39136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C62828"/>
                </a:solidFill>
                <a:latin typeface="Microsoft YaHei"/>
                <a:ea typeface="Microsoft YaHei"/>
              </a:rPr>
              <a:t>▍ 不适合做什么   边界提醒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18120" y="3108960"/>
            <a:ext cx="3913632" cy="640080"/>
          </a:xfrm>
          <a:prstGeom prst="roundRect">
            <a:avLst>
              <a:gd name="adj" fmla="val 15000"/>
            </a:avLst>
          </a:prstGeom>
          <a:solidFill>
            <a:srgbClr val="FDECE0"/>
          </a:solidFill>
          <a:ln w="952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818120" y="3108960"/>
            <a:ext cx="73152" cy="6400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0" y="3154680"/>
            <a:ext cx="3547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62828"/>
                </a:solidFill>
                <a:latin typeface="Microsoft YaHei"/>
                <a:ea typeface="Microsoft YaHei"/>
              </a:rPr>
              <a:t>✕  直接替代业务判断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3438144"/>
            <a:ext cx="3547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3333"/>
                </a:solidFill>
                <a:latin typeface="Microsoft YaHei"/>
                <a:ea typeface="Microsoft YaHei"/>
              </a:rPr>
              <a:t>最终责任还是人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18120" y="3794760"/>
            <a:ext cx="3913632" cy="640080"/>
          </a:xfrm>
          <a:prstGeom prst="roundRect">
            <a:avLst>
              <a:gd name="adj" fmla="val 15000"/>
            </a:avLst>
          </a:prstGeom>
          <a:solidFill>
            <a:srgbClr val="FDECE0"/>
          </a:solidFill>
          <a:ln w="952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818120" y="3794760"/>
            <a:ext cx="73152" cy="6400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0" y="3840480"/>
            <a:ext cx="3547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62828"/>
                </a:solidFill>
                <a:latin typeface="Microsoft YaHei"/>
                <a:ea typeface="Microsoft YaHei"/>
              </a:rPr>
              <a:t>✕  处理敏感客户信息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0" y="4123944"/>
            <a:ext cx="3547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3333"/>
                </a:solidFill>
                <a:latin typeface="Microsoft YaHei"/>
                <a:ea typeface="Microsoft YaHei"/>
              </a:rPr>
              <a:t>存在信息安全风险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818120" y="4480560"/>
            <a:ext cx="3913632" cy="640080"/>
          </a:xfrm>
          <a:prstGeom prst="roundRect">
            <a:avLst>
              <a:gd name="adj" fmla="val 15000"/>
            </a:avLst>
          </a:prstGeom>
          <a:solidFill>
            <a:srgbClr val="FDECE0"/>
          </a:solidFill>
          <a:ln w="952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818120" y="4480560"/>
            <a:ext cx="73152" cy="6400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46720" y="4526280"/>
            <a:ext cx="3547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62828"/>
                </a:solidFill>
                <a:latin typeface="Microsoft YaHei"/>
                <a:ea typeface="Microsoft YaHei"/>
              </a:rPr>
              <a:t>✕  直接生成对外承诺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6720" y="4809744"/>
            <a:ext cx="3547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3333"/>
                </a:solidFill>
                <a:latin typeface="Microsoft YaHei"/>
                <a:ea typeface="Microsoft YaHei"/>
              </a:rPr>
              <a:t>可能口径不准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818120" y="5166360"/>
            <a:ext cx="3913632" cy="640080"/>
          </a:xfrm>
          <a:prstGeom prst="roundRect">
            <a:avLst>
              <a:gd name="adj" fmla="val 15000"/>
            </a:avLst>
          </a:prstGeom>
          <a:solidFill>
            <a:srgbClr val="FDECE0"/>
          </a:solidFill>
          <a:ln w="952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818120" y="5166360"/>
            <a:ext cx="73152" cy="6400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46720" y="5212080"/>
            <a:ext cx="3547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62828"/>
                </a:solidFill>
                <a:latin typeface="Microsoft YaHei"/>
                <a:ea typeface="Microsoft YaHei"/>
              </a:rPr>
              <a:t>✕  不校验就复制使用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46720" y="5495544"/>
            <a:ext cx="3547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3333"/>
                </a:solidFill>
                <a:latin typeface="Microsoft YaHei"/>
                <a:ea typeface="Microsoft YaHei"/>
              </a:rPr>
              <a:t>可能有错误或不贴合业务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5852160"/>
            <a:ext cx="11274552" cy="640080"/>
          </a:xfrm>
          <a:prstGeom prst="roundRect">
            <a:avLst>
              <a:gd name="adj" fmla="val 15000"/>
            </a:avLst>
          </a:prstGeom>
          <a:solidFill>
            <a:srgbClr val="FFF7EF"/>
          </a:solidFill>
          <a:ln w="12700">
            <a:solidFill>
              <a:srgbClr val="EC6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57200" y="5852160"/>
            <a:ext cx="73152" cy="64008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5800" y="5925312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8550E"/>
                </a:solidFill>
                <a:latin typeface="Microsoft YaHei"/>
                <a:ea typeface="Microsoft YaHei"/>
              </a:rPr>
              <a:t>记住一句话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6236208"/>
            <a:ext cx="10908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141414"/>
                </a:solidFill>
                <a:latin typeface="Microsoft YaHei"/>
                <a:ea typeface="Microsoft YaHei"/>
              </a:rPr>
              <a:t>小龙虾不是来替你工作 — 它是来帮你把「重复、零散、难下笔」的工作变快。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6565392"/>
            <a:ext cx="11274552" cy="1097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660196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A0A0A0"/>
                </a:solidFill>
                <a:latin typeface="Microsoft YaHei"/>
                <a:ea typeface="Microsoft YaHei"/>
              </a:rPr>
              <a:t>小龙虾新人上手课   ·   银卡客服中心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72400" y="6601968"/>
            <a:ext cx="3959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>
                <a:solidFill>
                  <a:srgbClr val="EC6F1C"/>
                </a:solidFill>
                <a:latin typeface="Microsoft YaHei"/>
                <a:ea typeface="Microsoft YaHei"/>
              </a:rPr>
              <a:t>POWERED BY OPENCLAW    ·    PING 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EC6F1C"/>
                </a:solidFill>
                <a:latin typeface="Microsoft YaHei"/>
                <a:ea typeface="Microsoft YaHei"/>
              </a:rPr>
              <a:t>VOCABULARY   ·   关键词汇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0116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1" i="0">
                <a:solidFill>
                  <a:srgbClr val="6E6E6E"/>
                </a:solidFill>
                <a:latin typeface="Microsoft YaHei"/>
                <a:ea typeface="Microsoft YaHei"/>
              </a:rPr>
              <a:t>3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41414"/>
                </a:solidFill>
                <a:latin typeface="Microsoft YaHei"/>
                <a:ea typeface="Microsoft YaHei"/>
              </a:rPr>
              <a:t>几个 AI 词汇 — 用人话讲清楚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E6E6E"/>
                </a:solidFill>
                <a:latin typeface="Microsoft YaHei"/>
                <a:ea typeface="Microsoft YaHei"/>
              </a:rPr>
              <a:t>不讲深、不讲全 — 只讲「够用版」，新人记住这 7 个词就够了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457200" cy="36576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704441"/>
            <a:ext cx="10817352" cy="1097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920240"/>
          <a:ext cx="11274551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8249"/>
                <a:gridCol w="4124836"/>
                <a:gridCol w="5041466"/>
              </a:tblGrid>
              <a:tr h="394335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词汇</a:t>
                      </a:r>
                    </a:p>
                  </a:txBody>
                  <a:tcPr marL="137160" marR="137160" marT="45720" marB="45720" anchor="ctr">
                    <a:solidFill>
                      <a:srgbClr val="EC6F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用人话讲</a:t>
                      </a:r>
                    </a:p>
                  </a:txBody>
                  <a:tcPr marL="137160" marR="137160" marT="45720" marB="45720" anchor="ctr">
                    <a:solidFill>
                      <a:srgbClr val="EC6F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和我们的关系</a:t>
                      </a:r>
                    </a:p>
                  </a:txBody>
                  <a:tcPr marL="137160" marR="137160" marT="45720" marB="45720" anchor="ctr">
                    <a:solidFill>
                      <a:srgbClr val="EC6F1C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C8550E"/>
                          </a:solidFill>
                          <a:latin typeface="Microsoft YaHei"/>
                          <a:ea typeface="Microsoft YaHei"/>
                        </a:rPr>
                        <a:t>大模型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见过大量文字和知识的 AI 系统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小龙虾背后的能力来源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C8550E"/>
                          </a:solidFill>
                          <a:latin typeface="Microsoft YaHei"/>
                          <a:ea typeface="Microsoft YaHei"/>
                        </a:rPr>
                        <a:t>生成式 AI</a:t>
                      </a:r>
                    </a:p>
                  </a:txBody>
                  <a:tcPr marL="137160" marR="137160" marT="36576" marB="36576" anchor="ctr">
                    <a:solidFill>
                      <a:srgbClr val="FF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能根据要求生成内容的 AI</a:t>
                      </a:r>
                    </a:p>
                  </a:txBody>
                  <a:tcPr marL="137160" marR="137160" marT="36576" marB="36576" anchor="ctr">
                    <a:solidFill>
                      <a:srgbClr val="FF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可以帮我们写材料、写话术</a:t>
                      </a:r>
                    </a:p>
                  </a:txBody>
                  <a:tcPr marL="137160" marR="137160" marT="36576" marB="36576" anchor="ctr">
                    <a:solidFill>
                      <a:srgbClr val="FFF7EF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C8550E"/>
                          </a:solidFill>
                          <a:latin typeface="Microsoft YaHei"/>
                          <a:ea typeface="Microsoft YaHei"/>
                        </a:rPr>
                        <a:t>Prompt 提示词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你给 AI 的任务说明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说得越清楚 · 结果越好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C8550E"/>
                          </a:solidFill>
                          <a:latin typeface="Microsoft YaHei"/>
                          <a:ea typeface="Microsoft YaHei"/>
                        </a:rPr>
                        <a:t>上下文</a:t>
                      </a:r>
                    </a:p>
                  </a:txBody>
                  <a:tcPr marL="137160" marR="137160" marT="36576" marB="36576" anchor="ctr">
                    <a:solidFill>
                      <a:srgbClr val="FF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你提供的背景信息</a:t>
                      </a:r>
                    </a:p>
                  </a:txBody>
                  <a:tcPr marL="137160" marR="137160" marT="36576" marB="36576" anchor="ctr">
                    <a:solidFill>
                      <a:srgbClr val="FF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背景越完整 · 回答越贴近实际</a:t>
                      </a:r>
                    </a:p>
                  </a:txBody>
                  <a:tcPr marL="137160" marR="137160" marT="36576" marB="36576" anchor="ctr">
                    <a:solidFill>
                      <a:srgbClr val="FFF7EF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C8550E"/>
                          </a:solidFill>
                          <a:latin typeface="Microsoft YaHei"/>
                          <a:ea typeface="Microsoft YaHei"/>
                        </a:rPr>
                        <a:t>多轮对话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可以一直追问，让结果越改越好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不要指望一次问完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C8550E"/>
                          </a:solidFill>
                          <a:latin typeface="Microsoft YaHei"/>
                          <a:ea typeface="Microsoft YaHei"/>
                        </a:rPr>
                        <a:t>幻觉</a:t>
                      </a:r>
                    </a:p>
                  </a:txBody>
                  <a:tcPr marL="137160" marR="137160" marT="36576" marB="36576" anchor="ctr">
                    <a:solidFill>
                      <a:srgbClr val="FF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AI 一本正经地说错话</a:t>
                      </a:r>
                    </a:p>
                  </a:txBody>
                  <a:tcPr marL="137160" marR="137160" marT="36576" marB="36576" anchor="ctr">
                    <a:solidFill>
                      <a:srgbClr val="FF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业务内容必须人工校验</a:t>
                      </a:r>
                    </a:p>
                  </a:txBody>
                  <a:tcPr marL="137160" marR="137160" marT="36576" marB="36576" anchor="ctr">
                    <a:solidFill>
                      <a:srgbClr val="FFF7EF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C8550E"/>
                          </a:solidFill>
                          <a:latin typeface="Microsoft YaHei"/>
                          <a:ea typeface="Microsoft YaHei"/>
                        </a:rPr>
                        <a:t>工作流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把一个任务拆成多个步骤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</a:rPr>
                        <a:t>让小龙虾产出更稳定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57200" y="5212080"/>
            <a:ext cx="11274552" cy="1280160"/>
          </a:xfrm>
          <a:prstGeom prst="roundRect">
            <a:avLst>
              <a:gd name="adj" fmla="val 15000"/>
            </a:avLst>
          </a:prstGeom>
          <a:solidFill>
            <a:srgbClr val="FFF7EF"/>
          </a:solidFill>
          <a:ln w="12700">
            <a:solidFill>
              <a:srgbClr val="EC6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5212080"/>
            <a:ext cx="73152" cy="128016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285232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8550E"/>
                </a:solidFill>
                <a:latin typeface="Microsoft YaHei"/>
                <a:ea typeface="Microsoft YaHei"/>
              </a:rPr>
              <a:t>金句   ·   记住这一句就够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596128"/>
            <a:ext cx="1090879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141414"/>
                </a:solidFill>
                <a:latin typeface="Microsoft YaHei"/>
                <a:ea typeface="Microsoft YaHei"/>
              </a:rPr>
              <a:t>AI 不是「问一句、它就完美回答」 — AI 更像一个新人助手：你要交代清楚背景、目标、标准和输出格式。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565392"/>
            <a:ext cx="11274552" cy="1097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60196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A0A0A0"/>
                </a:solidFill>
                <a:latin typeface="Microsoft YaHei"/>
                <a:ea typeface="Microsoft YaHei"/>
              </a:rPr>
              <a:t>小龙虾新人上手课   ·   银卡客服中心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601968"/>
            <a:ext cx="3959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>
                <a:solidFill>
                  <a:srgbClr val="EC6F1C"/>
                </a:solidFill>
                <a:latin typeface="Microsoft YaHei"/>
                <a:ea typeface="Microsoft YaHei"/>
              </a:rPr>
              <a:t>POWERED BY OPENCLAW    ·    PING 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EC6F1C"/>
                </a:solidFill>
                <a:latin typeface="Microsoft YaHei"/>
                <a:ea typeface="Microsoft YaHei"/>
              </a:rPr>
              <a:t>PROMPT ENGINEERING   ·   提示词工程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0116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1" i="0">
                <a:solidFill>
                  <a:srgbClr val="6E6E6E"/>
                </a:solidFill>
                <a:latin typeface="Microsoft YaHei"/>
                <a:ea typeface="Microsoft YaHei"/>
              </a:rPr>
              <a:t>4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41414"/>
                </a:solidFill>
                <a:latin typeface="Microsoft YaHei"/>
                <a:ea typeface="Microsoft YaHei"/>
              </a:rPr>
              <a:t>提示词不是「咒语」 — 是「任务说明书」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E6E6E"/>
                </a:solidFill>
                <a:latin typeface="Microsoft YaHei"/>
                <a:ea typeface="Microsoft YaHei"/>
              </a:rPr>
              <a:t>用不好小龙虾，多数时候不是工具不行 — 是问的人没说清楚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457200" cy="36576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704441"/>
            <a:ext cx="10817352" cy="1097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920240"/>
            <a:ext cx="5532120" cy="3931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5532120" cy="502920"/>
          </a:xfrm>
          <a:prstGeom prst="rect">
            <a:avLst/>
          </a:prstGeom>
          <a:solidFill>
            <a:srgbClr val="FD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920240"/>
            <a:ext cx="5166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C62828"/>
                </a:solidFill>
                <a:latin typeface="Microsoft YaHei"/>
                <a:ea typeface="Microsoft YaHei"/>
              </a:rPr>
              <a:t>✕  错误问法   太短、太模糊、AI 猜不到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606040"/>
            <a:ext cx="5074920" cy="594360"/>
          </a:xfrm>
          <a:prstGeom prst="roundRect">
            <a:avLst>
              <a:gd name="adj" fmla="val 15000"/>
            </a:avLst>
          </a:prstGeom>
          <a:solidFill>
            <a:srgbClr val="FAF7F4"/>
          </a:solidFill>
          <a:ln w="12700">
            <a:solidFill>
              <a:srgbClr val="E6C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8" y="2715768"/>
            <a:ext cx="54864" cy="54864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6968" y="2715768"/>
            <a:ext cx="54864" cy="54864"/>
          </a:xfrm>
          <a:prstGeom prst="rect">
            <a:avLst/>
          </a:prstGeom>
          <a:solidFill>
            <a:srgbClr val="C855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78408" y="2715768"/>
            <a:ext cx="54864" cy="54864"/>
          </a:xfrm>
          <a:prstGeom prst="rect">
            <a:avLst/>
          </a:prstGeom>
          <a:solidFill>
            <a:srgbClr val="7A32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2679192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>
                <a:solidFill>
                  <a:srgbClr val="C8550E"/>
                </a:solidFill>
                <a:latin typeface="Microsoft YaHei"/>
                <a:ea typeface="Microsoft YaHei"/>
              </a:rPr>
              <a:t>PROMPT  提示词示例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971800"/>
            <a:ext cx="45262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33333"/>
                </a:solidFill>
                <a:latin typeface="Consolas"/>
                <a:ea typeface="Microsoft YaHei"/>
              </a:rPr>
              <a:t>帮我写个培训通知。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337560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62828"/>
                </a:solidFill>
                <a:latin typeface="Microsoft YaHei"/>
                <a:ea typeface="Microsoft YaHei"/>
              </a:rPr>
              <a:t>AI 完全不知道：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657600"/>
            <a:ext cx="48920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•  给谁看？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•  什么培训？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•  语气正式还是轻松？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•  要不要写参训要求？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•  有没有训后作业？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•  输出邮件还是微信？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1920240"/>
            <a:ext cx="365760" cy="3931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4400" b="1" i="0">
                <a:solidFill>
                  <a:srgbClr val="EC6F1C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920240"/>
            <a:ext cx="5330952" cy="3931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EC6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1920240"/>
            <a:ext cx="5330952" cy="50292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1920240"/>
            <a:ext cx="496519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✓  正确问法   把任务交代清楚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29400" y="2606040"/>
            <a:ext cx="4873752" cy="3154680"/>
          </a:xfrm>
          <a:prstGeom prst="roundRect">
            <a:avLst>
              <a:gd name="adj" fmla="val 15000"/>
            </a:avLst>
          </a:prstGeom>
          <a:solidFill>
            <a:srgbClr val="FAF7F4"/>
          </a:solidFill>
          <a:ln w="12700">
            <a:solidFill>
              <a:srgbClr val="E6C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39128" y="2715768"/>
            <a:ext cx="54864" cy="54864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30568" y="2715768"/>
            <a:ext cx="54864" cy="54864"/>
          </a:xfrm>
          <a:prstGeom prst="rect">
            <a:avLst/>
          </a:prstGeom>
          <a:solidFill>
            <a:srgbClr val="C855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22008" y="2715768"/>
            <a:ext cx="54864" cy="54864"/>
          </a:xfrm>
          <a:prstGeom prst="rect">
            <a:avLst/>
          </a:prstGeom>
          <a:solidFill>
            <a:srgbClr val="7A32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86600" y="2679192"/>
            <a:ext cx="39593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>
                <a:solidFill>
                  <a:srgbClr val="C8550E"/>
                </a:solidFill>
                <a:latin typeface="Microsoft YaHei"/>
                <a:ea typeface="Microsoft YaHei"/>
              </a:rPr>
              <a:t>PROMPT  提示词示例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2971800"/>
            <a:ext cx="4325112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333333"/>
                </a:solidFill>
                <a:latin typeface="Consolas"/>
                <a:ea typeface="Microsoft YaHei"/>
              </a:rPr>
              <a:t>你是一名企业培训专员。</a:t>
            </a:r>
          </a:p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333333"/>
                </a:solidFill>
                <a:latin typeface="Consolas"/>
                <a:ea typeface="Microsoft YaHei"/>
              </a:rPr>
              <a:t>请帮我写一封培训通知邮件，培训主题是</a:t>
            </a:r>
          </a:p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333333"/>
                </a:solidFill>
                <a:latin typeface="Consolas"/>
                <a:ea typeface="Microsoft YaHei"/>
              </a:rPr>
              <a:t>「小龙虾基础使用培训」，对象是新开通</a:t>
            </a:r>
          </a:p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333333"/>
                </a:solidFill>
                <a:latin typeface="Consolas"/>
                <a:ea typeface="Microsoft YaHei"/>
              </a:rPr>
              <a:t>OpenClaw 账号的员工。</a:t>
            </a:r>
          </a:p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333333"/>
                </a:solidFill>
                <a:latin typeface="Consolas"/>
                <a:ea typeface="Microsoft YaHe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333333"/>
                </a:solidFill>
                <a:latin typeface="Consolas"/>
                <a:ea typeface="Microsoft YaHei"/>
              </a:rPr>
              <a:t>邮件要求：正式、简洁，包含 ——</a:t>
            </a:r>
          </a:p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333333"/>
                </a:solidFill>
                <a:latin typeface="Consolas"/>
                <a:ea typeface="Microsoft YaHei"/>
              </a:rPr>
              <a:t>  · 培训背景    · 培训目标    · 培训内容</a:t>
            </a:r>
          </a:p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333333"/>
                </a:solidFill>
                <a:latin typeface="Consolas"/>
                <a:ea typeface="Microsoft YaHei"/>
              </a:rPr>
              <a:t>  · 参训要求    · 训后作业</a:t>
            </a:r>
          </a:p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333333"/>
                </a:solidFill>
                <a:latin typeface="Consolas"/>
                <a:ea typeface="Microsoft YaHe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333333"/>
                </a:solidFill>
                <a:latin typeface="Consolas"/>
                <a:ea typeface="Microsoft YaHei"/>
              </a:rPr>
              <a:t>输出格式:邮件标题 + 正文。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989320"/>
            <a:ext cx="11274552" cy="502920"/>
          </a:xfrm>
          <a:prstGeom prst="roundRect">
            <a:avLst>
              <a:gd name="adj" fmla="val 15000"/>
            </a:avLst>
          </a:prstGeom>
          <a:solidFill>
            <a:srgbClr val="FFF7EF"/>
          </a:solidFill>
          <a:ln w="12700">
            <a:solidFill>
              <a:srgbClr val="EC6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989320"/>
            <a:ext cx="73152" cy="50292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6062472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8550E"/>
                </a:solidFill>
                <a:latin typeface="Microsoft YaHei"/>
                <a:ea typeface="Microsoft YaHei"/>
              </a:rPr>
              <a:t>TAKEAWAY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373368"/>
            <a:ext cx="10908792" cy="4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141414"/>
                </a:solidFill>
                <a:latin typeface="Microsoft YaHei"/>
                <a:ea typeface="Microsoft YaHei"/>
              </a:rPr>
              <a:t>提示词写得好 — 本质上就是把任务交代清楚。说不清楚，AI 永远做不好。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565392"/>
            <a:ext cx="11274552" cy="1097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60196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A0A0A0"/>
                </a:solidFill>
                <a:latin typeface="Microsoft YaHei"/>
                <a:ea typeface="Microsoft YaHei"/>
              </a:rPr>
              <a:t>小龙虾新人上手课   ·   银卡客服中心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601968"/>
            <a:ext cx="3959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>
                <a:solidFill>
                  <a:srgbClr val="EC6F1C"/>
                </a:solidFill>
                <a:latin typeface="Microsoft YaHei"/>
                <a:ea typeface="Microsoft YaHei"/>
              </a:rPr>
              <a:t>POWERED BY OPENCLAW    ·    PING 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EC6F1C"/>
                </a:solidFill>
                <a:latin typeface="Microsoft YaHei"/>
                <a:ea typeface="Microsoft YaHei"/>
              </a:rPr>
              <a:t>FRAMEWORK   ·   万能提示词结构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0116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1" i="0">
                <a:solidFill>
                  <a:srgbClr val="6E6E6E"/>
                </a:solidFill>
                <a:latin typeface="Microsoft YaHei"/>
                <a:ea typeface="Microsoft YaHei"/>
              </a:rPr>
              <a:t>5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41414"/>
                </a:solidFill>
                <a:latin typeface="Microsoft YaHei"/>
                <a:ea typeface="Microsoft YaHei"/>
              </a:rPr>
              <a:t>一个好提示词，至少讲清楚 5 件事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E6E6E"/>
                </a:solidFill>
                <a:latin typeface="Microsoft YaHei"/>
                <a:ea typeface="Microsoft YaHei"/>
              </a:rPr>
              <a:t>新人先不要追求高级技巧 — 把这 5 件事讲清楚，结果就明显变好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457200" cy="36576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704441"/>
            <a:ext cx="10817352" cy="1097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920240"/>
            <a:ext cx="2212848" cy="1828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2212848" cy="50292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75104"/>
            <a:ext cx="54864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FE8D2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20240"/>
            <a:ext cx="12984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</a:rPr>
              <a:t>角色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14600"/>
            <a:ext cx="19385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EC6F1C"/>
                </a:solidFill>
                <a:latin typeface="Calibri"/>
                <a:ea typeface="Microsoft YaHei"/>
              </a:rPr>
              <a:t>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761488"/>
            <a:ext cx="19385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333333"/>
                </a:solidFill>
                <a:latin typeface="Microsoft YaHei"/>
                <a:ea typeface="Microsoft YaHei"/>
              </a:rPr>
              <a:t>让小龙虾站在谁的角度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46120"/>
            <a:ext cx="1938528" cy="457200"/>
          </a:xfrm>
          <a:prstGeom prst="roundRect">
            <a:avLst>
              <a:gd name="adj" fmla="val 15000"/>
            </a:avLst>
          </a:prstGeom>
          <a:solidFill>
            <a:srgbClr val="FF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73552"/>
            <a:ext cx="17556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>
                <a:solidFill>
                  <a:srgbClr val="6E6E6E"/>
                </a:solidFill>
                <a:latin typeface="Microsoft YaHei"/>
                <a:ea typeface="Microsoft YaHei"/>
              </a:rPr>
              <a:t>示例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29000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8550E"/>
                </a:solidFill>
                <a:latin typeface="Microsoft YaHei"/>
                <a:ea typeface="Microsoft YaHei"/>
              </a:rPr>
              <a:t>你是一名企业内训师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15768" y="1920240"/>
            <a:ext cx="2212848" cy="1828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15768" y="1920240"/>
            <a:ext cx="2212848" cy="50292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98648" y="1975104"/>
            <a:ext cx="54864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FE8D2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3008" y="1920240"/>
            <a:ext cx="12984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</a:rPr>
              <a:t>任务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98648" y="2514600"/>
            <a:ext cx="19385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EC6F1C"/>
                </a:solidFill>
                <a:latin typeface="Calibri"/>
                <a:ea typeface="Microsoft YaHei"/>
              </a:rPr>
              <a:t>TASK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98648" y="2761488"/>
            <a:ext cx="19385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333333"/>
                </a:solidFill>
                <a:latin typeface="Microsoft YaHei"/>
                <a:ea typeface="Microsoft YaHei"/>
              </a:rPr>
              <a:t>要它完成什么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98648" y="3246120"/>
            <a:ext cx="1938528" cy="457200"/>
          </a:xfrm>
          <a:prstGeom prst="roundRect">
            <a:avLst>
              <a:gd name="adj" fmla="val 15000"/>
            </a:avLst>
          </a:prstGeom>
          <a:solidFill>
            <a:srgbClr val="FF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90088" y="3273552"/>
            <a:ext cx="17556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>
                <a:solidFill>
                  <a:srgbClr val="6E6E6E"/>
                </a:solidFill>
                <a:latin typeface="Microsoft YaHei"/>
                <a:ea typeface="Microsoft YaHei"/>
              </a:rPr>
              <a:t>示例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0088" y="3429000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8550E"/>
                </a:solidFill>
                <a:latin typeface="Microsoft YaHei"/>
                <a:ea typeface="Microsoft YaHei"/>
              </a:rPr>
              <a:t>请设计一份培训通知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74336" y="1920240"/>
            <a:ext cx="2212848" cy="1828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74336" y="1920240"/>
            <a:ext cx="2212848" cy="50292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57216" y="1975104"/>
            <a:ext cx="54864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FE8D2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51576" y="1920240"/>
            <a:ext cx="12984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</a:rPr>
              <a:t>背景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57216" y="2514600"/>
            <a:ext cx="19385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EC6F1C"/>
                </a:solidFill>
                <a:latin typeface="Calibri"/>
                <a:ea typeface="Microsoft YaHei"/>
              </a:rPr>
              <a:t>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57216" y="2761488"/>
            <a:ext cx="19385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333333"/>
                </a:solidFill>
                <a:latin typeface="Microsoft YaHei"/>
                <a:ea typeface="Microsoft YaHei"/>
              </a:rPr>
              <a:t>为什么要做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57216" y="3246120"/>
            <a:ext cx="1938528" cy="457200"/>
          </a:xfrm>
          <a:prstGeom prst="roundRect">
            <a:avLst>
              <a:gd name="adj" fmla="val 15000"/>
            </a:avLst>
          </a:prstGeom>
          <a:solidFill>
            <a:srgbClr val="FF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48656" y="3273552"/>
            <a:ext cx="17556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>
                <a:solidFill>
                  <a:srgbClr val="6E6E6E"/>
                </a:solidFill>
                <a:latin typeface="Microsoft YaHei"/>
                <a:ea typeface="Microsoft YaHei"/>
              </a:rPr>
              <a:t>示例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48656" y="3429000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8550E"/>
                </a:solidFill>
                <a:latin typeface="Microsoft YaHei"/>
                <a:ea typeface="Microsoft YaHei"/>
              </a:rPr>
              <a:t>新员工刚拿到 OpenClaw 账号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32904" y="1920240"/>
            <a:ext cx="2212848" cy="1828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232904" y="1920240"/>
            <a:ext cx="2212848" cy="50292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15784" y="1975104"/>
            <a:ext cx="54864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FE8D2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0144" y="1920240"/>
            <a:ext cx="12984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</a:rPr>
              <a:t>要求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15784" y="2514600"/>
            <a:ext cx="19385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EC6F1C"/>
                </a:solidFill>
                <a:latin typeface="Calibri"/>
                <a:ea typeface="Microsoft YaHei"/>
              </a:rPr>
              <a:t>RULES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15784" y="2761488"/>
            <a:ext cx="19385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333333"/>
                </a:solidFill>
                <a:latin typeface="Microsoft YaHei"/>
                <a:ea typeface="Microsoft YaHei"/>
              </a:rPr>
              <a:t>有什么限制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15784" y="3246120"/>
            <a:ext cx="1938528" cy="457200"/>
          </a:xfrm>
          <a:prstGeom prst="roundRect">
            <a:avLst>
              <a:gd name="adj" fmla="val 15000"/>
            </a:avLst>
          </a:prstGeom>
          <a:solidFill>
            <a:srgbClr val="FF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07224" y="3273552"/>
            <a:ext cx="17556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>
                <a:solidFill>
                  <a:srgbClr val="6E6E6E"/>
                </a:solidFill>
                <a:latin typeface="Microsoft YaHei"/>
                <a:ea typeface="Microsoft YaHei"/>
              </a:rPr>
              <a:t>示例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07224" y="3429000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8550E"/>
                </a:solidFill>
                <a:latin typeface="Microsoft YaHei"/>
                <a:ea typeface="Microsoft YaHei"/>
              </a:rPr>
              <a:t>正式 · 不要太长 · 可直接发送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491472" y="1920240"/>
            <a:ext cx="2212848" cy="1828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491472" y="1920240"/>
            <a:ext cx="2212848" cy="50292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74352" y="1975104"/>
            <a:ext cx="54864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FE8D2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68712" y="1920240"/>
            <a:ext cx="12984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</a:rPr>
              <a:t>输出格式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74352" y="2514600"/>
            <a:ext cx="19385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EC6F1C"/>
                </a:solidFill>
                <a:latin typeface="Calibri"/>
                <a:ea typeface="Microsoft YaHei"/>
              </a:rPr>
              <a:t>FORMAT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74352" y="2761488"/>
            <a:ext cx="19385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333333"/>
                </a:solidFill>
                <a:latin typeface="Microsoft YaHei"/>
                <a:ea typeface="Microsoft YaHei"/>
              </a:rPr>
              <a:t>按什么形式交付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674352" y="3246120"/>
            <a:ext cx="1938528" cy="457200"/>
          </a:xfrm>
          <a:prstGeom prst="roundRect">
            <a:avLst>
              <a:gd name="adj" fmla="val 15000"/>
            </a:avLst>
          </a:prstGeom>
          <a:solidFill>
            <a:srgbClr val="FF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65792" y="3273552"/>
            <a:ext cx="17556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>
                <a:solidFill>
                  <a:srgbClr val="6E6E6E"/>
                </a:solidFill>
                <a:latin typeface="Microsoft YaHei"/>
                <a:ea typeface="Microsoft YaHei"/>
              </a:rPr>
              <a:t>示例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65792" y="3429000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8550E"/>
                </a:solidFill>
                <a:latin typeface="Microsoft YaHei"/>
                <a:ea typeface="Microsoft YaHei"/>
              </a:rPr>
              <a:t>邮件标题 + 正文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3931920"/>
            <a:ext cx="112745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C8550E"/>
                </a:solidFill>
                <a:latin typeface="Microsoft YaHei"/>
                <a:ea typeface="Microsoft YaHei"/>
              </a:rPr>
              <a:t>▍ 新人可复制模板   把【】里的内容换成你的真实任务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4251960"/>
            <a:ext cx="11274552" cy="1554480"/>
          </a:xfrm>
          <a:prstGeom prst="roundRect">
            <a:avLst>
              <a:gd name="adj" fmla="val 15000"/>
            </a:avLst>
          </a:prstGeom>
          <a:solidFill>
            <a:srgbClr val="FAF7F4"/>
          </a:solidFill>
          <a:ln w="12700">
            <a:solidFill>
              <a:srgbClr val="E6C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6928" y="4361688"/>
            <a:ext cx="54864" cy="54864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58368" y="4361688"/>
            <a:ext cx="54864" cy="54864"/>
          </a:xfrm>
          <a:prstGeom prst="rect">
            <a:avLst/>
          </a:prstGeom>
          <a:solidFill>
            <a:srgbClr val="C855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49808" y="4361688"/>
            <a:ext cx="54864" cy="54864"/>
          </a:xfrm>
          <a:prstGeom prst="rect">
            <a:avLst/>
          </a:prstGeom>
          <a:solidFill>
            <a:srgbClr val="7A32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4400" y="4325112"/>
            <a:ext cx="10360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>
                <a:solidFill>
                  <a:srgbClr val="C8550E"/>
                </a:solidFill>
                <a:latin typeface="Microsoft YaHei"/>
                <a:ea typeface="Microsoft YaHei"/>
              </a:rPr>
              <a:t>PROMPT  提示词示例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" y="4617720"/>
            <a:ext cx="1072591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333333"/>
                </a:solidFill>
                <a:latin typeface="Consolas"/>
                <a:ea typeface="Microsoft YaHei"/>
              </a:rPr>
              <a:t>你是一名【角色】。</a:t>
            </a:r>
          </a:p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333333"/>
                </a:solidFill>
                <a:latin typeface="Consolas"/>
                <a:ea typeface="Microsoft YaHei"/>
              </a:rPr>
              <a:t>请围绕【具体任务】帮我完成【输出成果】。</a:t>
            </a:r>
          </a:p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333333"/>
                </a:solidFill>
                <a:latin typeface="Consolas"/>
                <a:ea typeface="Microsoft YaHei"/>
              </a:rPr>
              <a:t>背景是：【补充业务背景、对象、使用场景】</a:t>
            </a:r>
          </a:p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333333"/>
                </a:solidFill>
                <a:latin typeface="Consolas"/>
                <a:ea typeface="Microsoft YaHei"/>
              </a:rPr>
              <a:t>要求：1. 【要求1】   2. 【要求2】   3. 【要求3】</a:t>
            </a:r>
          </a:p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333333"/>
                </a:solidFill>
                <a:latin typeface="Consolas"/>
                <a:ea typeface="Microsoft YaHei"/>
              </a:rPr>
              <a:t>请按照以下格式输出：一、【模块1】   二、【模块2】   三、【模块3】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5897880"/>
            <a:ext cx="11274552" cy="594360"/>
          </a:xfrm>
          <a:prstGeom prst="roundRect">
            <a:avLst>
              <a:gd name="adj" fmla="val 15000"/>
            </a:avLst>
          </a:prstGeom>
          <a:solidFill>
            <a:srgbClr val="FFF7EF"/>
          </a:solidFill>
          <a:ln w="12700">
            <a:solidFill>
              <a:srgbClr val="EC6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57200" y="5897880"/>
            <a:ext cx="73152" cy="59436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5800" y="5971032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8550E"/>
                </a:solidFill>
                <a:latin typeface="Microsoft YaHei"/>
                <a:ea typeface="Microsoft YaHei"/>
              </a:rPr>
              <a:t>TAKEAWAY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6281928"/>
            <a:ext cx="109087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141414"/>
                </a:solidFill>
                <a:latin typeface="Microsoft YaHei"/>
                <a:ea typeface="Microsoft YaHei"/>
              </a:rPr>
              <a:t>角色 + 任务 + 背景 + 要求 + 输出格式  ——  五件事讲清楚 · 结果立刻变好。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6565392"/>
            <a:ext cx="11274552" cy="1097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660196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A0A0A0"/>
                </a:solidFill>
                <a:latin typeface="Microsoft YaHei"/>
                <a:ea typeface="Microsoft YaHei"/>
              </a:rPr>
              <a:t>小龙虾新人上手课   ·   银卡客服中心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72400" y="6601968"/>
            <a:ext cx="3959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>
                <a:solidFill>
                  <a:srgbClr val="EC6F1C"/>
                </a:solidFill>
                <a:latin typeface="Microsoft YaHei"/>
                <a:ea typeface="Microsoft YaHei"/>
              </a:rPr>
              <a:t>POWERED BY OPENCLAW    ·    PING 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EC6F1C"/>
                </a:solidFill>
                <a:latin typeface="Microsoft YaHei"/>
                <a:ea typeface="Microsoft YaHei"/>
              </a:rPr>
              <a:t>PRACTICE 1   ·   实战一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0116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1" i="0">
                <a:solidFill>
                  <a:srgbClr val="6E6E6E"/>
                </a:solidFill>
                <a:latin typeface="Microsoft YaHei"/>
                <a:ea typeface="Microsoft YaHei"/>
              </a:rPr>
              <a:t>6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41414"/>
                </a:solidFill>
                <a:latin typeface="Microsoft YaHei"/>
                <a:ea typeface="Microsoft YaHei"/>
              </a:rPr>
              <a:t>让小龙虾帮你写一封培训通知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E6E6E"/>
                </a:solidFill>
                <a:latin typeface="Microsoft YaHei"/>
                <a:ea typeface="Microsoft YaHei"/>
              </a:rPr>
              <a:t>今天学完，今天就能用 — 一个真实工作场景，一段可复制提示词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457200" cy="36576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704441"/>
            <a:ext cx="10817352" cy="1097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C8550E"/>
                </a:solidFill>
                <a:latin typeface="Microsoft YaHei"/>
                <a:ea typeface="Microsoft YaHei"/>
              </a:rPr>
              <a:t>▍ 场景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86000"/>
            <a:ext cx="5029200" cy="777240"/>
          </a:xfrm>
          <a:prstGeom prst="roundRect">
            <a:avLst>
              <a:gd name="adj" fmla="val 15000"/>
            </a:avLst>
          </a:prstGeom>
          <a:solidFill>
            <a:srgbClr val="FFF7EF"/>
          </a:solidFill>
          <a:ln w="12700">
            <a:solidFill>
              <a:srgbClr val="FFE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31720"/>
            <a:ext cx="45720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141414"/>
                </a:solidFill>
                <a:latin typeface="Microsoft YaHei"/>
                <a:ea typeface="Microsoft YaHei"/>
              </a:rPr>
              <a:t>培训岗要通知新员工参加小龙虾使用培训。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6E6E6E"/>
                </a:solidFill>
                <a:latin typeface="Microsoft YaHei"/>
                <a:ea typeface="Microsoft YaHei"/>
              </a:rPr>
              <a:t>▍ 原始痛点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85032"/>
            <a:ext cx="91440" cy="91440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547872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3333"/>
                </a:solidFill>
                <a:latin typeface="Microsoft YaHei"/>
                <a:ea typeface="Microsoft YaHei"/>
              </a:rPr>
              <a:t>自己想标题、写背景、列内容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69080"/>
            <a:ext cx="91440" cy="91440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931920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3333"/>
                </a:solidFill>
                <a:latin typeface="Microsoft YaHei"/>
                <a:ea typeface="Microsoft YaHei"/>
              </a:rPr>
              <a:t>反复改语气、来回调整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53128"/>
            <a:ext cx="91440" cy="91440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315968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3333"/>
                </a:solidFill>
                <a:latin typeface="Microsoft YaHei"/>
                <a:ea typeface="Microsoft YaHei"/>
              </a:rPr>
              <a:t>容易漏写参训要求 / 训后作业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37176"/>
            <a:ext cx="91440" cy="91440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700016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3333"/>
                </a:solidFill>
                <a:latin typeface="Microsoft YaHei"/>
                <a:ea typeface="Microsoft YaHei"/>
              </a:rPr>
              <a:t>一封邮件半小时甚至更久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1920240"/>
            <a:ext cx="60167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C8550E"/>
                </a:solidFill>
                <a:latin typeface="Microsoft YaHei"/>
                <a:ea typeface="Microsoft YaHei"/>
              </a:rPr>
              <a:t>▍ 提示词示例   可直接复制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0" y="2286000"/>
            <a:ext cx="6016752" cy="4160520"/>
          </a:xfrm>
          <a:prstGeom prst="roundRect">
            <a:avLst>
              <a:gd name="adj" fmla="val 15000"/>
            </a:avLst>
          </a:prstGeom>
          <a:solidFill>
            <a:srgbClr val="FAF7F4"/>
          </a:solidFill>
          <a:ln w="12700">
            <a:solidFill>
              <a:srgbClr val="E6C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24728" y="2395728"/>
            <a:ext cx="54864" cy="54864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16168" y="2395728"/>
            <a:ext cx="54864" cy="54864"/>
          </a:xfrm>
          <a:prstGeom prst="rect">
            <a:avLst/>
          </a:prstGeom>
          <a:solidFill>
            <a:srgbClr val="C855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07608" y="2395728"/>
            <a:ext cx="54864" cy="54864"/>
          </a:xfrm>
          <a:prstGeom prst="rect">
            <a:avLst/>
          </a:prstGeom>
          <a:solidFill>
            <a:srgbClr val="7A32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2359152"/>
            <a:ext cx="51023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>
                <a:solidFill>
                  <a:srgbClr val="C8550E"/>
                </a:solidFill>
                <a:latin typeface="Microsoft YaHei"/>
                <a:ea typeface="Microsoft YaHei"/>
              </a:rPr>
              <a:t>PROMPT  提示词示例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2651760"/>
            <a:ext cx="5468112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Consolas"/>
                <a:ea typeface="Microsoft YaHei"/>
              </a:rPr>
              <a:t>你是一名企业培训专员。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Consolas"/>
                <a:ea typeface="Microsoft YaHei"/>
              </a:rPr>
              <a:t>请帮我写一封培训通知邮件，主题是「小龙虾基础使用培训」。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Consolas"/>
                <a:ea typeface="Microsoft YaHe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Consolas"/>
                <a:ea typeface="Microsoft YaHei"/>
              </a:rPr>
              <a:t>背景：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Consolas"/>
                <a:ea typeface="Microsoft YaHei"/>
              </a:rPr>
              <a:t>公司已为部分新员工开通 OpenClaw 账号，希望通过本次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Consolas"/>
                <a:ea typeface="Microsoft YaHei"/>
              </a:rPr>
              <a:t>培训帮助大家了解小龙虾的基础用法、典型场景和注意事项。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Consolas"/>
                <a:ea typeface="Microsoft YaHe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Consolas"/>
                <a:ea typeface="Microsoft YaHei"/>
              </a:rPr>
              <a:t>要求：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Consolas"/>
                <a:ea typeface="Microsoft YaHei"/>
              </a:rPr>
              <a:t>  1. 语气正式、清晰、适合企业内部邮件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Consolas"/>
                <a:ea typeface="Microsoft YaHei"/>
              </a:rPr>
              <a:t>  2. 包含培训背景、培训对象、培训内容、参训要求、训后作业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Consolas"/>
                <a:ea typeface="Microsoft YaHei"/>
              </a:rPr>
              <a:t>  3. 不要空泛，不要写得太长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Consolas"/>
                <a:ea typeface="Microsoft YaHei"/>
              </a:rPr>
              <a:t>  4. 可直接复制发送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Consolas"/>
                <a:ea typeface="Microsoft YaHe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Consolas"/>
                <a:ea typeface="Microsoft YaHei"/>
              </a:rPr>
              <a:t>请输出：邮件标题 + 邮件正文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852160"/>
            <a:ext cx="11274552" cy="640080"/>
          </a:xfrm>
          <a:prstGeom prst="roundRect">
            <a:avLst>
              <a:gd name="adj" fmla="val 15000"/>
            </a:avLst>
          </a:prstGeom>
          <a:solidFill>
            <a:srgbClr val="EC6F1C"/>
          </a:solidFill>
          <a:ln w="12700">
            <a:solidFill>
              <a:srgbClr val="7A32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9253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FFE8D2"/>
                </a:solidFill>
                <a:latin typeface="Microsoft YaHei"/>
                <a:ea typeface="Microsoft YaHei"/>
              </a:rPr>
              <a:t>VALUE   ·   它给你节省了什么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181344"/>
            <a:ext cx="109087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</a:rPr>
              <a:t>从「自己从零开始写」 → 变成「先生成初稿、再人工校正」 — 一封邮件最快 5 分钟搞定。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565392"/>
            <a:ext cx="11274552" cy="1097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60196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A0A0A0"/>
                </a:solidFill>
                <a:latin typeface="Microsoft YaHei"/>
                <a:ea typeface="Microsoft YaHei"/>
              </a:rPr>
              <a:t>小龙虾新人上手课   ·   银卡客服中心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6601968"/>
            <a:ext cx="3959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>
                <a:solidFill>
                  <a:srgbClr val="EC6F1C"/>
                </a:solidFill>
                <a:latin typeface="Microsoft YaHei"/>
                <a:ea typeface="Microsoft YaHei"/>
              </a:rPr>
              <a:t>POWERED BY OPENCLAW    ·    PING 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EC6F1C"/>
                </a:solidFill>
                <a:latin typeface="Microsoft YaHei"/>
                <a:ea typeface="Microsoft YaHei"/>
              </a:rPr>
              <a:t>PRACTICE 2   ·   实战二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0116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1" i="0">
                <a:solidFill>
                  <a:srgbClr val="6E6E6E"/>
                </a:solidFill>
                <a:latin typeface="Microsoft YaHei"/>
                <a:ea typeface="Microsoft YaHei"/>
              </a:rPr>
              <a:t>7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41414"/>
                </a:solidFill>
                <a:latin typeface="Microsoft YaHei"/>
                <a:ea typeface="Microsoft YaHei"/>
              </a:rPr>
              <a:t>把混乱记录整理成会议纪要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E6E6E"/>
                </a:solidFill>
                <a:latin typeface="Microsoft YaHei"/>
                <a:ea typeface="Microsoft YaHei"/>
              </a:rPr>
              <a:t>今天学完，今天就能用 — 一个真实工作场景，一段可复制提示词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457200" cy="36576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704441"/>
            <a:ext cx="10817352" cy="1097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C8550E"/>
                </a:solidFill>
                <a:latin typeface="Microsoft YaHei"/>
                <a:ea typeface="Microsoft YaHei"/>
              </a:rPr>
              <a:t>▍ 场景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86000"/>
            <a:ext cx="5029200" cy="777240"/>
          </a:xfrm>
          <a:prstGeom prst="roundRect">
            <a:avLst>
              <a:gd name="adj" fmla="val 15000"/>
            </a:avLst>
          </a:prstGeom>
          <a:solidFill>
            <a:srgbClr val="FFF7EF"/>
          </a:solidFill>
          <a:ln w="12700">
            <a:solidFill>
              <a:srgbClr val="FFE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31720"/>
            <a:ext cx="45720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141414"/>
                </a:solidFill>
                <a:latin typeface="Microsoft YaHei"/>
                <a:ea typeface="Microsoft YaHei"/>
              </a:rPr>
              <a:t>开完会后，有一段比较乱的会议记录，需要整理成正式纪要。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6E6E6E"/>
                </a:solidFill>
                <a:latin typeface="Microsoft YaHei"/>
                <a:ea typeface="Microsoft YaHei"/>
              </a:rPr>
              <a:t>▍ 原始痛点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85032"/>
            <a:ext cx="91440" cy="91440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547872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3333"/>
                </a:solidFill>
                <a:latin typeface="Microsoft YaHei"/>
                <a:ea typeface="Microsoft YaHei"/>
              </a:rPr>
              <a:t>记录口语化、不成型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69080"/>
            <a:ext cx="91440" cy="91440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931920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3333"/>
                </a:solidFill>
                <a:latin typeface="Microsoft YaHei"/>
                <a:ea typeface="Microsoft YaHei"/>
              </a:rPr>
              <a:t>重点不清楚、待办不明确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53128"/>
            <a:ext cx="91440" cy="91440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315968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3333"/>
                </a:solidFill>
                <a:latin typeface="Microsoft YaHei"/>
                <a:ea typeface="Microsoft YaHei"/>
              </a:rPr>
              <a:t>责任人和时间节点容易漏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37176"/>
            <a:ext cx="91440" cy="91440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700016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3333"/>
                </a:solidFill>
                <a:latin typeface="Microsoft YaHei"/>
                <a:ea typeface="Microsoft YaHei"/>
              </a:rPr>
              <a:t>整理一份纪要要 1 ~ 2 小时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1920240"/>
            <a:ext cx="60167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C8550E"/>
                </a:solidFill>
                <a:latin typeface="Microsoft YaHei"/>
                <a:ea typeface="Microsoft YaHei"/>
              </a:rPr>
              <a:t>▍ 提示词示例   可直接复制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0" y="2286000"/>
            <a:ext cx="6016752" cy="4160520"/>
          </a:xfrm>
          <a:prstGeom prst="roundRect">
            <a:avLst>
              <a:gd name="adj" fmla="val 15000"/>
            </a:avLst>
          </a:prstGeom>
          <a:solidFill>
            <a:srgbClr val="FAF7F4"/>
          </a:solidFill>
          <a:ln w="12700">
            <a:solidFill>
              <a:srgbClr val="E6C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24728" y="2395728"/>
            <a:ext cx="54864" cy="54864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16168" y="2395728"/>
            <a:ext cx="54864" cy="54864"/>
          </a:xfrm>
          <a:prstGeom prst="rect">
            <a:avLst/>
          </a:prstGeom>
          <a:solidFill>
            <a:srgbClr val="C855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07608" y="2395728"/>
            <a:ext cx="54864" cy="54864"/>
          </a:xfrm>
          <a:prstGeom prst="rect">
            <a:avLst/>
          </a:prstGeom>
          <a:solidFill>
            <a:srgbClr val="7A32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2359152"/>
            <a:ext cx="51023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>
                <a:solidFill>
                  <a:srgbClr val="C8550E"/>
                </a:solidFill>
                <a:latin typeface="Microsoft YaHei"/>
                <a:ea typeface="Microsoft YaHei"/>
              </a:rPr>
              <a:t>PROMPT  提示词示例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2651760"/>
            <a:ext cx="5468112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Consolas"/>
                <a:ea typeface="Microsoft YaHei"/>
              </a:rPr>
              <a:t>你是一名企业会议纪要整理专家。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Consolas"/>
                <a:ea typeface="Microsoft YaHei"/>
              </a:rPr>
              <a:t>请帮我把下面这段会议记录整理成结构清晰的会议纪要。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Consolas"/>
                <a:ea typeface="Microsoft YaHe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Consolas"/>
                <a:ea typeface="Microsoft YaHei"/>
              </a:rPr>
              <a:t>要求：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Consolas"/>
                <a:ea typeface="Microsoft YaHei"/>
              </a:rPr>
              <a:t>  1. 保留真实意思，不要编造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Consolas"/>
                <a:ea typeface="Microsoft YaHei"/>
              </a:rPr>
              <a:t>  2. 口语化内容改成正式表达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Consolas"/>
                <a:ea typeface="Microsoft YaHei"/>
              </a:rPr>
              <a:t>  3. 提炼会议重点，整理待办事项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Consolas"/>
                <a:ea typeface="Microsoft YaHei"/>
              </a:rPr>
              <a:t>  4. 标注责任人、时间节点；原文无则写「未明确」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Consolas"/>
                <a:ea typeface="Microsoft YaHei"/>
              </a:rPr>
              <a:t>  5. 不确定的地方请标注「待确认」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Consolas"/>
                <a:ea typeface="Microsoft YaHe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Consolas"/>
                <a:ea typeface="Microsoft YaHei"/>
              </a:rPr>
              <a:t>输出格式：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Consolas"/>
                <a:ea typeface="Microsoft YaHei"/>
              </a:rPr>
              <a:t>一、会议主题   二、会议重点   三、关键决策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Consolas"/>
                <a:ea typeface="Microsoft YaHei"/>
              </a:rPr>
              <a:t>四、待办事项   五、风险提醒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Consolas"/>
                <a:ea typeface="Microsoft YaHe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Consolas"/>
                <a:ea typeface="Microsoft YaHei"/>
              </a:rPr>
              <a:t>原始记录：【粘贴会议内容】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852160"/>
            <a:ext cx="11274552" cy="640080"/>
          </a:xfrm>
          <a:prstGeom prst="roundRect">
            <a:avLst>
              <a:gd name="adj" fmla="val 15000"/>
            </a:avLst>
          </a:prstGeom>
          <a:solidFill>
            <a:srgbClr val="EC6F1C"/>
          </a:solidFill>
          <a:ln w="12700">
            <a:solidFill>
              <a:srgbClr val="7A32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9253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FFE8D2"/>
                </a:solidFill>
                <a:latin typeface="Microsoft YaHei"/>
                <a:ea typeface="Microsoft YaHei"/>
              </a:rPr>
              <a:t>VALUE   ·   它给你节省了什么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181344"/>
            <a:ext cx="109087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</a:rPr>
              <a:t>小龙虾负责「整理第一稿」 — 你只需要做「最终人工确认」 — 时间从 2 小时缩到 20 分钟。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565392"/>
            <a:ext cx="11274552" cy="1097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60196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A0A0A0"/>
                </a:solidFill>
                <a:latin typeface="Microsoft YaHei"/>
                <a:ea typeface="Microsoft YaHei"/>
              </a:rPr>
              <a:t>小龙虾新人上手课   ·   银卡客服中心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6601968"/>
            <a:ext cx="3959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>
                <a:solidFill>
                  <a:srgbClr val="EC6F1C"/>
                </a:solidFill>
                <a:latin typeface="Microsoft YaHei"/>
                <a:ea typeface="Microsoft YaHei"/>
              </a:rPr>
              <a:t>POWERED BY OPENCLAW    ·    PING 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EC6F1C"/>
                </a:solidFill>
                <a:latin typeface="Microsoft YaHei"/>
                <a:ea typeface="Microsoft YaHei"/>
              </a:rPr>
              <a:t>PRACTICE 3   ·   实战三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0116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1" i="0">
                <a:solidFill>
                  <a:srgbClr val="6E6E6E"/>
                </a:solidFill>
                <a:latin typeface="Microsoft YaHei"/>
                <a:ea typeface="Microsoft YaHei"/>
              </a:rPr>
              <a:t>8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41414"/>
                </a:solidFill>
                <a:latin typeface="Microsoft YaHei"/>
                <a:ea typeface="Microsoft YaHei"/>
              </a:rPr>
              <a:t>把复杂知识拆成新人能看懂的内容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E6E6E"/>
                </a:solidFill>
                <a:latin typeface="Microsoft YaHei"/>
                <a:ea typeface="Microsoft YaHei"/>
              </a:rPr>
              <a:t>今天学完，今天就能用 — 一个真实工作场景，一段可复制提示词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457200" cy="36576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704441"/>
            <a:ext cx="10817352" cy="1097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C8550E"/>
                </a:solidFill>
                <a:latin typeface="Microsoft YaHei"/>
                <a:ea typeface="Microsoft YaHei"/>
              </a:rPr>
              <a:t>▍ 场景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86000"/>
            <a:ext cx="5029200" cy="777240"/>
          </a:xfrm>
          <a:prstGeom prst="roundRect">
            <a:avLst>
              <a:gd name="adj" fmla="val 15000"/>
            </a:avLst>
          </a:prstGeom>
          <a:solidFill>
            <a:srgbClr val="FFF7EF"/>
          </a:solidFill>
          <a:ln w="12700">
            <a:solidFill>
              <a:srgbClr val="FFE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31720"/>
            <a:ext cx="45720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141414"/>
                </a:solidFill>
                <a:latin typeface="Microsoft YaHei"/>
                <a:ea typeface="Microsoft YaHei"/>
              </a:rPr>
              <a:t>新人看到制度、流程、业务规则，经常觉得文件长、抓不住重点。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6E6E6E"/>
                </a:solidFill>
                <a:latin typeface="Microsoft YaHei"/>
                <a:ea typeface="Microsoft YaHei"/>
              </a:rPr>
              <a:t>▍ 原始痛点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85032"/>
            <a:ext cx="91440" cy="91440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547872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3333"/>
                </a:solidFill>
                <a:latin typeface="Microsoft YaHei"/>
                <a:ea typeface="Microsoft YaHei"/>
              </a:rPr>
              <a:t>文件太长、密密麻麻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69080"/>
            <a:ext cx="91440" cy="91440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931920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3333"/>
                </a:solidFill>
                <a:latin typeface="Microsoft YaHei"/>
                <a:ea typeface="Microsoft YaHei"/>
              </a:rPr>
              <a:t>重点不清楚、规则模糊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53128"/>
            <a:ext cx="91440" cy="91440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315968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3333"/>
                </a:solidFill>
                <a:latin typeface="Microsoft YaHei"/>
                <a:ea typeface="Microsoft YaHei"/>
              </a:rPr>
              <a:t>不知道客户会怎么问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37176"/>
            <a:ext cx="91440" cy="91440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700016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3333"/>
                </a:solidFill>
                <a:latin typeface="Microsoft YaHei"/>
                <a:ea typeface="Microsoft YaHei"/>
              </a:rPr>
              <a:t>不知道实际工作怎么用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1920240"/>
            <a:ext cx="60167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C8550E"/>
                </a:solidFill>
                <a:latin typeface="Microsoft YaHei"/>
                <a:ea typeface="Microsoft YaHei"/>
              </a:rPr>
              <a:t>▍ 提示词示例   可直接复制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0" y="2286000"/>
            <a:ext cx="6016752" cy="4160520"/>
          </a:xfrm>
          <a:prstGeom prst="roundRect">
            <a:avLst>
              <a:gd name="adj" fmla="val 15000"/>
            </a:avLst>
          </a:prstGeom>
          <a:solidFill>
            <a:srgbClr val="FAF7F4"/>
          </a:solidFill>
          <a:ln w="12700">
            <a:solidFill>
              <a:srgbClr val="E6C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24728" y="2395728"/>
            <a:ext cx="54864" cy="54864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16168" y="2395728"/>
            <a:ext cx="54864" cy="54864"/>
          </a:xfrm>
          <a:prstGeom prst="rect">
            <a:avLst/>
          </a:prstGeom>
          <a:solidFill>
            <a:srgbClr val="C855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07608" y="2395728"/>
            <a:ext cx="54864" cy="54864"/>
          </a:xfrm>
          <a:prstGeom prst="rect">
            <a:avLst/>
          </a:prstGeom>
          <a:solidFill>
            <a:srgbClr val="7A32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2359152"/>
            <a:ext cx="51023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>
                <a:solidFill>
                  <a:srgbClr val="C8550E"/>
                </a:solidFill>
                <a:latin typeface="Microsoft YaHei"/>
                <a:ea typeface="Microsoft YaHei"/>
              </a:rPr>
              <a:t>PROMPT  提示词示例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2651760"/>
            <a:ext cx="5468112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Consolas"/>
                <a:ea typeface="Microsoft YaHei"/>
              </a:rPr>
              <a:t>你是一名企业业务培训师。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Consolas"/>
                <a:ea typeface="Microsoft YaHei"/>
              </a:rPr>
              <a:t>请帮我把下面这段业务知识拆解成新人容易理解的培训材料。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Consolas"/>
                <a:ea typeface="Microsoft YaHe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Consolas"/>
                <a:ea typeface="Microsoft YaHei"/>
              </a:rPr>
              <a:t>要求：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Consolas"/>
                <a:ea typeface="Microsoft YaHei"/>
              </a:rPr>
              <a:t>  1. 先用一句话说明这个知识点解决什么问题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Consolas"/>
                <a:ea typeface="Microsoft YaHei"/>
              </a:rPr>
              <a:t>  2. 提炼核心规则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Consolas"/>
                <a:ea typeface="Microsoft YaHei"/>
              </a:rPr>
              <a:t>  3. 说明适用场景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Consolas"/>
                <a:ea typeface="Microsoft YaHei"/>
              </a:rPr>
              <a:t>  4. 列出客户可能会问的问题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Consolas"/>
                <a:ea typeface="Microsoft YaHei"/>
              </a:rPr>
              <a:t>  5. 给出员工可参考的话术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Consolas"/>
                <a:ea typeface="Microsoft YaHei"/>
              </a:rPr>
              <a:t>  6. 标注容易出错的地方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Consolas"/>
                <a:ea typeface="Microsoft YaHe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Consolas"/>
                <a:ea typeface="Microsoft YaHei"/>
              </a:rPr>
              <a:t>输出格式：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Consolas"/>
                <a:ea typeface="Microsoft YaHei"/>
              </a:rPr>
              <a:t>一、一句话理解   二、核心规则   三、适用场景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Consolas"/>
                <a:ea typeface="Microsoft YaHei"/>
              </a:rPr>
              <a:t>四、客户常见问法 五、员工参考话术 六、易错提醒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Consolas"/>
                <a:ea typeface="Microsoft YaHe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333"/>
                </a:solidFill>
                <a:latin typeface="Consolas"/>
                <a:ea typeface="Microsoft YaHei"/>
              </a:rPr>
              <a:t>原始内容：【粘贴业务知识】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852160"/>
            <a:ext cx="11274552" cy="640080"/>
          </a:xfrm>
          <a:prstGeom prst="roundRect">
            <a:avLst>
              <a:gd name="adj" fmla="val 15000"/>
            </a:avLst>
          </a:prstGeom>
          <a:solidFill>
            <a:srgbClr val="EC6F1C"/>
          </a:solidFill>
          <a:ln w="12700">
            <a:solidFill>
              <a:srgbClr val="7A32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9253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FFE8D2"/>
                </a:solidFill>
                <a:latin typeface="Microsoft YaHei"/>
                <a:ea typeface="Microsoft YaHei"/>
              </a:rPr>
              <a:t>VALUE   ·   它给你节省了什么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181344"/>
            <a:ext cx="109087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</a:rPr>
              <a:t>把「长材料」 → 变成「可学习、可培训、可使用」的结构化内容 — 新人上手周期缩一半。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565392"/>
            <a:ext cx="11274552" cy="1097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60196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A0A0A0"/>
                </a:solidFill>
                <a:latin typeface="Microsoft YaHei"/>
                <a:ea typeface="Microsoft YaHei"/>
              </a:rPr>
              <a:t>小龙虾新人上手课   ·   银卡客服中心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6601968"/>
            <a:ext cx="3959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>
                <a:solidFill>
                  <a:srgbClr val="EC6F1C"/>
                </a:solidFill>
                <a:latin typeface="Microsoft YaHei"/>
                <a:ea typeface="Microsoft YaHei"/>
              </a:rPr>
              <a:t>POWERED BY OPENCLAW    ·    PING 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EC6F1C"/>
                </a:solidFill>
                <a:latin typeface="Microsoft YaHei"/>
                <a:ea typeface="Microsoft YaHei"/>
              </a:rPr>
              <a:t>WRAP UP   ·   课程收尾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0116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1" i="0">
                <a:solidFill>
                  <a:srgbClr val="6E6E6E"/>
                </a:solidFill>
                <a:latin typeface="Microsoft YaHei"/>
                <a:ea typeface="Microsoft YaHei"/>
              </a:rPr>
              <a:t>9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41414"/>
                </a:solidFill>
                <a:latin typeface="Microsoft YaHei"/>
                <a:ea typeface="Microsoft YaHei"/>
              </a:rPr>
              <a:t>小龙虾使用的三个关键习惯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E6E6E"/>
                </a:solidFill>
                <a:latin typeface="Microsoft YaHei"/>
                <a:ea typeface="Microsoft YaHei"/>
              </a:rPr>
              <a:t>学完不一定马上做复杂项目 — 但请把这三个习惯，从今天开始养成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457200" cy="36576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704441"/>
            <a:ext cx="10817352" cy="1097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965960"/>
            <a:ext cx="3703320" cy="3611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965960"/>
            <a:ext cx="3703320" cy="77724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0574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1">
                <a:solidFill>
                  <a:srgbClr val="FFE8D2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7744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FFE8D2"/>
                </a:solidFill>
                <a:latin typeface="Microsoft YaHei"/>
                <a:ea typeface="Microsoft YaHei"/>
              </a:rPr>
              <a:t>BE SPECIFIC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80360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41414"/>
                </a:solidFill>
                <a:latin typeface="Microsoft YaHei"/>
                <a:ea typeface="Microsoft YaHei"/>
              </a:rPr>
              <a:t>先说清楚任务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474720"/>
            <a:ext cx="457200" cy="36576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3246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不要只说「帮我写一下」 — 
说清楚对象、背景、目标和格式。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54880"/>
            <a:ext cx="3246120" cy="713232"/>
          </a:xfrm>
          <a:prstGeom prst="roundRect">
            <a:avLst>
              <a:gd name="adj" fmla="val 15000"/>
            </a:avLst>
          </a:prstGeom>
          <a:solidFill>
            <a:srgbClr val="FF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800600"/>
            <a:ext cx="3063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>
                <a:solidFill>
                  <a:srgbClr val="C8550E"/>
                </a:solidFill>
                <a:latin typeface="Microsoft YaHei"/>
                <a:ea typeface="Microsoft YaHei"/>
              </a:rPr>
              <a:t>TIP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01768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C8550E"/>
                </a:solidFill>
                <a:latin typeface="Microsoft YaHei"/>
                <a:ea typeface="Microsoft YaHei"/>
              </a:rPr>
              <a:t>记忆口诀：角色 + 任务 + 背景 + 要求 + 输出格式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79392" y="1965960"/>
            <a:ext cx="3703320" cy="3611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9392" y="1965960"/>
            <a:ext cx="3703320" cy="77724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7992" y="20574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1">
                <a:solidFill>
                  <a:srgbClr val="FFE8D2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237744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FFE8D2"/>
                </a:solidFill>
                <a:latin typeface="Microsoft YaHei"/>
                <a:ea typeface="Microsoft YaHei"/>
              </a:rPr>
              <a:t>AI DRAFTS · YOU JUDGE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2880360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41414"/>
                </a:solidFill>
                <a:latin typeface="Microsoft YaHei"/>
                <a:ea typeface="Microsoft YaHei"/>
              </a:rPr>
              <a:t>把 AI 当初稿助手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53712" y="3474720"/>
            <a:ext cx="457200" cy="36576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53712" y="3657600"/>
            <a:ext cx="3246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AI 负责起草和整理 — 
你负责判断、把关、最终交付。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53712" y="4754880"/>
            <a:ext cx="3246120" cy="713232"/>
          </a:xfrm>
          <a:prstGeom prst="roundRect">
            <a:avLst>
              <a:gd name="adj" fmla="val 15000"/>
            </a:avLst>
          </a:prstGeom>
          <a:solidFill>
            <a:srgbClr val="FF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2" y="4800600"/>
            <a:ext cx="3063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>
                <a:solidFill>
                  <a:srgbClr val="C8550E"/>
                </a:solidFill>
                <a:latin typeface="Microsoft YaHei"/>
                <a:ea typeface="Microsoft YaHei"/>
              </a:rPr>
              <a:t>TIP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5152" y="5001768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C8550E"/>
                </a:solidFill>
                <a:latin typeface="Microsoft YaHei"/>
                <a:ea typeface="Microsoft YaHei"/>
              </a:rPr>
              <a:t>业务内容必须人工校验 — AI 偶尔会一本正经地说错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01584" y="1965960"/>
            <a:ext cx="3703320" cy="3611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01584" y="1965960"/>
            <a:ext cx="3703320" cy="777240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0184" y="20574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1">
                <a:solidFill>
                  <a:srgbClr val="FFE8D2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0184" y="237744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FFE8D2"/>
                </a:solidFill>
                <a:latin typeface="Microsoft YaHei"/>
                <a:ea typeface="Microsoft YaHei"/>
              </a:rPr>
              <a:t>BUILD YOUR LIBRARY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75904" y="2880360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41414"/>
                </a:solidFill>
                <a:latin typeface="Microsoft YaHei"/>
                <a:ea typeface="Microsoft YaHei"/>
              </a:rPr>
              <a:t>把好用的方法存下来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75904" y="3474720"/>
            <a:ext cx="457200" cy="36576"/>
          </a:xfrm>
          <a:prstGeom prst="rect">
            <a:avLst/>
          </a:prstGeom>
          <a:solidFill>
            <a:srgbClr val="EC6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75904" y="3657600"/>
            <a:ext cx="3246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每次用得好的提示词 — 
沉淀成模板，下次直接复用。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75904" y="4754880"/>
            <a:ext cx="3246120" cy="713232"/>
          </a:xfrm>
          <a:prstGeom prst="roundRect">
            <a:avLst>
              <a:gd name="adj" fmla="val 15000"/>
            </a:avLst>
          </a:prstGeom>
          <a:solidFill>
            <a:srgbClr val="FF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67344" y="4800600"/>
            <a:ext cx="3063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>
                <a:solidFill>
                  <a:srgbClr val="C8550E"/>
                </a:solidFill>
                <a:latin typeface="Microsoft YaHei"/>
                <a:ea typeface="Microsoft YaHei"/>
              </a:rPr>
              <a:t>TIP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67344" y="5001768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C8550E"/>
                </a:solidFill>
                <a:latin typeface="Microsoft YaHei"/>
                <a:ea typeface="Microsoft YaHei"/>
              </a:rPr>
              <a:t>三个月后，你会有一本自己的「提示词工具箱」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760720"/>
            <a:ext cx="11274552" cy="777240"/>
          </a:xfrm>
          <a:prstGeom prst="rect">
            <a:avLst/>
          </a:prstGeom>
          <a:solidFill>
            <a:srgbClr val="7A32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8338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FFE8D2"/>
                </a:solidFill>
                <a:latin typeface="Microsoft YaHei"/>
                <a:ea typeface="Microsoft YaHei"/>
              </a:rPr>
              <a:t>FINAL TAKEAWAY   ·   结尾金句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080760"/>
            <a:ext cx="109087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小龙虾真正的价值 — 不是替我们工作，而是帮我们把「重复、零散、难下笔」的工作，更快变成可交付的成果。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6565392"/>
            <a:ext cx="11274552" cy="1097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60196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A0A0A0"/>
                </a:solidFill>
                <a:latin typeface="Microsoft YaHei"/>
                <a:ea typeface="Microsoft YaHei"/>
              </a:rPr>
              <a:t>小龙虾新人上手课   ·   银卡客服中心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0" y="6601968"/>
            <a:ext cx="3959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>
                <a:solidFill>
                  <a:srgbClr val="EC6F1C"/>
                </a:solidFill>
                <a:latin typeface="Microsoft YaHei"/>
                <a:ea typeface="Microsoft YaHei"/>
              </a:rPr>
              <a:t>POWERED BY OPENCLAW    ·    PING 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