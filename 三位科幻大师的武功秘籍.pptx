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3B1E6E">
              <a:alpha val="44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0"/>
            <a:ext cx="164592" cy="22860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286000"/>
            <a:ext cx="164592" cy="182880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38127" y="5521115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37628" y="4957746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15874" y="611504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76164" y="496633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47020" y="5223978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9928" y="199296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49820" y="2483583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49373" y="3437558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0295" y="2252272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77242" y="620396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11495" y="3625355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66512" y="6466519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60217" y="5834763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89933" y="592994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64384" y="6342133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0935" y="224939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51189" y="112716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4186" y="432444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1122" y="2562096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1808" y="2010100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89930" y="1098408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93983" y="3515661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30990" y="224006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97594" y="1754382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77826" y="5583109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23567" y="3657302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65446" y="2376291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72549" y="2693342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19276" y="3508243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5586" y="18225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14652" y="1177825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5731" y="614745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83343" y="295133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75198" y="5194409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39057" y="109108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05755" y="4223106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66196" y="3234705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803868" y="223691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25989" y="5862407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71855" y="281227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7798" y="954212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433454" y="329865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910995" y="4109541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721134" y="4225084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44371" y="2777383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532292" y="1382059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62280" y="49805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073845" y="1644138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200219" y="1417622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091084" y="5653680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608080" y="2260289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10281" y="3207714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09627" y="3256246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68603" y="117877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889160" y="3670219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233168" y="173650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364945" y="2240215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362626" y="3469423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32395" y="1105574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67495" y="2164534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487860" y="221699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575317" y="3935006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650096" y="359093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77156" y="47686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156117" y="4007998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958794" y="1457519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448649" y="192555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580983" y="1805873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50954" y="4367798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403294" y="576625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F5F7FA"/>
                </a:solidFill>
                <a:latin typeface="Microsoft YaHei"/>
                <a:ea typeface="Microsoft YaHei"/>
              </a:rPr>
              <a:t>三位科幻大师的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400" b="1" i="0">
                <a:solidFill>
                  <a:srgbClr val="F2C94C"/>
                </a:solidFill>
                <a:latin typeface="Microsoft YaHei"/>
                <a:ea typeface="Microsoft YaHei"/>
              </a:rPr>
              <a:t>「</a:t>
            </a:r>
            <a:r>
              <a:rPr sz="6400" b="1" i="0">
                <a:solidFill>
                  <a:srgbClr val="F2C94C"/>
                </a:solidFill>
                <a:latin typeface="Microsoft YaHei"/>
                <a:ea typeface="Microsoft YaHei"/>
              </a:rPr>
              <a:t>武功秘籍</a:t>
            </a:r>
            <a:r>
              <a:rPr sz="6400" b="1" i="0">
                <a:solidFill>
                  <a:srgbClr val="F2C94C"/>
                </a:solidFill>
                <a:latin typeface="Microsoft YaHei"/>
                <a:ea typeface="Microsoft YaHei"/>
              </a:rPr>
              <a:t>」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4BC8E9"/>
                </a:solidFill>
                <a:latin typeface="Microsoft YaHei"/>
                <a:ea typeface="Microsoft YaHei"/>
              </a:rPr>
              <a:t>刘慈欣  ·  安迪 · 威尔  ·  特德 · 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5212080"/>
            <a:ext cx="64008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600200" y="5029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CBD5E0"/>
                </a:solidFill>
                <a:latin typeface="Microsoft YaHei"/>
                <a:ea typeface="Microsoft YaHei"/>
              </a:rPr>
              <a:t>—— 看懂科幻，写出自己的第一个故事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A99B3"/>
                </a:solidFill>
                <a:latin typeface="Microsoft YaHei"/>
                <a:ea typeface="Microsoft YaHei"/>
              </a:rPr>
              <a:t>主讲：六年级  ·  深圳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55678" y="6175190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4733" y="5443358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67226" y="138262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88266" y="4159704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34440" y="2898269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19368" y="237159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4535" y="575976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78744" y="155437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66572" y="3324159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32902" y="2903373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28362" y="2304957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42253" y="2605150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84474" y="162813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06101" y="541746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68875" y="3003540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32583" y="144512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88412" y="4015556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97701" y="5207251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01910" y="1353958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88925" y="4060634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50552" y="591345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6370" y="4253773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0559" y="596679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11012" y="159510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56082" y="4671073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7744" y="1119821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0730" y="621906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92908" y="13776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16168" y="1023641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00701" y="28119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开场 · 我们今天要认识谁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02 / 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今天的三位主角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三位站在科幻顶端的「武林高手」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8007" y="20116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0254F"/>
          </a:solidFill>
          <a:ln w="1587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8007" y="2011680"/>
            <a:ext cx="3566160" cy="164592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569567" y="2514600"/>
            <a:ext cx="1463040" cy="1463040"/>
          </a:xfrm>
          <a:prstGeom prst="ellipse">
            <a:avLst/>
          </a:prstGeom>
          <a:solidFill>
            <a:srgbClr val="3B1E6E"/>
          </a:solidFill>
          <a:ln w="19050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69567" y="251460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 i="0">
                <a:solidFill>
                  <a:srgbClr val="F2C94C"/>
                </a:solidFill>
                <a:latin typeface="Microsoft YaHei"/>
                <a:ea typeface="Microsoft YaHei"/>
              </a:rPr>
              <a:t>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007" y="41148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4BC8E9"/>
                </a:solidFill>
                <a:latin typeface="Microsoft YaHei"/>
                <a:ea typeface="Microsoft YaHei"/>
              </a:rPr>
              <a:t>中国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8007" y="443484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5F7FA"/>
                </a:solidFill>
                <a:latin typeface="Microsoft YaHei"/>
                <a:ea typeface="Microsoft YaHei"/>
              </a:rPr>
              <a:t>刘慈欣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8007" y="50292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F2C94C"/>
                </a:solidFill>
                <a:latin typeface="Microsoft YaHei"/>
                <a:ea typeface="Microsoft YaHei"/>
              </a:rPr>
              <a:t>硬核宇宙派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327" y="5440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CBD5E0"/>
                </a:solidFill>
                <a:latin typeface="Microsoft YaHei"/>
                <a:ea typeface="Microsoft YaHei"/>
              </a:rPr>
              <a:t>《三体》《流浪地球》《球状闪电》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12767" y="20116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0254F"/>
          </a:solidFill>
          <a:ln w="1587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12767" y="2011680"/>
            <a:ext cx="3566160" cy="164592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364327" y="2514600"/>
            <a:ext cx="1463040" cy="1463040"/>
          </a:xfrm>
          <a:prstGeom prst="ellipse">
            <a:avLst/>
          </a:prstGeom>
          <a:solidFill>
            <a:srgbClr val="3B1E6E"/>
          </a:solidFill>
          <a:ln w="1905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64327" y="251460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 i="0">
                <a:solidFill>
                  <a:srgbClr val="F2C94C"/>
                </a:solidFill>
                <a:latin typeface="Microsoft YaHei"/>
                <a:ea typeface="Microsoft YaHei"/>
              </a:rPr>
              <a:t>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12767" y="41148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美国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2767" y="443484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5F7FA"/>
                </a:solidFill>
                <a:latin typeface="Microsoft YaHei"/>
                <a:ea typeface="Microsoft YaHei"/>
              </a:rPr>
              <a:t>安迪 · 威尔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2767" y="50292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F2C94C"/>
                </a:solidFill>
                <a:latin typeface="Microsoft YaHei"/>
                <a:ea typeface="Microsoft YaHei"/>
              </a:rPr>
              <a:t>理科解谜派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87087" y="5440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CBD5E0"/>
                </a:solidFill>
                <a:latin typeface="Microsoft YaHei"/>
                <a:ea typeface="Microsoft YaHei"/>
              </a:rPr>
              <a:t>《火星救援》《挽救计划》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07527" y="20116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0254F"/>
          </a:solidFill>
          <a:ln w="15875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07527" y="2011680"/>
            <a:ext cx="3566160" cy="164592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159087" y="2514600"/>
            <a:ext cx="1463040" cy="1463040"/>
          </a:xfrm>
          <a:prstGeom prst="ellipse">
            <a:avLst/>
          </a:prstGeom>
          <a:solidFill>
            <a:srgbClr val="3B1E6E"/>
          </a:solidFill>
          <a:ln w="19050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59087" y="251460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 i="0">
                <a:solidFill>
                  <a:srgbClr val="F2C94C"/>
                </a:solidFill>
                <a:latin typeface="Microsoft YaHei"/>
                <a:ea typeface="Microsoft YaHei"/>
              </a:rPr>
              <a:t>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07527" y="41148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E94B7B"/>
                </a:solidFill>
                <a:latin typeface="Microsoft YaHei"/>
                <a:ea typeface="Microsoft YaHei"/>
              </a:rPr>
              <a:t>美籍华裔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07527" y="443484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5F7FA"/>
                </a:solidFill>
                <a:latin typeface="Microsoft YaHei"/>
                <a:ea typeface="Microsoft YaHei"/>
              </a:rPr>
              <a:t>特德 · 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07527" y="50292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F2C94C"/>
                </a:solidFill>
                <a:latin typeface="Microsoft YaHei"/>
                <a:ea typeface="Microsoft YaHei"/>
              </a:rPr>
              <a:t>哲思软科幻派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1847" y="5440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CBD5E0"/>
                </a:solidFill>
                <a:latin typeface="Microsoft YaHei"/>
                <a:ea typeface="Microsoft YaHei"/>
              </a:rPr>
              <a:t>《你一生的故事》《呼吸》《巴比伦塔》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01192" y="354570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8591" y="42692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61965" y="1526689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95388" y="3580902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27522" y="987834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37116" y="437431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44111" y="3851072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40720" y="1755374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06448" y="6001049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53936" y="87399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7518" y="3224214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96996" y="5571880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98310" y="347973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23752" y="4443181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081843" y="4373414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60510" y="589418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02639" y="137550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74114" y="413452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9185" y="5215958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5362" y="2782871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目录 · 今天聊什么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03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我们的飞行路线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听完之后，你也能写出自己的第一个科幻段落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887" y="210312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8087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4BC8E9"/>
                </a:solidFill>
                <a:latin typeface="Microsoft YaHei"/>
                <a:ea typeface="Microsoft YaHei"/>
              </a:rPr>
              <a:t>PART 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8087" y="288036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5F7FA"/>
                </a:solidFill>
                <a:latin typeface="Microsoft YaHei"/>
                <a:ea typeface="Microsoft YaHei"/>
              </a:rPr>
              <a:t>科幻小说说明书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8087" y="3794760"/>
            <a:ext cx="1097280" cy="28575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8087" y="406908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1.  科幻小说的三大种类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8087" y="461772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2.  故事的四块积木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8087" y="516636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3.  让人拍大腿的有趣设定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8727" y="210312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5927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PART 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5927" y="288036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5F7FA"/>
                </a:solidFill>
                <a:latin typeface="Microsoft YaHei"/>
                <a:ea typeface="Microsoft YaHei"/>
              </a:rPr>
              <a:t>三位大师的写作秘诀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35927" y="3794760"/>
            <a:ext cx="1097280" cy="28575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5927" y="406908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1.  刘慈欣  ——  追问「然后呢？」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5927" y="461772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2.  安迪 · 威尔  ——  让主角列清单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5927" y="516636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3.  特德 · 姜  ——  从一道人生选择题出发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E6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15273" y="3646973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91445" y="382687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79338" y="5166323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98975" y="590727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59380" y="2581021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96992" y="5418619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667" y="5730453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86460" y="2125833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9002" y="417156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76382" y="2979549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163120" y="648703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43763" y="1496296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6143" y="4992442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21289" y="251817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02947" y="6039772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7532" y="4618548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03446" y="1293183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07294" y="2027561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1798" y="76872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3560" y="3029129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15680" y="1227350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12250" y="5013512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0429" y="274126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89258" y="6325699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166137" y="127896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140925" y="3922210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3365" y="95354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738" y="3976381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4852" y="587122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9081" y="2401955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51040" y="3826131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64416" y="119114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075225" y="5328061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2087" y="4097849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75377" y="2529226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38277" y="676525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06587" y="459040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42516" y="3886037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328964" y="6366413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43478" y="4257667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16349" y="5976693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3108" y="2680485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8110" y="1837009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23978" y="901743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09115" y="4503377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91583" y="6017264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46012" y="6272549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79270" y="4759267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183863" y="490345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985346" y="5864866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71265" y="5961333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53090" y="5869036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527195" y="3731898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622803" y="8109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05158" y="75301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878078" y="2530701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70715" y="546206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782290" y="57158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672277" y="735456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119004" y="73667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67639" y="1319792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046396" y="2879234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934675" y="1632679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798632" y="4916487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686715" y="3799001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660220" y="3234532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582112" y="1803353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494180" y="1792713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663909" y="3387691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732625" y="5485076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905563" y="5399241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269074" y="1831201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15901" y="3674770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939941" y="1237337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500430" y="5191539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443357" y="4104279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685259" y="4459538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121588" y="4653233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183518" y="177441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797629" y="515951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2960" y="137160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0" b="1" i="0">
                <a:solidFill>
                  <a:srgbClr val="F2C94C"/>
                </a:solidFill>
                <a:latin typeface="Calibri"/>
                <a:ea typeface="Calibri"/>
              </a:rPr>
              <a:t>PART 01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4BC8E9"/>
                </a:solidFill>
                <a:latin typeface="Microsoft YaHei"/>
                <a:ea typeface="Microsoft YaHei"/>
              </a:rPr>
              <a:t>PART 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" y="3703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 i="0">
                <a:solidFill>
                  <a:srgbClr val="F5F7FA"/>
                </a:solidFill>
                <a:latin typeface="Microsoft YaHei"/>
                <a:ea typeface="Microsoft YaHei"/>
              </a:rPr>
              <a:t>科幻小说说明书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" y="480060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1732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CBD5E0"/>
                </a:solidFill>
                <a:latin typeface="Microsoft YaHei"/>
                <a:ea typeface="Microsoft YaHei"/>
              </a:rPr>
              <a:t>种类 · 骨架 · 设定——三块拼图拼出科幻全图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04 / 27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77826" y="672137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89374" y="433352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58870" y="498511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73230" y="112492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13904" y="6042596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58815" y="1260252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43895" y="476836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99412" y="2198210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67563" y="3085472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918" y="1902029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9094" y="3312096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01758" y="280828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19827" y="5294120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4743" y="408073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44899" y="945098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9997" y="5951751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68624" y="2318272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34803" y="1294629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34029" y="461374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89159" y="608888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三大种类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05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科幻小说的三大种类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硬一点、软一点、再灾难一点——你最爱哪一种？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8007" y="20116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3767" y="22860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 i="0">
                <a:solidFill>
                  <a:srgbClr val="4BC8E9"/>
                </a:solidFill>
                <a:latin typeface="Calibri"/>
                <a:ea typeface="Calibri"/>
              </a:rP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767" y="34290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5F7FA"/>
                </a:solidFill>
                <a:latin typeface="Microsoft YaHei"/>
                <a:ea typeface="Microsoft YaHei"/>
              </a:rPr>
              <a:t>硬科幻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767" y="40233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BC8E9"/>
                </a:solidFill>
                <a:latin typeface="Microsoft YaHei"/>
                <a:ea typeface="Microsoft YaHei"/>
              </a:rPr>
              <a:t>科学迷的游乐园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3767" y="4434840"/>
            <a:ext cx="914400" cy="1905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3767" y="46177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靠物理、化学、天文知识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一步步算出活下来的方法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767" y="56235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A99B3"/>
                </a:solidFill>
                <a:latin typeface="Microsoft YaHei"/>
                <a:ea typeface="Microsoft YaHei"/>
              </a:rPr>
              <a:t>代表大师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767" y="58521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刘慈欣 · 安迪 · 威尔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12767" y="20116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78527" y="22860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 i="0">
                <a:solidFill>
                  <a:srgbClr val="E94B7B"/>
                </a:solidFill>
                <a:latin typeface="Calibri"/>
                <a:ea typeface="Calibri"/>
              </a:rP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8527" y="34290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5F7FA"/>
                </a:solidFill>
                <a:latin typeface="Microsoft YaHei"/>
                <a:ea typeface="Microsoft YaHei"/>
              </a:rPr>
              <a:t>软科幻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8527" y="40233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E94B7B"/>
                </a:solidFill>
                <a:latin typeface="Microsoft YaHei"/>
                <a:ea typeface="Microsoft YaHei"/>
              </a:rPr>
              <a:t>情感与哲思的茶馆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78527" y="4434840"/>
            <a:ext cx="914400" cy="1905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8527" y="46177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科学只是背景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重点是人的感情、选择和命运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8527" y="56235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A99B3"/>
                </a:solidFill>
                <a:latin typeface="Microsoft YaHei"/>
                <a:ea typeface="Microsoft YaHei"/>
              </a:rPr>
              <a:t>代表大师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8527" y="58521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特德 · 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7527" y="20116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73287" y="22860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 i="0">
                <a:solidFill>
                  <a:srgbClr val="F2C94C"/>
                </a:solidFill>
                <a:latin typeface="Calibri"/>
                <a:ea typeface="Calibri"/>
              </a:rPr>
              <a:t>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3287" y="34290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5F7FA"/>
                </a:solidFill>
                <a:latin typeface="Microsoft YaHei"/>
                <a:ea typeface="Microsoft YaHei"/>
              </a:rPr>
              <a:t>灾难科幻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3287" y="40233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F2C94C"/>
                </a:solidFill>
                <a:latin typeface="Microsoft YaHei"/>
                <a:ea typeface="Microsoft YaHei"/>
              </a:rPr>
              <a:t>末日生存指南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73287" y="4434840"/>
            <a:ext cx="914400" cy="1905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73287" y="46177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地球或人类遭遇大麻烦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看人类怎么用智慧团结活下去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73287" y="56235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A99B3"/>
                </a:solidFill>
                <a:latin typeface="Microsoft YaHei"/>
                <a:ea typeface="Microsoft YaHei"/>
              </a:rPr>
              <a:t>代表大师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73287" y="58521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刘慈欣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94227" y="4832816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5267" y="505544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3504" y="737548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42084" y="664373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14368" y="2659144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45845" y="5193492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44678" y="11563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31418" y="625532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7120" y="626412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14848" y="6310244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42743" y="235318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16314" y="2162065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65993" y="461058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32335" y="1994039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52698" y="307863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23290" y="6117755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00530" y="117711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88532" y="548072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三大种类 · 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06 / 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400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4BC8E9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9601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8A99B3"/>
                </a:solidFill>
                <a:latin typeface="Calibri"/>
                <a:ea typeface="Calibri"/>
              </a:rPr>
              <a:t>HARD SCI-FI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123444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硬科幻 — 科学迷的游乐园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2240280"/>
            <a:ext cx="548640" cy="3810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21214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用真实的物理、化学、天文，一步步把人物从绝境救回来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834640"/>
            <a:ext cx="5349240" cy="3383280"/>
          </a:xfrm>
          <a:prstGeom prst="roundRect">
            <a:avLst>
              <a:gd name="adj" fmla="val 4000"/>
            </a:avLst>
          </a:prstGeom>
          <a:solidFill>
            <a:srgbClr val="10254F"/>
          </a:solidFill>
          <a:ln w="12700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4BC8E9"/>
                </a:solidFill>
                <a:latin typeface="Microsoft YaHei"/>
                <a:ea typeface="Microsoft YaHei"/>
              </a:rPr>
              <a:t>例子 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337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2C94C"/>
                </a:solidFill>
                <a:latin typeface="Microsoft YaHei"/>
                <a:ea typeface="Microsoft YaHei"/>
              </a:rPr>
              <a:t>安迪·威尔《火星救援》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02336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宇航员被困火星，靠：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用火箭燃料造水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精确计算土豆产量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每一次出舱都做好热量预算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每一步都像在做一道扎实的应用题。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34640"/>
            <a:ext cx="5349240" cy="3383280"/>
          </a:xfrm>
          <a:prstGeom prst="roundRect">
            <a:avLst>
              <a:gd name="adj" fmla="val 4000"/>
            </a:avLst>
          </a:prstGeom>
          <a:solidFill>
            <a:srgbClr val="10254F"/>
          </a:solidFill>
          <a:ln w="12700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4BC8E9"/>
                </a:solidFill>
                <a:latin typeface="Microsoft YaHei"/>
                <a:ea typeface="Microsoft YaHei"/>
              </a:rPr>
              <a:t>例子 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337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2C94C"/>
                </a:solidFill>
                <a:latin typeface="Microsoft YaHei"/>
                <a:ea typeface="Microsoft YaHei"/>
              </a:rPr>
              <a:t>刘慈欣《三体》· 水滴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02336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「水滴」探测器：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用强互作用力材料制造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表面光滑到分子都无法附着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一击就能贯穿整支舰队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听起来魔法，其实背后全是真实物理。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72160" y="5355112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8931" y="948455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71298" y="4787531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24651" y="5224559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01424" y="351327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69021" y="4557466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81875" y="397451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91313" y="606781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27893" y="610988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9311" y="297629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33723" y="542527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23176" y="159552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7063" y="779106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24287" y="431782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30487" y="145116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67920" y="5707127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01141" y="1101982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99866" y="4373951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三大种类 · 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07 / 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400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E94B7B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9601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8A99B3"/>
                </a:solidFill>
                <a:latin typeface="Calibri"/>
                <a:ea typeface="Calibri"/>
              </a:rPr>
              <a:t>SOFT SCI-FI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123444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软科幻 — 情感与哲思的茶馆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2240280"/>
            <a:ext cx="548640" cy="3810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21214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科学是背景；放在镜头中央的，是「人」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743200"/>
            <a:ext cx="10515600" cy="3520440"/>
          </a:xfrm>
          <a:prstGeom prst="roundRect">
            <a:avLst>
              <a:gd name="adj" fmla="val 3000"/>
            </a:avLst>
          </a:prstGeom>
          <a:solidFill>
            <a:srgbClr val="10254F"/>
          </a:solidFill>
          <a:ln w="12700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274320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0" b="1" i="0">
                <a:solidFill>
                  <a:srgbClr val="E94B7B"/>
                </a:solidFill>
                <a:latin typeface="Calibri"/>
                <a:ea typeface="Calibri"/>
              </a:rPr>
              <a:t>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06324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94B7B"/>
                </a:solidFill>
                <a:latin typeface="Microsoft YaHei"/>
                <a:ea typeface="Microsoft YaHei"/>
              </a:rPr>
              <a:t>代表大师 · 特德 · 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3383280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2C94C"/>
                </a:solidFill>
                <a:latin typeface="Microsoft YaHei"/>
                <a:ea typeface="Microsoft YaHei"/>
              </a:rPr>
              <a:t>《你一生的故事》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160520"/>
            <a:ext cx="8961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外星人的语言能让人同时看到过去和未来。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主角知道自己的女儿，将会早早离开这个世界。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可她依然选择，把这个孩子生下来，好好地爱她。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读完这本书，你会愣很久很久——这就是软科幻的力量。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48070" y="982797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3121" y="349132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0834" y="139878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8227" y="1567943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657" y="368398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35863" y="2584412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86688" y="867647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1877" y="3719559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6423" y="3721453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7843" y="4639472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46776" y="3234190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75736" y="3033442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4667" y="5175461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7951" y="1956153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93174" y="1875943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41328" y="107474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78145" y="2747406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1414" y="3733321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三大种类 · 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08 / 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400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F2C94C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9601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8A99B3"/>
                </a:solidFill>
                <a:latin typeface="Calibri"/>
                <a:ea typeface="Calibri"/>
              </a:rPr>
              <a:t>DISASTER SCI-FI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123444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5F7FA"/>
                </a:solidFill>
                <a:latin typeface="Microsoft YaHei"/>
                <a:ea typeface="Microsoft YaHei"/>
              </a:rPr>
              <a:t>未来 / 灾难科幻 — 末日生存指南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224028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21214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天塌下来了，怎么办？看人类靠智慧和团结活下去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834640"/>
            <a:ext cx="5349240" cy="3383280"/>
          </a:xfrm>
          <a:prstGeom prst="roundRect">
            <a:avLst>
              <a:gd name="adj" fmla="val 4000"/>
            </a:avLst>
          </a:prstGeom>
          <a:solidFill>
            <a:srgbClr val="10254F"/>
          </a:solidFill>
          <a:ln w="1270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C94C"/>
                </a:solidFill>
                <a:latin typeface="Microsoft YaHei"/>
                <a:ea typeface="Microsoft YaHei"/>
              </a:rPr>
              <a:t>例子 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337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5F7FA"/>
                </a:solidFill>
                <a:latin typeface="Microsoft YaHei"/>
                <a:ea typeface="Microsoft YaHei"/>
              </a:rPr>
              <a:t>刘慈欣《流浪地球》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02336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太阳即将爆炸——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人类不逃命，也不躲避，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而是给整个地球装上行星发动机，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带着家园一起逃跑。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这就是中国式浪漫的灾难想象。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34640"/>
            <a:ext cx="5349240" cy="3383280"/>
          </a:xfrm>
          <a:prstGeom prst="roundRect">
            <a:avLst>
              <a:gd name="adj" fmla="val 4000"/>
            </a:avLst>
          </a:prstGeom>
          <a:solidFill>
            <a:srgbClr val="10254F"/>
          </a:solidFill>
          <a:ln w="1270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C94C"/>
                </a:solidFill>
                <a:latin typeface="Microsoft YaHei"/>
                <a:ea typeface="Microsoft YaHei"/>
              </a:rPr>
              <a:t>例子 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337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5F7FA"/>
                </a:solidFill>
                <a:latin typeface="Microsoft YaHei"/>
                <a:ea typeface="Microsoft YaHei"/>
              </a:rPr>
              <a:t>刘慈欣《三体》· 三部曲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02336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外星人即将入侵，人类绞尽脑汁：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面壁计划：四个人独自构思方案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黑暗森林威慑：以同归于尽逼和平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曲率飞船：直接折叠空间逃走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每一种应对，都是一次脑洞大开的极限思考。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63928" y="626944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2912" y="55499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85336" y="197366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60588" y="3733966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14184" y="4945119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41849" y="3090261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82632" y="633054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60898" y="2457529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26140" y="4503892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89916" y="926043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57676" y="1262978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87031" y="573954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381" y="277621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640" y="2044351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39998" y="1287697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5995" y="332133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96411" y="591508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79628" y="219256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37430" y="4595724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5316" y="757459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类型小提醒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09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一个温柔的小提醒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再「硬」的科幻，最后打动你的，永远是「人」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2377440"/>
            <a:ext cx="9601200" cy="3566160"/>
          </a:xfrm>
          <a:prstGeom prst="roundRect">
            <a:avLst>
              <a:gd name="adj" fmla="val 3000"/>
            </a:avLst>
          </a:prstGeom>
          <a:solidFill>
            <a:srgbClr val="10254F"/>
          </a:solidFill>
          <a:ln w="1587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228600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 i="0">
                <a:solidFill>
                  <a:srgbClr val="F2C94C"/>
                </a:solidFill>
                <a:latin typeface="Calibri"/>
                <a:ea typeface="Calibri"/>
              </a:rPr>
              <a:t>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2834640"/>
            <a:ext cx="8046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F5F7FA"/>
                </a:solidFill>
                <a:latin typeface="Microsoft YaHei"/>
                <a:ea typeface="Microsoft YaHei"/>
              </a:rPr>
              <a:t>很多书是 </a:t>
            </a:r>
            <a:r>
              <a:rPr sz="2200" b="1" i="0">
                <a:solidFill>
                  <a:srgbClr val="F2C94C"/>
                </a:solidFill>
                <a:latin typeface="Microsoft YaHei"/>
                <a:ea typeface="Microsoft YaHei"/>
              </a:rPr>
              <a:t>混搭</a:t>
            </a:r>
            <a:r>
              <a:rPr sz="2200" b="0" i="0">
                <a:solidFill>
                  <a:srgbClr val="F5F7FA"/>
                </a:solidFill>
                <a:latin typeface="Microsoft YaHei"/>
                <a:ea typeface="Microsoft YaHei"/>
              </a:rPr>
              <a:t> 的——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CBD5E0"/>
                </a:solidFill>
                <a:latin typeface="Microsoft YaHei"/>
                <a:ea typeface="Microsoft YaHei"/>
              </a:rPr>
              <a:t>比如《三体》既是 </a:t>
            </a:r>
            <a:r>
              <a:rPr sz="1800" b="1" i="0">
                <a:solidFill>
                  <a:srgbClr val="4BC8E9"/>
                </a:solidFill>
                <a:latin typeface="Microsoft YaHei"/>
                <a:ea typeface="Microsoft YaHei"/>
              </a:rPr>
              <a:t>硬科幻</a:t>
            </a:r>
            <a:r>
              <a:rPr sz="1800" b="0" i="0">
                <a:solidFill>
                  <a:srgbClr val="CBD5E0"/>
                </a:solidFill>
                <a:latin typeface="Microsoft YaHei"/>
                <a:ea typeface="Microsoft YaHei"/>
              </a:rPr>
              <a:t> ，又是 </a:t>
            </a:r>
            <a:r>
              <a:rPr sz="1800" b="1" i="0">
                <a:solidFill>
                  <a:srgbClr val="F2C94C"/>
                </a:solidFill>
                <a:latin typeface="Microsoft YaHei"/>
                <a:ea typeface="Microsoft YaHei"/>
              </a:rPr>
              <a:t>灾难科幻</a:t>
            </a:r>
            <a:r>
              <a:rPr sz="1800" b="0" i="0">
                <a:solidFill>
                  <a:srgbClr val="CBD5E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CBD5E0"/>
                </a:solidFill>
                <a:latin typeface="Microsoft YaHei"/>
                <a:ea typeface="Microsoft YaHei"/>
              </a:rPr>
              <a:t>但不管哪一类，最打动人的永远是里面</a:t>
            </a:r>
          </a:p>
          <a:p>
            <a:pPr algn="l">
              <a:lnSpc>
                <a:spcPct val="140000"/>
              </a:lnSpc>
            </a:pPr>
            <a:r>
              <a:rPr sz="2400" b="1" i="0">
                <a:solidFill>
                  <a:srgbClr val="E94B7B"/>
                </a:solidFill>
                <a:latin typeface="Microsoft YaHei"/>
                <a:ea typeface="Microsoft YaHei"/>
              </a:rPr>
              <a:t>「</a:t>
            </a:r>
            <a:r>
              <a:rPr sz="2400" b="1" i="0">
                <a:solidFill>
                  <a:srgbClr val="E94B7B"/>
                </a:solidFill>
                <a:latin typeface="Microsoft YaHei"/>
                <a:ea typeface="Microsoft YaHei"/>
              </a:rPr>
              <a:t>人</a:t>
            </a:r>
            <a:r>
              <a:rPr sz="2400" b="1" i="0">
                <a:solidFill>
                  <a:srgbClr val="E94B7B"/>
                </a:solidFill>
                <a:latin typeface="Microsoft YaHei"/>
                <a:ea typeface="Microsoft YaHei"/>
              </a:rPr>
              <a:t>」</a:t>
            </a:r>
            <a:r>
              <a:rPr sz="1800" b="0" i="0">
                <a:solidFill>
                  <a:srgbClr val="CBD5E0"/>
                </a:solidFill>
                <a:latin typeface="Microsoft YaHei"/>
                <a:ea typeface="Microsoft YaHei"/>
              </a:rPr>
              <a:t> 的情感——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CBD5E0"/>
                </a:solidFill>
                <a:latin typeface="Microsoft YaHei"/>
                <a:ea typeface="Microsoft YaHei"/>
              </a:rPr>
              <a:t>硬如刘慈欣，写到最后，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CBD5E0"/>
                </a:solidFill>
                <a:latin typeface="Microsoft YaHei"/>
                <a:ea typeface="Microsoft YaHei"/>
              </a:rPr>
              <a:t>也是人类紧紧握住爱人的手。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44844" y="243216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4857" y="41925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51774" y="526515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77897" y="1103750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16012" y="1550673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72277" y="6018843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38925" y="2499614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03624" y="133533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45439" y="503343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8114" y="5274043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21049" y="356958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6386" y="1542341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52947" y="25243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15266" y="1322911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23731" y="5978630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85574" y="350243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9034" y="125197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03740" y="3966968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91690" y="4451279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83845" y="374801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故事的骨架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10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科幻故事的「四块积木」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几乎每一个科幻故事，都由这四块拼成（以《火星救援》为例）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3999" y="201168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10254F"/>
          </a:solidFill>
          <a:ln w="1587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8319" y="2286000"/>
            <a:ext cx="640080" cy="640080"/>
          </a:xfrm>
          <a:prstGeom prst="ellipse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8319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0B1A3A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59839" y="2240280"/>
            <a:ext cx="1371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4BC8E9"/>
                </a:solidFill>
                <a:latin typeface="Calibri"/>
                <a:ea typeface="Calibri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319" y="32004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Microsoft YaHei"/>
                <a:ea typeface="Microsoft YaHei"/>
              </a:rPr>
              <a:t>一个假设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319" y="3886199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4BC8E9"/>
                </a:solidFill>
                <a:latin typeface="Microsoft YaHei"/>
                <a:ea typeface="Microsoft YaHei"/>
              </a:rPr>
              <a:t>如果……会怎样？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8319" y="4754880"/>
            <a:ext cx="914400" cy="1905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319" y="48920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8A99B3"/>
                </a:solidFill>
                <a:latin typeface="Microsoft YaHei"/>
                <a:ea typeface="Microsoft YaHei"/>
              </a:rPr>
              <a:t>《火星救援》中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319" y="516636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如果一个人被独自丢在火星？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6071" y="201168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10254F"/>
          </a:solidFill>
          <a:ln w="15875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90391" y="2286000"/>
            <a:ext cx="640080" cy="640080"/>
          </a:xfrm>
          <a:prstGeom prst="ellipse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90391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0B1A3A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1911" y="2240280"/>
            <a:ext cx="1371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E94B7B"/>
                </a:solidFill>
                <a:latin typeface="Calibri"/>
                <a:ea typeface="Calibri"/>
              </a:rP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0391" y="32004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Microsoft YaHei"/>
                <a:ea typeface="Microsoft YaHei"/>
              </a:rPr>
              <a:t>一个麻烦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0391" y="3886199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E94B7B"/>
                </a:solidFill>
                <a:latin typeface="Microsoft YaHei"/>
                <a:ea typeface="Microsoft YaHei"/>
              </a:rPr>
              <a:t>假设带来的大问题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90391" y="4754880"/>
            <a:ext cx="914400" cy="1905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90391" y="48920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8A99B3"/>
                </a:solidFill>
                <a:latin typeface="Microsoft YaHei"/>
                <a:ea typeface="Microsoft YaHei"/>
              </a:rPr>
              <a:t>《火星救援》中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0391" y="516636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食物撑不到救援，无法和地球联系。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8143" y="201168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10254F"/>
          </a:solidFill>
          <a:ln w="1587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52463" y="2286000"/>
            <a:ext cx="640080" cy="64008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2463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0B1A3A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83983" y="2240280"/>
            <a:ext cx="1371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F2C94C"/>
                </a:solidFill>
                <a:latin typeface="Calibri"/>
                <a:ea typeface="Calibri"/>
              </a:rPr>
              <a:t>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52463" y="32004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Microsoft YaHei"/>
                <a:ea typeface="Microsoft YaHei"/>
              </a:rPr>
              <a:t>一个英雄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2463" y="3886199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F2C94C"/>
                </a:solidFill>
                <a:latin typeface="Microsoft YaHei"/>
                <a:ea typeface="Microsoft YaHei"/>
              </a:rPr>
              <a:t>不一定有超能力，</a:t>
            </a:r>
          </a:p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F2C94C"/>
                </a:solidFill>
                <a:latin typeface="Microsoft YaHei"/>
                <a:ea typeface="Microsoft YaHei"/>
              </a:rPr>
              <a:t>但一定要动脑子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52463" y="4754880"/>
            <a:ext cx="914400" cy="1905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52463" y="48920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8A99B3"/>
                </a:solidFill>
                <a:latin typeface="Microsoft YaHei"/>
                <a:ea typeface="Microsoft YaHei"/>
              </a:rPr>
              <a:t>《火星救援》中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2463" y="516636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宇航员马克——一位植物学专家。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40215" y="201168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10254F"/>
          </a:solidFill>
          <a:ln w="1587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314535" y="2286000"/>
            <a:ext cx="640080" cy="640080"/>
          </a:xfrm>
          <a:prstGeom prst="ellipse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14535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0B1A3A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46055" y="2240280"/>
            <a:ext cx="1371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4BC8E9"/>
                </a:solidFill>
                <a:latin typeface="Calibri"/>
                <a:ea typeface="Calibr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14535" y="32004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Microsoft YaHei"/>
                <a:ea typeface="Microsoft YaHei"/>
              </a:rPr>
              <a:t>一个结局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14535" y="3886199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4BC8E9"/>
                </a:solidFill>
                <a:latin typeface="Microsoft YaHei"/>
                <a:ea typeface="Microsoft YaHei"/>
              </a:rPr>
              <a:t>问题解决了吗？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14535" y="4754880"/>
            <a:ext cx="914400" cy="1905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14535" y="48920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8A99B3"/>
                </a:solidFill>
                <a:latin typeface="Microsoft YaHei"/>
                <a:ea typeface="Microsoft YaHei"/>
              </a:rPr>
              <a:t>《火星救援》中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14535" y="516636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成功获救：靠科学计算 + 一点点运气。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66366" y="2794255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12686" y="529886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9437" y="319295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1360" y="4857311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25342" y="903574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35922" y="5386998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29530" y="197476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70731" y="5603306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7493" y="28836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33352" y="6130723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2664" y="1564811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15956" y="423443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90618" y="1019084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06183" y="206832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4070" y="5571229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15561" y="2437786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6633" y="5052542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28256" y="526061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31876" y="2903175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49669" y="339995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故事的骨架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11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5F7FA"/>
                </a:solidFill>
                <a:latin typeface="Microsoft YaHei"/>
                <a:ea typeface="Microsoft YaHei"/>
              </a:rPr>
              <a:t>再用一次：拆解《你一生的故事》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同样的四块积木，也能拼出特德 · 姜的「软」故事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19456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10254F"/>
          </a:solidFill>
          <a:ln w="952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2194560"/>
            <a:ext cx="164592" cy="82296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21945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4BC8E9"/>
                </a:solidFill>
                <a:latin typeface="Microsoft YaHei"/>
                <a:ea typeface="Microsoft YaHei"/>
              </a:rPr>
              <a:t>①  假设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19456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如果学会一种外星语言，就能预知未来？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15468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10254F"/>
          </a:solidFill>
          <a:ln w="9525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3154680"/>
            <a:ext cx="164592" cy="82296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315468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94B7B"/>
                </a:solidFill>
                <a:latin typeface="Microsoft YaHei"/>
                <a:ea typeface="Microsoft YaHei"/>
              </a:rPr>
              <a:t>②  麻烦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315468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你将提前看到自己人生中所有的不幸。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11480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10254F"/>
          </a:solidFill>
          <a:ln w="952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4114800"/>
            <a:ext cx="164592" cy="82296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411480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F2C94C"/>
                </a:solidFill>
                <a:latin typeface="Microsoft YaHei"/>
                <a:ea typeface="Microsoft YaHei"/>
              </a:rPr>
              <a:t>③  英雄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1148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一位语言学家——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她的勇气，是「明知结局，仍然拥抱现在」。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07492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10254F"/>
          </a:solidFill>
          <a:ln w="952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" y="5074920"/>
            <a:ext cx="164592" cy="82296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50749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4BC8E9"/>
                </a:solidFill>
                <a:latin typeface="Microsoft YaHei"/>
                <a:ea typeface="Microsoft YaHei"/>
              </a:rPr>
              <a:t>④  结局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507492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她选择生下女儿，全心全意爱她，然后温柔地目送她离去。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F2C94C"/>
                </a:solidFill>
                <a:latin typeface="Microsoft YaHei"/>
                <a:ea typeface="Microsoft YaHei"/>
              </a:rPr>
              <a:t>★ 以后读科幻，试着找出这四块积木——故事一下就清晰啦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15273" y="3646973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191445" y="382687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79338" y="5166323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98975" y="590727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59380" y="2581021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96992" y="5418619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667" y="5730453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86460" y="2125833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9002" y="417156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76382" y="2979549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163120" y="648703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43763" y="1496296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6143" y="4992442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21289" y="251817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602947" y="6039772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7532" y="4618548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03446" y="1293183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07294" y="2027561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41798" y="76872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3560" y="3029129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15680" y="1227350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012250" y="5013512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0429" y="274126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89258" y="6325699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166137" y="127896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拍大腿的设定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12 / 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让人拍大腿的有趣设定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三位大师，三种「我怎么没想到」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8007" y="219456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2700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8007" y="2194560"/>
            <a:ext cx="3566160" cy="146304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8007" y="2743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4BC8E9"/>
                </a:solidFill>
                <a:latin typeface="Microsoft YaHei"/>
                <a:ea typeface="Microsoft YaHei"/>
              </a:rPr>
              <a:t>大师 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007" y="32004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5F7FA"/>
                </a:solidFill>
                <a:latin typeface="Microsoft YaHei"/>
                <a:ea typeface="Microsoft YaHei"/>
              </a:rPr>
              <a:t>刘慈欣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43887" y="4160520"/>
            <a:ext cx="914400" cy="1905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327" y="443484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把宇宙变成黑暗森林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007" y="5623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2C94C"/>
                </a:solidFill>
                <a:latin typeface="Microsoft YaHei"/>
                <a:ea typeface="Microsoft YaHei"/>
              </a:rPr>
              <a:t>下一页详细看 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12767" y="219456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270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12767" y="2194560"/>
            <a:ext cx="3566160" cy="146304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2767" y="2743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2C94C"/>
                </a:solidFill>
                <a:latin typeface="Microsoft YaHei"/>
                <a:ea typeface="Microsoft YaHei"/>
              </a:rPr>
              <a:t>大师 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2767" y="32004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5F7FA"/>
                </a:solidFill>
                <a:latin typeface="Microsoft YaHei"/>
                <a:ea typeface="Microsoft YaHei"/>
              </a:rPr>
              <a:t>安迪 · 威尔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38647" y="4160520"/>
            <a:ext cx="914400" cy="1905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87087" y="443484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在火星种土豆给自己吃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2767" y="5623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2C94C"/>
                </a:solidFill>
                <a:latin typeface="Microsoft YaHei"/>
                <a:ea typeface="Microsoft YaHei"/>
              </a:rPr>
              <a:t>下一页详细看 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07527" y="219456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2700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07527" y="2194560"/>
            <a:ext cx="3566160" cy="146304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07527" y="2743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E94B7B"/>
                </a:solidFill>
                <a:latin typeface="Microsoft YaHei"/>
                <a:ea typeface="Microsoft YaHei"/>
              </a:rPr>
              <a:t>大师 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7527" y="32004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5F7FA"/>
                </a:solidFill>
                <a:latin typeface="Microsoft YaHei"/>
                <a:ea typeface="Microsoft YaHei"/>
              </a:rPr>
              <a:t>特德 · 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33407" y="4160520"/>
            <a:ext cx="914400" cy="1905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1847" y="443484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一种语言能让你看到一生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7527" y="5623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2C94C"/>
                </a:solidFill>
                <a:latin typeface="Microsoft YaHei"/>
                <a:ea typeface="Microsoft YaHei"/>
              </a:rPr>
              <a:t>下一页详细看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57752" y="4464524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49103" y="434026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87517" y="3461568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433" y="822835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106050" y="5436078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74794" y="4852121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37038" y="1524714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77315" y="5789509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88633" y="2254089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23518" y="3610840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68974" y="474917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5916" y="116888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4491" y="170540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41677" y="3760532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92654" y="5776425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98347" y="2803974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0966" y="468358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28118" y="5251791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拍大腿的设定 ·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13 / 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5F7FA"/>
                </a:solidFill>
                <a:latin typeface="Microsoft YaHei"/>
                <a:ea typeface="Microsoft YaHei"/>
              </a:rPr>
              <a:t>刘慈欣 的「世界观工具箱」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CBD5E0"/>
                </a:solidFill>
                <a:latin typeface="Microsoft YaHei"/>
                <a:ea typeface="Microsoft YaHei"/>
              </a:rPr>
              <a:t>硬核宇宙派 · 设定一出，世界观秒变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011680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2011680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4BC8E9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2240280"/>
            <a:ext cx="19050" cy="86868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217627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2C94C"/>
                </a:solidFill>
                <a:latin typeface="Microsoft YaHei"/>
                <a:ea typeface="Microsoft YaHei"/>
              </a:rPr>
              <a:t>黑暗森林法则（《三体》）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2578608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宇宙像一片黑暗森林，每个文明都是带枪的猎人——谁先暴露，谁就被消灭。读完之后，你也许会忍不住，抬头看看窗外的星空。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502152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502152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4BC8E9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3730752"/>
            <a:ext cx="19050" cy="86868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80" y="3666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2C94C"/>
                </a:solidFill>
                <a:latin typeface="Microsoft YaHei"/>
                <a:ea typeface="Microsoft YaHei"/>
              </a:rPr>
              <a:t>思想钢印（《三体》）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069080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给士兵注射一种东西，让他坚信「人类必胜」。哪怕面对无法战胜的敌人，他也会冲锋。问题是：如果活下去需要自我欺骗，你愿意吗？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992624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992624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4BC8E9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5221224"/>
            <a:ext cx="19050" cy="86868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80" y="5157216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2C94C"/>
                </a:solidFill>
                <a:latin typeface="Microsoft YaHei"/>
                <a:ea typeface="Microsoft YaHei"/>
              </a:rPr>
              <a:t>球状闪电（《球状闪电》）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55955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球状闪电其实是宏观的「电子」；被它击中的人会以量子态存在——生与死同时发生。主角的父母没有真的离开，只是「坍缩」到了另一个状态。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2420" y="4577414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05354" y="1666403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27621" y="1973996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01206" y="592172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16697" y="2056543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05552" y="4115353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21679" y="4326020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45306" y="801528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446" y="1331827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11236" y="6087096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38416" y="4475114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09111" y="616800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01886" y="4066185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01701" y="667328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21827" y="182405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88324" y="3425408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57346" y="4465267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49256" y="3158982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拍大腿的设定 ·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14 / 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5F7FA"/>
                </a:solidFill>
                <a:latin typeface="Microsoft YaHei"/>
                <a:ea typeface="Microsoft YaHei"/>
              </a:rPr>
              <a:t>安迪 · 威尔 的「世界观工具箱」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CBD5E0"/>
                </a:solidFill>
                <a:latin typeface="Microsoft YaHei"/>
                <a:ea typeface="Microsoft YaHei"/>
              </a:rPr>
              <a:t>理科解谜派 · 用真实科学撑起每一步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011680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2011680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F2C94C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2240280"/>
            <a:ext cx="19050" cy="868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217627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2C94C"/>
                </a:solidFill>
                <a:latin typeface="Microsoft YaHei"/>
                <a:ea typeface="Microsoft YaHei"/>
              </a:rPr>
              <a:t>火星种土豆（《火星救援》）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2578608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一个人，用粪便当肥料、用火箭燃料造水，在火星大棚里种出了能救自己命的土豆。这不是魔法，是一道道步步可算的科学题。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502152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502152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F2C94C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3730752"/>
            <a:ext cx="19050" cy="868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80" y="3666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2C94C"/>
                </a:solidFill>
                <a:latin typeface="Microsoft YaHei"/>
                <a:ea typeface="Microsoft YaHei"/>
              </a:rPr>
              <a:t>跨物种的语言破译（《挽救计划》）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069080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人类遇到外星蜘蛛「洛基」，对方只会「敲—敲—敲」。主角用质数数列当翻译机，两个完全不同的生物，硬是从零开始学会了交流。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992624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992624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F2C94C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5221224"/>
            <a:ext cx="19050" cy="8686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80" y="5157216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2C94C"/>
                </a:solidFill>
                <a:latin typeface="Microsoft YaHei"/>
                <a:ea typeface="Microsoft YaHei"/>
              </a:rPr>
              <a:t>我超爱这个设定 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55955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因为它在告诉我们：科学，不只是冷冰冰的公式，它能跨越光年——让两个完全不同的生灵，成为朋友。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67937" y="75931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26442" y="6426100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2489" y="4439067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22534" y="2202610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20766" y="171551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62034" y="5196547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75346" y="3331626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9279" y="3189932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55841" y="2053267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38860" y="562627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94407" y="546495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09603" y="4000586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4348" y="322487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20271" y="479435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4469" y="3270948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4731" y="2020435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16865" y="3104748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1951" y="5457621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01 · 拍大腿的设定 ·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15 / 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5F7FA"/>
                </a:solidFill>
                <a:latin typeface="Microsoft YaHei"/>
                <a:ea typeface="Microsoft YaHei"/>
              </a:rPr>
              <a:t>特德 · 姜 的「世界观工具箱」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CBD5E0"/>
                </a:solidFill>
                <a:latin typeface="Microsoft YaHei"/>
                <a:ea typeface="Microsoft YaHei"/>
              </a:rPr>
              <a:t>哲思软科幻派 · 不爆炸，但让你想很久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011680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2011680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E94B7B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2240280"/>
            <a:ext cx="19050" cy="86868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217627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2C94C"/>
                </a:solidFill>
                <a:latin typeface="Microsoft YaHei"/>
                <a:ea typeface="Microsoft YaHei"/>
              </a:rPr>
              <a:t>预知未来的语言（《你一生的故事》）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2578608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学会外星人的语言后，你的思维方式会改变，能同时看见过去与未来。你知道女儿会怎样离开，却仍然，选择把她生下来。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502152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502152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E94B7B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3730752"/>
            <a:ext cx="19050" cy="86868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80" y="366674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2C94C"/>
                </a:solidFill>
                <a:latin typeface="Microsoft YaHei"/>
                <a:ea typeface="Microsoft YaHei"/>
              </a:rPr>
              <a:t>回环的宇宙（《巴比伦塔》）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069080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人类造通天塔，凿穿了天幕——结果发现，自己回到了地面。你以为已经走了很远，最后才明白，原来一直回到原点。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992624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992624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E94B7B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5221224"/>
            <a:ext cx="19050" cy="86868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80" y="5157216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2C94C"/>
                </a:solidFill>
                <a:latin typeface="Microsoft YaHei"/>
                <a:ea typeface="Microsoft YaHei"/>
              </a:rPr>
              <a:t>宇宙的呼吸（《呼吸》）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55955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在一个靠气压驱动的世界，主人公发现宇宙的气压正在均匀，万物终将归于寂静。他平静地写下这一切，像是在与世界温柔告别。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E6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85820" y="4283499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38540" y="70756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1111" y="5279498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05282" y="4308573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82342" y="2213050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25032" y="1300632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07862" y="5198242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03030" y="5340125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9175" y="6431276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57059" y="6328256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53429" y="3636501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8223" y="3304769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05711" y="4353057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28355" y="3525640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94963" y="6360716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44451" y="2365818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4432" y="741629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29515" y="3331499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3114" y="5359110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27456" y="1447446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33378" y="502912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70725" y="4533829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71584" y="2242357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66750" y="2399547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54911" y="4540684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3942" y="1091689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17685" y="4993420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54046" y="596426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5351" y="5622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7599" y="6409653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1498" y="2100835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95504" y="1495308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70853" y="2304630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03257" y="1056408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93010" y="6149626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91436" y="1394684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7673" y="2405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03216" y="173191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41612" y="3073633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70982" y="2721069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984248" y="514193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948011" y="4157047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8624" y="4626576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41760" y="593206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20663" y="2472293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03475" y="1763618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584556" y="812566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79511" y="467342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04051" y="2166062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86763" y="202356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57338" y="193760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917491" y="369184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571059" y="576121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4173" y="2347461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93687" y="1928820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08460" y="4548153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740785" y="3263350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610271" y="511721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968589" y="4553163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086427" y="6335514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69888" y="4770716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920077" y="412102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816297" y="5217918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30097" y="2795562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980543" y="4088108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910943" y="5143172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06742" y="168937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028139" y="4025051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960830" y="2473714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32762" y="1190342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336858" y="1745461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951451" y="596155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156133" y="1376037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19000" y="5279133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400317" y="5268407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430247" y="355831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445391" y="3246063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96408" y="4045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160235" y="4140666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730342" y="2530980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2960" y="137160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0" b="1" i="0">
                <a:solidFill>
                  <a:srgbClr val="F2C94C"/>
                </a:solidFill>
                <a:latin typeface="Calibri"/>
                <a:ea typeface="Calibri"/>
              </a:rPr>
              <a:t>PART 02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2C94C"/>
                </a:solidFill>
                <a:latin typeface="Microsoft YaHei"/>
                <a:ea typeface="Microsoft YaHei"/>
              </a:rPr>
              <a:t>PART 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" y="3703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 i="0">
                <a:solidFill>
                  <a:srgbClr val="F5F7FA"/>
                </a:solidFill>
                <a:latin typeface="Microsoft YaHei"/>
                <a:ea typeface="Microsoft YaHei"/>
              </a:rPr>
              <a:t>三位大师的写作秘诀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" y="480060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1732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CBD5E0"/>
                </a:solidFill>
                <a:latin typeface="Microsoft YaHei"/>
                <a:ea typeface="Microsoft YaHei"/>
              </a:rPr>
              <a:t>每一招，都是你今天就能用在作文里的方法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16 / 27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41282" y="4471014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17321" y="5533535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85117" y="1103515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16569" y="672669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82587" y="292789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863596" y="5919853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10386" y="4089422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3208" y="373452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2419" y="1240068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19240" y="1672966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41868" y="174313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97192" y="364926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6336" y="4526561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51828" y="600972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10805" y="2643666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09866" y="6489054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3421" y="758021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33442" y="2843431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989" y="576074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96086" y="261969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90101" y="1069097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4503" y="3738525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57160" y="4187232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90946" y="5131481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55927" y="4565646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02 · 三条写作秘诀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17 / 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三位大师的「独门武功」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每一招都简单到——你今晚就能用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8007" y="201168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8007" y="2011680"/>
            <a:ext cx="3566160" cy="164592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3767" y="23774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4BC8E9"/>
                </a:solidFill>
                <a:latin typeface="Microsoft YaHei"/>
                <a:ea typeface="Microsoft YaHei"/>
              </a:rPr>
              <a:t>秘诀 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767" y="2788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Microsoft YaHei"/>
                <a:ea typeface="Microsoft YaHei"/>
              </a:rPr>
              <a:t>刘慈欣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767" y="370332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2C94C"/>
                </a:solidFill>
                <a:latin typeface="Microsoft YaHei"/>
                <a:ea typeface="Microsoft YaHei"/>
              </a:rPr>
              <a:t>追问「然后呢？」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3767" y="4983480"/>
            <a:ext cx="914400" cy="1905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3767" y="516636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从一个巨大的「如果」开始，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往下连追三步。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12767" y="201168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12767" y="2011680"/>
            <a:ext cx="3566160" cy="164592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8527" y="23774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秘诀 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8527" y="2788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Microsoft YaHei"/>
                <a:ea typeface="Microsoft YaHei"/>
              </a:rPr>
              <a:t>安迪 · 威尔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8527" y="370332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2C94C"/>
                </a:solidFill>
                <a:latin typeface="Microsoft YaHei"/>
                <a:ea typeface="Microsoft YaHei"/>
              </a:rPr>
              <a:t>让主角列清单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78527" y="4983480"/>
            <a:ext cx="914400" cy="1905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78527" y="516636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把困境拆成「我有 / 我缺 / 怎么补」，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一步一步算出来。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07527" y="201168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07527" y="2011680"/>
            <a:ext cx="3566160" cy="164592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73287" y="23774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94B7B"/>
                </a:solidFill>
                <a:latin typeface="Microsoft YaHei"/>
                <a:ea typeface="Microsoft YaHei"/>
              </a:rPr>
              <a:t>秘诀 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73287" y="2788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Microsoft YaHei"/>
                <a:ea typeface="Microsoft YaHei"/>
              </a:rPr>
              <a:t>特德 · 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73287" y="370332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2C94C"/>
                </a:solidFill>
                <a:latin typeface="Microsoft YaHei"/>
                <a:ea typeface="Microsoft YaHei"/>
              </a:rPr>
              <a:t>从一道人生选择题出发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73287" y="4983480"/>
            <a:ext cx="914400" cy="1905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73287" y="516636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先想一个关于人的哲学问题，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再让科幻设定服务它。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11013" y="4493900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41046" y="140735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57831" y="1537930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23688" y="381369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77170" y="1513149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26014" y="6484954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5371" y="2143007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10169" y="611058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34311" y="576351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4065" y="4745977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42135" y="433324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9784" y="1285933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93212" y="3103307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185" y="952189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59820" y="6218717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76371" y="3156256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69344" y="1035534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526" y="456816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67778" y="2075978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02763" y="1108165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02 · 秘诀 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18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4BC8E9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960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8A99B3"/>
                </a:solidFill>
                <a:latin typeface="Microsoft YaHei"/>
                <a:ea typeface="Microsoft YaHei"/>
              </a:rPr>
              <a:t>秘诀 ① · 刘慈欣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123444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5F7FA"/>
                </a:solidFill>
                <a:latin typeface="Microsoft YaHei"/>
                <a:ea typeface="Microsoft YaHei"/>
              </a:rPr>
              <a:t>从「一个巨大的如果」往下推三步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2240280"/>
            <a:ext cx="548640" cy="3810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21214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他像下棋一样：每多走一步，世界就翻一次天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743200"/>
            <a:ext cx="5349240" cy="3520440"/>
          </a:xfrm>
          <a:prstGeom prst="roundRect">
            <a:avLst>
              <a:gd name="adj" fmla="val 4000"/>
            </a:avLst>
          </a:prstGeom>
          <a:solidFill>
            <a:srgbClr val="10254F"/>
          </a:solidFill>
          <a:ln w="12700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4BC8E9"/>
                </a:solidFill>
                <a:latin typeface="Microsoft YaHei"/>
                <a:ea typeface="Microsoft YaHei"/>
              </a:rPr>
              <a:t>他是怎么写的？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32461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F2C94C"/>
                </a:solidFill>
                <a:latin typeface="Microsoft YaHei"/>
                <a:ea typeface="Microsoft YaHei"/>
              </a:rPr>
              <a:t>《三体》的诞生过程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88620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5F7FA"/>
                </a:solidFill>
                <a:latin typeface="Microsoft YaHei"/>
                <a:ea typeface="Microsoft YaHei"/>
              </a:rPr>
              <a:t>如果外星文明比我们强大得多，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5F7FA"/>
                </a:solidFill>
                <a:latin typeface="Microsoft YaHei"/>
                <a:ea typeface="Microsoft YaHei"/>
              </a:rPr>
              <a:t>而且它们正赶来——人类会怎样？</a:t>
            </a:r>
          </a:p>
          <a:p>
            <a:pPr algn="l">
              <a:lnSpc>
                <a:spcPct val="150000"/>
              </a:lnSpc>
            </a:pPr>
            <a:r>
              <a:rPr sz="6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→  </a:t>
            </a: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人类陷入恐慌，成立联合政府</a:t>
            </a:r>
          </a:p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→  </a:t>
            </a: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有人背叛人类、有人愿意牺牲</a:t>
            </a:r>
          </a:p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→  </a:t>
            </a: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最后，整个太阳系被二维化……</a:t>
            </a:r>
          </a:p>
          <a:p>
            <a:pPr algn="l">
              <a:lnSpc>
                <a:spcPct val="150000"/>
              </a:lnSpc>
            </a:pPr>
            <a:r>
              <a:rPr sz="6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1">
                <a:solidFill>
                  <a:srgbClr val="F2C94C"/>
                </a:solidFill>
                <a:latin typeface="Microsoft YaHei"/>
                <a:ea typeface="Microsoft YaHei"/>
              </a:rPr>
              <a:t>他，一直推到了宇宙的尽头。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743200"/>
            <a:ext cx="5349240" cy="3520440"/>
          </a:xfrm>
          <a:prstGeom prst="roundRect">
            <a:avLst>
              <a:gd name="adj" fmla="val 4000"/>
            </a:avLst>
          </a:prstGeom>
          <a:solidFill>
            <a:srgbClr val="3B1E6E"/>
          </a:solidFill>
          <a:ln w="1587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你能直接用的方法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2461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F5F7FA"/>
                </a:solidFill>
                <a:latin typeface="Microsoft YaHei"/>
                <a:ea typeface="Microsoft YaHei"/>
              </a:rPr>
              <a:t>写「如果……」+ 连追三次「然后呢？」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16052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Step 1.  写一句  「如果……」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Step 2.  问自己  「然后呢？」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Step 3.  再问一次「然后呢？」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Step 4.  再问一次「然后呢？」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三次之后，一个完整故事就长出来了。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82196" y="91451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46364" y="785669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62854" y="518976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94659" y="3916502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33121" y="315593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87730" y="123873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14500" y="398935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64002" y="2035788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07894" y="1763010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65711" y="2230888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78304" y="3298462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3398" y="6022985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67238" y="258788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16719" y="3656945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773" y="585843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4183" y="2890984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24487" y="37825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84713" y="62913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7613" y="2451342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91693" y="410153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02 · 秘诀 ① · 试一试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19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5F7FA"/>
                </a:solidFill>
                <a:latin typeface="Microsoft YaHei"/>
                <a:ea typeface="Microsoft YaHei"/>
              </a:rPr>
              <a:t>现场演示：往下推三步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两个例子，看看「然后呢？」怎么把点子变成故事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103120"/>
            <a:ext cx="5349240" cy="4160520"/>
          </a:xfrm>
          <a:prstGeom prst="roundRect">
            <a:avLst>
              <a:gd name="adj" fmla="val 4000"/>
            </a:avLst>
          </a:prstGeom>
          <a:solidFill>
            <a:srgbClr val="10254F"/>
          </a:solidFill>
          <a:ln w="12700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4BC8E9"/>
                </a:solidFill>
                <a:latin typeface="Microsoft YaHei"/>
                <a:ea typeface="Microsoft YaHei"/>
              </a:rPr>
              <a:t>例子 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26060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F2C94C"/>
                </a:solidFill>
                <a:latin typeface="Microsoft YaHei"/>
                <a:ea typeface="Microsoft YaHei"/>
              </a:rPr>
              <a:t>如果学校可以漂浮在空中？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38328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4BC8E9"/>
                </a:solidFill>
                <a:latin typeface="Microsoft YaHei"/>
                <a:ea typeface="Microsoft YaHei"/>
              </a:rPr>
              <a:t>→ 然后呢？  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上学要坐飞行器。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4BC8E9"/>
                </a:solidFill>
                <a:latin typeface="Microsoft YaHei"/>
                <a:ea typeface="Microsoft YaHei"/>
              </a:rPr>
              <a:t>→ 然后呢？  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有一天飞行器没油了。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4BC8E9"/>
                </a:solidFill>
                <a:latin typeface="Microsoft YaHei"/>
                <a:ea typeface="Microsoft YaHei"/>
              </a:rPr>
              <a:t>→ 然后呢？  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主角用太阳能板充电，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              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差点迟到，却写出了一首歌。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103120"/>
            <a:ext cx="5349240" cy="4160520"/>
          </a:xfrm>
          <a:prstGeom prst="roundRect">
            <a:avLst>
              <a:gd name="adj" fmla="val 4000"/>
            </a:avLst>
          </a:prstGeom>
          <a:solidFill>
            <a:srgbClr val="10254F"/>
          </a:solidFill>
          <a:ln w="12700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4BC8E9"/>
                </a:solidFill>
                <a:latin typeface="Microsoft YaHei"/>
                <a:ea typeface="Microsoft YaHei"/>
              </a:rPr>
              <a:t>例子 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6060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F2C94C"/>
                </a:solidFill>
                <a:latin typeface="Microsoft YaHei"/>
                <a:ea typeface="Microsoft YaHei"/>
              </a:rPr>
              <a:t>如果我能和动物说话？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38328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4BC8E9"/>
                </a:solidFill>
                <a:latin typeface="Microsoft YaHei"/>
                <a:ea typeface="Microsoft YaHei"/>
              </a:rPr>
              <a:t>→ 然后呢？  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猫告诉我：谁考试作弊。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4BC8E9"/>
                </a:solidFill>
                <a:latin typeface="Microsoft YaHei"/>
                <a:ea typeface="Microsoft YaHei"/>
              </a:rPr>
              <a:t>→ 然后呢？  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猫开始要求每天买小鱼干。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4BC8E9"/>
                </a:solidFill>
                <a:latin typeface="Microsoft YaHei"/>
                <a:ea typeface="Microsoft YaHei"/>
              </a:rPr>
              <a:t>→ 然后呢？  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我破产了，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                  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只好跑去宠物店打工还债。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5675" y="6180261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17815" y="2760756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88613" y="1250880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94842" y="2964585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5731" y="462577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49876" y="4783445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06938" y="23004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70938" y="6324437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08407" y="1832528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27399" y="1157288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38224" y="1065771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09505" y="3388292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3707" y="277636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61338" y="1828012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29454" y="5864405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05950" y="2962599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23063" y="4037096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01945" y="3553850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26838" y="108971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1144" y="256292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02 · 秘诀 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20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F2C94C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960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8A99B3"/>
                </a:solidFill>
                <a:latin typeface="Microsoft YaHei"/>
                <a:ea typeface="Microsoft YaHei"/>
              </a:rPr>
              <a:t>秘诀 ② · 安迪 · 威尔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123444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5F7FA"/>
                </a:solidFill>
                <a:latin typeface="Microsoft YaHei"/>
                <a:ea typeface="Microsoft YaHei"/>
              </a:rPr>
              <a:t>让主角「列清单」解决问题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224028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21214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遇到天大麻烦，先别哭——拿出纸笔，开始算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743200"/>
            <a:ext cx="5349240" cy="3520440"/>
          </a:xfrm>
          <a:prstGeom prst="roundRect">
            <a:avLst>
              <a:gd name="adj" fmla="val 4000"/>
            </a:avLst>
          </a:prstGeom>
          <a:solidFill>
            <a:srgbClr val="10254F"/>
          </a:solidFill>
          <a:ln w="1270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他是怎么写的？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32461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F5F7FA"/>
                </a:solidFill>
                <a:latin typeface="Microsoft YaHei"/>
                <a:ea typeface="Microsoft YaHei"/>
              </a:rPr>
              <a:t>马克在火星上的清单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88620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我有什么？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我需要什么？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差多少？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怎么补？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卡路里、水、土豆产量、平方米——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全部一项一项算，再一步步执行。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743200"/>
            <a:ext cx="5349240" cy="3520440"/>
          </a:xfrm>
          <a:prstGeom prst="roundRect">
            <a:avLst>
              <a:gd name="adj" fmla="val 4000"/>
            </a:avLst>
          </a:prstGeom>
          <a:solidFill>
            <a:srgbClr val="3B1E6E"/>
          </a:solidFill>
          <a:ln w="1587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你能直接用的方法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2461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F5F7FA"/>
                </a:solidFill>
                <a:latin typeface="Microsoft YaHei"/>
                <a:ea typeface="Microsoft YaHei"/>
              </a:rPr>
              <a:t>让你的主角，掏出本子开始列清单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11480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4BC8E9"/>
                </a:solidFill>
                <a:latin typeface="Microsoft YaHei"/>
                <a:ea typeface="Microsoft YaHei"/>
              </a:rPr>
              <a:t>我有：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当下能用的资源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E94B7B"/>
                </a:solidFill>
                <a:latin typeface="Microsoft YaHei"/>
                <a:ea typeface="Microsoft YaHei"/>
              </a:rPr>
              <a:t>我缺：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活下去必需的东西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F2C94C"/>
                </a:solidFill>
                <a:latin typeface="Microsoft YaHei"/>
                <a:ea typeface="Microsoft YaHei"/>
              </a:rPr>
              <a:t>怎么补：</a:t>
            </a: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一条一条写出可以执行的计划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F2C94C"/>
                </a:solidFill>
                <a:latin typeface="Microsoft YaHei"/>
                <a:ea typeface="Microsoft YaHei"/>
              </a:rPr>
              <a:t>清单写出来，故事就往前走了。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4668" y="547137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170757" y="1264551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05937" y="6506911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32265" y="4990193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55232" y="6436325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01819" y="6242513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12938" y="3255979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80704" y="1027434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8234" y="4228186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72833" y="2059868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88916" y="1602583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86832" y="6462835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4896" y="1784304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26931" y="5112240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3255" y="128950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01211" y="1689854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87164" y="1580605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81531" y="4195218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70204" y="5178019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16506" y="541812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02 · 秘诀 ② · 试一试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21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5F7FA"/>
                </a:solidFill>
                <a:latin typeface="Microsoft YaHei"/>
                <a:ea typeface="Microsoft YaHei"/>
              </a:rPr>
              <a:t>现场演示：荒岛求生清单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小明被困荒岛——他没有哭，他蹲下来在沙地上写：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2194560"/>
            <a:ext cx="7406640" cy="402336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2194560"/>
            <a:ext cx="7406640" cy="4114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2194560"/>
            <a:ext cx="7406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A3A"/>
                </a:solidFill>
                <a:latin typeface="Microsoft YaHei"/>
                <a:ea typeface="Microsoft YaHei"/>
              </a:rPr>
              <a:t>  小  明  的  笔  记  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788920"/>
            <a:ext cx="66751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4BC8E9"/>
                </a:solidFill>
                <a:latin typeface="Microsoft YaHei"/>
                <a:ea typeface="Microsoft YaHei"/>
              </a:rPr>
              <a:t>我有：</a:t>
            </a:r>
            <a:r>
              <a:rPr sz="1600" b="0" i="0">
                <a:solidFill>
                  <a:srgbClr val="0B1A3A"/>
                </a:solidFill>
                <a:latin typeface="Microsoft YaHei"/>
                <a:ea typeface="Microsoft YaHei"/>
              </a:rPr>
              <a:t>一把小刀  ·  一个塑料瓶  ·  半包饼干。</a:t>
            </a:r>
          </a:p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0B1A3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E94B7B"/>
                </a:solidFill>
                <a:latin typeface="Microsoft YaHei"/>
                <a:ea typeface="Microsoft YaHei"/>
              </a:rPr>
              <a:t>我需要：</a:t>
            </a:r>
            <a:r>
              <a:rPr sz="1600" b="0" i="0">
                <a:solidFill>
                  <a:srgbClr val="0B1A3A"/>
                </a:solidFill>
                <a:latin typeface="Microsoft YaHei"/>
                <a:ea typeface="Microsoft YaHei"/>
              </a:rPr>
              <a:t>水  ·  火  ·  能睡觉的地方。</a:t>
            </a:r>
          </a:p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0B1A3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3B1E6E"/>
                </a:solidFill>
                <a:latin typeface="Microsoft YaHei"/>
                <a:ea typeface="Microsoft YaHei"/>
              </a:rPr>
              <a:t>我的计划：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2C94C"/>
                </a:solidFill>
                <a:latin typeface="Microsoft YaHei"/>
                <a:ea typeface="Microsoft YaHei"/>
              </a:rPr>
              <a:t>  ①  </a:t>
            </a:r>
            <a:r>
              <a:rPr sz="1500" b="0" i="0">
                <a:solidFill>
                  <a:srgbClr val="0B1A3A"/>
                </a:solidFill>
                <a:latin typeface="Microsoft YaHei"/>
                <a:ea typeface="Microsoft YaHei"/>
              </a:rPr>
              <a:t>用塑料瓶蒸馏海水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2C94C"/>
                </a:solidFill>
                <a:latin typeface="Microsoft YaHei"/>
                <a:ea typeface="Microsoft YaHei"/>
              </a:rPr>
              <a:t>  ②  </a:t>
            </a:r>
            <a:r>
              <a:rPr sz="1500" b="0" i="0">
                <a:solidFill>
                  <a:srgbClr val="0B1A3A"/>
                </a:solidFill>
                <a:latin typeface="Microsoft YaHei"/>
                <a:ea typeface="Microsoft YaHei"/>
              </a:rPr>
              <a:t>用小刀钻木取火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2C94C"/>
                </a:solidFill>
                <a:latin typeface="Microsoft YaHei"/>
                <a:ea typeface="Microsoft YaHei"/>
              </a:rPr>
              <a:t>  ③  </a:t>
            </a:r>
            <a:r>
              <a:rPr sz="1500" b="0" i="0">
                <a:solidFill>
                  <a:srgbClr val="0B1A3A"/>
                </a:solidFill>
                <a:latin typeface="Microsoft YaHei"/>
                <a:ea typeface="Microsoft YaHei"/>
              </a:rPr>
              <a:t>用树枝搭一个能挡风的小棚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F2C94C"/>
                </a:solidFill>
                <a:latin typeface="Microsoft YaHei"/>
                <a:ea typeface="Microsoft YaHei"/>
              </a:rPr>
              <a:t>★  当读者跟着主角一起算明白「该怎么活下来」，故事就有了科学的力量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95809" y="603811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50150" y="1985487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60999" y="4934434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85108" y="62643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46037" y="5175991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5862" y="1178834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96396" y="5754865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21730" y="232129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43171" y="4030495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18755" y="451842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92382" y="6307711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565" y="3791168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10230" y="3219344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92245" y="5342979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63396" y="6431642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5078" y="610806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53979" y="5469096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52358" y="1220898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5812" y="95829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38582" y="3722982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02 · 秘诀 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22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E94B7B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960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8A99B3"/>
                </a:solidFill>
                <a:latin typeface="Microsoft YaHei"/>
                <a:ea typeface="Microsoft YaHei"/>
              </a:rPr>
              <a:t>秘诀 ③ · 特德 · 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123444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5F7FA"/>
                </a:solidFill>
                <a:latin typeface="Microsoft YaHei"/>
                <a:ea typeface="Microsoft YaHei"/>
              </a:rPr>
              <a:t>用一个「人生选择题」做设定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2240280"/>
            <a:ext cx="548640" cy="3810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21214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他不先想飞船和外星人——他先想，「人」会怎么活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743200"/>
            <a:ext cx="5349240" cy="3520440"/>
          </a:xfrm>
          <a:prstGeom prst="roundRect">
            <a:avLst>
              <a:gd name="adj" fmla="val 4000"/>
            </a:avLst>
          </a:prstGeom>
          <a:solidFill>
            <a:srgbClr val="10254F"/>
          </a:solidFill>
          <a:ln w="12700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94B7B"/>
                </a:solidFill>
                <a:latin typeface="Microsoft YaHei"/>
                <a:ea typeface="Microsoft YaHei"/>
              </a:rPr>
              <a:t>他是怎么写的？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32461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F2C94C"/>
                </a:solidFill>
                <a:latin typeface="Microsoft YaHei"/>
                <a:ea typeface="Microsoft YaHei"/>
              </a:rPr>
              <a:t>先抛出一个「人生选择题」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88620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如果你能预知未来所有的不幸，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你还愿意继续走下去吗？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如果你发现自己的每一个选择，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都已经被命运提前写好——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你还会认真地去选吗？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他先想清楚问题，再造一个世界来逼你回答。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743200"/>
            <a:ext cx="5349240" cy="3520440"/>
          </a:xfrm>
          <a:prstGeom prst="roundRect">
            <a:avLst>
              <a:gd name="adj" fmla="val 4000"/>
            </a:avLst>
          </a:prstGeom>
          <a:solidFill>
            <a:srgbClr val="3B1E6E"/>
          </a:solidFill>
          <a:ln w="1587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2C94C"/>
                </a:solidFill>
                <a:latin typeface="Microsoft YaHei"/>
                <a:ea typeface="Microsoft YaHei"/>
              </a:rPr>
              <a:t>你能直接用的方法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2461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5F7FA"/>
                </a:solidFill>
                <a:latin typeface="Microsoft YaHei"/>
                <a:ea typeface="Microsoft YaHei"/>
              </a:rPr>
              <a:t>先想一道「关于人的选择题」，再让设定服务它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25196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Step 1.  写一道你最纠结的人生选择题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Step 2.  设计一个能逼出这个选择的科幻设定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Step 3.  让主角在这道题里挣扎、流泪、做出选择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不必爆炸、不必激战——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CBD5E0"/>
                </a:solidFill>
                <a:latin typeface="Microsoft YaHei"/>
                <a:ea typeface="Microsoft YaHei"/>
              </a:rPr>
              <a:t>光是「想用又不敢用」，就足够动人。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10747" y="1320953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24247" y="369779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02024" y="406157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27617" y="6428823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86383" y="6331081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58082" y="1410477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41175" y="5392479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07730" y="1911920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1656" y="4198247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47760" y="5545260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0538" y="130778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57172" y="2503806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8296" y="487921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3140" y="1420575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5908" y="2129070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87222" y="4602756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4056" y="627162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718298" y="4421908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34154" y="5261181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38401" y="3059952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PART 02 · 秘诀 ③ · 试一试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23 / 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5F7FA"/>
                </a:solidFill>
                <a:latin typeface="Microsoft YaHei"/>
                <a:ea typeface="Microsoft YaHei"/>
              </a:rPr>
              <a:t>三道选择题，挑一道写下去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试一试：哪一道，让你愣了一秒钟？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19456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" y="2468880"/>
            <a:ext cx="685800" cy="685800"/>
          </a:xfrm>
          <a:prstGeom prst="ellipse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246888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A3A"/>
                </a:solidFill>
                <a:latin typeface="Calibri"/>
                <a:ea typeface="Calibri"/>
              </a:rPr>
              <a:t>Q1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194560"/>
            <a:ext cx="92354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如果有一台机器，能消除你被朋友嘲笑的伤心记忆——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你，会按下那个按钮吗？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593592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5840" y="3867912"/>
            <a:ext cx="685800" cy="685800"/>
          </a:xfrm>
          <a:prstGeom prst="ellipse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86791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A3A"/>
                </a:solidFill>
                <a:latin typeface="Calibri"/>
                <a:ea typeface="Calibri"/>
              </a:rPr>
              <a:t>Q2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593592"/>
            <a:ext cx="92354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如果你能提前看到下周期末考试的成绩——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你，会告诉你最好的朋友吗？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992624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952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5840" y="5266944"/>
            <a:ext cx="685800" cy="685800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266944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A3A"/>
                </a:solidFill>
                <a:latin typeface="Calibri"/>
                <a:ea typeface="Calibri"/>
              </a:rPr>
              <a:t>Q3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992624"/>
            <a:ext cx="92354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如果你已经知道，最好的朋友将来一定会背叛你——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现在的你，还会跟他一起玩吗？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F2C94C"/>
                </a:solidFill>
                <a:latin typeface="Microsoft YaHei"/>
                <a:ea typeface="Microsoft YaHei"/>
              </a:rPr>
              <a:t>★  写出主角「想用又不敢用、知道答案又不敢说」的过程，就是动人的软科幻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72318" y="1884143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910415" y="31582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55284" y="3006933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5164" y="6514415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52389" y="4263636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93885" y="161977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02406" y="3685282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7113" y="5832158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83948" y="842697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72674" y="523439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45005" y="187272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83418" y="4189617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55618" y="5620330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51" y="6106415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05642" y="1703931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78462" y="5826848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64228" y="5394575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22263" y="146920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09138" y="2812813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26718" y="2476771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74721" y="5290917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50210" y="3374152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63440" y="3444998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03446" y="778805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90146" y="5995589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结尾 · 把今天装进口袋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24 / 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三句话，带回家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今天讲了很多——但你只要记住这三句话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224028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12700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2240280"/>
            <a:ext cx="164592" cy="114300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2240280"/>
            <a:ext cx="25603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2C94C"/>
                </a:solidFill>
                <a:latin typeface="Microsoft YaHei"/>
                <a:ea typeface="Microsoft YaHei"/>
              </a:rPr>
              <a:t>刘慈欣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2514600"/>
            <a:ext cx="19050" cy="59436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2240280"/>
            <a:ext cx="73152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CBD5E0"/>
                </a:solidFill>
                <a:latin typeface="Microsoft YaHei"/>
                <a:ea typeface="Microsoft YaHei"/>
              </a:rPr>
              <a:t>从一个「如果」开始，连追三步「然后呢？」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361188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1270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" y="3611880"/>
            <a:ext cx="164592" cy="11430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20" y="3611880"/>
            <a:ext cx="25603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2C94C"/>
                </a:solidFill>
                <a:latin typeface="Microsoft YaHei"/>
                <a:ea typeface="Microsoft YaHei"/>
              </a:rPr>
              <a:t>安迪 · 威尔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3886200"/>
            <a:ext cx="19050" cy="59436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3611880"/>
            <a:ext cx="73152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CBD5E0"/>
                </a:solidFill>
                <a:latin typeface="Microsoft YaHei"/>
                <a:ea typeface="Microsoft YaHei"/>
              </a:rPr>
              <a:t>让主角拿出本子，列一份解决问题的清单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498348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0254F"/>
          </a:solidFill>
          <a:ln w="12700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" y="4983480"/>
            <a:ext cx="164592" cy="114300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4983480"/>
            <a:ext cx="25603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2C94C"/>
                </a:solidFill>
                <a:latin typeface="Microsoft YaHei"/>
                <a:ea typeface="Microsoft YaHei"/>
              </a:rPr>
              <a:t>特德 · 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5257800"/>
            <a:ext cx="19050" cy="59436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0" y="4983480"/>
            <a:ext cx="73152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CBD5E0"/>
                </a:solidFill>
                <a:latin typeface="Microsoft YaHei"/>
                <a:ea typeface="Microsoft YaHei"/>
              </a:rPr>
              <a:t>先写一道关于人的选择题，再造一个世界来逼答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" y="5852160"/>
            <a:ext cx="10515600" cy="502920"/>
          </a:xfrm>
          <a:prstGeom prst="roundRect">
            <a:avLst>
              <a:gd name="adj" fmla="val 40000"/>
            </a:avLst>
          </a:prstGeom>
          <a:solidFill>
            <a:srgbClr val="3B1E6E"/>
          </a:solidFill>
          <a:ln w="952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8521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2C94C"/>
                </a:solidFill>
                <a:latin typeface="Microsoft YaHei"/>
                <a:ea typeface="Microsoft YaHei"/>
              </a:rPr>
              <a:t>★  科幻不是胡思乱想，而是「有逻辑地，做一场好梦」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9692" y="732289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37464" y="90358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4517" y="909453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72933" y="889822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13677" y="1335132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0426" y="5018242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20022" y="215199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4307" y="141329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27744" y="546410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85372" y="5449317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9861" y="3461038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32710" y="2817067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31113" y="5334709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11249" y="1911356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4251" y="423975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04346" y="6472791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25960" y="6097888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0213" y="1256052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7708" y="623138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95579" y="4230449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44783" y="5215630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18203" y="3659398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5343" y="640431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51825" y="1057722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6601" y="398484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89433" y="6394312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18428" y="3162576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64402" y="500060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32734" y="641758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6382" y="2444401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结尾 · 现在轮到你了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25 / 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2C94C"/>
                </a:solidFill>
                <a:latin typeface="Microsoft YaHei"/>
                <a:ea typeface="Microsoft YaHei"/>
              </a:rPr>
              <a:t>现在，轮到你啦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1417320"/>
            <a:ext cx="54864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5E0"/>
                </a:solidFill>
                <a:latin typeface="Microsoft YaHei"/>
                <a:ea typeface="Microsoft YaHei"/>
              </a:rPr>
              <a:t>回家做一件事，把今天的内容真正变成你自己的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8007" y="228600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4BC8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8007" y="2286000"/>
            <a:ext cx="3566160" cy="164592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767" y="26517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4BC8E9"/>
                </a:solidFill>
                <a:latin typeface="Calibri"/>
                <a:ea typeface="Calibri"/>
              </a:rPr>
              <a:t>STEP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767" y="30632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Microsoft YaHei"/>
                <a:ea typeface="Microsoft YaHei"/>
              </a:rPr>
              <a:t>选 1 个秘诀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3767" y="3840480"/>
            <a:ext cx="914400" cy="19050"/>
          </a:xfrm>
          <a:prstGeom prst="rect">
            <a:avLst/>
          </a:prstGeom>
          <a:solidFill>
            <a:srgbClr val="4BC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3767" y="406908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刘慈欣的「然后呢？」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安迪 · 威尔的「列清单」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特德 · 姜的「选择题」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12767" y="228600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12767" y="2286000"/>
            <a:ext cx="3566160" cy="164592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78527" y="26517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2C94C"/>
                </a:solidFill>
                <a:latin typeface="Calibri"/>
                <a:ea typeface="Calibri"/>
              </a:rPr>
              <a:t>STEP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78527" y="30632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Microsoft YaHei"/>
                <a:ea typeface="Microsoft YaHei"/>
              </a:rPr>
              <a:t>选 1 个设定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78527" y="3840480"/>
            <a:ext cx="914400" cy="1905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78527" y="406908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时间循环？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记忆传输？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和动物说话？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……或你自己想的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07527" y="228600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10254F"/>
          </a:solidFill>
          <a:ln w="15875">
            <a:solidFill>
              <a:srgbClr val="E94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07527" y="2286000"/>
            <a:ext cx="3566160" cy="164592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73287" y="26517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94B7B"/>
                </a:solidFill>
                <a:latin typeface="Calibri"/>
                <a:ea typeface="Calibri"/>
              </a:rPr>
              <a:t>STEP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73287" y="30632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Microsoft YaHei"/>
                <a:ea typeface="Microsoft YaHei"/>
              </a:rPr>
              <a:t>写下你的第一段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73287" y="3840480"/>
            <a:ext cx="914400" cy="19050"/>
          </a:xfrm>
          <a:prstGeom prst="rect">
            <a:avLst/>
          </a:prstGeom>
          <a:solidFill>
            <a:srgbClr val="E94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73287" y="406908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不用很长，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两百字就够。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CBD5E0"/>
                </a:solidFill>
                <a:latin typeface="Microsoft YaHei"/>
                <a:ea typeface="Microsoft YaHei"/>
              </a:rPr>
              <a:t>相信我，你能做到。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1">
                <a:solidFill>
                  <a:srgbClr val="F2C94C"/>
                </a:solidFill>
                <a:latin typeface="Microsoft YaHei"/>
                <a:ea typeface="Microsoft YaHei"/>
              </a:rPr>
              <a:t>★  写完之后，别忘了告诉我——下一个科幻大师，可能就是你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E6E">
              <a:alpha val="44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25177" y="1303511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28798" y="495067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71505" y="456375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31854" y="4705372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63308" y="5135958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56509" y="4303665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1490" y="4669241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18381" y="2623127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83981" y="2361928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33619" y="5865168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07773" y="232931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13393" y="287781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1850" y="151826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9479" y="277165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77071" y="36927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1158" y="130819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00588" y="3553797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76681" y="3102121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04226" y="4680210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12971" y="2660111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51488" y="1134507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74031" y="1352400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94519" y="5198825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58841" y="2356528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10877" y="72633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37333" y="2600181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48156" y="241694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23429" y="6013672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97622" y="1499839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65610" y="2023957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665152" y="5272500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76180" y="285443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34034" y="5913478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60374" y="5698061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36212" y="1673310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02951" y="5383554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20148" y="4419519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70942" y="2194592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562" y="2314744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866810" y="4350893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011974" y="4840824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977208" y="5614403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112" y="3268340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65285" y="6188709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31369" y="5249815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26421" y="4814173"/>
            <a:ext cx="60000" cy="6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441808" y="13432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1344" y="208228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54100" y="6324928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65236" y="652236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22275" y="172521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02757" y="5875106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098116" y="6217565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049968" y="1782387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39182" y="5946180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107625" y="638763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2157370" y="340853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07812" y="470026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944608" y="3472626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07079" y="2696853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170459" y="309391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174311" y="1498185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214614" y="374661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818634" y="76335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58701" y="2379110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55745" y="1131282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63598" y="739886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831163" y="563611"/>
            <a:ext cx="60000" cy="6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030695" y="5673819"/>
            <a:ext cx="90000" cy="9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97697" y="495508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146296" y="344072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291919" y="1169951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053876" y="6297760"/>
            <a:ext cx="90000" cy="9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817431" y="597312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909620" y="4775590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685241" y="1051753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48916" y="2041808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48469" y="6180158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740346" y="527516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506953" y="2785182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312715" y="395127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095173" y="5247838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922688" y="3975987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456542" y="120799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109541" y="4662288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9904" y="646063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897853" y="1067404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299868" y="3684690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606319" y="6211278"/>
            <a:ext cx="90000" cy="9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47005" y="5734322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814692" y="6076423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422937" y="6363032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171495" y="2223722"/>
            <a:ext cx="30000" cy="3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178902" y="592835"/>
            <a:ext cx="60000" cy="6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836042" y="3732382"/>
            <a:ext cx="30000" cy="3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319683" y="1313939"/>
            <a:ext cx="30000" cy="30000"/>
          </a:xfrm>
          <a:prstGeom prst="ellipse">
            <a:avLst/>
          </a:prstGeom>
          <a:solidFill>
            <a:srgbClr val="F5F7FA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796146" y="5846736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046289" y="3360657"/>
            <a:ext cx="60000" cy="60000"/>
          </a:xfrm>
          <a:prstGeom prst="ellipse">
            <a:avLst/>
          </a:prstGeom>
          <a:solidFill>
            <a:srgbClr val="F5F7F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861878" y="3417106"/>
            <a:ext cx="90000" cy="90000"/>
          </a:xfrm>
          <a:prstGeom prst="ellipse">
            <a:avLst/>
          </a:prstGeom>
          <a:solidFill>
            <a:srgbClr val="F5F7F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20964" y="3657593"/>
            <a:ext cx="30000" cy="30000"/>
          </a:xfrm>
          <a:prstGeom prst="ellipse">
            <a:avLst/>
          </a:prstGeom>
          <a:solidFill>
            <a:srgbClr val="F5F7F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48640" y="411480"/>
            <a:ext cx="45720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9728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2C94C"/>
                </a:solidFill>
                <a:latin typeface="Microsoft YaHei"/>
                <a:ea typeface="Microsoft YaHei"/>
              </a:rPr>
              <a:t>The End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A99B3"/>
                </a:solidFill>
                <a:latin typeface="Microsoft YaHei"/>
                <a:ea typeface="Microsoft YaHei"/>
              </a:rPr>
              <a:t>26 / 27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" y="6400800"/>
            <a:ext cx="11064240" cy="9525"/>
          </a:xfrm>
          <a:prstGeom prst="rect">
            <a:avLst/>
          </a:prstGeom>
          <a:solidFill>
            <a:srgbClr val="8A99B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 i="0">
                <a:solidFill>
                  <a:srgbClr val="F2C94C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5F7FA"/>
                </a:solidFill>
                <a:latin typeface="Microsoft YaHei"/>
                <a:ea typeface="Microsoft YaHei"/>
              </a:rPr>
              <a:t>谢   谢   大   家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733288" y="4251960"/>
            <a:ext cx="731520" cy="3810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2960" y="4526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1">
                <a:solidFill>
                  <a:srgbClr val="CBD5E0"/>
                </a:solidFill>
                <a:latin typeface="Microsoft YaHei"/>
                <a:ea typeface="Microsoft YaHei"/>
              </a:rPr>
              <a:t>愿你也能，写出属于自己的星辰大海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8A99B3"/>
                </a:solidFill>
                <a:latin typeface="Microsoft YaHei"/>
                <a:ea typeface="Microsoft YaHei"/>
              </a:rPr>
              <a:t>致敬   ·   刘慈欣   ·   安迪 · 威尔   ·   特德 · 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