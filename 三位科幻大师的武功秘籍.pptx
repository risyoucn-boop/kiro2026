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3B1E6E">
              <a:alpha val="44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607040" y="0"/>
            <a:ext cx="164592" cy="2286000"/>
          </a:xfrm>
          <a:prstGeom prst="rect">
            <a:avLst/>
          </a:prstGeom>
          <a:solidFill>
            <a:srgbClr val="F2C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0" y="2286000"/>
            <a:ext cx="164592" cy="1828800"/>
          </a:xfrm>
          <a:prstGeom prst="rect">
            <a:avLst/>
          </a:prstGeom>
          <a:solidFill>
            <a:srgbClr val="E94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38127" y="5521115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37628" y="4957746"/>
            <a:ext cx="60000" cy="6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15874" y="611504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276164" y="4966330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247020" y="5223978"/>
            <a:ext cx="60000" cy="6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989928" y="199296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449820" y="2483583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49373" y="3437558"/>
            <a:ext cx="60000" cy="6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40295" y="2252272"/>
            <a:ext cx="90000" cy="9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277242" y="6203967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211495" y="3625355"/>
            <a:ext cx="90000" cy="9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266512" y="6466519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060217" y="5834763"/>
            <a:ext cx="90000" cy="9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189933" y="5929946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464384" y="6342133"/>
            <a:ext cx="60000" cy="6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80935" y="224939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051189" y="1127160"/>
            <a:ext cx="60000" cy="6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54186" y="4324448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51122" y="2562096"/>
            <a:ext cx="60000" cy="6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1808" y="2010100"/>
            <a:ext cx="60000" cy="6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889930" y="1098408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393983" y="3515661"/>
            <a:ext cx="60000" cy="6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930990" y="2240060"/>
            <a:ext cx="60000" cy="6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597594" y="1754382"/>
            <a:ext cx="60000" cy="6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677826" y="5583109"/>
            <a:ext cx="90000" cy="9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23567" y="3657302"/>
            <a:ext cx="60000" cy="6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865446" y="2376291"/>
            <a:ext cx="60000" cy="6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472549" y="2693342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219276" y="3508243"/>
            <a:ext cx="60000" cy="6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585586" y="182259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714652" y="1177825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95731" y="6147454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583343" y="2951332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275198" y="5194409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539057" y="1091085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005755" y="4223106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66196" y="3234705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803868" y="2236910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325989" y="5862407"/>
            <a:ext cx="60000" cy="6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71855" y="2812279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17798" y="954212"/>
            <a:ext cx="90000" cy="9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433454" y="3298655"/>
            <a:ext cx="60000" cy="6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1910995" y="4109541"/>
            <a:ext cx="90000" cy="9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721134" y="4225084"/>
            <a:ext cx="60000" cy="6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044371" y="2777383"/>
            <a:ext cx="90000" cy="9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532292" y="1382059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62280" y="498054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073845" y="1644138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200219" y="1417622"/>
            <a:ext cx="60000" cy="6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2091084" y="5653680"/>
            <a:ext cx="90000" cy="9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608080" y="2260289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210281" y="3207714"/>
            <a:ext cx="90000" cy="9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3609627" y="3256246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0968603" y="117877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9889160" y="3670219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233168" y="1736505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364945" y="2240215"/>
            <a:ext cx="90000" cy="9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9362626" y="3469423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032395" y="1105574"/>
            <a:ext cx="60000" cy="6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267495" y="2164534"/>
            <a:ext cx="60000" cy="6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4487860" y="2216992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0575317" y="3935006"/>
            <a:ext cx="90000" cy="9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650096" y="3590930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77156" y="476862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156117" y="4007998"/>
            <a:ext cx="60000" cy="6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958794" y="1457519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448649" y="1925554"/>
            <a:ext cx="60000" cy="6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580983" y="1805873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50954" y="4367798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403294" y="5766254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 i="0">
                <a:solidFill>
                  <a:srgbClr val="F5F7FA"/>
                </a:solidFill>
                <a:latin typeface="Microsoft YaHei"/>
                <a:ea typeface="Microsoft YaHei"/>
              </a:rPr>
              <a:t>三位科幻大师的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274320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400" b="1" i="0">
                <a:solidFill>
                  <a:srgbClr val="F2C94C"/>
                </a:solidFill>
                <a:latin typeface="Microsoft YaHei"/>
                <a:ea typeface="Microsoft YaHei"/>
              </a:rPr>
              <a:t>「武功秘籍」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2960" y="44348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4BC8E9"/>
                </a:solidFill>
                <a:latin typeface="Microsoft YaHei"/>
                <a:ea typeface="Microsoft YaHei"/>
              </a:rPr>
              <a:t>刘慈欣  ·  安迪 · 威尔  ·  特德 · 姜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2960" y="5074920"/>
            <a:ext cx="640080" cy="38100"/>
          </a:xfrm>
          <a:prstGeom prst="rect">
            <a:avLst/>
          </a:prstGeom>
          <a:solidFill>
            <a:srgbClr val="F2C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600200" y="489204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CBD5E0"/>
                </a:solidFill>
                <a:latin typeface="Microsoft YaHei"/>
                <a:ea typeface="Microsoft YaHei"/>
              </a:rPr>
              <a:t>—— 看懂科幻，写出自己的第一个故事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A99B3"/>
                </a:solidFill>
                <a:latin typeface="Microsoft YaHei"/>
                <a:ea typeface="Microsoft YaHei"/>
              </a:rPr>
              <a:t>主讲：六年级  ·  深圳    |    时长 ≈ 12 分钟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655678" y="6175190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4733" y="5443358"/>
            <a:ext cx="90000" cy="9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067226" y="1382626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2188266" y="4159704"/>
            <a:ext cx="90000" cy="9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34440" y="2898269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619368" y="2371590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164535" y="5759769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78744" y="155437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66572" y="3324159"/>
            <a:ext cx="60000" cy="6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132902" y="2903373"/>
            <a:ext cx="60000" cy="6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28362" y="2304957"/>
            <a:ext cx="60000" cy="6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642253" y="2605150"/>
            <a:ext cx="90000" cy="9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984474" y="1628135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106101" y="5417465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968875" y="3003540"/>
            <a:ext cx="60000" cy="6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932583" y="1445120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88412" y="4015556"/>
            <a:ext cx="60000" cy="6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697701" y="5207251"/>
            <a:ext cx="60000" cy="6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801910" y="1353958"/>
            <a:ext cx="60000" cy="6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388925" y="4060634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850552" y="5913454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16370" y="4253773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20559" y="5966795"/>
            <a:ext cx="60000" cy="6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411012" y="1595104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156082" y="4671073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417744" y="1119821"/>
            <a:ext cx="90000" cy="9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0730" y="6219067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892908" y="137760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16168" y="1023641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700701" y="281198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411480"/>
            <a:ext cx="457200" cy="38100"/>
          </a:xfrm>
          <a:prstGeom prst="rect">
            <a:avLst/>
          </a:prstGeom>
          <a:solidFill>
            <a:srgbClr val="F2C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7280" y="29260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2C94C"/>
                </a:solidFill>
                <a:latin typeface="Microsoft YaHei"/>
                <a:ea typeface="Microsoft YaHei"/>
              </a:rPr>
              <a:t>开场 · 我们今天要认识谁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29260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 i="0">
                <a:solidFill>
                  <a:srgbClr val="8A99B3"/>
                </a:solidFill>
                <a:latin typeface="Microsoft YaHei"/>
                <a:ea typeface="Microsoft YaHei"/>
              </a:rPr>
              <a:t>≈ 1 min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8A99B3"/>
                </a:solidFill>
                <a:latin typeface="Microsoft YaHei"/>
                <a:ea typeface="Microsoft YaHei"/>
              </a:rPr>
              <a:t>02 / 13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6400800"/>
            <a:ext cx="11064240" cy="9525"/>
          </a:xfrm>
          <a:prstGeom prst="rect">
            <a:avLst/>
          </a:prstGeom>
          <a:solidFill>
            <a:srgbClr val="8A99B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5F7FA"/>
                </a:solidFill>
                <a:latin typeface="Microsoft YaHei"/>
                <a:ea typeface="Microsoft YaHei"/>
              </a:rPr>
              <a:t>今天的三位主角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1417320"/>
            <a:ext cx="548640" cy="38100"/>
          </a:xfrm>
          <a:prstGeom prst="rect">
            <a:avLst/>
          </a:prstGeom>
          <a:solidFill>
            <a:srgbClr val="F2C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463040" y="13258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CBD5E0"/>
                </a:solidFill>
                <a:latin typeface="Microsoft YaHei"/>
                <a:ea typeface="Microsoft YaHei"/>
              </a:rPr>
              <a:t>三位站在科幻顶端的「武林高手」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18007" y="2057400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10254F"/>
          </a:solidFill>
          <a:ln w="15875">
            <a:solidFill>
              <a:srgbClr val="4BC8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18007" y="2057400"/>
            <a:ext cx="3566160" cy="164592"/>
          </a:xfrm>
          <a:prstGeom prst="rect">
            <a:avLst/>
          </a:prstGeom>
          <a:solidFill>
            <a:srgbClr val="4BC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569567" y="2560320"/>
            <a:ext cx="1463040" cy="1463040"/>
          </a:xfrm>
          <a:prstGeom prst="ellipse">
            <a:avLst/>
          </a:prstGeom>
          <a:solidFill>
            <a:srgbClr val="3B1E6E"/>
          </a:solidFill>
          <a:ln w="19050">
            <a:solidFill>
              <a:srgbClr val="4BC8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569567" y="2560320"/>
            <a:ext cx="146304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 i="0">
                <a:solidFill>
                  <a:srgbClr val="F2C94C"/>
                </a:solidFill>
                <a:latin typeface="Microsoft YaHei"/>
                <a:ea typeface="Microsoft YaHei"/>
              </a:rPr>
              <a:t>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8007" y="416052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4BC8E9"/>
                </a:solidFill>
                <a:latin typeface="Microsoft YaHei"/>
                <a:ea typeface="Microsoft YaHei"/>
              </a:rPr>
              <a:t>中国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8007" y="4480560"/>
            <a:ext cx="3566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1" i="0">
                <a:solidFill>
                  <a:srgbClr val="F5F7FA"/>
                </a:solidFill>
                <a:latin typeface="Microsoft YaHei"/>
                <a:ea typeface="Microsoft YaHei"/>
              </a:rPr>
              <a:t>刘慈欣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8007" y="507492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 i="1">
                <a:solidFill>
                  <a:srgbClr val="F2C94C"/>
                </a:solidFill>
                <a:latin typeface="Microsoft YaHei"/>
                <a:ea typeface="Microsoft YaHei"/>
              </a:rPr>
              <a:t>硬核宇宙派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2327" y="548640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CBD5E0"/>
                </a:solidFill>
                <a:latin typeface="Microsoft YaHei"/>
                <a:ea typeface="Microsoft YaHei"/>
              </a:rPr>
              <a:t>《三体》《流浪地球》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12767" y="2057400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10254F"/>
          </a:solidFill>
          <a:ln w="15875">
            <a:solidFill>
              <a:srgbClr val="F2C9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312767" y="2057400"/>
            <a:ext cx="3566160" cy="164592"/>
          </a:xfrm>
          <a:prstGeom prst="rect">
            <a:avLst/>
          </a:prstGeom>
          <a:solidFill>
            <a:srgbClr val="F2C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364327" y="2560320"/>
            <a:ext cx="1463040" cy="1463040"/>
          </a:xfrm>
          <a:prstGeom prst="ellipse">
            <a:avLst/>
          </a:prstGeom>
          <a:solidFill>
            <a:srgbClr val="3B1E6E"/>
          </a:solidFill>
          <a:ln w="19050">
            <a:solidFill>
              <a:srgbClr val="F2C9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364327" y="2560320"/>
            <a:ext cx="146304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 i="0">
                <a:solidFill>
                  <a:srgbClr val="F2C94C"/>
                </a:solidFill>
                <a:latin typeface="Microsoft YaHei"/>
                <a:ea typeface="Microsoft YaHei"/>
              </a:rPr>
              <a:t>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12767" y="416052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2C94C"/>
                </a:solidFill>
                <a:latin typeface="Microsoft YaHei"/>
                <a:ea typeface="Microsoft YaHei"/>
              </a:rPr>
              <a:t>美国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12767" y="4480560"/>
            <a:ext cx="3566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1" i="0">
                <a:solidFill>
                  <a:srgbClr val="F5F7FA"/>
                </a:solidFill>
                <a:latin typeface="Microsoft YaHei"/>
                <a:ea typeface="Microsoft YaHei"/>
              </a:rPr>
              <a:t>安迪 · 威尔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12767" y="507492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 i="1">
                <a:solidFill>
                  <a:srgbClr val="F2C94C"/>
                </a:solidFill>
                <a:latin typeface="Microsoft YaHei"/>
                <a:ea typeface="Microsoft YaHei"/>
              </a:rPr>
              <a:t>理科解谜派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87087" y="548640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CBD5E0"/>
                </a:solidFill>
                <a:latin typeface="Microsoft YaHei"/>
                <a:ea typeface="Microsoft YaHei"/>
              </a:rPr>
              <a:t>《火星救援》《挽救计划》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107527" y="2057400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10254F"/>
          </a:solidFill>
          <a:ln w="15875">
            <a:solidFill>
              <a:srgbClr val="E94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107527" y="2057400"/>
            <a:ext cx="3566160" cy="164592"/>
          </a:xfrm>
          <a:prstGeom prst="rect">
            <a:avLst/>
          </a:prstGeom>
          <a:solidFill>
            <a:srgbClr val="E94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159087" y="2560320"/>
            <a:ext cx="1463040" cy="1463040"/>
          </a:xfrm>
          <a:prstGeom prst="ellipse">
            <a:avLst/>
          </a:prstGeom>
          <a:solidFill>
            <a:srgbClr val="3B1E6E"/>
          </a:solidFill>
          <a:ln w="19050">
            <a:solidFill>
              <a:srgbClr val="E94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59087" y="2560320"/>
            <a:ext cx="146304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 i="0">
                <a:solidFill>
                  <a:srgbClr val="F2C94C"/>
                </a:solidFill>
                <a:latin typeface="Microsoft YaHei"/>
                <a:ea typeface="Microsoft YaHei"/>
              </a:rPr>
              <a:t>特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07527" y="416052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E94B7B"/>
                </a:solidFill>
                <a:latin typeface="Microsoft YaHei"/>
                <a:ea typeface="Microsoft YaHei"/>
              </a:rPr>
              <a:t>美籍华裔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07527" y="4480560"/>
            <a:ext cx="3566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1" i="0">
                <a:solidFill>
                  <a:srgbClr val="F5F7FA"/>
                </a:solidFill>
                <a:latin typeface="Microsoft YaHei"/>
                <a:ea typeface="Microsoft YaHei"/>
              </a:rPr>
              <a:t>特德 · 姜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07527" y="507492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 i="1">
                <a:solidFill>
                  <a:srgbClr val="F2C94C"/>
                </a:solidFill>
                <a:latin typeface="Microsoft YaHei"/>
                <a:ea typeface="Microsoft YaHei"/>
              </a:rPr>
              <a:t>哲思软科幻派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81847" y="548640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CBD5E0"/>
                </a:solidFill>
                <a:latin typeface="Microsoft YaHei"/>
                <a:ea typeface="Microsoft YaHei"/>
              </a:rPr>
              <a:t>《你一生的故事》《呼吸》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01192" y="3545707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28591" y="426927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161965" y="1526689"/>
            <a:ext cx="90000" cy="9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595388" y="3580902"/>
            <a:ext cx="60000" cy="6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827522" y="987834"/>
            <a:ext cx="60000" cy="6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37116" y="4374312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44111" y="3851072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40720" y="1755374"/>
            <a:ext cx="60000" cy="6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06448" y="6001049"/>
            <a:ext cx="60000" cy="6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753936" y="873994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7518" y="3224214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96996" y="5571880"/>
            <a:ext cx="60000" cy="6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998310" y="3479735"/>
            <a:ext cx="60000" cy="6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23752" y="4443181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2081843" y="4373414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760510" y="5894184"/>
            <a:ext cx="60000" cy="6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02639" y="1375500"/>
            <a:ext cx="60000" cy="6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474114" y="413452"/>
            <a:ext cx="90000" cy="9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9185" y="5215958"/>
            <a:ext cx="60000" cy="6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45362" y="2782871"/>
            <a:ext cx="60000" cy="6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11480"/>
            <a:ext cx="457200" cy="38100"/>
          </a:xfrm>
          <a:prstGeom prst="rect">
            <a:avLst/>
          </a:prstGeom>
          <a:solidFill>
            <a:srgbClr val="F2C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29260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2C94C"/>
                </a:solidFill>
                <a:latin typeface="Microsoft YaHei"/>
                <a:ea typeface="Microsoft YaHei"/>
              </a:rPr>
              <a:t>第一站 · 科幻的三大种类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29260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 i="0">
                <a:solidFill>
                  <a:srgbClr val="8A99B3"/>
                </a:solidFill>
                <a:latin typeface="Microsoft YaHei"/>
                <a:ea typeface="Microsoft YaHei"/>
              </a:rPr>
              <a:t>≈ 1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8A99B3"/>
                </a:solidFill>
                <a:latin typeface="Microsoft YaHei"/>
                <a:ea typeface="Microsoft YaHei"/>
              </a:rPr>
              <a:t>03 / 13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6400800"/>
            <a:ext cx="11064240" cy="9525"/>
          </a:xfrm>
          <a:prstGeom prst="rect">
            <a:avLst/>
          </a:prstGeom>
          <a:solidFill>
            <a:srgbClr val="8A99B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5F7FA"/>
                </a:solidFill>
                <a:latin typeface="Microsoft YaHei"/>
                <a:ea typeface="Microsoft YaHei"/>
              </a:rPr>
              <a:t>科幻小说的三大种类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1417320"/>
            <a:ext cx="548640" cy="38100"/>
          </a:xfrm>
          <a:prstGeom prst="rect">
            <a:avLst/>
          </a:prstGeom>
          <a:solidFill>
            <a:srgbClr val="F2C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63040" y="13258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CBD5E0"/>
                </a:solidFill>
                <a:latin typeface="Microsoft YaHei"/>
                <a:ea typeface="Microsoft YaHei"/>
              </a:rPr>
              <a:t>硬一点 · 软一点 · 再灾难一点——你最爱哪一种？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8007" y="2011680"/>
            <a:ext cx="3566160" cy="4206240"/>
          </a:xfrm>
          <a:prstGeom prst="roundRect">
            <a:avLst>
              <a:gd name="adj" fmla="val 5000"/>
            </a:avLst>
          </a:prstGeom>
          <a:solidFill>
            <a:srgbClr val="10254F"/>
          </a:solidFill>
          <a:ln w="15875">
            <a:solidFill>
              <a:srgbClr val="4BC8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3767" y="2286000"/>
            <a:ext cx="1097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800" b="1" i="0">
                <a:solidFill>
                  <a:srgbClr val="4BC8E9"/>
                </a:solidFill>
                <a:latin typeface="Calibri"/>
                <a:ea typeface="Calibri"/>
              </a:rPr>
              <a:t>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767" y="34290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 i="0">
                <a:solidFill>
                  <a:srgbClr val="F5F7FA"/>
                </a:solidFill>
                <a:latin typeface="Microsoft YaHei"/>
                <a:ea typeface="Microsoft YaHei"/>
              </a:rPr>
              <a:t>硬科幻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3767" y="402336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4BC8E9"/>
                </a:solidFill>
                <a:latin typeface="Microsoft YaHei"/>
                <a:ea typeface="Microsoft YaHei"/>
              </a:rPr>
              <a:t>科学迷的游乐园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3767" y="4434840"/>
            <a:ext cx="914400" cy="19050"/>
          </a:xfrm>
          <a:prstGeom prst="rect">
            <a:avLst/>
          </a:prstGeom>
          <a:solidFill>
            <a:srgbClr val="4BC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3767" y="4617720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CBD5E0"/>
                </a:solidFill>
                <a:latin typeface="Microsoft YaHei"/>
                <a:ea typeface="Microsoft YaHei"/>
              </a:rPr>
              <a:t>用真实物理 / 化学 / 天文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CBD5E0"/>
                </a:solidFill>
                <a:latin typeface="Microsoft YaHei"/>
                <a:ea typeface="Microsoft YaHei"/>
              </a:rPr>
              <a:t>一步步算出活路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3767" y="553212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8A99B3"/>
                </a:solidFill>
                <a:latin typeface="Microsoft YaHei"/>
                <a:ea typeface="Microsoft YaHei"/>
              </a:rPr>
              <a:t>代表作品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3767" y="5760719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F2C94C"/>
                </a:solidFill>
                <a:latin typeface="Microsoft YaHei"/>
                <a:ea typeface="Microsoft YaHei"/>
              </a:rPr>
              <a:t>刘慈欣《三体》水滴</a:t>
            </a:r>
          </a:p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F2C94C"/>
                </a:solidFill>
                <a:latin typeface="Microsoft YaHei"/>
                <a:ea typeface="Microsoft YaHei"/>
              </a:rPr>
              <a:t>安迪 · 威尔《火星救援》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12767" y="2011680"/>
            <a:ext cx="3566160" cy="4206240"/>
          </a:xfrm>
          <a:prstGeom prst="roundRect">
            <a:avLst>
              <a:gd name="adj" fmla="val 5000"/>
            </a:avLst>
          </a:prstGeom>
          <a:solidFill>
            <a:srgbClr val="10254F"/>
          </a:solidFill>
          <a:ln w="15875">
            <a:solidFill>
              <a:srgbClr val="E94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78527" y="2286000"/>
            <a:ext cx="1097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800" b="1" i="0">
                <a:solidFill>
                  <a:srgbClr val="E94B7B"/>
                </a:solidFill>
                <a:latin typeface="Calibri"/>
                <a:ea typeface="Calibri"/>
              </a:rPr>
              <a:t>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78527" y="34290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 i="0">
                <a:solidFill>
                  <a:srgbClr val="F5F7FA"/>
                </a:solidFill>
                <a:latin typeface="Microsoft YaHei"/>
                <a:ea typeface="Microsoft YaHei"/>
              </a:rPr>
              <a:t>软科幻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78527" y="402336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E94B7B"/>
                </a:solidFill>
                <a:latin typeface="Microsoft YaHei"/>
                <a:ea typeface="Microsoft YaHei"/>
              </a:rPr>
              <a:t>情感与哲思的茶馆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78527" y="4434840"/>
            <a:ext cx="914400" cy="19050"/>
          </a:xfrm>
          <a:prstGeom prst="rect">
            <a:avLst/>
          </a:prstGeom>
          <a:solidFill>
            <a:srgbClr val="E94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78527" y="4617720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CBD5E0"/>
                </a:solidFill>
                <a:latin typeface="Microsoft YaHei"/>
                <a:ea typeface="Microsoft YaHei"/>
              </a:rPr>
              <a:t>科学只是背景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CBD5E0"/>
                </a:solidFill>
                <a:latin typeface="Microsoft YaHei"/>
                <a:ea typeface="Microsoft YaHei"/>
              </a:rPr>
              <a:t>讲人的感情、选择和命运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78527" y="553212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8A99B3"/>
                </a:solidFill>
                <a:latin typeface="Microsoft YaHei"/>
                <a:ea typeface="Microsoft YaHei"/>
              </a:rPr>
              <a:t>代表作品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78527" y="5760719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F2C94C"/>
                </a:solidFill>
                <a:latin typeface="Microsoft YaHei"/>
                <a:ea typeface="Microsoft YaHei"/>
              </a:rPr>
              <a:t>特德 · 姜</a:t>
            </a:r>
          </a:p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F2C94C"/>
                </a:solidFill>
                <a:latin typeface="Microsoft YaHei"/>
                <a:ea typeface="Microsoft YaHei"/>
              </a:rPr>
              <a:t>《你一生的故事》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07527" y="2011680"/>
            <a:ext cx="3566160" cy="4206240"/>
          </a:xfrm>
          <a:prstGeom prst="roundRect">
            <a:avLst>
              <a:gd name="adj" fmla="val 5000"/>
            </a:avLst>
          </a:prstGeom>
          <a:solidFill>
            <a:srgbClr val="10254F"/>
          </a:solidFill>
          <a:ln w="15875">
            <a:solidFill>
              <a:srgbClr val="F2C9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73287" y="2286000"/>
            <a:ext cx="1097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800" b="1" i="0">
                <a:solidFill>
                  <a:srgbClr val="F2C94C"/>
                </a:solidFill>
                <a:latin typeface="Calibri"/>
                <a:ea typeface="Calibri"/>
              </a:rPr>
              <a:t>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73287" y="34290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 i="0">
                <a:solidFill>
                  <a:srgbClr val="F5F7FA"/>
                </a:solidFill>
                <a:latin typeface="Microsoft YaHei"/>
                <a:ea typeface="Microsoft YaHei"/>
              </a:rPr>
              <a:t>灾难科幻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73287" y="402336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F2C94C"/>
                </a:solidFill>
                <a:latin typeface="Microsoft YaHei"/>
                <a:ea typeface="Microsoft YaHei"/>
              </a:rPr>
              <a:t>末日生存指南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473287" y="4434840"/>
            <a:ext cx="914400" cy="19050"/>
          </a:xfrm>
          <a:prstGeom prst="rect">
            <a:avLst/>
          </a:prstGeom>
          <a:solidFill>
            <a:srgbClr val="F2C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73287" y="4617720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CBD5E0"/>
                </a:solidFill>
                <a:latin typeface="Microsoft YaHei"/>
                <a:ea typeface="Microsoft YaHei"/>
              </a:rPr>
              <a:t>地球或人类遭遇大麻烦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CBD5E0"/>
                </a:solidFill>
                <a:latin typeface="Microsoft YaHei"/>
                <a:ea typeface="Microsoft YaHei"/>
              </a:rPr>
              <a:t>看人怎么靠智慧团结活下去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73287" y="553212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8A99B3"/>
                </a:solidFill>
                <a:latin typeface="Microsoft YaHei"/>
                <a:ea typeface="Microsoft YaHei"/>
              </a:rPr>
              <a:t>代表作品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73287" y="5760719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F2C94C"/>
                </a:solidFill>
                <a:latin typeface="Microsoft YaHei"/>
                <a:ea typeface="Microsoft YaHei"/>
              </a:rPr>
              <a:t>刘慈欣《流浪地球》《三体》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F2C94C"/>
                </a:solidFill>
                <a:latin typeface="Microsoft YaHei"/>
                <a:ea typeface="Microsoft YaHei"/>
              </a:rPr>
              <a:t>★  小提醒：很多书是混搭的——但最打动人的，永远是「人」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877826" y="672137"/>
            <a:ext cx="60000" cy="6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889374" y="433352"/>
            <a:ext cx="60000" cy="6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758870" y="4985110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373230" y="1124926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613904" y="6042596"/>
            <a:ext cx="90000" cy="9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758815" y="1260252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643895" y="4768367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299412" y="2198210"/>
            <a:ext cx="60000" cy="6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67563" y="3085472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7918" y="1902029"/>
            <a:ext cx="90000" cy="9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339094" y="3312096"/>
            <a:ext cx="60000" cy="6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01758" y="2808288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719827" y="5294120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64743" y="4080737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44899" y="945098"/>
            <a:ext cx="90000" cy="9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9997" y="5951751"/>
            <a:ext cx="90000" cy="9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368624" y="2318272"/>
            <a:ext cx="90000" cy="9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34803" y="1294629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234029" y="4613749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489159" y="6088887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11480"/>
            <a:ext cx="457200" cy="38100"/>
          </a:xfrm>
          <a:prstGeom prst="rect">
            <a:avLst/>
          </a:prstGeom>
          <a:solidFill>
            <a:srgbClr val="F2C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29260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2C94C"/>
                </a:solidFill>
                <a:latin typeface="Microsoft YaHei"/>
                <a:ea typeface="Microsoft YaHei"/>
              </a:rPr>
              <a:t>第二站 · 故事的骨架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29260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 i="0">
                <a:solidFill>
                  <a:srgbClr val="8A99B3"/>
                </a:solidFill>
                <a:latin typeface="Microsoft YaHei"/>
                <a:ea typeface="Microsoft YaHei"/>
              </a:rPr>
              <a:t>≈ 1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8A99B3"/>
                </a:solidFill>
                <a:latin typeface="Microsoft YaHei"/>
                <a:ea typeface="Microsoft YaHei"/>
              </a:rPr>
              <a:t>04 / 13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6400800"/>
            <a:ext cx="11064240" cy="9525"/>
          </a:xfrm>
          <a:prstGeom prst="rect">
            <a:avLst/>
          </a:prstGeom>
          <a:solidFill>
            <a:srgbClr val="8A99B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5F7FA"/>
                </a:solidFill>
                <a:latin typeface="Microsoft YaHei"/>
                <a:ea typeface="Microsoft YaHei"/>
              </a:rPr>
              <a:t>科幻故事的「四块积木」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1417320"/>
            <a:ext cx="548640" cy="38100"/>
          </a:xfrm>
          <a:prstGeom prst="rect">
            <a:avLst/>
          </a:prstGeom>
          <a:solidFill>
            <a:srgbClr val="F2C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63040" y="13258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CBD5E0"/>
                </a:solidFill>
                <a:latin typeface="Microsoft YaHei"/>
                <a:ea typeface="Microsoft YaHei"/>
              </a:rPr>
              <a:t>几乎每一个科幻故事，都由这四块拼成（以《火星救援》为例）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3999" y="201168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10254F"/>
          </a:solidFill>
          <a:ln w="15875">
            <a:solidFill>
              <a:srgbClr val="4BC8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28319" y="2286000"/>
            <a:ext cx="640080" cy="640080"/>
          </a:xfrm>
          <a:prstGeom prst="ellipse">
            <a:avLst/>
          </a:prstGeom>
          <a:solidFill>
            <a:srgbClr val="4BC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8319" y="22860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 i="0">
                <a:solidFill>
                  <a:srgbClr val="0B1A3A"/>
                </a:solidFill>
                <a:latin typeface="Calibri"/>
                <a:ea typeface="Calibr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59839" y="2240280"/>
            <a:ext cx="1371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 i="0">
                <a:solidFill>
                  <a:srgbClr val="4BC8E9"/>
                </a:solidFill>
                <a:latin typeface="Calibri"/>
                <a:ea typeface="Calibri"/>
              </a:rPr>
              <a:t>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319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 i="0">
                <a:solidFill>
                  <a:srgbClr val="F5F7FA"/>
                </a:solidFill>
                <a:latin typeface="Microsoft YaHei"/>
                <a:ea typeface="Microsoft YaHei"/>
              </a:rPr>
              <a:t>一个假设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8319" y="3886199"/>
            <a:ext cx="2148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1">
                <a:solidFill>
                  <a:srgbClr val="4BC8E9"/>
                </a:solidFill>
                <a:latin typeface="Microsoft YaHei"/>
                <a:ea typeface="Microsoft YaHei"/>
              </a:rPr>
              <a:t>如果……会怎样？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8319" y="4754880"/>
            <a:ext cx="914400" cy="19050"/>
          </a:xfrm>
          <a:prstGeom prst="rect">
            <a:avLst/>
          </a:prstGeom>
          <a:solidFill>
            <a:srgbClr val="4BC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8319" y="4892040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8A99B3"/>
                </a:solidFill>
                <a:latin typeface="Microsoft YaHei"/>
                <a:ea typeface="Microsoft YaHei"/>
              </a:rPr>
              <a:t>《火星救援》中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8319" y="5166360"/>
            <a:ext cx="21488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CBD5E0"/>
                </a:solidFill>
                <a:latin typeface="Microsoft YaHei"/>
                <a:ea typeface="Microsoft YaHei"/>
              </a:rPr>
              <a:t>如果一个人被独自丢在火星？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16071" y="201168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10254F"/>
          </a:solidFill>
          <a:ln w="15875">
            <a:solidFill>
              <a:srgbClr val="E94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590391" y="2286000"/>
            <a:ext cx="640080" cy="640080"/>
          </a:xfrm>
          <a:prstGeom prst="ellipse">
            <a:avLst/>
          </a:prstGeom>
          <a:solidFill>
            <a:srgbClr val="E94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90391" y="22860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 i="0">
                <a:solidFill>
                  <a:srgbClr val="0B1A3A"/>
                </a:solidFill>
                <a:latin typeface="Calibri"/>
                <a:ea typeface="Calibri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21911" y="2240280"/>
            <a:ext cx="1371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 i="0">
                <a:solidFill>
                  <a:srgbClr val="E94B7B"/>
                </a:solidFill>
                <a:latin typeface="Calibri"/>
                <a:ea typeface="Calibri"/>
              </a:rPr>
              <a:t>!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0391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 i="0">
                <a:solidFill>
                  <a:srgbClr val="F5F7FA"/>
                </a:solidFill>
                <a:latin typeface="Microsoft YaHei"/>
                <a:ea typeface="Microsoft YaHei"/>
              </a:rPr>
              <a:t>一个麻烦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0391" y="3886199"/>
            <a:ext cx="2148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1">
                <a:solidFill>
                  <a:srgbClr val="E94B7B"/>
                </a:solidFill>
                <a:latin typeface="Microsoft YaHei"/>
                <a:ea typeface="Microsoft YaHei"/>
              </a:rPr>
              <a:t>假设带来的大问题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590391" y="4754880"/>
            <a:ext cx="914400" cy="19050"/>
          </a:xfrm>
          <a:prstGeom prst="rect">
            <a:avLst/>
          </a:prstGeom>
          <a:solidFill>
            <a:srgbClr val="E94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90391" y="4892040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8A99B3"/>
                </a:solidFill>
                <a:latin typeface="Microsoft YaHei"/>
                <a:ea typeface="Microsoft YaHei"/>
              </a:rPr>
              <a:t>《火星救援》中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90391" y="5166360"/>
            <a:ext cx="21488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CBD5E0"/>
                </a:solidFill>
                <a:latin typeface="Microsoft YaHei"/>
                <a:ea typeface="Microsoft YaHei"/>
              </a:rPr>
              <a:t>食物撑不到救援，无法和地球联系。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78143" y="201168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10254F"/>
          </a:solidFill>
          <a:ln w="15875">
            <a:solidFill>
              <a:srgbClr val="F2C9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452463" y="2286000"/>
            <a:ext cx="640080" cy="640080"/>
          </a:xfrm>
          <a:prstGeom prst="ellipse">
            <a:avLst/>
          </a:prstGeom>
          <a:solidFill>
            <a:srgbClr val="F2C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52463" y="22860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 i="0">
                <a:solidFill>
                  <a:srgbClr val="0B1A3A"/>
                </a:solidFill>
                <a:latin typeface="Calibri"/>
                <a:ea typeface="Calibri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83983" y="2240280"/>
            <a:ext cx="1371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 i="0">
                <a:solidFill>
                  <a:srgbClr val="F2C94C"/>
                </a:solidFill>
                <a:latin typeface="Calibri"/>
                <a:ea typeface="Calibri"/>
              </a:rPr>
              <a:t>★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52463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 i="0">
                <a:solidFill>
                  <a:srgbClr val="F5F7FA"/>
                </a:solidFill>
                <a:latin typeface="Microsoft YaHei"/>
                <a:ea typeface="Microsoft YaHei"/>
              </a:rPr>
              <a:t>一个英雄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52463" y="3886199"/>
            <a:ext cx="2148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1">
                <a:solidFill>
                  <a:srgbClr val="F2C94C"/>
                </a:solidFill>
                <a:latin typeface="Microsoft YaHei"/>
                <a:ea typeface="Microsoft YaHei"/>
              </a:rPr>
              <a:t>不一定有超能力，</a:t>
            </a:r>
          </a:p>
          <a:p>
            <a:pPr algn="l">
              <a:lnSpc>
                <a:spcPct val="140000"/>
              </a:lnSpc>
            </a:pPr>
            <a:r>
              <a:rPr sz="1400" b="0" i="1">
                <a:solidFill>
                  <a:srgbClr val="F2C94C"/>
                </a:solidFill>
                <a:latin typeface="Microsoft YaHei"/>
                <a:ea typeface="Microsoft YaHei"/>
              </a:rPr>
              <a:t>但一定要动脑子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52463" y="4754880"/>
            <a:ext cx="914400" cy="19050"/>
          </a:xfrm>
          <a:prstGeom prst="rect">
            <a:avLst/>
          </a:prstGeom>
          <a:solidFill>
            <a:srgbClr val="F2C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52463" y="4892040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8A99B3"/>
                </a:solidFill>
                <a:latin typeface="Microsoft YaHei"/>
                <a:ea typeface="Microsoft YaHei"/>
              </a:rPr>
              <a:t>《火星救援》中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52463" y="5166360"/>
            <a:ext cx="21488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CBD5E0"/>
                </a:solidFill>
                <a:latin typeface="Microsoft YaHei"/>
                <a:ea typeface="Microsoft YaHei"/>
              </a:rPr>
              <a:t>宇航员马克——一位植物学专家。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040215" y="201168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10254F"/>
          </a:solidFill>
          <a:ln w="15875">
            <a:solidFill>
              <a:srgbClr val="4BC8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314535" y="2286000"/>
            <a:ext cx="640080" cy="640080"/>
          </a:xfrm>
          <a:prstGeom prst="ellipse">
            <a:avLst/>
          </a:prstGeom>
          <a:solidFill>
            <a:srgbClr val="4BC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314535" y="22860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 i="0">
                <a:solidFill>
                  <a:srgbClr val="0B1A3A"/>
                </a:solidFill>
                <a:latin typeface="Calibri"/>
                <a:ea typeface="Calibri"/>
              </a:rP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046055" y="2240280"/>
            <a:ext cx="1371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 i="0">
                <a:solidFill>
                  <a:srgbClr val="4BC8E9"/>
                </a:solidFill>
                <a:latin typeface="Calibri"/>
                <a:ea typeface="Calibri"/>
              </a:rPr>
              <a:t>✓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14535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 i="0">
                <a:solidFill>
                  <a:srgbClr val="F5F7FA"/>
                </a:solidFill>
                <a:latin typeface="Microsoft YaHei"/>
                <a:ea typeface="Microsoft YaHei"/>
              </a:rPr>
              <a:t>一个结局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314535" y="3886199"/>
            <a:ext cx="2148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1">
                <a:solidFill>
                  <a:srgbClr val="4BC8E9"/>
                </a:solidFill>
                <a:latin typeface="Microsoft YaHei"/>
                <a:ea typeface="Microsoft YaHei"/>
              </a:rPr>
              <a:t>问题解决了吗？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314535" y="4754880"/>
            <a:ext cx="914400" cy="19050"/>
          </a:xfrm>
          <a:prstGeom prst="rect">
            <a:avLst/>
          </a:prstGeom>
          <a:solidFill>
            <a:srgbClr val="4BC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314535" y="4892040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8A99B3"/>
                </a:solidFill>
                <a:latin typeface="Microsoft YaHei"/>
                <a:ea typeface="Microsoft YaHei"/>
              </a:rPr>
              <a:t>《火星救援》中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14535" y="5166360"/>
            <a:ext cx="21488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CBD5E0"/>
                </a:solidFill>
                <a:latin typeface="Microsoft YaHei"/>
                <a:ea typeface="Microsoft YaHei"/>
              </a:rPr>
              <a:t>成功获救：科学计算 + 一点运气。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515273" y="3646973"/>
            <a:ext cx="60000" cy="6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191445" y="3826870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679338" y="5166323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98975" y="590727"/>
            <a:ext cx="90000" cy="9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259380" y="2581021"/>
            <a:ext cx="60000" cy="6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96992" y="5418619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34667" y="5730453"/>
            <a:ext cx="60000" cy="6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86460" y="2125833"/>
            <a:ext cx="60000" cy="6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29002" y="4171564"/>
            <a:ext cx="60000" cy="6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076382" y="2979549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163120" y="6487030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843763" y="1496296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6143" y="4992442"/>
            <a:ext cx="60000" cy="6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321289" y="2518174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602947" y="6039772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77532" y="4618548"/>
            <a:ext cx="60000" cy="6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903446" y="1293183"/>
            <a:ext cx="90000" cy="9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107294" y="2027561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11480"/>
            <a:ext cx="457200" cy="38100"/>
          </a:xfrm>
          <a:prstGeom prst="rect">
            <a:avLst/>
          </a:prstGeom>
          <a:solidFill>
            <a:srgbClr val="F2C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29260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2C94C"/>
                </a:solidFill>
                <a:latin typeface="Microsoft YaHei"/>
                <a:ea typeface="Microsoft YaHei"/>
              </a:rPr>
              <a:t>第三站 · 拍大腿的设定 · 1/3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29260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 i="0">
                <a:solidFill>
                  <a:srgbClr val="8A99B3"/>
                </a:solidFill>
                <a:latin typeface="Microsoft YaHei"/>
                <a:ea typeface="Microsoft YaHei"/>
              </a:rPr>
              <a:t>≈ 1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8A99B3"/>
                </a:solidFill>
                <a:latin typeface="Microsoft YaHei"/>
                <a:ea typeface="Microsoft YaHei"/>
              </a:rPr>
              <a:t>05 / 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6400800"/>
            <a:ext cx="11064240" cy="9525"/>
          </a:xfrm>
          <a:prstGeom prst="rect">
            <a:avLst/>
          </a:prstGeom>
          <a:solidFill>
            <a:srgbClr val="8A99B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F5F7FA"/>
                </a:solidFill>
                <a:latin typeface="Microsoft YaHei"/>
                <a:ea typeface="Microsoft YaHei"/>
              </a:rPr>
              <a:t>刘慈欣 的「世界观工具箱」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1417320"/>
            <a:ext cx="548640" cy="38100"/>
          </a:xfrm>
          <a:prstGeom prst="rect">
            <a:avLst/>
          </a:prstGeom>
          <a:solidFill>
            <a:srgbClr val="4BC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63040" y="13258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CBD5E0"/>
                </a:solidFill>
                <a:latin typeface="Microsoft YaHei"/>
                <a:ea typeface="Microsoft YaHei"/>
              </a:rPr>
              <a:t>硬核宇宙派 · 一个设定，世界观秒变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2103120"/>
            <a:ext cx="5349240" cy="4160520"/>
          </a:xfrm>
          <a:prstGeom prst="roundRect">
            <a:avLst>
              <a:gd name="adj" fmla="val 4000"/>
            </a:avLst>
          </a:prstGeom>
          <a:solidFill>
            <a:srgbClr val="10254F"/>
          </a:solidFill>
          <a:ln w="12700">
            <a:solidFill>
              <a:srgbClr val="4BC8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237744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4BC8E9"/>
                </a:solidFill>
                <a:latin typeface="Microsoft YaHei"/>
                <a:ea typeface="Microsoft YaHei"/>
              </a:rPr>
              <a:t>设定 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2743200"/>
            <a:ext cx="4709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2C94C"/>
                </a:solidFill>
                <a:latin typeface="Microsoft YaHei"/>
                <a:ea typeface="Microsoft YaHei"/>
              </a:rPr>
              <a:t>黑暗森林法则（《三体》）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3931920"/>
            <a:ext cx="914400" cy="19050"/>
          </a:xfrm>
          <a:prstGeom prst="rect">
            <a:avLst/>
          </a:prstGeom>
          <a:solidFill>
            <a:srgbClr val="4BC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4114800"/>
            <a:ext cx="47091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>宇宙像一片黑暗的森林，每个文明都是带枪的猎人——</a:t>
            </a:r>
          </a:p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>谁先暴露，谁就被消灭。</a:t>
            </a:r>
          </a:p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>读完之后，你也许会忍不住，抬头看一眼窗外的星空。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2103120"/>
            <a:ext cx="5349240" cy="4160520"/>
          </a:xfrm>
          <a:prstGeom prst="roundRect">
            <a:avLst>
              <a:gd name="adj" fmla="val 4000"/>
            </a:avLst>
          </a:prstGeom>
          <a:solidFill>
            <a:srgbClr val="10254F"/>
          </a:solidFill>
          <a:ln w="12700">
            <a:solidFill>
              <a:srgbClr val="4BC8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20840" y="237744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4BC8E9"/>
                </a:solidFill>
                <a:latin typeface="Microsoft YaHei"/>
                <a:ea typeface="Microsoft YaHei"/>
              </a:rPr>
              <a:t>设定 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743200"/>
            <a:ext cx="4709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2C94C"/>
                </a:solidFill>
                <a:latin typeface="Microsoft YaHei"/>
                <a:ea typeface="Microsoft YaHei"/>
              </a:rPr>
              <a:t>思想钢印（《三体》）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20840" y="3931920"/>
            <a:ext cx="914400" cy="19050"/>
          </a:xfrm>
          <a:prstGeom prst="rect">
            <a:avLst/>
          </a:prstGeom>
          <a:solidFill>
            <a:srgbClr val="4BC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20840" y="4114800"/>
            <a:ext cx="47091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>给士兵注入一种东西，让他坚信「人类必胜」。</a:t>
            </a:r>
          </a:p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>哪怕面对必败的敌人，他也会冲锋。</a:t>
            </a:r>
          </a:p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>刘慈欣问你：如果活下去需要自我欺骗，你愿意吗？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785820" y="4283499"/>
            <a:ext cx="90000" cy="9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738540" y="70756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341111" y="5279498"/>
            <a:ext cx="90000" cy="9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05282" y="4308573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482342" y="2213050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25032" y="1300632"/>
            <a:ext cx="60000" cy="6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307862" y="5198242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03030" y="5340125"/>
            <a:ext cx="90000" cy="9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09175" y="6431276"/>
            <a:ext cx="60000" cy="6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057059" y="6328256"/>
            <a:ext cx="60000" cy="6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753429" y="3636501"/>
            <a:ext cx="90000" cy="9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68223" y="3304769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405711" y="4353057"/>
            <a:ext cx="60000" cy="6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428355" y="3525640"/>
            <a:ext cx="90000" cy="9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794963" y="6360716"/>
            <a:ext cx="90000" cy="9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4451" y="2365818"/>
            <a:ext cx="90000" cy="9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14432" y="741629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429515" y="3331499"/>
            <a:ext cx="60000" cy="6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11480"/>
            <a:ext cx="457200" cy="38100"/>
          </a:xfrm>
          <a:prstGeom prst="rect">
            <a:avLst/>
          </a:prstGeom>
          <a:solidFill>
            <a:srgbClr val="F2C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29260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2C94C"/>
                </a:solidFill>
                <a:latin typeface="Microsoft YaHei"/>
                <a:ea typeface="Microsoft YaHei"/>
              </a:rPr>
              <a:t>第三站 · 拍大腿的设定 · 2/3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29260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 i="0">
                <a:solidFill>
                  <a:srgbClr val="8A99B3"/>
                </a:solidFill>
                <a:latin typeface="Microsoft YaHei"/>
                <a:ea typeface="Microsoft YaHei"/>
              </a:rPr>
              <a:t>≈ 1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8A99B3"/>
                </a:solidFill>
                <a:latin typeface="Microsoft YaHei"/>
                <a:ea typeface="Microsoft YaHei"/>
              </a:rPr>
              <a:t>06 / 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6400800"/>
            <a:ext cx="11064240" cy="9525"/>
          </a:xfrm>
          <a:prstGeom prst="rect">
            <a:avLst/>
          </a:prstGeom>
          <a:solidFill>
            <a:srgbClr val="8A99B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F5F7FA"/>
                </a:solidFill>
                <a:latin typeface="Microsoft YaHei"/>
                <a:ea typeface="Microsoft YaHei"/>
              </a:rPr>
              <a:t>安迪 · 威尔 的「世界观工具箱」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1417320"/>
            <a:ext cx="548640" cy="38100"/>
          </a:xfrm>
          <a:prstGeom prst="rect">
            <a:avLst/>
          </a:prstGeom>
          <a:solidFill>
            <a:srgbClr val="F2C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63040" y="13258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CBD5E0"/>
                </a:solidFill>
                <a:latin typeface="Microsoft YaHei"/>
                <a:ea typeface="Microsoft YaHei"/>
              </a:rPr>
              <a:t>理科解谜派 · 用真实科学撑起每一步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2103120"/>
            <a:ext cx="5349240" cy="4160520"/>
          </a:xfrm>
          <a:prstGeom prst="roundRect">
            <a:avLst>
              <a:gd name="adj" fmla="val 4000"/>
            </a:avLst>
          </a:prstGeom>
          <a:solidFill>
            <a:srgbClr val="10254F"/>
          </a:solidFill>
          <a:ln w="12700">
            <a:solidFill>
              <a:srgbClr val="F2C9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237744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2C94C"/>
                </a:solidFill>
                <a:latin typeface="Microsoft YaHei"/>
                <a:ea typeface="Microsoft YaHei"/>
              </a:rPr>
              <a:t>设定 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2743200"/>
            <a:ext cx="4709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2C94C"/>
                </a:solidFill>
                <a:latin typeface="Microsoft YaHei"/>
                <a:ea typeface="Microsoft YaHei"/>
              </a:rPr>
              <a:t>火星种土豆（《火星救援》）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3931920"/>
            <a:ext cx="914400" cy="19050"/>
          </a:xfrm>
          <a:prstGeom prst="rect">
            <a:avLst/>
          </a:prstGeom>
          <a:solidFill>
            <a:srgbClr val="F2C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4114800"/>
            <a:ext cx="47091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>一个人，用粪便当肥料，用火箭燃料造水，</a:t>
            </a:r>
          </a:p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>在火星大棚里，种出了能救自己命的土豆。</a:t>
            </a:r>
          </a:p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>这不是魔法——是一道道步步可算的科学题。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2103120"/>
            <a:ext cx="5349240" cy="4160520"/>
          </a:xfrm>
          <a:prstGeom prst="roundRect">
            <a:avLst>
              <a:gd name="adj" fmla="val 4000"/>
            </a:avLst>
          </a:prstGeom>
          <a:solidFill>
            <a:srgbClr val="10254F"/>
          </a:solidFill>
          <a:ln w="12700">
            <a:solidFill>
              <a:srgbClr val="F2C9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20840" y="237744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2C94C"/>
                </a:solidFill>
                <a:latin typeface="Microsoft YaHei"/>
                <a:ea typeface="Microsoft YaHei"/>
              </a:rPr>
              <a:t>设定 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743200"/>
            <a:ext cx="4709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2C94C"/>
                </a:solidFill>
                <a:latin typeface="Microsoft YaHei"/>
                <a:ea typeface="Microsoft YaHei"/>
              </a:rPr>
              <a:t>跨物种语言破译（《挽救计划》）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20840" y="3931920"/>
            <a:ext cx="914400" cy="19050"/>
          </a:xfrm>
          <a:prstGeom prst="rect">
            <a:avLst/>
          </a:prstGeom>
          <a:solidFill>
            <a:srgbClr val="F2C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20840" y="4114800"/>
            <a:ext cx="47091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>人类遇到外星蜘蛛「洛基」，对方只会「敲—敲—敲」。</a:t>
            </a:r>
          </a:p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>主角用质数数列当翻译机，硬是从零开始学会了交流。</a:t>
            </a:r>
          </a:p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>★ 我超爱这个设定——科学，能让两个完全不同的生灵成为朋友。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157752" y="4464524"/>
            <a:ext cx="90000" cy="9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949103" y="4340265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87517" y="3461568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433" y="822835"/>
            <a:ext cx="90000" cy="9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106050" y="5436078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74794" y="4852121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337038" y="1524714"/>
            <a:ext cx="60000" cy="6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177315" y="5789509"/>
            <a:ext cx="90000" cy="9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988633" y="2254089"/>
            <a:ext cx="60000" cy="6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23518" y="3610840"/>
            <a:ext cx="90000" cy="9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368974" y="4749175"/>
            <a:ext cx="60000" cy="6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5916" y="1168886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24491" y="1705407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841677" y="3760532"/>
            <a:ext cx="60000" cy="6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892654" y="5776425"/>
            <a:ext cx="90000" cy="9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598347" y="2803974"/>
            <a:ext cx="90000" cy="9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0966" y="4683588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728118" y="5251791"/>
            <a:ext cx="60000" cy="6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11480"/>
            <a:ext cx="457200" cy="38100"/>
          </a:xfrm>
          <a:prstGeom prst="rect">
            <a:avLst/>
          </a:prstGeom>
          <a:solidFill>
            <a:srgbClr val="F2C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29260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2C94C"/>
                </a:solidFill>
                <a:latin typeface="Microsoft YaHei"/>
                <a:ea typeface="Microsoft YaHei"/>
              </a:rPr>
              <a:t>第三站 · 拍大腿的设定 · 3/3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29260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 i="0">
                <a:solidFill>
                  <a:srgbClr val="8A99B3"/>
                </a:solidFill>
                <a:latin typeface="Microsoft YaHei"/>
                <a:ea typeface="Microsoft YaHei"/>
              </a:rPr>
              <a:t>≈ 1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8A99B3"/>
                </a:solidFill>
                <a:latin typeface="Microsoft YaHei"/>
                <a:ea typeface="Microsoft YaHei"/>
              </a:rPr>
              <a:t>07 / 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6400800"/>
            <a:ext cx="11064240" cy="9525"/>
          </a:xfrm>
          <a:prstGeom prst="rect">
            <a:avLst/>
          </a:prstGeom>
          <a:solidFill>
            <a:srgbClr val="8A99B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F5F7FA"/>
                </a:solidFill>
                <a:latin typeface="Microsoft YaHei"/>
                <a:ea typeface="Microsoft YaHei"/>
              </a:rPr>
              <a:t>特德 · 姜 的「世界观工具箱」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1417320"/>
            <a:ext cx="548640" cy="38100"/>
          </a:xfrm>
          <a:prstGeom prst="rect">
            <a:avLst/>
          </a:prstGeom>
          <a:solidFill>
            <a:srgbClr val="E94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63040" y="13258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CBD5E0"/>
                </a:solidFill>
                <a:latin typeface="Microsoft YaHei"/>
                <a:ea typeface="Microsoft YaHei"/>
              </a:rPr>
              <a:t>哲思软科幻派 · 不爆炸，但让你想很久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2103120"/>
            <a:ext cx="5349240" cy="4160520"/>
          </a:xfrm>
          <a:prstGeom prst="roundRect">
            <a:avLst>
              <a:gd name="adj" fmla="val 4000"/>
            </a:avLst>
          </a:prstGeom>
          <a:solidFill>
            <a:srgbClr val="10254F"/>
          </a:solidFill>
          <a:ln w="12700">
            <a:solidFill>
              <a:srgbClr val="E94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237744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E94B7B"/>
                </a:solidFill>
                <a:latin typeface="Microsoft YaHei"/>
                <a:ea typeface="Microsoft YaHei"/>
              </a:rPr>
              <a:t>设定 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2743200"/>
            <a:ext cx="4709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2C94C"/>
                </a:solidFill>
                <a:latin typeface="Microsoft YaHei"/>
                <a:ea typeface="Microsoft YaHei"/>
              </a:rPr>
              <a:t>预知未来的语言（《你一生的故事》）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3931920"/>
            <a:ext cx="914400" cy="19050"/>
          </a:xfrm>
          <a:prstGeom prst="rect">
            <a:avLst/>
          </a:prstGeom>
          <a:solidFill>
            <a:srgbClr val="E94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4114800"/>
            <a:ext cx="47091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>学会外星人的语言后，你的思维方式会改变，</a:t>
            </a:r>
          </a:p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>能同时看见过去与未来。</a:t>
            </a:r>
          </a:p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>你知道女儿会怎样离开，却仍然，选择把她生下来。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2103120"/>
            <a:ext cx="5349240" cy="4160520"/>
          </a:xfrm>
          <a:prstGeom prst="roundRect">
            <a:avLst>
              <a:gd name="adj" fmla="val 4000"/>
            </a:avLst>
          </a:prstGeom>
          <a:solidFill>
            <a:srgbClr val="10254F"/>
          </a:solidFill>
          <a:ln w="12700">
            <a:solidFill>
              <a:srgbClr val="E94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20840" y="237744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E94B7B"/>
                </a:solidFill>
                <a:latin typeface="Microsoft YaHei"/>
                <a:ea typeface="Microsoft YaHei"/>
              </a:rPr>
              <a:t>设定 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743200"/>
            <a:ext cx="4709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2C94C"/>
                </a:solidFill>
                <a:latin typeface="Microsoft YaHei"/>
                <a:ea typeface="Microsoft YaHei"/>
              </a:rPr>
              <a:t>宇宙的呼吸（《呼吸》）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20840" y="3931920"/>
            <a:ext cx="914400" cy="19050"/>
          </a:xfrm>
          <a:prstGeom prst="rect">
            <a:avLst/>
          </a:prstGeom>
          <a:solidFill>
            <a:srgbClr val="E94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20840" y="4114800"/>
            <a:ext cx="47091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>在一个靠气压驱动的世界，主人公发现——</a:t>
            </a:r>
          </a:p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>宇宙的气压正在均匀，万物终将归于寂静。</a:t>
            </a:r>
          </a:p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>他平静地写下这一切，像是在与世界温柔告别。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041282" y="4471014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17321" y="5533535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985117" y="1103515"/>
            <a:ext cx="60000" cy="6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2116569" y="672669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82587" y="2927890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863596" y="5919853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210386" y="4089422"/>
            <a:ext cx="60000" cy="6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93208" y="3734520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52419" y="1240068"/>
            <a:ext cx="90000" cy="9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719240" y="1672966"/>
            <a:ext cx="60000" cy="6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041868" y="1743136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997192" y="364926"/>
            <a:ext cx="90000" cy="9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406336" y="4526561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51828" y="6009725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910805" y="2643666"/>
            <a:ext cx="90000" cy="9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09866" y="6489054"/>
            <a:ext cx="60000" cy="6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203421" y="758021"/>
            <a:ext cx="60000" cy="6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33442" y="2843431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9989" y="5760740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196086" y="2619694"/>
            <a:ext cx="60000" cy="6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190101" y="1069097"/>
            <a:ext cx="60000" cy="6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54503" y="3738525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057160" y="4187232"/>
            <a:ext cx="90000" cy="9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90946" y="5131481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255927" y="4565646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411480"/>
            <a:ext cx="457200" cy="38100"/>
          </a:xfrm>
          <a:prstGeom prst="rect">
            <a:avLst/>
          </a:prstGeom>
          <a:solidFill>
            <a:srgbClr val="F2C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29260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2C94C"/>
                </a:solidFill>
                <a:latin typeface="Microsoft YaHei"/>
                <a:ea typeface="Microsoft YaHei"/>
              </a:rPr>
              <a:t>第四站 · 三条写作秘诀 · 总览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29260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 i="0">
                <a:solidFill>
                  <a:srgbClr val="8A99B3"/>
                </a:solidFill>
                <a:latin typeface="Microsoft YaHei"/>
                <a:ea typeface="Microsoft YaHei"/>
              </a:rPr>
              <a:t>≈ 1 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8A99B3"/>
                </a:solidFill>
                <a:latin typeface="Microsoft YaHei"/>
                <a:ea typeface="Microsoft YaHei"/>
              </a:rPr>
              <a:t>08 / 13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6400800"/>
            <a:ext cx="11064240" cy="9525"/>
          </a:xfrm>
          <a:prstGeom prst="rect">
            <a:avLst/>
          </a:prstGeom>
          <a:solidFill>
            <a:srgbClr val="8A99B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5F7FA"/>
                </a:solidFill>
                <a:latin typeface="Microsoft YaHei"/>
                <a:ea typeface="Microsoft YaHei"/>
              </a:rPr>
              <a:t>三位大师的「独门武功」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1417320"/>
            <a:ext cx="548640" cy="38100"/>
          </a:xfrm>
          <a:prstGeom prst="rect">
            <a:avLst/>
          </a:prstGeom>
          <a:solidFill>
            <a:srgbClr val="F2C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63040" y="13258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CBD5E0"/>
                </a:solidFill>
                <a:latin typeface="Microsoft YaHei"/>
                <a:ea typeface="Microsoft YaHei"/>
              </a:rPr>
              <a:t>每一招都简单到——你今晚就能写一段试试看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18007" y="2011680"/>
            <a:ext cx="3566160" cy="4297680"/>
          </a:xfrm>
          <a:prstGeom prst="roundRect">
            <a:avLst>
              <a:gd name="adj" fmla="val 5000"/>
            </a:avLst>
          </a:prstGeom>
          <a:solidFill>
            <a:srgbClr val="10254F"/>
          </a:solidFill>
          <a:ln w="15875">
            <a:solidFill>
              <a:srgbClr val="4BC8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8007" y="2011680"/>
            <a:ext cx="3566160" cy="164592"/>
          </a:xfrm>
          <a:prstGeom prst="rect">
            <a:avLst/>
          </a:prstGeom>
          <a:solidFill>
            <a:srgbClr val="4BC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767" y="237744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4BC8E9"/>
                </a:solidFill>
                <a:latin typeface="Microsoft YaHei"/>
                <a:ea typeface="Microsoft YaHei"/>
              </a:rPr>
              <a:t>秘诀 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3767" y="278892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 i="0">
                <a:solidFill>
                  <a:srgbClr val="F5F7FA"/>
                </a:solidFill>
                <a:latin typeface="Microsoft YaHei"/>
                <a:ea typeface="Microsoft YaHei"/>
              </a:rPr>
              <a:t>刘慈欣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3767" y="370332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F2C94C"/>
                </a:solidFill>
                <a:latin typeface="Microsoft YaHei"/>
                <a:ea typeface="Microsoft YaHei"/>
              </a:rPr>
              <a:t>追问「然后呢？」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83767" y="4983480"/>
            <a:ext cx="914400" cy="19050"/>
          </a:xfrm>
          <a:prstGeom prst="rect">
            <a:avLst/>
          </a:prstGeom>
          <a:solidFill>
            <a:srgbClr val="4BC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767" y="5166360"/>
            <a:ext cx="2834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>从一个巨大的「如果」开始，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>往下连追三步。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12767" y="2011680"/>
            <a:ext cx="3566160" cy="4297680"/>
          </a:xfrm>
          <a:prstGeom prst="roundRect">
            <a:avLst>
              <a:gd name="adj" fmla="val 5000"/>
            </a:avLst>
          </a:prstGeom>
          <a:solidFill>
            <a:srgbClr val="10254F"/>
          </a:solidFill>
          <a:ln w="15875">
            <a:solidFill>
              <a:srgbClr val="F2C9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312767" y="2011680"/>
            <a:ext cx="3566160" cy="164592"/>
          </a:xfrm>
          <a:prstGeom prst="rect">
            <a:avLst/>
          </a:prstGeom>
          <a:solidFill>
            <a:srgbClr val="F2C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78527" y="237744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2C94C"/>
                </a:solidFill>
                <a:latin typeface="Microsoft YaHei"/>
                <a:ea typeface="Microsoft YaHei"/>
              </a:rPr>
              <a:t>秘诀 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78527" y="278892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 i="0">
                <a:solidFill>
                  <a:srgbClr val="F5F7FA"/>
                </a:solidFill>
                <a:latin typeface="Microsoft YaHei"/>
                <a:ea typeface="Microsoft YaHei"/>
              </a:rPr>
              <a:t>安迪 · 威尔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78527" y="370332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F2C94C"/>
                </a:solidFill>
                <a:latin typeface="Microsoft YaHei"/>
                <a:ea typeface="Microsoft YaHei"/>
              </a:rPr>
              <a:t>让主角列清单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78527" y="4983480"/>
            <a:ext cx="914400" cy="19050"/>
          </a:xfrm>
          <a:prstGeom prst="rect">
            <a:avLst/>
          </a:prstGeom>
          <a:solidFill>
            <a:srgbClr val="F2C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78527" y="5166360"/>
            <a:ext cx="2834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>把困境拆成「我有 / 我缺 / 怎么补」，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>一步一步算出来。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07527" y="2011680"/>
            <a:ext cx="3566160" cy="4297680"/>
          </a:xfrm>
          <a:prstGeom prst="roundRect">
            <a:avLst>
              <a:gd name="adj" fmla="val 5000"/>
            </a:avLst>
          </a:prstGeom>
          <a:solidFill>
            <a:srgbClr val="10254F"/>
          </a:solidFill>
          <a:ln w="15875">
            <a:solidFill>
              <a:srgbClr val="E94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107527" y="2011680"/>
            <a:ext cx="3566160" cy="164592"/>
          </a:xfrm>
          <a:prstGeom prst="rect">
            <a:avLst/>
          </a:prstGeom>
          <a:solidFill>
            <a:srgbClr val="E94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73287" y="237744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E94B7B"/>
                </a:solidFill>
                <a:latin typeface="Microsoft YaHei"/>
                <a:ea typeface="Microsoft YaHei"/>
              </a:rPr>
              <a:t>秘诀 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73287" y="278892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 i="0">
                <a:solidFill>
                  <a:srgbClr val="F5F7FA"/>
                </a:solidFill>
                <a:latin typeface="Microsoft YaHei"/>
                <a:ea typeface="Microsoft YaHei"/>
              </a:rPr>
              <a:t>特德 · 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73287" y="370332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F2C94C"/>
                </a:solidFill>
                <a:latin typeface="Microsoft YaHei"/>
                <a:ea typeface="Microsoft YaHei"/>
              </a:rPr>
              <a:t>从一道选择题出发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473287" y="4983480"/>
            <a:ext cx="914400" cy="19050"/>
          </a:xfrm>
          <a:prstGeom prst="rect">
            <a:avLst/>
          </a:prstGeom>
          <a:solidFill>
            <a:srgbClr val="E94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73287" y="5166360"/>
            <a:ext cx="2834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>先想一个关于人的哲学问题，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>再让科幻设定服务它。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011013" y="4493900"/>
            <a:ext cx="90000" cy="9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841046" y="1407355"/>
            <a:ext cx="60000" cy="6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157831" y="1537930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523688" y="3813695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77170" y="1513149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326014" y="6484954"/>
            <a:ext cx="60000" cy="6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15371" y="2143007"/>
            <a:ext cx="60000" cy="6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10169" y="6110582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034311" y="576351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964065" y="4745977"/>
            <a:ext cx="60000" cy="6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42135" y="4333245"/>
            <a:ext cx="60000" cy="6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09784" y="1285933"/>
            <a:ext cx="90000" cy="9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93212" y="3103307"/>
            <a:ext cx="60000" cy="6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60185" y="952189"/>
            <a:ext cx="60000" cy="6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59820" y="6218717"/>
            <a:ext cx="60000" cy="6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876371" y="3156256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69344" y="1035534"/>
            <a:ext cx="90000" cy="9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4526" y="456816"/>
            <a:ext cx="60000" cy="6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967778" y="2075978"/>
            <a:ext cx="60000" cy="6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202763" y="1108165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11480"/>
            <a:ext cx="457200" cy="38100"/>
          </a:xfrm>
          <a:prstGeom prst="rect">
            <a:avLst/>
          </a:prstGeom>
          <a:solidFill>
            <a:srgbClr val="F2C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29260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2C94C"/>
                </a:solidFill>
                <a:latin typeface="Microsoft YaHei"/>
                <a:ea typeface="Microsoft YaHei"/>
              </a:rPr>
              <a:t>第四站 · 秘诀 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29260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 i="0">
                <a:solidFill>
                  <a:srgbClr val="8A99B3"/>
                </a:solidFill>
                <a:latin typeface="Microsoft YaHei"/>
                <a:ea typeface="Microsoft YaHei"/>
              </a:rPr>
              <a:t>≈ 1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8A99B3"/>
                </a:solidFill>
                <a:latin typeface="Microsoft YaHei"/>
                <a:ea typeface="Microsoft YaHei"/>
              </a:rPr>
              <a:t>09 / 13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6400800"/>
            <a:ext cx="11064240" cy="9525"/>
          </a:xfrm>
          <a:prstGeom prst="rect">
            <a:avLst/>
          </a:prstGeom>
          <a:solidFill>
            <a:srgbClr val="8A99B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640080"/>
            <a:ext cx="1828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0" b="1" i="0">
                <a:solidFill>
                  <a:srgbClr val="4BC8E9"/>
                </a:solidFill>
                <a:latin typeface="Calibri"/>
                <a:ea typeface="Calibr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4560" y="9144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8A99B3"/>
                </a:solidFill>
                <a:latin typeface="Microsoft YaHei"/>
                <a:ea typeface="Microsoft YaHei"/>
              </a:rPr>
              <a:t>秘诀 ① · 刘慈欣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1188720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F5F7FA"/>
                </a:solidFill>
                <a:latin typeface="Microsoft YaHei"/>
                <a:ea typeface="Microsoft YaHei"/>
              </a:rPr>
              <a:t>从一个「如果」往下推三步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2468880"/>
            <a:ext cx="5349240" cy="3794760"/>
          </a:xfrm>
          <a:prstGeom prst="roundRect">
            <a:avLst>
              <a:gd name="adj" fmla="val 4000"/>
            </a:avLst>
          </a:prstGeom>
          <a:solidFill>
            <a:srgbClr val="3B1E6E"/>
          </a:solidFill>
          <a:ln w="15875">
            <a:solidFill>
              <a:srgbClr val="F2C9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2651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2C94C"/>
                </a:solidFill>
                <a:latin typeface="Microsoft YaHei"/>
                <a:ea typeface="Microsoft YaHei"/>
              </a:rPr>
              <a:t>方法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297180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F5F7FA"/>
                </a:solidFill>
                <a:latin typeface="Microsoft YaHei"/>
                <a:ea typeface="Microsoft YaHei"/>
              </a:rPr>
              <a:t>「如果……」+ 连追 3 次「然后呢？」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3840480"/>
            <a:ext cx="502920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>Step 1.  写一句  「如果……」</a:t>
            </a:r>
          </a:p>
          <a:p>
            <a:pPr algn="l">
              <a:lnSpc>
                <a:spcPct val="170000"/>
              </a:lnSpc>
            </a:pP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>Step 2.  问  「然后呢？」</a:t>
            </a:r>
          </a:p>
          <a:p>
            <a:pPr algn="l">
              <a:lnSpc>
                <a:spcPct val="170000"/>
              </a:lnSpc>
            </a:pP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>Step 3.  再问  「然后呢？」</a:t>
            </a:r>
          </a:p>
          <a:p>
            <a:pPr algn="l">
              <a:lnSpc>
                <a:spcPct val="170000"/>
              </a:lnSpc>
            </a:pP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>Step 4.  再问  「然后呢？」</a:t>
            </a:r>
          </a:p>
          <a:p>
            <a:pPr algn="l">
              <a:lnSpc>
                <a:spcPct val="170000"/>
              </a:lnSpc>
            </a:pP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70000"/>
              </a:lnSpc>
            </a:pP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>三次之后，一个完整故事就长出来了。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2468880"/>
            <a:ext cx="5349240" cy="3794760"/>
          </a:xfrm>
          <a:prstGeom prst="roundRect">
            <a:avLst>
              <a:gd name="adj" fmla="val 4000"/>
            </a:avLst>
          </a:prstGeom>
          <a:solidFill>
            <a:srgbClr val="10254F"/>
          </a:solidFill>
          <a:ln w="12700">
            <a:solidFill>
              <a:srgbClr val="4BC8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29400" y="2651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4BC8E9"/>
                </a:solidFill>
                <a:latin typeface="Microsoft YaHei"/>
                <a:ea typeface="Microsoft YaHei"/>
              </a:rPr>
              <a:t>现场演示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297180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F2C94C"/>
                </a:solidFill>
                <a:latin typeface="Microsoft YaHei"/>
                <a:ea typeface="Microsoft YaHei"/>
              </a:rPr>
              <a:t>如果学校可以漂浮在空中？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3657600"/>
            <a:ext cx="5029200" cy="2606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i="0">
                <a:solidFill>
                  <a:srgbClr val="4BC8E9"/>
                </a:solidFill>
                <a:latin typeface="Microsoft YaHei"/>
                <a:ea typeface="Microsoft YaHei"/>
              </a:rPr>
              <a:t>→ 然后呢？  </a:t>
            </a: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>上学要坐飞行器。</a:t>
            </a:r>
          </a:p>
          <a:p>
            <a:pPr algn="l">
              <a:lnSpc>
                <a:spcPct val="150000"/>
              </a:lnSpc>
            </a:pPr>
            <a:r>
              <a:rPr sz="600" b="0" i="0">
                <a:solidFill>
                  <a:srgbClr val="F5F7FA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 b="1" i="0">
                <a:solidFill>
                  <a:srgbClr val="4BC8E9"/>
                </a:solidFill>
                <a:latin typeface="Microsoft YaHei"/>
                <a:ea typeface="Microsoft YaHei"/>
              </a:rPr>
              <a:t>→ 然后呢？  </a:t>
            </a: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>飞行器没油了。</a:t>
            </a:r>
          </a:p>
          <a:p>
            <a:pPr algn="l">
              <a:lnSpc>
                <a:spcPct val="150000"/>
              </a:lnSpc>
            </a:pPr>
            <a:r>
              <a:rPr sz="600" b="0" i="0">
                <a:solidFill>
                  <a:srgbClr val="F5F7FA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 b="1" i="0">
                <a:solidFill>
                  <a:srgbClr val="4BC8E9"/>
                </a:solidFill>
                <a:latin typeface="Microsoft YaHei"/>
                <a:ea typeface="Microsoft YaHei"/>
              </a:rPr>
              <a:t>→ 然后呢？  </a:t>
            </a: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>主角用太阳能板充电，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>                  </a:t>
            </a: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>差点迟到，却写出了一首歌。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682196" y="914515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46364" y="785669"/>
            <a:ext cx="90000" cy="9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62854" y="518976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894659" y="3916502"/>
            <a:ext cx="60000" cy="6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33121" y="315593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787730" y="1238734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14500" y="3989356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664002" y="2035788"/>
            <a:ext cx="90000" cy="9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407894" y="1763010"/>
            <a:ext cx="90000" cy="9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65711" y="2230888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278304" y="3298462"/>
            <a:ext cx="60000" cy="6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843398" y="6022985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67238" y="2587886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016719" y="3656945"/>
            <a:ext cx="60000" cy="6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35773" y="5858434"/>
            <a:ext cx="60000" cy="6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04183" y="2890984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524487" y="378259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884713" y="629136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7613" y="2451342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91693" y="4101534"/>
            <a:ext cx="60000" cy="6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11480"/>
            <a:ext cx="457200" cy="38100"/>
          </a:xfrm>
          <a:prstGeom prst="rect">
            <a:avLst/>
          </a:prstGeom>
          <a:solidFill>
            <a:srgbClr val="F2C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29260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2C94C"/>
                </a:solidFill>
                <a:latin typeface="Microsoft YaHei"/>
                <a:ea typeface="Microsoft YaHei"/>
              </a:rPr>
              <a:t>第四站 · 秘诀 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29260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 i="0">
                <a:solidFill>
                  <a:srgbClr val="8A99B3"/>
                </a:solidFill>
                <a:latin typeface="Microsoft YaHei"/>
                <a:ea typeface="Microsoft YaHei"/>
              </a:rPr>
              <a:t>≈ 1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8A99B3"/>
                </a:solidFill>
                <a:latin typeface="Microsoft YaHei"/>
                <a:ea typeface="Microsoft YaHei"/>
              </a:rPr>
              <a:t>10 / 13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6400800"/>
            <a:ext cx="11064240" cy="9525"/>
          </a:xfrm>
          <a:prstGeom prst="rect">
            <a:avLst/>
          </a:prstGeom>
          <a:solidFill>
            <a:srgbClr val="8A99B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640080"/>
            <a:ext cx="1828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0" b="1" i="0">
                <a:solidFill>
                  <a:srgbClr val="F2C94C"/>
                </a:solidFill>
                <a:latin typeface="Calibri"/>
                <a:ea typeface="Calibri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4560" y="9144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8A99B3"/>
                </a:solidFill>
                <a:latin typeface="Microsoft YaHei"/>
                <a:ea typeface="Microsoft YaHei"/>
              </a:rPr>
              <a:t>秘诀 ② · 安迪 · 威尔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1188720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F5F7FA"/>
                </a:solidFill>
                <a:latin typeface="Microsoft YaHei"/>
                <a:ea typeface="Microsoft YaHei"/>
              </a:rPr>
              <a:t>让主角「列清单」解决问题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2468880"/>
            <a:ext cx="5349240" cy="3794760"/>
          </a:xfrm>
          <a:prstGeom prst="roundRect">
            <a:avLst>
              <a:gd name="adj" fmla="val 4000"/>
            </a:avLst>
          </a:prstGeom>
          <a:solidFill>
            <a:srgbClr val="3B1E6E"/>
          </a:solidFill>
          <a:ln w="15875">
            <a:solidFill>
              <a:srgbClr val="F2C9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2651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2C94C"/>
                </a:solidFill>
                <a:latin typeface="Microsoft YaHei"/>
                <a:ea typeface="Microsoft YaHei"/>
              </a:rPr>
              <a:t>方法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297180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F5F7FA"/>
                </a:solidFill>
                <a:latin typeface="Microsoft YaHei"/>
                <a:ea typeface="Microsoft YaHei"/>
              </a:rPr>
              <a:t>把困境拆成 3 行清单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3794760"/>
            <a:ext cx="502920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i="0">
                <a:solidFill>
                  <a:srgbClr val="4BC8E9"/>
                </a:solidFill>
                <a:latin typeface="Microsoft YaHei"/>
                <a:ea typeface="Microsoft YaHei"/>
              </a:rPr>
              <a:t>我有：</a:t>
            </a: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>当下能用的资源</a:t>
            </a:r>
          </a:p>
          <a:p>
            <a:pPr algn="l">
              <a:lnSpc>
                <a:spcPct val="150000"/>
              </a:lnSpc>
            </a:pPr>
            <a:r>
              <a:rPr sz="600" b="0" i="0">
                <a:solidFill>
                  <a:srgbClr val="F5F7FA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600" b="1" i="0">
                <a:solidFill>
                  <a:srgbClr val="E94B7B"/>
                </a:solidFill>
                <a:latin typeface="Microsoft YaHei"/>
                <a:ea typeface="Microsoft YaHei"/>
              </a:rPr>
              <a:t>我缺：</a:t>
            </a: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>活下去必需的东西</a:t>
            </a:r>
          </a:p>
          <a:p>
            <a:pPr algn="l">
              <a:lnSpc>
                <a:spcPct val="150000"/>
              </a:lnSpc>
            </a:pPr>
            <a:r>
              <a:rPr sz="600" b="0" i="0">
                <a:solidFill>
                  <a:srgbClr val="F5F7FA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600" b="1" i="0">
                <a:solidFill>
                  <a:srgbClr val="F2C94C"/>
                </a:solidFill>
                <a:latin typeface="Microsoft YaHei"/>
                <a:ea typeface="Microsoft YaHei"/>
              </a:rPr>
              <a:t>怎么补：</a:t>
            </a:r>
            <a:r>
              <a:rPr sz="1400" b="0" i="0">
                <a:solidFill>
                  <a:srgbClr val="CBD5E0"/>
                </a:solidFill>
                <a:latin typeface="Microsoft YaHei"/>
                <a:ea typeface="Microsoft YaHei"/>
              </a:rPr>
              <a:t>一条一条可执行的计划</a:t>
            </a:r>
          </a:p>
          <a:p>
            <a:pPr algn="l">
              <a:lnSpc>
                <a:spcPct val="150000"/>
              </a:lnSpc>
            </a:pPr>
            <a:r>
              <a:rPr sz="800" b="0" i="0">
                <a:solidFill>
                  <a:srgbClr val="F5F7FA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 i="1">
                <a:solidFill>
                  <a:srgbClr val="F2C94C"/>
                </a:solidFill>
                <a:latin typeface="Microsoft YaHei"/>
                <a:ea typeface="Microsoft YaHei"/>
              </a:rPr>
              <a:t>清单写完，故事就往前走了。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2468880"/>
            <a:ext cx="5349240" cy="379476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15875">
            <a:solidFill>
              <a:srgbClr val="F2C9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0" y="2468880"/>
            <a:ext cx="5349240" cy="365760"/>
          </a:xfrm>
          <a:prstGeom prst="rect">
            <a:avLst/>
          </a:prstGeom>
          <a:solidFill>
            <a:srgbClr val="F2C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24688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B1A3A"/>
                </a:solidFill>
                <a:latin typeface="Microsoft YaHei"/>
                <a:ea typeface="Microsoft YaHei"/>
              </a:rPr>
              <a:t>  小  明  的  笔  记  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3017520"/>
            <a:ext cx="4846320" cy="3154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1" i="0">
                <a:solidFill>
                  <a:srgbClr val="4BC8E9"/>
                </a:solidFill>
                <a:latin typeface="Microsoft YaHei"/>
                <a:ea typeface="Microsoft YaHei"/>
              </a:rPr>
              <a:t>我有：</a:t>
            </a:r>
            <a:r>
              <a:rPr sz="1400" b="0" i="0">
                <a:solidFill>
                  <a:srgbClr val="0B1A3A"/>
                </a:solidFill>
                <a:latin typeface="Microsoft YaHei"/>
                <a:ea typeface="Microsoft YaHei"/>
              </a:rPr>
              <a:t>小刀  ·  塑料瓶  ·  半包饼干</a:t>
            </a:r>
          </a:p>
          <a:p>
            <a:pPr algn="l">
              <a:lnSpc>
                <a:spcPct val="140000"/>
              </a:lnSpc>
            </a:pPr>
            <a:r>
              <a:rPr sz="600" b="0" i="0">
                <a:solidFill>
                  <a:srgbClr val="0B1A3A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1" i="0">
                <a:solidFill>
                  <a:srgbClr val="E94B7B"/>
                </a:solidFill>
                <a:latin typeface="Microsoft YaHei"/>
                <a:ea typeface="Microsoft YaHei"/>
              </a:rPr>
              <a:t>我缺：</a:t>
            </a:r>
            <a:r>
              <a:rPr sz="1400" b="0" i="0">
                <a:solidFill>
                  <a:srgbClr val="0B1A3A"/>
                </a:solidFill>
                <a:latin typeface="Microsoft YaHei"/>
                <a:ea typeface="Microsoft YaHei"/>
              </a:rPr>
              <a:t>水  ·  火  ·  能睡觉的地方</a:t>
            </a:r>
          </a:p>
          <a:p>
            <a:pPr algn="l">
              <a:lnSpc>
                <a:spcPct val="140000"/>
              </a:lnSpc>
            </a:pPr>
            <a:r>
              <a:rPr sz="600" b="0" i="0">
                <a:solidFill>
                  <a:srgbClr val="0B1A3A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1" i="0">
                <a:solidFill>
                  <a:srgbClr val="3B1E6E"/>
                </a:solidFill>
                <a:latin typeface="Microsoft YaHei"/>
                <a:ea typeface="Microsoft YaHei"/>
              </a:rPr>
              <a:t>计划：</a:t>
            </a:r>
          </a:p>
          <a:p>
            <a:pPr algn="l">
              <a:lnSpc>
                <a:spcPct val="140000"/>
              </a:lnSpc>
            </a:pPr>
            <a:r>
              <a:rPr sz="1400" b="1" i="0">
                <a:solidFill>
                  <a:srgbClr val="F2C94C"/>
                </a:solidFill>
                <a:latin typeface="Microsoft YaHei"/>
                <a:ea typeface="Microsoft YaHei"/>
              </a:rPr>
              <a:t>  ① </a:t>
            </a:r>
            <a:r>
              <a:rPr sz="1400" b="0" i="0">
                <a:solidFill>
                  <a:srgbClr val="0B1A3A"/>
                </a:solidFill>
                <a:latin typeface="Microsoft YaHei"/>
                <a:ea typeface="Microsoft YaHei"/>
              </a:rPr>
              <a:t>用塑料瓶蒸馏海水</a:t>
            </a:r>
          </a:p>
          <a:p>
            <a:pPr algn="l">
              <a:lnSpc>
                <a:spcPct val="140000"/>
              </a:lnSpc>
            </a:pPr>
            <a:r>
              <a:rPr sz="1400" b="1" i="0">
                <a:solidFill>
                  <a:srgbClr val="F2C94C"/>
                </a:solidFill>
                <a:latin typeface="Microsoft YaHei"/>
                <a:ea typeface="Microsoft YaHei"/>
              </a:rPr>
              <a:t>  ② </a:t>
            </a:r>
            <a:r>
              <a:rPr sz="1400" b="0" i="0">
                <a:solidFill>
                  <a:srgbClr val="0B1A3A"/>
                </a:solidFill>
                <a:latin typeface="Microsoft YaHei"/>
                <a:ea typeface="Microsoft YaHei"/>
              </a:rPr>
              <a:t>用小刀钻木取火</a:t>
            </a:r>
          </a:p>
          <a:p>
            <a:pPr algn="l">
              <a:lnSpc>
                <a:spcPct val="140000"/>
              </a:lnSpc>
            </a:pPr>
            <a:r>
              <a:rPr sz="1400" b="1" i="0">
                <a:solidFill>
                  <a:srgbClr val="F2C94C"/>
                </a:solidFill>
                <a:latin typeface="Microsoft YaHei"/>
                <a:ea typeface="Microsoft YaHei"/>
              </a:rPr>
              <a:t>  ③ </a:t>
            </a:r>
            <a:r>
              <a:rPr sz="1400" b="0" i="0">
                <a:solidFill>
                  <a:srgbClr val="0B1A3A"/>
                </a:solidFill>
                <a:latin typeface="Microsoft YaHei"/>
                <a:ea typeface="Microsoft YaHei"/>
              </a:rPr>
              <a:t>用树枝搭一个挡风的小棚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275675" y="6180261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217815" y="2760756"/>
            <a:ext cx="60000" cy="6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88613" y="1250880"/>
            <a:ext cx="60000" cy="6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94842" y="2964585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45731" y="4625774"/>
            <a:ext cx="60000" cy="6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249876" y="4783445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06938" y="230046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70938" y="6324437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808407" y="1832528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927399" y="1157288"/>
            <a:ext cx="60000" cy="6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38224" y="1065771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09505" y="3388292"/>
            <a:ext cx="60000" cy="6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03707" y="2776360"/>
            <a:ext cx="60000" cy="6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461338" y="1828012"/>
            <a:ext cx="60000" cy="6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29454" y="5864405"/>
            <a:ext cx="60000" cy="6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905950" y="2962599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823063" y="4037096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901945" y="3553850"/>
            <a:ext cx="90000" cy="9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526838" y="1089714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91144" y="2562922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11480"/>
            <a:ext cx="457200" cy="38100"/>
          </a:xfrm>
          <a:prstGeom prst="rect">
            <a:avLst/>
          </a:prstGeom>
          <a:solidFill>
            <a:srgbClr val="F2C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29260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2C94C"/>
                </a:solidFill>
                <a:latin typeface="Microsoft YaHei"/>
                <a:ea typeface="Microsoft YaHei"/>
              </a:rPr>
              <a:t>第四站 · 秘诀 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29260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 i="0">
                <a:solidFill>
                  <a:srgbClr val="8A99B3"/>
                </a:solidFill>
                <a:latin typeface="Microsoft YaHei"/>
                <a:ea typeface="Microsoft YaHei"/>
              </a:rPr>
              <a:t>≈ 1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8A99B3"/>
                </a:solidFill>
                <a:latin typeface="Microsoft YaHei"/>
                <a:ea typeface="Microsoft YaHei"/>
              </a:rPr>
              <a:t>11 / 13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6400800"/>
            <a:ext cx="11064240" cy="9525"/>
          </a:xfrm>
          <a:prstGeom prst="rect">
            <a:avLst/>
          </a:prstGeom>
          <a:solidFill>
            <a:srgbClr val="8A99B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640080"/>
            <a:ext cx="1828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0" b="1" i="0">
                <a:solidFill>
                  <a:srgbClr val="E94B7B"/>
                </a:solidFill>
                <a:latin typeface="Calibri"/>
                <a:ea typeface="Calibri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4560" y="9144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8A99B3"/>
                </a:solidFill>
                <a:latin typeface="Microsoft YaHei"/>
                <a:ea typeface="Microsoft YaHei"/>
              </a:rPr>
              <a:t>秘诀 ③ · 特德 · 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1188720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F5F7FA"/>
                </a:solidFill>
                <a:latin typeface="Microsoft YaHei"/>
                <a:ea typeface="Microsoft YaHei"/>
              </a:rPr>
              <a:t>用一个「人生选择题」做设定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2468880"/>
            <a:ext cx="5349240" cy="3794760"/>
          </a:xfrm>
          <a:prstGeom prst="roundRect">
            <a:avLst>
              <a:gd name="adj" fmla="val 4000"/>
            </a:avLst>
          </a:prstGeom>
          <a:solidFill>
            <a:srgbClr val="3B1E6E"/>
          </a:solidFill>
          <a:ln w="15875">
            <a:solidFill>
              <a:srgbClr val="F2C9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2651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2C94C"/>
                </a:solidFill>
                <a:latin typeface="Microsoft YaHei"/>
                <a:ea typeface="Microsoft YaHei"/>
              </a:rPr>
              <a:t>方法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297180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F5F7FA"/>
                </a:solidFill>
                <a:latin typeface="Microsoft YaHei"/>
                <a:ea typeface="Microsoft YaHei"/>
              </a:rPr>
              <a:t>先想题，再造世界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3657600"/>
            <a:ext cx="5029200" cy="2606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CBD5E0"/>
                </a:solidFill>
                <a:latin typeface="Microsoft YaHei"/>
                <a:ea typeface="Microsoft YaHei"/>
              </a:rPr>
              <a:t>Step 1.  写一道你最纠结的人生选择题</a:t>
            </a:r>
          </a:p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CBD5E0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CBD5E0"/>
                </a:solidFill>
                <a:latin typeface="Microsoft YaHei"/>
                <a:ea typeface="Microsoft YaHei"/>
              </a:rPr>
              <a:t>Step 2.  设计一个能逼出这个选择的设定</a:t>
            </a:r>
          </a:p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CBD5E0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CBD5E0"/>
                </a:solidFill>
                <a:latin typeface="Microsoft YaHei"/>
                <a:ea typeface="Microsoft YaHei"/>
              </a:rPr>
              <a:t>Step 3.  让主角在这道题里挣扎、流泪、</a:t>
            </a:r>
          </a:p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CBD5E0"/>
                </a:solidFill>
                <a:latin typeface="Microsoft YaHei"/>
                <a:ea typeface="Microsoft YaHei"/>
              </a:rPr>
              <a:t>             最后做出选择</a:t>
            </a:r>
          </a:p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CBD5E0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CBD5E0"/>
                </a:solidFill>
                <a:latin typeface="Microsoft YaHei"/>
                <a:ea typeface="Microsoft YaHei"/>
              </a:rPr>
              <a:t>不必爆炸——光是「想用又不敢用」，</a:t>
            </a:r>
          </a:p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CBD5E0"/>
                </a:solidFill>
                <a:latin typeface="Microsoft YaHei"/>
                <a:ea typeface="Microsoft YaHei"/>
              </a:rPr>
              <a:t>就足够动人。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2468880"/>
            <a:ext cx="5349240" cy="3794760"/>
          </a:xfrm>
          <a:prstGeom prst="roundRect">
            <a:avLst>
              <a:gd name="adj" fmla="val 4000"/>
            </a:avLst>
          </a:prstGeom>
          <a:solidFill>
            <a:srgbClr val="10254F"/>
          </a:solidFill>
          <a:ln w="12700">
            <a:solidFill>
              <a:srgbClr val="E94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29400" y="2651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E94B7B"/>
                </a:solidFill>
                <a:latin typeface="Microsoft YaHei"/>
                <a:ea typeface="Microsoft YaHei"/>
              </a:rPr>
              <a:t>三道题，挑一道写下去</a:t>
            </a:r>
          </a:p>
        </p:txBody>
      </p:sp>
      <p:sp>
        <p:nvSpPr>
          <p:cNvPr id="37" name="Oval 36"/>
          <p:cNvSpPr/>
          <p:nvPr/>
        </p:nvSpPr>
        <p:spPr>
          <a:xfrm>
            <a:off x="6766560" y="3273552"/>
            <a:ext cx="548640" cy="548640"/>
          </a:xfrm>
          <a:prstGeom prst="ellipse">
            <a:avLst/>
          </a:prstGeom>
          <a:solidFill>
            <a:srgbClr val="4BC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66560" y="327355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0B1A3A"/>
                </a:solidFill>
                <a:latin typeface="Calibri"/>
                <a:ea typeface="Calibri"/>
              </a:rPr>
              <a:t>Q1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52360" y="3108960"/>
            <a:ext cx="42062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CBD5E0"/>
                </a:solidFill>
                <a:latin typeface="Microsoft YaHei"/>
                <a:ea typeface="Microsoft YaHei"/>
              </a:rPr>
              <a:t>如果有一台机器能消除你伤心的记忆，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CBD5E0"/>
                </a:solidFill>
                <a:latin typeface="Microsoft YaHei"/>
                <a:ea typeface="Microsoft YaHei"/>
              </a:rPr>
              <a:t>你会按下按钮吗？</a:t>
            </a:r>
          </a:p>
        </p:txBody>
      </p:sp>
      <p:sp>
        <p:nvSpPr>
          <p:cNvPr id="40" name="Oval 39"/>
          <p:cNvSpPr/>
          <p:nvPr/>
        </p:nvSpPr>
        <p:spPr>
          <a:xfrm>
            <a:off x="6766560" y="4279392"/>
            <a:ext cx="548640" cy="548640"/>
          </a:xfrm>
          <a:prstGeom prst="ellipse">
            <a:avLst/>
          </a:prstGeom>
          <a:solidFill>
            <a:srgbClr val="F2C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66560" y="427939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0B1A3A"/>
                </a:solidFill>
                <a:latin typeface="Calibri"/>
                <a:ea typeface="Calibri"/>
              </a:rPr>
              <a:t>Q2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52360" y="4114800"/>
            <a:ext cx="42062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CBD5E0"/>
                </a:solidFill>
                <a:latin typeface="Microsoft YaHei"/>
                <a:ea typeface="Microsoft YaHei"/>
              </a:rPr>
              <a:t>如果你能提前看到期末考试成绩，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CBD5E0"/>
                </a:solidFill>
                <a:latin typeface="Microsoft YaHei"/>
                <a:ea typeface="Microsoft YaHei"/>
              </a:rPr>
              <a:t>你会告诉好朋友吗？</a:t>
            </a:r>
          </a:p>
        </p:txBody>
      </p:sp>
      <p:sp>
        <p:nvSpPr>
          <p:cNvPr id="43" name="Oval 42"/>
          <p:cNvSpPr/>
          <p:nvPr/>
        </p:nvSpPr>
        <p:spPr>
          <a:xfrm>
            <a:off x="6766560" y="5285232"/>
            <a:ext cx="548640" cy="548640"/>
          </a:xfrm>
          <a:prstGeom prst="ellipse">
            <a:avLst/>
          </a:prstGeom>
          <a:solidFill>
            <a:srgbClr val="E94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66560" y="528523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0B1A3A"/>
                </a:solidFill>
                <a:latin typeface="Calibri"/>
                <a:ea typeface="Calibri"/>
              </a:rPr>
              <a:t>Q3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52360" y="5120640"/>
            <a:ext cx="42062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CBD5E0"/>
                </a:solidFill>
                <a:latin typeface="Microsoft YaHei"/>
                <a:ea typeface="Microsoft YaHei"/>
              </a:rPr>
              <a:t>如果你知道好朋友将来会背叛你，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CBD5E0"/>
                </a:solidFill>
                <a:latin typeface="Microsoft YaHei"/>
                <a:ea typeface="Microsoft YaHei"/>
              </a:rPr>
              <a:t>你现在还跟他玩吗？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72318" y="1884143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910415" y="315825"/>
            <a:ext cx="60000" cy="6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2055284" y="3006933"/>
            <a:ext cx="60000" cy="6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15164" y="6514415"/>
            <a:ext cx="60000" cy="6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852389" y="4263636"/>
            <a:ext cx="60000" cy="6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893885" y="1619770"/>
            <a:ext cx="60000" cy="6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02406" y="3685282"/>
            <a:ext cx="90000" cy="9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87113" y="5832158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383948" y="842697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072674" y="523439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445005" y="187272"/>
            <a:ext cx="90000" cy="9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83418" y="4189617"/>
            <a:ext cx="60000" cy="6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255618" y="5620330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2151" y="6106415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705642" y="1703931"/>
            <a:ext cx="60000" cy="6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078462" y="5826848"/>
            <a:ext cx="90000" cy="9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64228" y="5394575"/>
            <a:ext cx="60000" cy="6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122263" y="1469200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09138" y="2812813"/>
            <a:ext cx="90000" cy="9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26718" y="2476771"/>
            <a:ext cx="90000" cy="9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674721" y="5290917"/>
            <a:ext cx="90000" cy="9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50210" y="3374152"/>
            <a:ext cx="90000" cy="9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663440" y="3444998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403446" y="778805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090146" y="5995589"/>
            <a:ext cx="60000" cy="6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78692" y="4287533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459640" y="2429671"/>
            <a:ext cx="60000" cy="6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625753" y="5989943"/>
            <a:ext cx="60000" cy="6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136899" y="2165177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968293" y="6354278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411480"/>
            <a:ext cx="457200" cy="38100"/>
          </a:xfrm>
          <a:prstGeom prst="rect">
            <a:avLst/>
          </a:prstGeom>
          <a:solidFill>
            <a:srgbClr val="F2C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7280" y="29260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2C94C"/>
                </a:solidFill>
                <a:latin typeface="Microsoft YaHei"/>
                <a:ea typeface="Microsoft YaHei"/>
              </a:rPr>
              <a:t>结尾 · 把今天装进口袋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29260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 i="0">
                <a:solidFill>
                  <a:srgbClr val="8A99B3"/>
                </a:solidFill>
                <a:latin typeface="Microsoft YaHei"/>
                <a:ea typeface="Microsoft YaHei"/>
              </a:rPr>
              <a:t>≈ 1 min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8A99B3"/>
                </a:solidFill>
                <a:latin typeface="Microsoft YaHei"/>
                <a:ea typeface="Microsoft YaHei"/>
              </a:rPr>
              <a:t>12 / 13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6400800"/>
            <a:ext cx="11064240" cy="9525"/>
          </a:xfrm>
          <a:prstGeom prst="rect">
            <a:avLst/>
          </a:prstGeom>
          <a:solidFill>
            <a:srgbClr val="8A99B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>
                <a:solidFill>
                  <a:srgbClr val="F5F7FA"/>
                </a:solidFill>
                <a:latin typeface="Microsoft YaHei"/>
                <a:ea typeface="Microsoft YaHei"/>
              </a:rPr>
              <a:t>三句话带回家  +  现在轮到你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1417320"/>
            <a:ext cx="548640" cy="38100"/>
          </a:xfrm>
          <a:prstGeom prst="rect">
            <a:avLst/>
          </a:prstGeom>
          <a:solidFill>
            <a:srgbClr val="F2C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463040" y="13258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CBD5E0"/>
                </a:solidFill>
                <a:latin typeface="Microsoft YaHei"/>
                <a:ea typeface="Microsoft YaHei"/>
              </a:rPr>
              <a:t>今天的全部，都浓缩在下面这一页里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2057400"/>
            <a:ext cx="10515600" cy="777240"/>
          </a:xfrm>
          <a:prstGeom prst="roundRect">
            <a:avLst>
              <a:gd name="adj" fmla="val 15000"/>
            </a:avLst>
          </a:prstGeom>
          <a:solidFill>
            <a:srgbClr val="10254F"/>
          </a:solidFill>
          <a:ln w="9525">
            <a:solidFill>
              <a:srgbClr val="4BC8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2960" y="2057400"/>
            <a:ext cx="164592" cy="777240"/>
          </a:xfrm>
          <a:prstGeom prst="rect">
            <a:avLst/>
          </a:prstGeom>
          <a:solidFill>
            <a:srgbClr val="4BC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88720" y="2057400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F2C94C"/>
                </a:solidFill>
                <a:latin typeface="Microsoft YaHei"/>
                <a:ea typeface="Microsoft YaHei"/>
              </a:rPr>
              <a:t>刘慈欣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2057400"/>
            <a:ext cx="7498079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CBD5E0"/>
                </a:solidFill>
                <a:latin typeface="Microsoft YaHei"/>
                <a:ea typeface="Microsoft YaHei"/>
              </a:rPr>
              <a:t>从一个「如果」连追三步「然后呢？」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2960" y="2907792"/>
            <a:ext cx="10515600" cy="777240"/>
          </a:xfrm>
          <a:prstGeom prst="roundRect">
            <a:avLst>
              <a:gd name="adj" fmla="val 15000"/>
            </a:avLst>
          </a:prstGeom>
          <a:solidFill>
            <a:srgbClr val="10254F"/>
          </a:solidFill>
          <a:ln w="9525">
            <a:solidFill>
              <a:srgbClr val="F2C9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22960" y="2907792"/>
            <a:ext cx="164592" cy="777240"/>
          </a:xfrm>
          <a:prstGeom prst="rect">
            <a:avLst/>
          </a:prstGeom>
          <a:solidFill>
            <a:srgbClr val="F2C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88720" y="2907792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F2C94C"/>
                </a:solidFill>
                <a:latin typeface="Microsoft YaHei"/>
                <a:ea typeface="Microsoft YaHei"/>
              </a:rPr>
              <a:t>安迪 · 威尔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49039" y="2907792"/>
            <a:ext cx="7498079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CBD5E0"/>
                </a:solidFill>
                <a:latin typeface="Microsoft YaHei"/>
                <a:ea typeface="Microsoft YaHei"/>
              </a:rPr>
              <a:t>让主角拿出本子，列一份清单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22960" y="3758184"/>
            <a:ext cx="10515600" cy="777240"/>
          </a:xfrm>
          <a:prstGeom prst="roundRect">
            <a:avLst>
              <a:gd name="adj" fmla="val 15000"/>
            </a:avLst>
          </a:prstGeom>
          <a:solidFill>
            <a:srgbClr val="10254F"/>
          </a:solidFill>
          <a:ln w="9525">
            <a:solidFill>
              <a:srgbClr val="E94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22960" y="3758184"/>
            <a:ext cx="164592" cy="777240"/>
          </a:xfrm>
          <a:prstGeom prst="rect">
            <a:avLst/>
          </a:prstGeom>
          <a:solidFill>
            <a:srgbClr val="E94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88720" y="3758184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F2C94C"/>
                </a:solidFill>
                <a:latin typeface="Microsoft YaHei"/>
                <a:ea typeface="Microsoft YaHei"/>
              </a:rPr>
              <a:t>特德 · 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49039" y="3758184"/>
            <a:ext cx="7498079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CBD5E0"/>
                </a:solidFill>
                <a:latin typeface="Microsoft YaHei"/>
                <a:ea typeface="Microsoft YaHei"/>
              </a:rPr>
              <a:t>先写一道选择题，再造一个世界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2960" y="4800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F2C94C"/>
                </a:solidFill>
                <a:latin typeface="Microsoft YaHei"/>
                <a:ea typeface="Microsoft YaHei"/>
              </a:rPr>
              <a:t>现在轮到你——回家做一件事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32307" y="5212080"/>
            <a:ext cx="3520440" cy="914400"/>
          </a:xfrm>
          <a:prstGeom prst="roundRect">
            <a:avLst>
              <a:gd name="adj" fmla="val 20000"/>
            </a:avLst>
          </a:prstGeom>
          <a:solidFill>
            <a:srgbClr val="10254F"/>
          </a:solidFill>
          <a:ln w="12700">
            <a:solidFill>
              <a:srgbClr val="4BC8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6627" y="5212080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4BC8E9"/>
                </a:solidFill>
                <a:latin typeface="Calibri"/>
                <a:ea typeface="Calibri"/>
              </a:rPr>
              <a:t>STEP 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049627" y="5394960"/>
            <a:ext cx="15000" cy="548640"/>
          </a:xfrm>
          <a:prstGeom prst="rect">
            <a:avLst/>
          </a:prstGeom>
          <a:solidFill>
            <a:srgbClr val="4BC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232507" y="521208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F5F7FA"/>
                </a:solidFill>
                <a:latin typeface="Microsoft YaHei"/>
                <a:ea typeface="Microsoft YaHei"/>
              </a:rPr>
              <a:t>选 1 个秘诀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35627" y="5212080"/>
            <a:ext cx="3520440" cy="914400"/>
          </a:xfrm>
          <a:prstGeom prst="roundRect">
            <a:avLst>
              <a:gd name="adj" fmla="val 20000"/>
            </a:avLst>
          </a:prstGeom>
          <a:solidFill>
            <a:srgbClr val="10254F"/>
          </a:solidFill>
          <a:ln w="12700">
            <a:solidFill>
              <a:srgbClr val="F2C9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09947" y="5212080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F2C94C"/>
                </a:solidFill>
                <a:latin typeface="Calibri"/>
                <a:ea typeface="Calibri"/>
              </a:rPr>
              <a:t>STEP 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52947" y="5394960"/>
            <a:ext cx="15000" cy="548640"/>
          </a:xfrm>
          <a:prstGeom prst="rect">
            <a:avLst/>
          </a:prstGeom>
          <a:solidFill>
            <a:srgbClr val="F2C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35827" y="521208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F5F7FA"/>
                </a:solidFill>
                <a:latin typeface="Microsoft YaHei"/>
                <a:ea typeface="Microsoft YaHei"/>
              </a:rPr>
              <a:t>选 1 个设定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038947" y="5212080"/>
            <a:ext cx="3520440" cy="914400"/>
          </a:xfrm>
          <a:prstGeom prst="roundRect">
            <a:avLst>
              <a:gd name="adj" fmla="val 20000"/>
            </a:avLst>
          </a:prstGeom>
          <a:solidFill>
            <a:srgbClr val="10254F"/>
          </a:solidFill>
          <a:ln w="12700">
            <a:solidFill>
              <a:srgbClr val="E94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313267" y="5212080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E94B7B"/>
                </a:solidFill>
                <a:latin typeface="Calibri"/>
                <a:ea typeface="Calibri"/>
              </a:rPr>
              <a:t>STEP 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456267" y="5394960"/>
            <a:ext cx="15000" cy="548640"/>
          </a:xfrm>
          <a:prstGeom prst="rect">
            <a:avLst/>
          </a:prstGeom>
          <a:solidFill>
            <a:srgbClr val="E94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639147" y="521208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F5F7FA"/>
                </a:solidFill>
                <a:latin typeface="Microsoft YaHei"/>
                <a:ea typeface="Microsoft YaHei"/>
              </a:rPr>
              <a:t>写下 200 字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96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 i="1">
                <a:solidFill>
                  <a:srgbClr val="F2C94C"/>
                </a:solidFill>
                <a:latin typeface="Microsoft YaHei"/>
                <a:ea typeface="Microsoft YaHei"/>
              </a:rPr>
              <a:t>★  科幻不是胡思乱想，而是「有逻辑地，做一场好梦」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B1E6E">
              <a:alpha val="44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925177" y="1303511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028798" y="4950677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71505" y="4563750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31854" y="4705372"/>
            <a:ext cx="60000" cy="6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63308" y="5135958"/>
            <a:ext cx="60000" cy="6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856509" y="4303665"/>
            <a:ext cx="60000" cy="6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1490" y="4669241"/>
            <a:ext cx="90000" cy="9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18381" y="2623127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183981" y="2361928"/>
            <a:ext cx="60000" cy="6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633619" y="5865168"/>
            <a:ext cx="60000" cy="6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907773" y="2329310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13393" y="2877814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1850" y="151826"/>
            <a:ext cx="60000" cy="6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9479" y="2771655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777071" y="36927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81158" y="1308195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400588" y="3553797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76681" y="3102121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004226" y="4680210"/>
            <a:ext cx="90000" cy="9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12971" y="2660111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751488" y="1134507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774031" y="1352400"/>
            <a:ext cx="60000" cy="6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394519" y="5198825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458841" y="2356528"/>
            <a:ext cx="90000" cy="9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110877" y="72633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637333" y="2600181"/>
            <a:ext cx="60000" cy="6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048156" y="2416949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23429" y="6013672"/>
            <a:ext cx="90000" cy="9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397622" y="1499839"/>
            <a:ext cx="90000" cy="9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965610" y="2023957"/>
            <a:ext cx="90000" cy="9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665152" y="5272500"/>
            <a:ext cx="90000" cy="9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676180" y="2854430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134034" y="5913478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060374" y="5698061"/>
            <a:ext cx="60000" cy="6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336212" y="1673310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802951" y="5383554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620148" y="4419519"/>
            <a:ext cx="60000" cy="6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370942" y="2194592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2562" y="2314744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866810" y="4350893"/>
            <a:ext cx="90000" cy="9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011974" y="4840824"/>
            <a:ext cx="90000" cy="9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977208" y="5614403"/>
            <a:ext cx="90000" cy="9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4112" y="3268340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365285" y="6188709"/>
            <a:ext cx="90000" cy="9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231369" y="5249815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126421" y="4814173"/>
            <a:ext cx="60000" cy="6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441808" y="134326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21344" y="208228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654100" y="6324928"/>
            <a:ext cx="90000" cy="9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2365236" y="652236"/>
            <a:ext cx="60000" cy="6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622275" y="1725210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702757" y="5875106"/>
            <a:ext cx="90000" cy="9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098116" y="6217565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049968" y="1782387"/>
            <a:ext cx="60000" cy="6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239182" y="5946180"/>
            <a:ext cx="60000" cy="6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8107625" y="6387635"/>
            <a:ext cx="60000" cy="6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2157370" y="3408536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9707812" y="470026"/>
            <a:ext cx="90000" cy="9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944608" y="3472626"/>
            <a:ext cx="90000" cy="9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107079" y="2696853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170459" y="309391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174311" y="1498185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0214614" y="374661"/>
            <a:ext cx="60000" cy="6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818634" y="763356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3358701" y="2379110"/>
            <a:ext cx="60000" cy="6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455745" y="1131282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9063598" y="739886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831163" y="563611"/>
            <a:ext cx="60000" cy="6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030695" y="5673819"/>
            <a:ext cx="90000" cy="9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497697" y="4955085"/>
            <a:ext cx="60000" cy="6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4146296" y="344072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2291919" y="1169951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053876" y="6297760"/>
            <a:ext cx="90000" cy="9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2817431" y="5973128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909620" y="4775590"/>
            <a:ext cx="60000" cy="6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0685241" y="1051753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4548916" y="2041808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248469" y="6180158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0740346" y="5275166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506953" y="2785182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312715" y="3951276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095173" y="5247838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922688" y="3975987"/>
            <a:ext cx="60000" cy="6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456542" y="120799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5109541" y="4662288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89904" y="6460639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897853" y="1067404"/>
            <a:ext cx="60000" cy="6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5299868" y="3684690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606319" y="6211278"/>
            <a:ext cx="90000" cy="9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747005" y="5734322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1814692" y="6076423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1422937" y="6363032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7171495" y="2223722"/>
            <a:ext cx="30000" cy="3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1178902" y="592835"/>
            <a:ext cx="60000" cy="6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2836042" y="3732382"/>
            <a:ext cx="30000" cy="3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319683" y="1313939"/>
            <a:ext cx="30000" cy="30000"/>
          </a:xfrm>
          <a:prstGeom prst="ellipse">
            <a:avLst/>
          </a:prstGeom>
          <a:solidFill>
            <a:srgbClr val="F5F7F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5796146" y="5846736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046289" y="3360657"/>
            <a:ext cx="60000" cy="60000"/>
          </a:xfrm>
          <a:prstGeom prst="ellipse">
            <a:avLst/>
          </a:prstGeom>
          <a:solidFill>
            <a:srgbClr val="F5F7F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2861878" y="3417106"/>
            <a:ext cx="90000" cy="90000"/>
          </a:xfrm>
          <a:prstGeom prst="ellipse">
            <a:avLst/>
          </a:prstGeom>
          <a:solidFill>
            <a:srgbClr val="F5F7F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4820964" y="3657593"/>
            <a:ext cx="30000" cy="30000"/>
          </a:xfrm>
          <a:prstGeom prst="ellipse">
            <a:avLst/>
          </a:prstGeom>
          <a:solidFill>
            <a:srgbClr val="F5F7F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48640" y="411480"/>
            <a:ext cx="457200" cy="38100"/>
          </a:xfrm>
          <a:prstGeom prst="rect">
            <a:avLst/>
          </a:prstGeom>
          <a:solidFill>
            <a:srgbClr val="F2C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97280" y="29260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2C94C"/>
                </a:solidFill>
                <a:latin typeface="Microsoft YaHei"/>
                <a:ea typeface="Microsoft YaHei"/>
              </a:rPr>
              <a:t>The End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8A99B3"/>
                </a:solidFill>
                <a:latin typeface="Microsoft YaHei"/>
                <a:ea typeface="Microsoft YaHei"/>
              </a:rPr>
              <a:t>13 / 13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48640" y="6400800"/>
            <a:ext cx="11064240" cy="9525"/>
          </a:xfrm>
          <a:prstGeom prst="rect">
            <a:avLst/>
          </a:prstGeom>
          <a:solidFill>
            <a:srgbClr val="8A99B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22960" y="182880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0" b="1" i="0">
                <a:solidFill>
                  <a:srgbClr val="F2C94C"/>
                </a:solidFill>
                <a:latin typeface="Calibri"/>
                <a:ea typeface="Calibri"/>
              </a:rPr>
              <a:t>THANK YOU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22960" y="329184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 i="0">
                <a:solidFill>
                  <a:srgbClr val="F5F7FA"/>
                </a:solidFill>
                <a:latin typeface="Microsoft YaHei"/>
                <a:ea typeface="Microsoft YaHei"/>
              </a:rPr>
              <a:t>谢   谢   大   家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733288" y="4160520"/>
            <a:ext cx="731520" cy="38100"/>
          </a:xfrm>
          <a:prstGeom prst="rect">
            <a:avLst/>
          </a:prstGeom>
          <a:solidFill>
            <a:srgbClr val="F2C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22960" y="44348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 i="1">
                <a:solidFill>
                  <a:srgbClr val="CBD5E0"/>
                </a:solidFill>
                <a:latin typeface="Microsoft YaHei"/>
                <a:ea typeface="Microsoft YaHei"/>
              </a:rPr>
              <a:t>愿你也能，写出属于自己的星辰大海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22960" y="54406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>
                <a:solidFill>
                  <a:srgbClr val="8A99B3"/>
                </a:solidFill>
                <a:latin typeface="Microsoft YaHei"/>
                <a:ea typeface="Microsoft YaHei"/>
              </a:rPr>
              <a:t>致敬   ·   刘慈欣   ·   安迪 · 威尔   ·   特德 · 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