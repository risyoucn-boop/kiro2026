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同学们好！今天我们要进入科幻小说的世界，学习三个核心秘密：它有哪些种类？故事是怎么搭建的？还有那些让人拍大腿的有趣科学设定。准备好了吗？出发！
[预计时间：40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先问大家一个问题：如果有一天，你的书包突然会说话，这算童话还是科幻？觉得是童话的举手，觉得是科幻的举手。其实关键不在于书包会不会说话，而在于有没有科学解释。如果它只是突然说话，那更像童话；如果它里面装了 AI 芯片，那就更像科幻。
[预计时间：1 分钟]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科幻和童话最大的区别是什么？童话里魔杖一点，南瓜变马车，不需要理由。但科幻里，如果有人能瞬间移动，你一定得告诉我原因。科幻就是：用科学来解释幻想，让假的事情听起来像真的一样。
[预计时间：1 分钟]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幻主要分三种。第一种是硬科幻，像硬糖一样有嚼劲，里面科学知识很多，比如《流浪地球》。第二种是软科幻，像棉花糖，更关心人的感情，比如《你一生的故事》。第三种是幽默科幻，像跳跳糖，短小又让人惊喜，比如星新一的《喂——出来》。如果让你选，你最想读哪一种？
[预计时间：1 分 20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幻小说和普通故事最大的不同，是它有一个特别清楚的结构。我把它总结成三步：第一步，设定，先出现一个现实中不存在的东西；第二步，推演，想一想它会带来什么后果；第三步，选择，人在这个新世界里会怎么办。简单说就是：如果……会怎样……那人怎么办？
[预计时间：1 分 20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如《三体》里有一个设定叫“智子”。它只有一个质子那么大，却像超级计算机一样，可以干扰地球科学实验。那会怎样？科学家做实验总是得不到正确结果，科技就很难继续进步。那人类怎么办？有人绝望，但也有人选择反抗。你看，一个小设定，就能改变整个故事世界。
[预计时间：1 分 20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现在打开你们的脑洞！如果只能选一个科幻道具带回家，你会选哪一个？A 记忆云盘，可以把不想要的记忆存进 U 盘；B 情绪毛衣，穿上后能感受到别人的真实情绪；C 1%速度按钮，按下后全世界变慢 100 倍；D 共享梦境 App，全班做同一个梦。现在请大家举手投票。投完后我们要想一想：它不只是好玩，还可能带来什么麻烦？
[预计时间：1 分 30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用刚才得票最高的道具，现场造一个小科幻故事。第一步，这个道具出现了。第二步，它改变了什么，或者带来了什么麻烦？大家可以说一个词。第三步，主人公要怎么选择？你们发现没有，我们已经在用“设定、推演、选择”写故事了。
冷场备用：大家的脑洞很多，我们先收回来。记住重点：设定、推演、选择。
[预计时间：1 分 30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再用这个方法看三个故事。《火星救援》里，一个宇航员被落在火星上，他没有等死，而是用科学办法造水、种土豆，最后活下来。《喂——出来》里，人们发现一个无底洞，以为垃圾永远不会回来，就疯狂往里面扔，结果最后垃圾从天上掉回来了。《呼吸》里，机器人每呼吸一次，就在消耗生命，但它选择接受真相，珍惜每一次呼吸。三个故事都不一样，但结构都是：设定、推演、选择。
[预计时间：2 分钟]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科幻里的东西，正在慢慢变成真的。比如脑机接口，听起来像用念头打字；太空电梯，听起来像坐电梯上太空；人造光合作用，听起来像让材料像树叶一样利用阳光。科幻不是胡思乱想，它有时候是在提前想象未来。
[预计时间：1 分钟]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其实我们也可以写科幻。你只要套这个公式：如果有一天，某个神奇科技出现了；一开始，它让大家怎么样；可是后来，它带来了什么麻烦；最后，主人公做出了什么选择。这样，一个科幻故事就有了。
[预计时间：1 分钟]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每一个大科学家小时候，都是先成为大幻想家。你的科幻翅膀，就藏在每天问的那个“如果……会怎样？”里。我的分享结束，谢谢大家！
[预计时间：40 秒]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18872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73152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36576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0058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5720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91440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5486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137160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603504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640080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21792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649224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594360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630936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828800"/>
            <a:ext cx="12191695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科幻小说大冒险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种类  ·  结构  ·  有趣的科学设定</a:t>
            </a:r>
            <a:endParaRPr lang="en-US" sz="2400" dirty="0"/>
          </a:p>
        </p:txBody>
      </p:sp>
      <p:pic>
        <p:nvPicPr>
          <p:cNvPr id="20" name="Image 0" descr="/projects/sandbox/kiro2026/scifi-grade6-ppt/assets/.png_cache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91840"/>
            <a:ext cx="2194560" cy="2560320"/>
          </a:xfrm>
          <a:prstGeom prst="rect">
            <a:avLst/>
          </a:prstGeom>
        </p:spPr>
      </p:pic>
      <p:pic>
        <p:nvPicPr>
          <p:cNvPr id="21" name="Image 1" descr="/projects/sandbox/kiro2026/scifi-grade6-ppt/assets/.png_cache/pla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2286000" cy="2286000"/>
          </a:xfrm>
          <a:prstGeom prst="rect">
            <a:avLst/>
          </a:prstGeom>
        </p:spPr>
      </p:pic>
      <p:pic>
        <p:nvPicPr>
          <p:cNvPr id="22" name="Image 2" descr="/projects/sandbox/kiro2026/scifi-grade6-ppt/assets/.png_cache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383280"/>
            <a:ext cx="2194560" cy="2560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657600" y="4023360"/>
            <a:ext cx="4846320" cy="1097280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 rot="10800000">
            <a:off x="3931920" y="5074920"/>
            <a:ext cx="365760" cy="320040"/>
          </a:xfrm>
          <a:prstGeom prst="triangle">
            <a:avLst/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40480" y="4160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  一起出发！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今天我们要进入科幻世界。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这是童话，还是科幻？</a:t>
            </a:r>
            <a:endParaRPr lang="en-US" sz="3200" dirty="0"/>
          </a:p>
        </p:txBody>
      </p:sp>
      <p:pic>
        <p:nvPicPr>
          <p:cNvPr id="5" name="Image 0" descr="/projects/sandbox/kiro2026/scifi-grade6-ppt/assets/.png_cache/talking_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828800"/>
            <a:ext cx="3108960" cy="914400"/>
          </a:xfrm>
          <a:prstGeom prst="roundRect">
            <a:avLst>
              <a:gd name="adj" fmla="val 25000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0">
            <a:off x="4480560" y="2697480"/>
            <a:ext cx="365760" cy="320040"/>
          </a:xfrm>
          <a:prstGeom prst="triangle">
            <a:avLst/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我会说话哦！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79392" y="3090672"/>
            <a:ext cx="3566160" cy="2377440"/>
          </a:xfrm>
          <a:prstGeom prst="roundRect">
            <a:avLst>
              <a:gd name="adj" fmla="val 769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3017520"/>
            <a:ext cx="3566160" cy="2377440"/>
          </a:xfrm>
          <a:prstGeom prst="roundRect">
            <a:avLst>
              <a:gd name="adj" fmla="val 769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3017520"/>
            <a:ext cx="3566160" cy="640080"/>
          </a:xfrm>
          <a:prstGeom prst="roundRect">
            <a:avLst>
              <a:gd name="adj" fmla="val 28571"/>
            </a:avLst>
          </a:prstGeom>
          <a:solidFill>
            <a:srgbClr val="FF6B6B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如果没有原因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389120" y="37947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像童话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魔法直接发生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不需要解释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28432" y="3090672"/>
            <a:ext cx="3840480" cy="2377440"/>
          </a:xfrm>
          <a:prstGeom prst="roundRect">
            <a:avLst>
              <a:gd name="adj" fmla="val 769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3017520"/>
            <a:ext cx="3840480" cy="2377440"/>
          </a:xfrm>
          <a:prstGeom prst="roundRect">
            <a:avLst>
              <a:gd name="adj" fmla="val 769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3017520"/>
            <a:ext cx="384048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如果装了 AI 芯片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38160" y="37947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像科幻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有科学解释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听起来像真的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0" y="1737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科幻要有一个“看起来像真的理由”。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772400" y="59893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7ED9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5989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· 请举手投票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 + 幻想 = 科幻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2084832"/>
            <a:ext cx="3474720" cy="3108960"/>
          </a:xfrm>
          <a:prstGeom prst="roundRect">
            <a:avLst>
              <a:gd name="adj" fmla="val 588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FF6B6B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但不用解释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魔杖一点 → 南瓜变马车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31089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5010912" y="2084832"/>
            <a:ext cx="3474720" cy="3108960"/>
          </a:xfrm>
          <a:prstGeom prst="roundRect">
            <a:avLst>
              <a:gd name="adj" fmla="val 588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2011680"/>
            <a:ext cx="3474720" cy="310896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201168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27889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但要有理由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用科学解释幻想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1089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9034272" y="2084832"/>
            <a:ext cx="2926080" cy="3108960"/>
          </a:xfrm>
          <a:prstGeom prst="roundRect">
            <a:avLst>
              <a:gd name="adj" fmla="val 6250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2011680"/>
            <a:ext cx="2926080" cy="3108960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011680"/>
            <a:ext cx="292608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27889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让不可能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像可能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让不可能听起来像可能。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科幻小说的三种类型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硬科幻 · 硬糖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科学很多，嚼劲十足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讲原理，讲推导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例如《流浪地球》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FF6B6B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软科幻 · 棉花糖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更重感情，软软的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讲人和情感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例如《你一生的故事》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987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幽默科幻 · 跳跳糖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短小，惊喜不断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常是脑洞小故事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例如《喂——出来》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不同科幻，味道不一样。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0" y="59893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7ED9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5989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· 你最想读哪一种？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科幻故事的秘密公式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097280"/>
          </a:xfrm>
          <a:prstGeom prst="roundRect">
            <a:avLst>
              <a:gd name="adj" fmla="val 16667"/>
            </a:avLst>
          </a:prstGeom>
          <a:solidFill>
            <a:srgbClr val="5B4B8A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如果……  会怎样……  那人怎么办？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3090672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出现一个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不可能的东西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（科学小幻想）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06240" y="3840480"/>
            <a:ext cx="457200" cy="640080"/>
          </a:xfrm>
          <a:prstGeom prst="rightTriangle">
            <a:avLst/>
          </a:prstGeom>
          <a:solidFill>
            <a:srgbClr val="FF6B6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3090672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30175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3017520"/>
            <a:ext cx="347472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推演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3794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它会带来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什么后果？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世界会怎么变？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321040" y="3840480"/>
            <a:ext cx="457200" cy="640080"/>
          </a:xfrm>
          <a:prstGeom prst="rightTriangle">
            <a:avLst/>
          </a:prstGeom>
          <a:solidFill>
            <a:srgbClr val="FF6B6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2832" y="3090672"/>
            <a:ext cx="3108960" cy="2286000"/>
          </a:xfrm>
          <a:prstGeom prst="roundRect">
            <a:avLst>
              <a:gd name="adj" fmla="val 8000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017520"/>
            <a:ext cx="3108960" cy="2286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3017520"/>
            <a:ext cx="3108960" cy="640080"/>
          </a:xfrm>
          <a:prstGeom prst="roundRect">
            <a:avLst>
              <a:gd name="adj" fmla="val 28571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选择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52560" y="3794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人在新世界里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会怎么办？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做出什么决定？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这是整场分享最重要的一页。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一个小设定，改变整个世界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智子干扰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科学实验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（像超级计算机）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901952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实验总是出错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地球科技停滞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人类陷入危机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9872" y="1901952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657600" cy="27432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有人绝望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有人反抗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有人继续坚持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206240" y="2926080"/>
            <a:ext cx="457200" cy="640080"/>
          </a:xfrm>
          <a:prstGeom prst="rightTriangle">
            <a:avLst/>
          </a:prstGeom>
          <a:solidFill>
            <a:srgbClr val="FF6B6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7955280" y="2926080"/>
            <a:ext cx="457200" cy="640080"/>
          </a:xfrm>
          <a:prstGeom prst="rightTriangle">
            <a:avLst/>
          </a:prstGeom>
          <a:solidFill>
            <a:srgbClr val="FF6B6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46320"/>
            <a:ext cx="11155680" cy="914400"/>
          </a:xfrm>
          <a:prstGeom prst="roundRect">
            <a:avLst>
              <a:gd name="adj" fmla="val 15000"/>
            </a:avLst>
          </a:prstGeom>
          <a:solidFill>
            <a:srgbClr val="5B4B8A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·《三体》：从一个小粒子开始的大故事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一个小设定，也能推开大故事。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如果只能选一个科幻道具，你选哪个？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16213E">
              <a:alpha val="3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212080" cy="548640"/>
          </a:xfrm>
          <a:prstGeom prst="roundRect">
            <a:avLst>
              <a:gd name="adj" fmla="val 33333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记忆云盘</a:t>
            </a:r>
            <a:endParaRPr lang="en-US" sz="1800" dirty="0"/>
          </a:p>
        </p:txBody>
      </p:sp>
      <p:pic>
        <p:nvPicPr>
          <p:cNvPr id="9" name="Image 0" descr="/projects/sandbox/kiro2026/scifi-grade6-ppt/assets/.png_cache/memory_d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1371600" cy="128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0" y="2331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把不想要的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记忆存进 U 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73952" y="1719072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16213E">
              <a:alpha val="3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164592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645920"/>
            <a:ext cx="5212080" cy="548640"/>
          </a:xfrm>
          <a:prstGeom prst="roundRect">
            <a:avLst>
              <a:gd name="adj" fmla="val 33333"/>
            </a:avLst>
          </a:prstGeom>
          <a:solidFill>
            <a:srgbClr val="FF6B6B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645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情绪毛衣</a:t>
            </a:r>
            <a:endParaRPr lang="en-US" sz="1800" dirty="0"/>
          </a:p>
        </p:txBody>
      </p:sp>
      <p:pic>
        <p:nvPicPr>
          <p:cNvPr id="15" name="Image 1" descr="/projects/sandbox/kiro2026/scifi-grade6-ppt/assets/.png_cache/emotion_swe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31720"/>
            <a:ext cx="1371600" cy="12801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38160" y="2331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穿上后感受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别人的真实情绪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1792" y="4005072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16213E">
              <a:alpha val="3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93192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931920"/>
            <a:ext cx="5212080" cy="548640"/>
          </a:xfrm>
          <a:prstGeom prst="roundRect">
            <a:avLst>
              <a:gd name="adj" fmla="val 33333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931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1%速度按钮</a:t>
            </a:r>
            <a:endParaRPr lang="en-US" sz="1800" dirty="0"/>
          </a:p>
        </p:txBody>
      </p:sp>
      <p:pic>
        <p:nvPicPr>
          <p:cNvPr id="21" name="Image 2" descr="/projects/sandbox/kiro2026/scifi-grade6-ppt/assets/.png_cache/speed_butt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17720"/>
            <a:ext cx="1371600" cy="12801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86000" y="4617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全世界变慢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倍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473952" y="4005072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16213E">
              <a:alpha val="3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0" y="3931920"/>
            <a:ext cx="5212080" cy="210312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0" y="3931920"/>
            <a:ext cx="5212080" cy="548640"/>
          </a:xfrm>
          <a:prstGeom prst="roundRect">
            <a:avLst>
              <a:gd name="adj" fmla="val 33333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0" y="3931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共享梦境 App</a:t>
            </a:r>
            <a:endParaRPr lang="en-US" sz="1800" dirty="0"/>
          </a:p>
        </p:txBody>
      </p:sp>
      <p:pic>
        <p:nvPicPr>
          <p:cNvPr id="27" name="Image 3" descr="/projects/sandbox/kiro2026/scifi-grade6-ppt/assets/.png_cache/dream_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617720"/>
            <a:ext cx="1371600" cy="12801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38160" y="4617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全班一起做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同一个梦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好设定不只是好玩，还会带来麻烦。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772400" y="59893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7ED9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0" y="5989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· 请举手投票！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全班一起造一个科幻故事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这个道具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出现了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（用刚才得票最高的）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901952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26060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带来了什么麻烦？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9872" y="1901952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主人公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怎么选择？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做出什么决定？</a:t>
            </a:r>
            <a:endParaRPr lang="en-US" sz="1600" dirty="0"/>
          </a:p>
        </p:txBody>
      </p:sp>
      <p:pic>
        <p:nvPicPr>
          <p:cNvPr id="20" name="Image 0" descr="/projects/sandbox/kiro2026/scifi-grade6-ppt/assets/.png_cache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937760"/>
            <a:ext cx="822960" cy="1005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请同学只说 1 个词或 1 句话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我们也能用三步法写科幻。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772400" y="59893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7ED9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5989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· 你来填一格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用三步结构看懂科幻故事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56616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《火星救援》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设定：宇航员留在火星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推演：造水，种土豆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选择：用科学活下来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901952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6616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《喂——出来》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设定：发现无底洞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推演：人们疯狂倒垃圾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选择：逃避问题，被自然还回来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11312" y="1901952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3566160" cy="3657600"/>
          </a:xfrm>
          <a:prstGeom prst="roundRect">
            <a:avLst>
              <a:gd name="adj" fmla="val 5128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3566160" cy="640080"/>
          </a:xfrm>
          <a:prstGeom prst="roundRect">
            <a:avLst>
              <a:gd name="adj" fmla="val 28571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《呼吸》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设定：呼吸消耗生命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推演：活着就是倒计时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选择：接受真相，珍惜呼吸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再复杂的科幻，也能先用三步看懂。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科幻正在变成现实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4DD0E1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脑机接口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用念头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控制设备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打字 / 玩游戏</a:t>
            </a:r>
            <a:endParaRPr lang="en-US" sz="1600" dirty="0"/>
          </a:p>
        </p:txBody>
      </p:sp>
      <p:pic>
        <p:nvPicPr>
          <p:cNvPr id="10" name="Image 0" descr="/projects/sandbox/kiro2026/scifi-grade6-ppt/assets/.png_cache/brain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657600"/>
            <a:ext cx="1280160" cy="1280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7083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FFC8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太空电梯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48056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坐电梯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去太空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不再靠火箭</a:t>
            </a:r>
            <a:endParaRPr lang="en-US" sz="1600" dirty="0"/>
          </a:p>
        </p:txBody>
      </p:sp>
      <p:pic>
        <p:nvPicPr>
          <p:cNvPr id="16" name="Image 1" descr="/projects/sandbox/kiro2026/scifi-grade6-ppt/assets/.png_cache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0"/>
            <a:ext cx="1280160" cy="1280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19872" y="1901952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16213E">
              <a:alpha val="40000"/>
            </a:srgbClr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1828800"/>
            <a:ext cx="3657600" cy="3291840"/>
          </a:xfrm>
          <a:prstGeom prst="roundRect">
            <a:avLst>
              <a:gd name="adj" fmla="val 5556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1828800"/>
            <a:ext cx="3657600" cy="640080"/>
          </a:xfrm>
          <a:prstGeom prst="roundRect">
            <a:avLst>
              <a:gd name="adj" fmla="val 28571"/>
            </a:avLst>
          </a:prstGeom>
          <a:solidFill>
            <a:srgbClr val="7ED957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467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人造光合作用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229600" y="26060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材料像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树叶一样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用阳光发电</a:t>
            </a:r>
            <a:endParaRPr lang="en-US" sz="1600" dirty="0"/>
          </a:p>
        </p:txBody>
      </p:sp>
      <p:pic>
        <p:nvPicPr>
          <p:cNvPr id="22" name="Image 2" descr="/projects/sandbox/kiro2026/scifi-grade6-ppt/assets/.png_cache/pla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00"/>
            <a:ext cx="1280160" cy="12801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科幻是提前到来的未来。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9144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写科幻的万能公式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00" cy="4023360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4DD0E1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如果有一天，____________________ 出现了。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11480" cy="411480"/>
          </a:xfrm>
          <a:prstGeom prst="ellipse">
            <a:avLst/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一开始，它让大家 ____________________。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11480" cy="41148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可是后来，____________________________。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00600"/>
            <a:ext cx="411480" cy="411480"/>
          </a:xfrm>
          <a:prstGeom prst="ellipse">
            <a:avLst/>
          </a:prstGeom>
          <a:solidFill>
            <a:srgbClr val="7ED9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最后，主人公选择 ___________________。</a:t>
            </a:r>
            <a:endParaRPr lang="en-US" sz="2000" dirty="0"/>
          </a:p>
        </p:txBody>
      </p:sp>
      <p:pic>
        <p:nvPicPr>
          <p:cNvPr id="18" name="Image 0" descr="/projects/sandbox/kiro2026/scifi-grade6-ppt/assets/.png_cache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828800"/>
            <a:ext cx="2377440" cy="2743200"/>
          </a:xfrm>
          <a:prstGeom prst="rect">
            <a:avLst/>
          </a:prstGeom>
        </p:spPr>
      </p:pic>
      <p:pic>
        <p:nvPicPr>
          <p:cNvPr id="19" name="Image 1" descr="/projects/sandbox/kiro2026/scifi-grade6-ppt/assets/.png_cache/story_formu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4663440"/>
            <a:ext cx="2926080" cy="11887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先问“如果”，故事就开始了。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18872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73152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36576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0058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5720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91440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54864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137160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603504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640080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217920"/>
            <a:ext cx="73152" cy="73152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649224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594360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6309360"/>
            <a:ext cx="73152" cy="73152"/>
          </a:xfrm>
          <a:prstGeom prst="ellipse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828800"/>
            <a:ext cx="12191695" cy="5029200"/>
          </a:xfrm>
          <a:prstGeom prst="rect">
            <a:avLst/>
          </a:prstGeom>
          <a:solidFill>
            <a:srgbClr val="5B4B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48640"/>
            <a:ext cx="1124712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插上你的科幻翅膀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914400" y="1828800"/>
            <a:ext cx="10332720" cy="2468880"/>
          </a:xfrm>
          <a:prstGeom prst="roundRect">
            <a:avLst>
              <a:gd name="adj" fmla="val 9259"/>
            </a:avLst>
          </a:prstGeom>
          <a:solidFill>
            <a:srgbClr val="F8FAFF"/>
          </a:solidFill>
          <a:ln w="508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1920240"/>
            <a:ext cx="9966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每一个大科学家小时候，</a:t>
            </a:r>
            <a:endParaRPr lang="en-US" sz="2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都是先成为大幻想家。</a:t>
            </a:r>
            <a:endParaRPr lang="en-US" sz="2200" dirty="0"/>
          </a:p>
          <a:p>
            <a:pPr algn="ctr" indent="0" marL="0">
              <a:spcAft>
                <a:spcPts val="400"/>
              </a:spcAft>
              <a:buNone/>
            </a:pPr>
            <a:endParaRPr lang="en-US" sz="2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你的科幻翅膀，就藏在每天问的那个：</a:t>
            </a:r>
            <a:endParaRPr lang="en-US" sz="2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“如果……会怎样？”</a:t>
            </a:r>
            <a:endParaRPr lang="en-US" sz="2200" dirty="0"/>
          </a:p>
        </p:txBody>
      </p:sp>
      <p:pic>
        <p:nvPicPr>
          <p:cNvPr id="21" name="Image 0" descr="/projects/sandbox/kiro2026/scifi-grade6-ppt/assets/.png_cache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480560"/>
            <a:ext cx="1554480" cy="1828800"/>
          </a:xfrm>
          <a:prstGeom prst="rect">
            <a:avLst/>
          </a:prstGeom>
        </p:spPr>
      </p:pic>
      <p:pic>
        <p:nvPicPr>
          <p:cNvPr id="22" name="Image 1" descr="/projects/sandbox/kiro2026/scifi-grade6-ppt/assets/.png_cache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4480560"/>
            <a:ext cx="1371600" cy="1828800"/>
          </a:xfrm>
          <a:prstGeom prst="rect">
            <a:avLst/>
          </a:prstGeom>
        </p:spPr>
      </p:pic>
      <p:pic>
        <p:nvPicPr>
          <p:cNvPr id="23" name="Image 2" descr="/projects/sandbox/kiro2026/scifi-grade6-ppt/assets/.png_cache/pla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480560"/>
            <a:ext cx="1554480" cy="1554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743200" y="4937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谢 大 家！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365760" y="5989320"/>
            <a:ext cx="7132320" cy="6400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5989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 · 保持好奇，就是科幻的开始。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1612880" y="45720"/>
            <a:ext cx="502920" cy="502920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8FA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1612880" y="45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Class Sharing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科幻小说大冒险</dc:title>
  <dc:subject>Science Fiction Adventure</dc:subject>
  <dc:creator>Grade 6 Student</dc:creator>
  <cp:lastModifiedBy>Grade 6 Student</cp:lastModifiedBy>
  <cp:revision>1</cp:revision>
  <dcterms:created xsi:type="dcterms:W3CDTF">2026-05-29T08:14:14Z</dcterms:created>
  <dcterms:modified xsi:type="dcterms:W3CDTF">2026-05-29T08:14:14Z</dcterms:modified>
</cp:coreProperties>
</file>