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3152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5A5"/>
                </a:solidFill>
                <a:latin typeface="Arial"/>
              </a:rPr>
              <a:t>EXHIBIT 4 OF 4   |   现场管理操作系统  /  时间再配置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164592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8A95A5"/>
                </a:solidFill>
                <a:latin typeface="Microsoft YaHei"/>
              </a:rPr>
              <a:t>PAone × 银卡服销 · 1+N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384048"/>
            <a:ext cx="6583680" cy="0"/>
          </a:xfrm>
          <a:prstGeom prst="line">
            <a:avLst/>
          </a:prstGeom>
          <a:ln w="19050">
            <a:solidFill>
              <a:srgbClr val="003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502920"/>
            <a:ext cx="6583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3A70"/>
                </a:solidFill>
                <a:latin typeface="Microsoft YaHei"/>
              </a:rPr>
              <a:t>PAone 1+N 释放 </a:t>
            </a:r>
            <a:r>
              <a:rPr sz="1700" b="1" i="0">
                <a:solidFill>
                  <a:srgbClr val="C83A1E"/>
                </a:solidFill>
                <a:latin typeface="Microsoft YaHei"/>
              </a:rPr>
              <a:t>~70%</a:t>
            </a:r>
            <a:r>
              <a:rPr sz="1700" b="1" i="0">
                <a:solidFill>
                  <a:srgbClr val="003A70"/>
                </a:solidFill>
                <a:latin typeface="Microsoft YaHei"/>
              </a:rPr>
              <a:t> 现管组长的标准化数据动作时间，</a:t>
            </a:r>
          </a:p>
          <a:p>
            <a:pPr algn="l"/>
            <a:r>
              <a:rPr sz="1700" b="1" i="0">
                <a:solidFill>
                  <a:srgbClr val="003A70"/>
                </a:solidFill>
                <a:latin typeface="Microsoft YaHei"/>
              </a:rPr>
              <a:t>重投到识别 / 干预 / 辅导 / 复制 / 训练 AI 等不可替代的高价值动作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4A5568"/>
                </a:solidFill>
                <a:latin typeface="Microsoft YaHei"/>
              </a:rPr>
              <a:t>6 个 AI 能力单元接管查数 / 催办 / 救火 / 材料拼接，</a:t>
            </a:r>
            <a:r>
              <a:rPr sz="950" b="0" i="1">
                <a:solidFill>
                  <a:srgbClr val="4A5568"/>
                </a:solidFill>
                <a:latin typeface="Microsoft YaHei"/>
              </a:rPr>
              <a:t>组长有效管理半径预计提升 2 ~ 3 倍。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847088"/>
            <a:ext cx="6583680" cy="0"/>
          </a:xfrm>
          <a:prstGeom prst="line">
            <a:avLst/>
          </a:prstGeom>
          <a:ln w="6350">
            <a:solidFill>
              <a:srgbClr val="C8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965960"/>
            <a:ext cx="6583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A95A5"/>
                </a:solidFill>
                <a:latin typeface="Arial"/>
              </a:rPr>
              <a:t>EXHIBIT  </a:t>
            </a:r>
            <a:r>
              <a:rPr sz="900" b="1" i="0">
                <a:solidFill>
                  <a:srgbClr val="003A70"/>
                </a:solidFill>
                <a:latin typeface="Microsoft YaHei"/>
              </a:rPr>
              <a:t>现管组长每日工作时间分配</a:t>
            </a:r>
            <a:r>
              <a:rPr sz="800" b="0" i="1">
                <a:solidFill>
                  <a:srgbClr val="8A95A5"/>
                </a:solidFill>
                <a:latin typeface="Arial"/>
              </a:rPr>
              <a:t>    % of working hours · illustrative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76856"/>
            <a:ext cx="146304" cy="109728"/>
          </a:xfrm>
          <a:prstGeom prst="rect">
            <a:avLst/>
          </a:prstGeom>
          <a:solidFill>
            <a:srgbClr val="C8C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A5568"/>
                </a:solidFill>
                <a:latin typeface="Microsoft YaHei"/>
              </a:rPr>
              <a:t>数据 / 材料动作（低价值）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2276856"/>
            <a:ext cx="146304" cy="109728"/>
          </a:xfrm>
          <a:prstGeom prst="rect">
            <a:avLst/>
          </a:prstGeom>
          <a:solidFill>
            <a:srgbClr val="9BC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2402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A5568"/>
                </a:solidFill>
                <a:latin typeface="Microsoft YaHei"/>
              </a:rPr>
              <a:t>辅导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2276856"/>
            <a:ext cx="146304" cy="10972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22402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A5568"/>
                </a:solidFill>
                <a:latin typeface="Microsoft YaHei"/>
              </a:rPr>
              <a:t>干预 · 复制 · 训练 AI（高价值）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496312"/>
            <a:ext cx="86868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4A5568"/>
                </a:solidFill>
                <a:latin typeface="Microsoft YaHei"/>
              </a:rPr>
              <a:t>Before · 传统现管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5880" y="2514600"/>
            <a:ext cx="3992727" cy="420624"/>
          </a:xfrm>
          <a:prstGeom prst="rect">
            <a:avLst/>
          </a:prstGeom>
          <a:solidFill>
            <a:srgbClr val="C8C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2514600"/>
            <a:ext cx="399272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8607" y="2514600"/>
            <a:ext cx="674827" cy="420624"/>
          </a:xfrm>
          <a:prstGeom prst="rect">
            <a:avLst/>
          </a:prstGeom>
          <a:solidFill>
            <a:srgbClr val="9BC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8607" y="2514600"/>
            <a:ext cx="67482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2955"/>
                </a:solidFill>
                <a:latin typeface="Arial"/>
              </a:rPr>
              <a:t>12%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93434" y="2514600"/>
            <a:ext cx="956005" cy="420624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93434" y="2514600"/>
            <a:ext cx="95600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514600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5A5"/>
                </a:solidFill>
                <a:latin typeface="Arial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099816"/>
            <a:ext cx="86868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3A70"/>
                </a:solidFill>
                <a:latin typeface="Microsoft YaHei"/>
              </a:rPr>
              <a:t>After · PAone 1+N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3118104"/>
            <a:ext cx="674827" cy="420624"/>
          </a:xfrm>
          <a:prstGeom prst="rect">
            <a:avLst/>
          </a:prstGeom>
          <a:solidFill>
            <a:srgbClr val="C8C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3118104"/>
            <a:ext cx="67482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2955"/>
                </a:solidFill>
                <a:latin typeface="Arial"/>
              </a:rPr>
              <a:t>12%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00707" y="3118104"/>
            <a:ext cx="1237183" cy="420624"/>
          </a:xfrm>
          <a:prstGeom prst="rect">
            <a:avLst/>
          </a:prstGeom>
          <a:solidFill>
            <a:srgbClr val="9BC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00707" y="3118104"/>
            <a:ext cx="123718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2955"/>
                </a:solidFill>
                <a:latin typeface="Arial"/>
              </a:rPr>
              <a:t>22%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37890" y="3118104"/>
            <a:ext cx="3711549" cy="420624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37890" y="3118104"/>
            <a:ext cx="371154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66%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311810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8A95A5"/>
                </a:solidFill>
                <a:latin typeface="Arial"/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2935224"/>
            <a:ext cx="5669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C83A1E"/>
                </a:solidFill>
                <a:latin typeface="Arial"/>
              </a:rPr>
              <a:t>▲ </a:t>
            </a:r>
            <a:r>
              <a:rPr sz="850" b="1" i="0">
                <a:solidFill>
                  <a:srgbClr val="003A70"/>
                </a:solidFill>
                <a:latin typeface="Microsoft YaHei"/>
              </a:rPr>
              <a:t>高价值动作占比从 17% → 66%，</a:t>
            </a:r>
            <a:r>
              <a:rPr sz="900" b="1" i="0">
                <a:solidFill>
                  <a:srgbClr val="C83A1E"/>
                </a:solidFill>
                <a:latin typeface="Arial"/>
              </a:rPr>
              <a:t>+49 pp</a:t>
            </a:r>
            <a:r>
              <a:rPr sz="850" b="0" i="0">
                <a:solidFill>
                  <a:srgbClr val="4A5568"/>
                </a:solidFill>
                <a:latin typeface="Microsoft YaHei"/>
              </a:rPr>
              <a:t>（数据 / 材料动作 71% → 12%）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65760" y="3630168"/>
            <a:ext cx="6583680" cy="0"/>
          </a:xfrm>
          <a:prstGeom prst="line">
            <a:avLst/>
          </a:prstGeom>
          <a:ln w="6350">
            <a:solidFill>
              <a:srgbClr val="C8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65760" y="3767328"/>
            <a:ext cx="6583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A95A5"/>
                </a:solidFill>
                <a:latin typeface="Arial"/>
              </a:rPr>
              <a:t>MECHANISM   </a:t>
            </a:r>
            <a:r>
              <a:rPr sz="900" b="1" i="0">
                <a:solidFill>
                  <a:srgbClr val="003A70"/>
                </a:solidFill>
                <a:latin typeface="Microsoft YaHei"/>
              </a:rPr>
              <a:t>6 个 AI 能力单元 — 数智指挥舱（</a:t>
            </a:r>
            <a:r>
              <a:rPr sz="900" b="1" i="0">
                <a:solidFill>
                  <a:srgbClr val="003A70"/>
                </a:solidFill>
                <a:latin typeface="Arial"/>
              </a:rPr>
              <a:t>PAone</a:t>
            </a:r>
            <a:r>
              <a:rPr sz="900" b="1" i="0">
                <a:solidFill>
                  <a:srgbClr val="003A70"/>
                </a:solidFill>
                <a:latin typeface="Microsoft YaHei"/>
              </a:rPr>
              <a:t>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023360"/>
            <a:ext cx="54864" cy="50292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0624" y="4023360"/>
            <a:ext cx="206654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" y="4023360"/>
            <a:ext cx="3291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3A70"/>
                </a:solidFill>
                <a:latin typeface="Arial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059936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955"/>
                </a:solidFill>
                <a:latin typeface="Microsoft YaHei"/>
              </a:rPr>
              <a:t>数据巡场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279392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4A5568"/>
                </a:solidFill>
                <a:latin typeface="Microsoft YaHei"/>
              </a:rPr>
              <a:t>替代人工查数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96896" y="4023360"/>
            <a:ext cx="54864" cy="50292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51760" y="4023360"/>
            <a:ext cx="206654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0" y="4023360"/>
            <a:ext cx="3291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3A70"/>
                </a:solidFill>
                <a:latin typeface="Arial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99816" y="4059936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955"/>
                </a:solidFill>
                <a:latin typeface="Microsoft YaHei"/>
              </a:rPr>
              <a:t>异常预警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9816" y="4279392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4A5568"/>
                </a:solidFill>
                <a:latin typeface="Microsoft YaHei"/>
              </a:rPr>
              <a:t>提前锁风险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28032" y="4023360"/>
            <a:ext cx="54864" cy="50292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882896" y="4023360"/>
            <a:ext cx="206654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74336" y="4023360"/>
            <a:ext cx="3291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3A70"/>
                </a:solidFill>
                <a:latin typeface="Arial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0952" y="4059936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955"/>
                </a:solidFill>
                <a:latin typeface="Microsoft YaHei"/>
              </a:rPr>
              <a:t>话术萃取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30952" y="4279392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4A5568"/>
                </a:solidFill>
                <a:latin typeface="Microsoft YaHei"/>
              </a:rPr>
              <a:t>复制销冠打法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617720"/>
            <a:ext cx="54864" cy="50292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0624" y="4617720"/>
            <a:ext cx="206654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064" y="4617720"/>
            <a:ext cx="3291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3A70"/>
                </a:solidFill>
                <a:latin typeface="Arial"/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" y="4654296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955"/>
                </a:solidFill>
                <a:latin typeface="Microsoft YaHei"/>
              </a:rPr>
              <a:t>精准辅导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4873752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4A5568"/>
                </a:solidFill>
                <a:latin typeface="Microsoft YaHei"/>
              </a:rPr>
              <a:t>辅导经验数据化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96896" y="4617720"/>
            <a:ext cx="54864" cy="50292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651760" y="4617720"/>
            <a:ext cx="206654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0" y="4617720"/>
            <a:ext cx="3291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3A70"/>
                </a:solidFill>
                <a:latin typeface="Arial"/>
              </a:rPr>
              <a:t>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99816" y="4654296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955"/>
                </a:solidFill>
                <a:latin typeface="Microsoft YaHei"/>
              </a:rPr>
              <a:t>复盘生成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99816" y="4873752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4A5568"/>
                </a:solidFill>
                <a:latin typeface="Microsoft YaHei"/>
              </a:rPr>
              <a:t>材料一键产出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28032" y="4617720"/>
            <a:ext cx="54864" cy="50292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882896" y="4617720"/>
            <a:ext cx="206654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74336" y="4617720"/>
            <a:ext cx="3291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3A70"/>
                </a:solidFill>
                <a:latin typeface="Arial"/>
              </a:rPr>
              <a:t>06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30952" y="4654296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955"/>
                </a:solidFill>
                <a:latin typeface="Microsoft YaHei"/>
              </a:rPr>
              <a:t>语料进化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30952" y="4873752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4A5568"/>
                </a:solidFill>
                <a:latin typeface="Microsoft YaHei"/>
              </a:rPr>
              <a:t>反向训练 AI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5376672"/>
            <a:ext cx="6583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A95A5"/>
                </a:solidFill>
                <a:latin typeface="Arial"/>
              </a:rPr>
              <a:t>PRO-FORMA IMPACT   </a:t>
            </a:r>
            <a:r>
              <a:rPr sz="850" b="0" i="1">
                <a:solidFill>
                  <a:srgbClr val="4A5568"/>
                </a:solidFill>
                <a:latin typeface="Microsoft YaHei"/>
              </a:rPr>
              <a:t>试点目标值（直觉测算，待实测校准）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5632704"/>
            <a:ext cx="2133600" cy="71323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65760" y="5632704"/>
            <a:ext cx="54864" cy="713232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0352" y="5669280"/>
            <a:ext cx="1905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3A70"/>
                </a:solidFill>
                <a:latin typeface="Arial"/>
              </a:rPr>
              <a:t>~70%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0352" y="6053328"/>
            <a:ext cx="1905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A5568"/>
                </a:solidFill>
                <a:latin typeface="Microsoft YaHei"/>
              </a:rPr>
              <a:t>数据/材料动作时间被 AI 接管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90800" y="5632704"/>
            <a:ext cx="2133600" cy="71323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590800" y="5632704"/>
            <a:ext cx="54864" cy="713232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55392" y="5669280"/>
            <a:ext cx="1905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3A70"/>
                </a:solidFill>
                <a:latin typeface="Arial"/>
              </a:rPr>
              <a:t>2-3x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55392" y="6053328"/>
            <a:ext cx="1905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A5568"/>
                </a:solidFill>
                <a:latin typeface="Microsoft YaHei"/>
              </a:rPr>
              <a:t>组长有效管理半径放大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15840" y="5632704"/>
            <a:ext cx="2133600" cy="71323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815840" y="5632704"/>
            <a:ext cx="54864" cy="713232"/>
          </a:xfrm>
          <a:prstGeom prst="rect">
            <a:avLst/>
          </a:prstGeom>
          <a:solidFill>
            <a:srgbClr val="C83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80432" y="5669280"/>
            <a:ext cx="1905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83A1E"/>
                </a:solidFill>
                <a:latin typeface="Arial"/>
              </a:rPr>
              <a:t>+49pp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80432" y="6053328"/>
            <a:ext cx="1905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A5568"/>
                </a:solidFill>
                <a:latin typeface="Microsoft YaHei"/>
              </a:rPr>
              <a:t>高价值动作占比提升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5760" y="6510528"/>
            <a:ext cx="6583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8A95A5"/>
                </a:solidFill>
                <a:latin typeface="Arial"/>
              </a:rPr>
              <a:t>CLOSED LOOP   </a:t>
            </a:r>
            <a:r>
              <a:rPr sz="900" b="1" i="0">
                <a:solidFill>
                  <a:srgbClr val="003A70"/>
                </a:solidFill>
                <a:latin typeface="Microsoft YaHei"/>
              </a:rPr>
              <a:t>数据采集 → AI 识别 → 组长干预 → 话术沉淀 → 团队复制 → 模型进化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6748272"/>
            <a:ext cx="1097280" cy="146304"/>
          </a:xfrm>
          <a:prstGeom prst="rect">
            <a:avLst/>
          </a:prstGeom>
          <a:solidFill>
            <a:srgbClr val="E6EEF7"/>
          </a:solidFill>
          <a:ln w="6350">
            <a:solidFill>
              <a:srgbClr val="003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" y="674827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03A70"/>
                </a:solidFill>
                <a:latin typeface="Microsoft YaHei"/>
              </a:rPr>
              <a:t>采集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463040" y="6748272"/>
            <a:ext cx="1097280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003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463040" y="674827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03A70"/>
                </a:solidFill>
                <a:latin typeface="Microsoft YaHei"/>
              </a:rPr>
              <a:t>识别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560320" y="6748272"/>
            <a:ext cx="1097280" cy="146304"/>
          </a:xfrm>
          <a:prstGeom prst="rect">
            <a:avLst/>
          </a:prstGeom>
          <a:solidFill>
            <a:srgbClr val="E6EEF7"/>
          </a:solidFill>
          <a:ln w="6350">
            <a:solidFill>
              <a:srgbClr val="003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560320" y="674827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03A70"/>
                </a:solidFill>
                <a:latin typeface="Microsoft YaHei"/>
              </a:rPr>
              <a:t>干预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57600" y="6748272"/>
            <a:ext cx="1097280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003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57600" y="674827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03A70"/>
                </a:solidFill>
                <a:latin typeface="Microsoft YaHei"/>
              </a:rPr>
              <a:t>沉淀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754880" y="6748272"/>
            <a:ext cx="1097280" cy="146304"/>
          </a:xfrm>
          <a:prstGeom prst="rect">
            <a:avLst/>
          </a:prstGeom>
          <a:solidFill>
            <a:srgbClr val="E6EEF7"/>
          </a:solidFill>
          <a:ln w="6350">
            <a:solidFill>
              <a:srgbClr val="003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754880" y="674827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03A70"/>
                </a:solidFill>
                <a:latin typeface="Microsoft YaHei"/>
              </a:rPr>
              <a:t>复制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52160" y="6748272"/>
            <a:ext cx="1097280" cy="146304"/>
          </a:xfrm>
          <a:prstGeom prst="rect">
            <a:avLst/>
          </a:prstGeom>
          <a:solidFill>
            <a:srgbClr val="003A70"/>
          </a:solidFill>
          <a:ln w="6350">
            <a:solidFill>
              <a:srgbClr val="003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52160" y="674827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YaHei"/>
              </a:rPr>
              <a:t>进化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7059168"/>
            <a:ext cx="65836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65760" y="7059168"/>
            <a:ext cx="91440" cy="502920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66928" y="7095744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03A70"/>
                </a:solidFill>
                <a:latin typeface="Arial"/>
              </a:rPr>
              <a:t>KEY TAKEAWAY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7242048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01010"/>
                </a:solidFill>
                <a:latin typeface="Microsoft YaHei"/>
              </a:rPr>
              <a:t>现管 1+N 不是减负工具，而是</a:t>
            </a:r>
            <a:r>
              <a:rPr sz="1050" b="1" i="0">
                <a:solidFill>
                  <a:srgbClr val="C83A1E"/>
                </a:solidFill>
                <a:latin typeface="Microsoft YaHei"/>
              </a:rPr>
              <a:t>现场管理操作系统</a:t>
            </a:r>
            <a:r>
              <a:rPr sz="1050" b="1" i="0">
                <a:solidFill>
                  <a:srgbClr val="101010"/>
                </a:solidFill>
                <a:latin typeface="Microsoft YaHei"/>
              </a:rPr>
              <a:t> — 把组长从动作执行者升级为指挥官 + AI 训练师。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365760" y="7653528"/>
            <a:ext cx="6583680" cy="0"/>
          </a:xfrm>
          <a:prstGeom prst="line">
            <a:avLst/>
          </a:prstGeom>
          <a:ln w="5080">
            <a:solidFill>
              <a:srgbClr val="C8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365760" y="769010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8A95A5"/>
                </a:solidFill>
                <a:latin typeface="Arial"/>
              </a:rPr>
              <a:t>Source: </a:t>
            </a:r>
            <a:r>
              <a:rPr sz="700" b="0" i="0">
                <a:solidFill>
                  <a:srgbClr val="8A95A5"/>
                </a:solidFill>
                <a:latin typeface="Microsoft YaHei"/>
              </a:rPr>
              <a:t>银卡服销现场管理诊断 2025Q4 抽样调研 (N=87)；PAone 1+N 产品规划 v2026.05；</a:t>
            </a:r>
          </a:p>
          <a:p>
            <a:pPr algn="l"/>
            <a:r>
              <a:rPr sz="700" b="0" i="1">
                <a:solidFill>
                  <a:srgbClr val="8A95A5"/>
                </a:solidFill>
                <a:latin typeface="Microsoft YaHei"/>
              </a:rPr>
              <a:t>Note: 时间分配为示意目标值，实际比例视分行 / 团队差异；'+49 pp' 为目标态相对当前态的预计提升。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852160" y="7690104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>
                <a:solidFill>
                  <a:srgbClr val="8A95A5"/>
                </a:solidFill>
                <a:latin typeface="Arial"/>
              </a:rPr>
              <a:t>Page  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